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8"/>
  </p:notesMasterIdLst>
  <p:sldIdLst>
    <p:sldId id="256" r:id="rId2"/>
    <p:sldId id="331" r:id="rId3"/>
    <p:sldId id="332" r:id="rId4"/>
    <p:sldId id="342" r:id="rId5"/>
    <p:sldId id="343" r:id="rId6"/>
    <p:sldId id="344" r:id="rId7"/>
    <p:sldId id="345" r:id="rId8"/>
    <p:sldId id="346" r:id="rId9"/>
    <p:sldId id="347" r:id="rId10"/>
    <p:sldId id="348" r:id="rId11"/>
    <p:sldId id="349" r:id="rId12"/>
    <p:sldId id="350" r:id="rId13"/>
    <p:sldId id="351" r:id="rId14"/>
    <p:sldId id="352" r:id="rId15"/>
    <p:sldId id="333" r:id="rId16"/>
    <p:sldId id="353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75" autoAdjust="0"/>
  </p:normalViewPr>
  <p:slideViewPr>
    <p:cSldViewPr>
      <p:cViewPr varScale="1">
        <p:scale>
          <a:sx n="151" d="100"/>
          <a:sy n="151" d="100"/>
        </p:scale>
        <p:origin x="376" y="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B0653-E0B8-4055-9E2D-76BC87A65A6E}" type="datetimeFigureOut">
              <a:rPr lang="en-US" smtClean="0"/>
              <a:t>12/4/2017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CC18B4-D599-44FB-9DAB-C9054DA3DA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8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CC18B4-D599-44FB-9DAB-C9054DA3DA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24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4713"/>
          </a:xfrm>
          <a:ln cap="flat"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11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91BA9-DA72-493C-9CAF-B9DAB0BC4A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934D68-701E-4120-BE37-6B12802E2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CD10B3-575B-4422-A3D0-6FC94134D5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775989-AF31-447B-90B2-0A05E48011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B665F6-55E4-4747-8650-E714965F5E5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D6A3DC-0A89-4FEC-9F6F-0BD29E7B7F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E356AF-6F91-46AF-8F07-C76DF88FE9F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3B78D-18D5-4987-905C-8A896F8A46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53DEC-37EC-496E-BE7F-EADDA828221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A9CFD-C5C2-46D1-8D49-D18039D347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76043-FAE8-4F83-BCF3-488C6EB4647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8DAD9-B174-4C1E-BF07-A33894D793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+mj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j-lt"/>
              </a:defRPr>
            </a:lvl1pPr>
          </a:lstStyle>
          <a:p>
            <a:pPr>
              <a:defRPr/>
            </a:pPr>
            <a:fld id="{FE295FA2-29F8-46BD-B850-055946D80E5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175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76" name="Line 8"/>
          <p:cNvSpPr>
            <a:spLocks noChangeShapeType="1"/>
          </p:cNvSpPr>
          <p:nvPr/>
        </p:nvSpPr>
        <p:spPr bwMode="auto">
          <a:xfrm>
            <a:off x="457200" y="61722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apterra.com/big-data-software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hbr.org/2013/12/you-may-not-need-big-data-after-al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ature.com/articles/381607a0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eature_extraction" TargetMode="External"/><Relationship Id="rId2" Type="http://schemas.openxmlformats.org/officeDocument/2006/relationships/hyperlink" Target="https://en.wikipedia.org/wiki/Nonlinear_filt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n.wikipedia.org/wiki/Backpropagation" TargetMode="External"/><Relationship Id="rId4" Type="http://schemas.openxmlformats.org/officeDocument/2006/relationships/hyperlink" Target="https://en.wikipedia.org/wiki/Gradient_descent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447800"/>
            <a:ext cx="7623175" cy="1752600"/>
          </a:xfrm>
        </p:spPr>
        <p:txBody>
          <a:bodyPr/>
          <a:lstStyle/>
          <a:p>
            <a:pPr algn="ctr" eaLnBrk="1" hangingPunct="1"/>
            <a:r>
              <a:rPr lang="en-US" sz="4600" b="1" dirty="0"/>
              <a:t>SFWR TECH 4DA3 </a:t>
            </a:r>
            <a:br>
              <a:rPr lang="en-US" sz="4600" b="1" dirty="0"/>
            </a:br>
            <a:r>
              <a:rPr lang="en-US" sz="4600" b="1" dirty="0"/>
              <a:t>Big Data</a:t>
            </a:r>
          </a:p>
        </p:txBody>
      </p:sp>
      <p:sp>
        <p:nvSpPr>
          <p:cNvPr id="3075" name="Text Box 33"/>
          <p:cNvSpPr txBox="1">
            <a:spLocks noChangeArrowheads="1"/>
          </p:cNvSpPr>
          <p:nvPr/>
        </p:nvSpPr>
        <p:spPr bwMode="auto">
          <a:xfrm>
            <a:off x="609600" y="4191000"/>
            <a:ext cx="7864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Instructor: Dr. Jeff Fortuna, B. Eng, M. Eng, PhD, (Electrical Engineering), 			 McMaster University</a:t>
            </a:r>
          </a:p>
          <a:p>
            <a:endParaRPr lang="en-US"/>
          </a:p>
          <a:p>
            <a:pPr algn="ctr"/>
            <a:r>
              <a:rPr lang="en-US"/>
              <a:t>email: fortunjj@mcmaster.ca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44FFC5C-E1E7-4072-BD5E-209B24ED2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44750"/>
              </p:ext>
            </p:extLst>
          </p:nvPr>
        </p:nvGraphicFramePr>
        <p:xfrm>
          <a:off x="4927600" y="26670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124" name="Equation" r:id="rId4" imgW="914400" imgH="198720" progId="Equation.DSMT4">
                  <p:embed/>
                </p:oleObj>
              </mc:Choice>
              <mc:Fallback>
                <p:oleObj name="Equation" r:id="rId4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7600" y="26670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8077200" cy="795338"/>
          </a:xfrm>
          <a:noFill/>
          <a:ln/>
        </p:spPr>
        <p:txBody>
          <a:bodyPr lIns="90488" tIns="44450" rIns="90488" bIns="44450" anchor="t"/>
          <a:lstStyle/>
          <a:p>
            <a:r>
              <a:rPr lang="en-US" sz="4000" b="1" dirty="0"/>
              <a:t>What is it? The 4 v’s of Big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C5BD0-5181-4DD7-8698-E6526A0F0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8229600" cy="1752600"/>
          </a:xfrm>
        </p:spPr>
        <p:txBody>
          <a:bodyPr/>
          <a:lstStyle/>
          <a:p>
            <a:r>
              <a:rPr lang="en-US" dirty="0"/>
              <a:t>Data that has</a:t>
            </a:r>
          </a:p>
          <a:p>
            <a:pPr lvl="1"/>
            <a:r>
              <a:rPr lang="en-US" sz="1800" dirty="0"/>
              <a:t>Volume</a:t>
            </a:r>
          </a:p>
          <a:p>
            <a:pPr lvl="1"/>
            <a:r>
              <a:rPr lang="en-US" sz="1800" dirty="0"/>
              <a:t>Velocity</a:t>
            </a:r>
          </a:p>
          <a:p>
            <a:pPr lvl="1"/>
            <a:r>
              <a:rPr lang="en-US" sz="1800" dirty="0"/>
              <a:t>Variety</a:t>
            </a:r>
          </a:p>
          <a:p>
            <a:pPr lvl="1"/>
            <a:r>
              <a:rPr lang="en-US" sz="1800" dirty="0"/>
              <a:t>Veracity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E70299-0027-491A-AB46-1EB155815C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497736"/>
            <a:ext cx="6988819" cy="429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220050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latin typeface="Times New Roman" pitchFamily="18" charset="0"/>
              </a:rPr>
              <a:t>Two Important Issues in General…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A93D6-D9D5-41D8-8F52-E9B1468F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8229600" cy="1066800"/>
          </a:xfrm>
        </p:spPr>
        <p:txBody>
          <a:bodyPr/>
          <a:lstStyle/>
          <a:p>
            <a:r>
              <a:rPr lang="en-US" dirty="0"/>
              <a:t>Infrastructure (operational concerns) </a:t>
            </a:r>
          </a:p>
          <a:p>
            <a:r>
              <a:rPr lang="en-US" dirty="0"/>
              <a:t>Analysis (Data Mining)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29B5BEC7-3879-40B7-86F1-4FFAE2C8E7E8}"/>
              </a:ext>
            </a:extLst>
          </p:cNvPr>
          <p:cNvSpPr txBox="1">
            <a:spLocks/>
          </p:cNvSpPr>
          <p:nvPr/>
        </p:nvSpPr>
        <p:spPr bwMode="auto">
          <a:xfrm>
            <a:off x="304800" y="2895600"/>
            <a:ext cx="83820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 will look at each separately in this discussion </a:t>
            </a:r>
          </a:p>
        </p:txBody>
      </p:sp>
    </p:spTree>
    <p:extLst>
      <p:ext uri="{BB962C8B-B14F-4D97-AF65-F5344CB8AC3E}">
        <p14:creationId xmlns:p14="http://schemas.microsoft.com/office/powerpoint/2010/main" val="246164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82C4-6271-4842-8449-7B4EE1AEB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686800" cy="1139825"/>
          </a:xfrm>
        </p:spPr>
        <p:txBody>
          <a:bodyPr/>
          <a:lstStyle/>
          <a:p>
            <a:r>
              <a:rPr lang="en-US" b="1" dirty="0"/>
              <a:t>Why new infrastructure for Big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BC6F0-B7A8-4368-9403-534791DDF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30725"/>
          </a:xfrm>
        </p:spPr>
        <p:txBody>
          <a:bodyPr/>
          <a:lstStyle/>
          <a:p>
            <a:r>
              <a:rPr lang="en-US" dirty="0"/>
              <a:t>Because of the 4 v’s.</a:t>
            </a:r>
          </a:p>
          <a:p>
            <a:r>
              <a:rPr lang="en-US" dirty="0"/>
              <a:t>SQL (and the associated infrastructure) is not well suited (as was NOT designed with Big Data in mind</a:t>
            </a:r>
          </a:p>
          <a:p>
            <a:r>
              <a:rPr lang="en-US" dirty="0"/>
              <a:t>Specifically:</a:t>
            </a:r>
          </a:p>
          <a:p>
            <a:pPr lvl="1"/>
            <a:r>
              <a:rPr lang="en-US" dirty="0"/>
              <a:t>Cloud computing causes big problems with distributed joins and data consistency</a:t>
            </a:r>
          </a:p>
          <a:p>
            <a:pPr lvl="1"/>
            <a:r>
              <a:rPr lang="en-US" dirty="0"/>
              <a:t>Data is often unstructured</a:t>
            </a:r>
          </a:p>
          <a:p>
            <a:pPr lvl="1"/>
            <a:r>
              <a:rPr lang="en-US" dirty="0"/>
              <a:t>Data demands change rapidly, requiring alteration of the schema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418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AB167-C0AB-4F73-9C8B-EC8AE677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 Possible Answer is NoSQL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38512-037B-4B1C-ABFF-86179588B6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163637"/>
            <a:ext cx="8229600" cy="4530725"/>
          </a:xfrm>
        </p:spPr>
        <p:txBody>
          <a:bodyPr/>
          <a:lstStyle/>
          <a:p>
            <a:r>
              <a:rPr lang="en-US" sz="2400" dirty="0"/>
              <a:t>A common organization is the Document Database (there are others…)</a:t>
            </a:r>
          </a:p>
          <a:p>
            <a:r>
              <a:rPr lang="en-US" sz="2400" dirty="0"/>
              <a:t>The “document as an object” is a natural way of grouping data</a:t>
            </a:r>
          </a:p>
          <a:p>
            <a:r>
              <a:rPr lang="en-US" sz="2400" dirty="0"/>
              <a:t>Data is very often already stored as a “document” so no additional schema is required to define the structure</a:t>
            </a:r>
          </a:p>
          <a:p>
            <a:r>
              <a:rPr lang="en-US" sz="2400" dirty="0"/>
              <a:t>The document objects have variable structure – this is fundamentally different from a relational database with a defined schema</a:t>
            </a:r>
          </a:p>
          <a:p>
            <a:r>
              <a:rPr lang="en-US" sz="2400" dirty="0"/>
              <a:t>To address the 4 v’s, data consistency is often sacrificed in favor of availability and speed 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5730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2A4B4-B594-48CA-9B9B-B3280BAC5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 Data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8B438-FC54-4628-BE94-257C6F0D5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108" y="1143001"/>
            <a:ext cx="8229600" cy="3886200"/>
          </a:xfrm>
        </p:spPr>
        <p:txBody>
          <a:bodyPr/>
          <a:lstStyle/>
          <a:p>
            <a:r>
              <a:rPr lang="en-US" dirty="0"/>
              <a:t>Some examples:</a:t>
            </a:r>
          </a:p>
          <a:p>
            <a:r>
              <a:rPr lang="en-US" dirty="0">
                <a:hlinkClick r:id="rId2"/>
              </a:rPr>
              <a:t>https://www.capterra.com/big-data-software/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There are a LOT of choices…</a:t>
            </a:r>
          </a:p>
          <a:p>
            <a:r>
              <a:rPr lang="en-US" dirty="0"/>
              <a:t>That is why it makes very little sense to study any one of them. The best that can be done is to understand commonalities. </a:t>
            </a:r>
          </a:p>
        </p:txBody>
      </p:sp>
    </p:spTree>
    <p:extLst>
      <p:ext uri="{BB962C8B-B14F-4D97-AF65-F5344CB8AC3E}">
        <p14:creationId xmlns:p14="http://schemas.microsoft.com/office/powerpoint/2010/main" val="3590559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BC257-305B-43BB-9039-CDE49A8C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28600"/>
            <a:ext cx="8763000" cy="1139825"/>
          </a:xfrm>
        </p:spPr>
        <p:txBody>
          <a:bodyPr/>
          <a:lstStyle/>
          <a:p>
            <a:r>
              <a:rPr lang="en-US" b="1" dirty="0"/>
              <a:t>What factors are involved in making a decision about which system to use?</a:t>
            </a:r>
          </a:p>
        </p:txBody>
      </p:sp>
    </p:spTree>
    <p:extLst>
      <p:ext uri="{BB962C8B-B14F-4D97-AF65-F5344CB8AC3E}">
        <p14:creationId xmlns:p14="http://schemas.microsoft.com/office/powerpoint/2010/main" val="3123176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F7CB4-44EB-4DDF-9BB1-76A1CD64E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Big Data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8687B-C899-4DED-9B2C-165565D19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3637"/>
            <a:ext cx="8229600" cy="4530725"/>
          </a:xfrm>
        </p:spPr>
        <p:txBody>
          <a:bodyPr/>
          <a:lstStyle/>
          <a:p>
            <a:r>
              <a:rPr lang="en-US" dirty="0"/>
              <a:t>First, please read:</a:t>
            </a:r>
          </a:p>
          <a:p>
            <a:r>
              <a:rPr lang="en-US" dirty="0">
                <a:hlinkClick r:id="rId2"/>
              </a:rPr>
              <a:t>https://hbr.org/2013/12/you-may-not-need-big-data-after-all</a:t>
            </a:r>
            <a:endParaRPr lang="en-US" dirty="0"/>
          </a:p>
          <a:p>
            <a:endParaRPr lang="en-US" dirty="0"/>
          </a:p>
          <a:p>
            <a:r>
              <a:rPr lang="en-US" dirty="0"/>
              <a:t>IMHO, the most important quote is:</a:t>
            </a:r>
          </a:p>
          <a:p>
            <a:r>
              <a:rPr lang="en-US" sz="1800" dirty="0"/>
              <a:t>“</a:t>
            </a:r>
            <a:r>
              <a:rPr lang="en-US" sz="1800" dirty="0">
                <a:solidFill>
                  <a:srgbClr val="00B050"/>
                </a:solidFill>
              </a:rPr>
              <a:t>most companies don’t do a good job with the information they already have. They don’t know how to </a:t>
            </a:r>
            <a:r>
              <a:rPr lang="en-US" sz="1800" b="1" dirty="0">
                <a:solidFill>
                  <a:srgbClr val="00B050"/>
                </a:solidFill>
              </a:rPr>
              <a:t>manage it</a:t>
            </a:r>
            <a:r>
              <a:rPr lang="en-US" sz="1800" dirty="0">
                <a:solidFill>
                  <a:srgbClr val="00B050"/>
                </a:solidFill>
              </a:rPr>
              <a:t>, </a:t>
            </a:r>
            <a:r>
              <a:rPr lang="en-US" sz="1800" b="1" dirty="0">
                <a:solidFill>
                  <a:srgbClr val="00B050"/>
                </a:solidFill>
              </a:rPr>
              <a:t>analyze it in ways that enhance their understanding</a:t>
            </a:r>
            <a:r>
              <a:rPr lang="en-US" sz="1800" dirty="0">
                <a:solidFill>
                  <a:srgbClr val="00B050"/>
                </a:solidFill>
              </a:rPr>
              <a:t>, and then </a:t>
            </a:r>
            <a:r>
              <a:rPr lang="en-US" sz="1800" b="1" dirty="0">
                <a:solidFill>
                  <a:srgbClr val="00B050"/>
                </a:solidFill>
              </a:rPr>
              <a:t>make changes in response to new insights</a:t>
            </a:r>
            <a:r>
              <a:rPr lang="en-US" sz="1800" dirty="0">
                <a:solidFill>
                  <a:srgbClr val="00B050"/>
                </a:solidFill>
              </a:rPr>
              <a:t>. Companies don’t magically develop those competencies just because they’ve invested in high-end analytics tools</a:t>
            </a:r>
            <a:r>
              <a:rPr lang="en-US" sz="1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6269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5B134-B983-4395-AD3F-EF859B346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Analytics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8AF9-980A-4310-A3D0-7EFE76C7F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467" y="1066800"/>
            <a:ext cx="8229600" cy="4530725"/>
          </a:xfrm>
        </p:spPr>
        <p:txBody>
          <a:bodyPr/>
          <a:lstStyle/>
          <a:p>
            <a:r>
              <a:rPr lang="en-US" dirty="0"/>
              <a:t>Many of the example big data systems software come with analytics tools.</a:t>
            </a:r>
          </a:p>
          <a:p>
            <a:r>
              <a:rPr lang="en-US" dirty="0"/>
              <a:t>The tools are a superset of what we have covered in this course</a:t>
            </a:r>
          </a:p>
          <a:p>
            <a:r>
              <a:rPr lang="en-US" b="1" i="1" dirty="0">
                <a:solidFill>
                  <a:srgbClr val="00B050"/>
                </a:solidFill>
              </a:rPr>
              <a:t>I don’t advise using any tool unless you understand how it works and what it is giving you as a result. </a:t>
            </a:r>
          </a:p>
          <a:p>
            <a:r>
              <a:rPr lang="en-US" dirty="0"/>
              <a:t>Any of the approaches we covered can be applied to big data systems</a:t>
            </a:r>
          </a:p>
        </p:txBody>
      </p:sp>
    </p:spTree>
    <p:extLst>
      <p:ext uri="{BB962C8B-B14F-4D97-AF65-F5344CB8AC3E}">
        <p14:creationId xmlns:p14="http://schemas.microsoft.com/office/powerpoint/2010/main" val="1463062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E672-7F3D-4C5F-84F5-6E1D44557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So, what is different about Big Data from an analytics perspective?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A2E3F-29A1-4104-9213-60AF555D0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530725"/>
          </a:xfrm>
        </p:spPr>
        <p:txBody>
          <a:bodyPr/>
          <a:lstStyle/>
          <a:p>
            <a:r>
              <a:rPr lang="en-US" dirty="0"/>
              <a:t>The difference is that we have a LOT of data!</a:t>
            </a:r>
          </a:p>
          <a:p>
            <a:r>
              <a:rPr lang="en-US" dirty="0"/>
              <a:t>Some techniques, such as neural networks, don’t work well with a small amount of data, but they are an option for Big Data</a:t>
            </a:r>
          </a:p>
          <a:p>
            <a:r>
              <a:rPr lang="en-US" dirty="0"/>
              <a:t>One modern approach – Deep Learning, is ONLY suited to very large data sets and was designed with that in mind. </a:t>
            </a:r>
          </a:p>
        </p:txBody>
      </p:sp>
    </p:spTree>
    <p:extLst>
      <p:ext uri="{BB962C8B-B14F-4D97-AF65-F5344CB8AC3E}">
        <p14:creationId xmlns:p14="http://schemas.microsoft.com/office/powerpoint/2010/main" val="2559878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33138-86DE-4DF3-B8D2-E3B43D95C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Deep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35E5C-4DC7-4FDE-84B5-7B1443A09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3637"/>
            <a:ext cx="8229600" cy="4530725"/>
          </a:xfrm>
        </p:spPr>
        <p:txBody>
          <a:bodyPr/>
          <a:lstStyle/>
          <a:p>
            <a:r>
              <a:rPr lang="en-US" dirty="0"/>
              <a:t>Deep Learning is NOT an algorithm – it is a paradigm of hierarchical learning.</a:t>
            </a:r>
          </a:p>
          <a:p>
            <a:r>
              <a:rPr lang="en-US" dirty="0"/>
              <a:t>Generally, the paradigm is modeling information representations in the mammalian brain. </a:t>
            </a:r>
          </a:p>
          <a:p>
            <a:r>
              <a:rPr lang="en-US" dirty="0"/>
              <a:t>“</a:t>
            </a:r>
            <a:r>
              <a:rPr lang="en-US" sz="2000" dirty="0">
                <a:solidFill>
                  <a:srgbClr val="00B050"/>
                </a:solidFill>
              </a:rPr>
              <a:t>One of the key findings has been that the neocortex, which is associated with many cognitive abilities, does not explicitly pre-process sensory signals, but rather allows them to propagate through a </a:t>
            </a:r>
            <a:r>
              <a:rPr lang="en-US" sz="2000" b="1" dirty="0">
                <a:solidFill>
                  <a:srgbClr val="00B050"/>
                </a:solidFill>
              </a:rPr>
              <a:t>complex hierarchy of modules </a:t>
            </a:r>
            <a:r>
              <a:rPr lang="en-US" sz="2000" dirty="0">
                <a:solidFill>
                  <a:srgbClr val="00B050"/>
                </a:solidFill>
              </a:rPr>
              <a:t>that, over time, learn to represent observations based on the regularities they exhibit</a:t>
            </a:r>
            <a:r>
              <a:rPr lang="en-US" sz="20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193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90D3-223A-4673-AD3A-27911F66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7813"/>
            <a:ext cx="8534400" cy="1139825"/>
          </a:xfrm>
        </p:spPr>
        <p:txBody>
          <a:bodyPr/>
          <a:lstStyle/>
          <a:p>
            <a:r>
              <a:rPr lang="en-US" b="1" dirty="0"/>
              <a:t>Example – the human visual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0BDA8-E77F-48E6-B66D-788B99A03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5486400" cy="4530725"/>
          </a:xfrm>
        </p:spPr>
        <p:txBody>
          <a:bodyPr/>
          <a:lstStyle/>
          <a:p>
            <a:r>
              <a:rPr lang="en-US" dirty="0"/>
              <a:t>Multi-layered</a:t>
            </a:r>
          </a:p>
          <a:p>
            <a:pPr lvl="1"/>
            <a:r>
              <a:rPr lang="en-US" sz="2000" dirty="0"/>
              <a:t>Primary visual cortex (v1) – spatial information -  spatial frequencies and orientations (also color), Secondary visual cortex (V2) – visual association</a:t>
            </a:r>
          </a:p>
          <a:p>
            <a:pPr lvl="1"/>
            <a:r>
              <a:rPr lang="en-US" sz="2000" dirty="0"/>
              <a:t>Visual area V3 – coherent motion of large patterns</a:t>
            </a:r>
          </a:p>
          <a:p>
            <a:pPr lvl="1"/>
            <a:r>
              <a:rPr lang="en-US" sz="2000" dirty="0"/>
              <a:t>Visual area V4 – tuned for object features of medium complexity</a:t>
            </a:r>
          </a:p>
          <a:p>
            <a:pPr lvl="1"/>
            <a:r>
              <a:rPr lang="en-US" sz="2000" dirty="0"/>
              <a:t>Middle temporal visual area (V5) – perception of motion</a:t>
            </a:r>
          </a:p>
          <a:p>
            <a:pPr lvl="1"/>
            <a:r>
              <a:rPr lang="en-US" sz="2000" dirty="0"/>
              <a:t>FFA (fusiform face area)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84879-3776-47F0-A5F6-780FDD066C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3287" y="1417638"/>
            <a:ext cx="3124200" cy="25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869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650-6F2F-4152-B72E-7EAE4BE48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V1 type representations can be learned using sparse coding…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D3703-3696-4413-A31C-115EBC901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818" y="1752600"/>
            <a:ext cx="8229600" cy="4267201"/>
          </a:xfrm>
        </p:spPr>
        <p:txBody>
          <a:bodyPr/>
          <a:lstStyle/>
          <a:p>
            <a:r>
              <a:rPr lang="en-US" sz="2400" dirty="0"/>
              <a:t>As an example of this type of learning, consider a multi-layered representation where layer 1 creates sparse features using a learning approach that preferred sparse weights: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2F2867-4738-4DE6-90B9-40190FEF8C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75" y="3276600"/>
            <a:ext cx="4214225" cy="27891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3848ED-193B-4D89-BEED-AD50286F5B48}"/>
              </a:ext>
            </a:extLst>
          </p:cNvPr>
          <p:cNvSpPr txBox="1"/>
          <p:nvPr/>
        </p:nvSpPr>
        <p:spPr>
          <a:xfrm>
            <a:off x="4620460" y="3352800"/>
            <a:ext cx="43711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B050"/>
                </a:solidFill>
              </a:rPr>
              <a:t>It turns out that this is very similar to the representation of visual stimuli in V1</a:t>
            </a:r>
          </a:p>
          <a:p>
            <a:endParaRPr lang="en-US" sz="1400" dirty="0">
              <a:solidFill>
                <a:srgbClr val="00B050"/>
              </a:solidFill>
            </a:endParaRPr>
          </a:p>
          <a:p>
            <a:r>
              <a:rPr lang="en-US" sz="1400" dirty="0"/>
              <a:t>In order to create this representation you need a LOT of training data</a:t>
            </a:r>
          </a:p>
          <a:p>
            <a:endParaRPr lang="en-US" sz="1400" dirty="0"/>
          </a:p>
          <a:p>
            <a:r>
              <a:rPr lang="en-US" sz="1400" dirty="0"/>
              <a:t>This representation (often included in deep learning) can be learned using a CNN (convolutional neural net) but I preferred a more direct approach from </a:t>
            </a:r>
            <a:r>
              <a:rPr lang="en-US" sz="1400" dirty="0" err="1"/>
              <a:t>Olshausen</a:t>
            </a:r>
            <a:r>
              <a:rPr lang="en-US" sz="1400" dirty="0"/>
              <a:t> and Field:</a:t>
            </a:r>
          </a:p>
          <a:p>
            <a:r>
              <a:rPr lang="en-US" sz="1400" dirty="0">
                <a:hlinkClick r:id="rId3"/>
              </a:rPr>
              <a:t>http://www.nature.com/articles/381607a0</a:t>
            </a:r>
            <a:endParaRPr lang="en-US" sz="1400" dirty="0"/>
          </a:p>
          <a:p>
            <a:r>
              <a:rPr lang="en-US" sz="1400" dirty="0"/>
              <a:t>or ICA…</a:t>
            </a:r>
          </a:p>
        </p:txBody>
      </p:sp>
    </p:spTree>
    <p:extLst>
      <p:ext uri="{BB962C8B-B14F-4D97-AF65-F5344CB8AC3E}">
        <p14:creationId xmlns:p14="http://schemas.microsoft.com/office/powerpoint/2010/main" val="2133585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F629-24F5-4E33-8F4C-C22F2488A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Deep Learning paradigm detail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6E39A-8E97-4733-83A7-86322B363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4530725"/>
          </a:xfrm>
        </p:spPr>
        <p:txBody>
          <a:bodyPr/>
          <a:lstStyle/>
          <a:p>
            <a:r>
              <a:rPr lang="en-US" sz="2000" dirty="0"/>
              <a:t>use a cascade of multiple layers of </a:t>
            </a:r>
            <a:r>
              <a:rPr lang="en-US" sz="2000" b="1" dirty="0">
                <a:hlinkClick r:id="rId2" tooltip="Nonlinear filter"/>
              </a:rPr>
              <a:t>nonlinear processing</a:t>
            </a:r>
            <a:r>
              <a:rPr lang="en-US" sz="2000" b="1" dirty="0"/>
              <a:t> </a:t>
            </a:r>
            <a:r>
              <a:rPr lang="en-US" sz="2000" dirty="0"/>
              <a:t>units for </a:t>
            </a:r>
            <a:r>
              <a:rPr lang="en-US" sz="2000" b="1" dirty="0">
                <a:hlinkClick r:id="rId3" tooltip="Feature extraction"/>
              </a:rPr>
              <a:t>feature extraction</a:t>
            </a:r>
            <a:r>
              <a:rPr lang="en-US" sz="2000" dirty="0"/>
              <a:t> and transformation. </a:t>
            </a:r>
            <a:r>
              <a:rPr lang="en-US" sz="2000" b="1" dirty="0"/>
              <a:t>Each successive layer uses the output from the previous layer as input</a:t>
            </a:r>
            <a:r>
              <a:rPr lang="en-US" sz="2000" dirty="0"/>
              <a:t>.</a:t>
            </a:r>
          </a:p>
          <a:p>
            <a:r>
              <a:rPr lang="en-US" sz="2000" dirty="0"/>
              <a:t>learn multiple levels of representations that correspond to different levels of abstraction; the levels form a hierarchy of concepts.</a:t>
            </a:r>
          </a:p>
          <a:p>
            <a:r>
              <a:rPr lang="en-US" sz="2000" dirty="0"/>
              <a:t>use some form of </a:t>
            </a:r>
            <a:r>
              <a:rPr lang="en-US" sz="2000" b="1" dirty="0">
                <a:hlinkClick r:id="rId4" tooltip="Gradient descent"/>
              </a:rPr>
              <a:t>gradient descent</a:t>
            </a:r>
            <a:r>
              <a:rPr lang="en-US" sz="2000" dirty="0"/>
              <a:t> for training via </a:t>
            </a:r>
            <a:r>
              <a:rPr lang="en-US" sz="2000" b="1" dirty="0">
                <a:hlinkClick r:id="rId5" tooltip="Backpropagation"/>
              </a:rPr>
              <a:t>backpropagation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dirty="0"/>
              <a:t>I agree with the above (from Wikipedia) minus the last statement. Why must the learning use backprop?</a:t>
            </a:r>
          </a:p>
          <a:p>
            <a:r>
              <a:rPr lang="en-US" sz="2000" dirty="0"/>
              <a:t>It seems that the neural network community have recently found a justification for their approach and the multi-layered deep learning model (along with its neurological motivation) was well-suited to an ANN implementation</a:t>
            </a:r>
          </a:p>
          <a:p>
            <a:r>
              <a:rPr lang="en-US" sz="2000" dirty="0"/>
              <a:t>I prefer to see deep learning more broadly – that is that the paradigm doesn’t imply the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342455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450850" y="276918"/>
            <a:ext cx="8458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Typical Deep Learning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7ACF48-4805-4F5C-BC39-8A564186D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1147762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51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9A436338-82E3-4CF8-8DCF-A5D7B5726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" y="276918"/>
            <a:ext cx="8458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3600" b="1" dirty="0">
                <a:solidFill>
                  <a:schemeClr val="tx2"/>
                </a:solidFill>
                <a:latin typeface="+mj-lt"/>
              </a:rPr>
              <a:t>Advantages /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9C43-0B49-4E77-B350-6A54B2D70178}"/>
              </a:ext>
            </a:extLst>
          </p:cNvPr>
          <p:cNvSpPr txBox="1">
            <a:spLocks/>
          </p:cNvSpPr>
          <p:nvPr/>
        </p:nvSpPr>
        <p:spPr>
          <a:xfrm>
            <a:off x="381000" y="1066801"/>
            <a:ext cx="86106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Advantages</a:t>
            </a:r>
          </a:p>
          <a:p>
            <a:pPr lvl="1"/>
            <a:r>
              <a:rPr lang="en-US" sz="2000" kern="0" dirty="0"/>
              <a:t>Works quite well, provided you have a LOT of training data</a:t>
            </a:r>
          </a:p>
          <a:p>
            <a:pPr lvl="1"/>
            <a:r>
              <a:rPr lang="en-US" sz="2000" kern="0" dirty="0"/>
              <a:t>Biological motivation</a:t>
            </a:r>
          </a:p>
          <a:p>
            <a:pPr lvl="1"/>
            <a:endParaRPr lang="en-US" kern="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8A77B01-006B-433C-A81E-F883EE857674}"/>
              </a:ext>
            </a:extLst>
          </p:cNvPr>
          <p:cNvSpPr txBox="1">
            <a:spLocks/>
          </p:cNvSpPr>
          <p:nvPr/>
        </p:nvSpPr>
        <p:spPr>
          <a:xfrm>
            <a:off x="450850" y="2532159"/>
            <a:ext cx="8610600" cy="1447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Disadvantages</a:t>
            </a:r>
          </a:p>
          <a:p>
            <a:pPr lvl="1"/>
            <a:r>
              <a:rPr lang="en-US" sz="2000" kern="0" dirty="0"/>
              <a:t>Lack of theory surrounding the methods</a:t>
            </a:r>
          </a:p>
          <a:p>
            <a:pPr lvl="1"/>
            <a:r>
              <a:rPr lang="en-US" sz="2000" kern="0" dirty="0"/>
              <a:t>Issues with convergence (does it converge, and to what?)</a:t>
            </a:r>
          </a:p>
          <a:p>
            <a:pPr lvl="1"/>
            <a:r>
              <a:rPr lang="en-US" sz="2000" kern="0" dirty="0"/>
              <a:t>Black box</a:t>
            </a:r>
          </a:p>
          <a:p>
            <a:pPr lvl="1"/>
            <a:endParaRPr lang="en-US" sz="2000" kern="0" dirty="0"/>
          </a:p>
          <a:p>
            <a:pPr lvl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005871918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11294</TotalTime>
  <Words>952</Words>
  <Application>Microsoft Office PowerPoint</Application>
  <PresentationFormat>On-screen Show (4:3)</PresentationFormat>
  <Paragraphs>87</Paragraphs>
  <Slides>16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Garamond</vt:lpstr>
      <vt:lpstr>Times New Roman</vt:lpstr>
      <vt:lpstr>Wingdings</vt:lpstr>
      <vt:lpstr>Edge</vt:lpstr>
      <vt:lpstr>Equation</vt:lpstr>
      <vt:lpstr>SFWR TECH 4DA3  Big Data</vt:lpstr>
      <vt:lpstr>What is it? The 4 v’s of Big Data</vt:lpstr>
      <vt:lpstr>Two Important Issues in General…</vt:lpstr>
      <vt:lpstr>Why new infrastructure for Big Data?</vt:lpstr>
      <vt:lpstr>A Possible Answer is NoSQL</vt:lpstr>
      <vt:lpstr>Big Data Systems</vt:lpstr>
      <vt:lpstr>What factors are involved in making a decision about which system to use?</vt:lpstr>
      <vt:lpstr>Big Data Analytics</vt:lpstr>
      <vt:lpstr>Data Analytics Tools</vt:lpstr>
      <vt:lpstr>So, what is different about Big Data from an analytics perspective?</vt:lpstr>
      <vt:lpstr>What is Deep Learning?</vt:lpstr>
      <vt:lpstr>Example – the human visual system</vt:lpstr>
      <vt:lpstr>V1 type representations can be learned using sparse coding…</vt:lpstr>
      <vt:lpstr>Deep Learning paradigm detail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Jeff Fortuna</dc:creator>
  <cp:lastModifiedBy>Jeff Fortuna</cp:lastModifiedBy>
  <cp:revision>336</cp:revision>
  <dcterms:created xsi:type="dcterms:W3CDTF">2006-12-27T20:16:36Z</dcterms:created>
  <dcterms:modified xsi:type="dcterms:W3CDTF">2017-12-04T23:01:10Z</dcterms:modified>
</cp:coreProperties>
</file>