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78" r:id="rId3"/>
    <p:sldId id="279" r:id="rId4"/>
    <p:sldId id="282" r:id="rId5"/>
    <p:sldId id="283" r:id="rId6"/>
    <p:sldId id="293" r:id="rId7"/>
    <p:sldId id="294" r:id="rId8"/>
    <p:sldId id="295" r:id="rId9"/>
    <p:sldId id="297" r:id="rId10"/>
    <p:sldId id="299" r:id="rId11"/>
    <p:sldId id="301" r:id="rId12"/>
    <p:sldId id="302" r:id="rId13"/>
    <p:sldId id="303" r:id="rId14"/>
    <p:sldId id="304" r:id="rId15"/>
    <p:sldId id="3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8932-A014-4199-7F68-D39143287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9CC91-0776-E418-EA2C-DBEEABE83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0AE62-6642-7138-DB6F-99F31953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634B1-22FD-F8B6-0912-44001C2B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B3AB8-42E0-2714-B54F-2D09269A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9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1A42-CB61-2565-30A5-3169AC25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2E2B6-09B5-379C-44D3-1144A1326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707B0-4530-C20D-14CD-78132546A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3F012-0DF6-0E95-A076-3F0D4AD77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3A935-E57E-266E-9D5E-E6964ADB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4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0379-29B5-DB1B-D738-A199BBC0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C0429-A1BD-8EA8-12E6-E6898F081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2B3A5-BCD3-1E60-A11C-172F1F2F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DF105-8D6E-548C-1050-13CDB937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194B9-4F8A-786B-814A-3F3CEA4B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9E80-C5AC-D64B-A85C-456B082F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1DA4A-397E-C813-614E-232762EDD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AFC37-393B-3738-921E-0A87D17EE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BD27F-3E69-71B8-625C-430B2F72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59E5E-555D-78C8-73F8-F54D8EAE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FCDA0-89B7-DC52-1B89-C383E2BC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58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F4E0-FBC1-76A8-B545-404B283C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55D23-82B2-DA03-7397-87CFFD701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8709E-9D3B-CDF3-C681-E1B1FC827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9670D-A2E6-3740-CAAB-4C5966079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D6A8C-54D4-265D-E2B4-8E4F3B806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1ADC1-365F-157D-270D-9342426B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73431-3211-CA28-CB84-77D6160E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D7614-7854-380E-7B80-6D13DA35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BF15-5473-925A-21FA-B85451D5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95CEB-9680-5BEE-B016-6718AFEE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C65F0-5ECD-2FCF-CF1E-FEC5F6B74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E03F-6602-C33A-1C1A-D78C5D7D3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2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7DA99-6A04-C2ED-248F-3AAA265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BA28A-88D5-9B78-EA95-F89A5C29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791BC-793D-6D7C-DEAA-EC02FD91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4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2DCB-8874-4A3A-6D84-C13A14FF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CF6A-9566-3AE8-1546-62FC69249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0C730-4883-D2E1-BEEC-CB47871F8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48BB5-EBEB-9AFE-2163-6B979C615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280F5-5A85-FFA8-2D9F-633CC1EB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1D224-F28F-9310-6A8B-57592518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6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52C34-FFCE-7711-32A2-70F3B504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ECC66-FAB4-687A-8067-31684A9C63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C9EE5-7C82-6A64-1A84-7F4F62EB4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B8E2D-0F88-613B-5707-566930C8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274D3-782B-AA2D-B1DA-67C3CCAF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2DB82-AB9B-CBDC-18BF-DA5177A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1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BE56-FD55-22E2-0BCA-A36CE2CD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17960-F16B-9C7A-FBF8-0D65A48AA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12923-542A-5334-E124-2B57FF83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C75C7-323F-114F-7800-541532EA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2F83C-6AB4-8D34-4F66-DE1277B8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86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0A9D3-4CE0-1041-8990-762966035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07D83-9D1D-20BF-E0A8-BDC8D9EE6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1E204-6100-EFED-09F4-5DB6D119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5785-F90E-7062-681F-4286F6F6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BE14-0BC4-D4F3-823A-BDDF50DD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16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01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4F398-C6EB-8135-CC38-30DCF632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9C34D-E96C-40D5-C80B-D8AA15F32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ABDD8-11F0-188C-57D6-438D89461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8ABC4-F480-4965-A864-3C225597E9F4}" type="datetimeFigureOut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A6A45-6B07-9E5C-57F9-CA20D863B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4A86D-043E-E033-206A-56B157E26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8824-CDE9-4A59-9B99-6D4C86630C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3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1" y="1447800"/>
            <a:ext cx="7623175" cy="1752600"/>
          </a:xfrm>
        </p:spPr>
        <p:txBody>
          <a:bodyPr/>
          <a:lstStyle/>
          <a:p>
            <a:pPr algn="ctr" eaLnBrk="1" hangingPunct="1"/>
            <a:r>
              <a:rPr lang="en-US" sz="4600" b="1" dirty="0"/>
              <a:t>How Does Machine Learning Work?</a:t>
            </a:r>
          </a:p>
        </p:txBody>
      </p:sp>
      <p:sp>
        <p:nvSpPr>
          <p:cNvPr id="3075" name="Text Box 33"/>
          <p:cNvSpPr txBox="1">
            <a:spLocks noChangeArrowheads="1"/>
          </p:cNvSpPr>
          <p:nvPr/>
        </p:nvSpPr>
        <p:spPr bwMode="auto">
          <a:xfrm>
            <a:off x="2133601" y="4191001"/>
            <a:ext cx="7864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Instructor: Dr. Jeff Fortuna, B. Eng, M. Eng, PhD, (Electrical Engineering), 			 McMaster University</a:t>
            </a:r>
          </a:p>
          <a:p>
            <a:endParaRPr lang="en-US"/>
          </a:p>
          <a:p>
            <a:pPr algn="ctr"/>
            <a:r>
              <a:rPr lang="en-US"/>
              <a:t>email: fortunjj@mcmaster.ca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Freeform 357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8" name="Rectangle 358"/>
          <p:cNvSpPr/>
          <p:nvPr/>
        </p:nvSpPr>
        <p:spPr>
          <a:xfrm>
            <a:off x="2072639" y="129694"/>
            <a:ext cx="7360020" cy="5815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997646"/>
            <a:r>
              <a:rPr lang="en-US" sz="4400" b="1" dirty="0">
                <a:solidFill>
                  <a:srgbClr val="000000"/>
                </a:solidFill>
                <a:latin typeface="Calibri"/>
              </a:rPr>
              <a:t>Type</a:t>
            </a:r>
            <a:r>
              <a:rPr lang="en-US" sz="4400" b="1" spc="99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4400" b="1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4400" b="1" spc="994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4400" b="1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>
              <a:lnSpc>
                <a:spcPts val="10427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Supervise</a:t>
            </a:r>
            <a:r>
              <a:rPr lang="en-US" sz="3200" b="1" spc="719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(inductive</a:t>
            </a:r>
            <a:r>
              <a:rPr lang="en-US" sz="3200" b="1" spc="726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457200">
              <a:lnSpc>
                <a:spcPts val="39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Given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z="2800" spc="638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dat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spc="643" dirty="0">
                <a:solidFill>
                  <a:srgbClr val="000000"/>
                </a:solidFill>
                <a:latin typeface="Calibri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desire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output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(labels)</a:t>
            </a:r>
          </a:p>
          <a:p>
            <a:pPr>
              <a:lnSpc>
                <a:spcPts val="4607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Unsupervise</a:t>
            </a:r>
            <a:r>
              <a:rPr lang="en-US" sz="3200" b="1" spc="718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457200">
              <a:lnSpc>
                <a:spcPts val="40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Given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z="2800" spc="638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dat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(withou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desire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outputs)</a:t>
            </a:r>
          </a:p>
          <a:p>
            <a:pPr>
              <a:lnSpc>
                <a:spcPts val="4607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Semi-supervise</a:t>
            </a:r>
            <a:r>
              <a:rPr lang="en-US" sz="3200" b="1" spc="719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457200">
              <a:lnSpc>
                <a:spcPts val="39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Given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z="2800" spc="638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dat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spc="643" dirty="0">
                <a:solidFill>
                  <a:srgbClr val="000000"/>
                </a:solidFill>
                <a:latin typeface="Calibri"/>
              </a:rPr>
              <a:t>+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fe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w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desire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outputs</a:t>
            </a:r>
          </a:p>
          <a:p>
            <a:pPr>
              <a:lnSpc>
                <a:spcPts val="4607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Reinforcemen</a:t>
            </a:r>
            <a:r>
              <a:rPr lang="en-US" sz="3200" b="1" spc="727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b="1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457200">
              <a:lnSpc>
                <a:spcPts val="40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Reward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fro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sequenc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actions</a:t>
            </a:r>
          </a:p>
        </p:txBody>
      </p:sp>
      <p:sp>
        <p:nvSpPr>
          <p:cNvPr id="359" name="Rectangle 359"/>
          <p:cNvSpPr/>
          <p:nvPr/>
        </p:nvSpPr>
        <p:spPr>
          <a:xfrm>
            <a:off x="1615439" y="6590746"/>
            <a:ext cx="2504788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Base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Pedr</a:t>
            </a:r>
            <a:r>
              <a:rPr lang="en-US" sz="1400" spc="313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Domingos</a:t>
            </a:r>
          </a:p>
        </p:txBody>
      </p:sp>
      <p:sp>
        <p:nvSpPr>
          <p:cNvPr id="360" name="Rectangle 360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Freeform 361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2" name="Freeform 362"/>
          <p:cNvSpPr/>
          <p:nvPr/>
        </p:nvSpPr>
        <p:spPr>
          <a:xfrm flipV="1">
            <a:off x="3918119" y="3102547"/>
            <a:ext cx="4928193" cy="2460054"/>
          </a:xfrm>
          <a:custGeom>
            <a:avLst/>
            <a:gdLst/>
            <a:ahLst/>
            <a:cxnLst/>
            <a:rect l="0" t="0" r="0" b="0"/>
            <a:pathLst>
              <a:path w="4928193" h="2460054">
                <a:moveTo>
                  <a:pt x="0" y="0"/>
                </a:moveTo>
                <a:lnTo>
                  <a:pt x="4928193" y="0"/>
                </a:lnTo>
                <a:moveTo>
                  <a:pt x="0" y="304800"/>
                </a:moveTo>
                <a:lnTo>
                  <a:pt x="4928193" y="304800"/>
                </a:lnTo>
                <a:moveTo>
                  <a:pt x="0" y="609600"/>
                </a:moveTo>
                <a:lnTo>
                  <a:pt x="4928193" y="609600"/>
                </a:lnTo>
                <a:moveTo>
                  <a:pt x="0" y="927100"/>
                </a:moveTo>
                <a:lnTo>
                  <a:pt x="4928193" y="927100"/>
                </a:lnTo>
                <a:moveTo>
                  <a:pt x="0" y="1231900"/>
                </a:moveTo>
                <a:lnTo>
                  <a:pt x="4928193" y="1231900"/>
                </a:lnTo>
                <a:moveTo>
                  <a:pt x="0" y="1536700"/>
                </a:moveTo>
                <a:lnTo>
                  <a:pt x="4928193" y="1536700"/>
                </a:lnTo>
                <a:moveTo>
                  <a:pt x="0" y="1841500"/>
                </a:moveTo>
                <a:lnTo>
                  <a:pt x="4928193" y="1841500"/>
                </a:lnTo>
                <a:moveTo>
                  <a:pt x="0" y="2146300"/>
                </a:moveTo>
                <a:lnTo>
                  <a:pt x="4928193" y="2146300"/>
                </a:lnTo>
                <a:moveTo>
                  <a:pt x="0" y="2460054"/>
                </a:moveTo>
                <a:lnTo>
                  <a:pt x="4928193" y="2460054"/>
                </a:lnTo>
              </a:path>
            </a:pathLst>
          </a:custGeom>
          <a:noFill/>
          <a:ln w="12700" cap="flat" cmpd="sng">
            <a:solidFill>
              <a:srgbClr val="D9D9D9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3" name="Freeform 363"/>
          <p:cNvSpPr/>
          <p:nvPr/>
        </p:nvSpPr>
        <p:spPr>
          <a:xfrm flipV="1">
            <a:off x="3918119" y="3102548"/>
            <a:ext cx="1" cy="2767183"/>
          </a:xfrm>
          <a:custGeom>
            <a:avLst/>
            <a:gdLst/>
            <a:ahLst/>
            <a:cxnLst/>
            <a:rect l="0" t="0" r="0" b="0"/>
            <a:pathLst>
              <a:path w="1" h="2767183">
                <a:moveTo>
                  <a:pt x="0" y="0"/>
                </a:moveTo>
                <a:lnTo>
                  <a:pt x="1" y="2767183"/>
                </a:lnTo>
              </a:path>
            </a:pathLst>
          </a:custGeom>
          <a:noFill/>
          <a:ln w="12700" cap="flat" cmpd="sng">
            <a:solidFill>
              <a:srgbClr val="868686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4" name="Freeform 364"/>
          <p:cNvSpPr/>
          <p:nvPr/>
        </p:nvSpPr>
        <p:spPr>
          <a:xfrm flipV="1">
            <a:off x="3861689" y="3102548"/>
            <a:ext cx="56430" cy="2767183"/>
          </a:xfrm>
          <a:custGeom>
            <a:avLst/>
            <a:gdLst/>
            <a:ahLst/>
            <a:cxnLst/>
            <a:rect l="0" t="0" r="0" b="0"/>
            <a:pathLst>
              <a:path w="56430" h="2767183">
                <a:moveTo>
                  <a:pt x="0" y="0"/>
                </a:moveTo>
                <a:lnTo>
                  <a:pt x="56430" y="0"/>
                </a:lnTo>
                <a:moveTo>
                  <a:pt x="0" y="307129"/>
                </a:moveTo>
                <a:lnTo>
                  <a:pt x="56430" y="307129"/>
                </a:lnTo>
                <a:moveTo>
                  <a:pt x="0" y="611929"/>
                </a:moveTo>
                <a:lnTo>
                  <a:pt x="56430" y="611929"/>
                </a:lnTo>
                <a:moveTo>
                  <a:pt x="0" y="916729"/>
                </a:moveTo>
                <a:lnTo>
                  <a:pt x="56430" y="916729"/>
                </a:lnTo>
                <a:moveTo>
                  <a:pt x="0" y="1234229"/>
                </a:moveTo>
                <a:lnTo>
                  <a:pt x="56430" y="1234229"/>
                </a:lnTo>
                <a:moveTo>
                  <a:pt x="0" y="1539029"/>
                </a:moveTo>
                <a:lnTo>
                  <a:pt x="56430" y="1539029"/>
                </a:lnTo>
                <a:moveTo>
                  <a:pt x="0" y="1843829"/>
                </a:moveTo>
                <a:lnTo>
                  <a:pt x="56430" y="1843829"/>
                </a:lnTo>
                <a:moveTo>
                  <a:pt x="0" y="2148629"/>
                </a:moveTo>
                <a:lnTo>
                  <a:pt x="56430" y="2148629"/>
                </a:lnTo>
                <a:moveTo>
                  <a:pt x="0" y="2453429"/>
                </a:moveTo>
                <a:lnTo>
                  <a:pt x="56430" y="2453429"/>
                </a:lnTo>
                <a:moveTo>
                  <a:pt x="0" y="2767183"/>
                </a:moveTo>
                <a:lnTo>
                  <a:pt x="56430" y="2767183"/>
                </a:lnTo>
              </a:path>
            </a:pathLst>
          </a:custGeom>
          <a:noFill/>
          <a:ln w="12700" cap="flat" cmpd="sng">
            <a:solidFill>
              <a:srgbClr val="868686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5" name="Freeform 365"/>
          <p:cNvSpPr/>
          <p:nvPr/>
        </p:nvSpPr>
        <p:spPr>
          <a:xfrm flipV="1">
            <a:off x="3918119" y="5869730"/>
            <a:ext cx="4928193" cy="1"/>
          </a:xfrm>
          <a:custGeom>
            <a:avLst/>
            <a:gdLst/>
            <a:ahLst/>
            <a:cxnLst/>
            <a:rect l="0" t="0" r="0" b="0"/>
            <a:pathLst>
              <a:path w="4928193" h="1">
                <a:moveTo>
                  <a:pt x="0" y="1"/>
                </a:moveTo>
                <a:lnTo>
                  <a:pt x="4928193" y="0"/>
                </a:lnTo>
              </a:path>
            </a:pathLst>
          </a:custGeom>
          <a:noFill/>
          <a:ln w="12700" cap="flat" cmpd="sng">
            <a:solidFill>
              <a:srgbClr val="868686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6" name="Freeform 366"/>
          <p:cNvSpPr/>
          <p:nvPr/>
        </p:nvSpPr>
        <p:spPr>
          <a:xfrm flipV="1">
            <a:off x="3918119" y="5869729"/>
            <a:ext cx="4928193" cy="56430"/>
          </a:xfrm>
          <a:custGeom>
            <a:avLst/>
            <a:gdLst/>
            <a:ahLst/>
            <a:cxnLst/>
            <a:rect l="0" t="0" r="0" b="0"/>
            <a:pathLst>
              <a:path w="4928193" h="56430">
                <a:moveTo>
                  <a:pt x="0" y="56430"/>
                </a:moveTo>
                <a:lnTo>
                  <a:pt x="0" y="0"/>
                </a:lnTo>
                <a:moveTo>
                  <a:pt x="984081" y="56430"/>
                </a:moveTo>
                <a:lnTo>
                  <a:pt x="984081" y="0"/>
                </a:lnTo>
                <a:moveTo>
                  <a:pt x="1974681" y="56430"/>
                </a:moveTo>
                <a:lnTo>
                  <a:pt x="1974681" y="0"/>
                </a:lnTo>
                <a:moveTo>
                  <a:pt x="2952581" y="56430"/>
                </a:moveTo>
                <a:lnTo>
                  <a:pt x="2952581" y="0"/>
                </a:lnTo>
                <a:moveTo>
                  <a:pt x="3943181" y="56430"/>
                </a:moveTo>
                <a:lnTo>
                  <a:pt x="3943181" y="0"/>
                </a:lnTo>
                <a:moveTo>
                  <a:pt x="4928193" y="56430"/>
                </a:moveTo>
                <a:lnTo>
                  <a:pt x="4928193" y="0"/>
                </a:lnTo>
              </a:path>
            </a:pathLst>
          </a:custGeom>
          <a:noFill/>
          <a:ln w="12700" cap="flat" cmpd="sng">
            <a:solidFill>
              <a:srgbClr val="868686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67" name="Picture 36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6300" y="3556000"/>
            <a:ext cx="241300" cy="241300"/>
          </a:xfrm>
          <a:prstGeom prst="rect">
            <a:avLst/>
          </a:prstGeom>
          <a:noFill/>
        </p:spPr>
      </p:pic>
      <p:pic>
        <p:nvPicPr>
          <p:cNvPr id="368" name="Picture 36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3365500"/>
            <a:ext cx="241300" cy="241300"/>
          </a:xfrm>
          <a:prstGeom prst="rect">
            <a:avLst/>
          </a:prstGeom>
          <a:noFill/>
        </p:spPr>
      </p:pic>
      <p:pic>
        <p:nvPicPr>
          <p:cNvPr id="369" name="Picture 36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543300"/>
            <a:ext cx="241300" cy="241300"/>
          </a:xfrm>
          <a:prstGeom prst="rect">
            <a:avLst/>
          </a:prstGeom>
          <a:noFill/>
        </p:spPr>
      </p:pic>
      <p:pic>
        <p:nvPicPr>
          <p:cNvPr id="370" name="Picture 37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78400" y="3479800"/>
            <a:ext cx="241300" cy="241300"/>
          </a:xfrm>
          <a:prstGeom prst="rect">
            <a:avLst/>
          </a:prstGeom>
          <a:noFill/>
        </p:spPr>
      </p:pic>
      <p:pic>
        <p:nvPicPr>
          <p:cNvPr id="371" name="Picture 37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80000" y="3467100"/>
            <a:ext cx="241300" cy="241300"/>
          </a:xfrm>
          <a:prstGeom prst="rect">
            <a:avLst/>
          </a:prstGeom>
          <a:noFill/>
        </p:spPr>
      </p:pic>
      <p:pic>
        <p:nvPicPr>
          <p:cNvPr id="372" name="Picture 37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3568700"/>
            <a:ext cx="241300" cy="241300"/>
          </a:xfrm>
          <a:prstGeom prst="rect">
            <a:avLst/>
          </a:prstGeom>
          <a:noFill/>
        </p:spPr>
      </p:pic>
      <p:pic>
        <p:nvPicPr>
          <p:cNvPr id="373" name="Picture 37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0500" y="3644900"/>
            <a:ext cx="241300" cy="241300"/>
          </a:xfrm>
          <a:prstGeom prst="rect">
            <a:avLst/>
          </a:prstGeom>
          <a:noFill/>
        </p:spPr>
      </p:pic>
      <p:pic>
        <p:nvPicPr>
          <p:cNvPr id="374" name="Picture 37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2100" y="3454400"/>
            <a:ext cx="241300" cy="241300"/>
          </a:xfrm>
          <a:prstGeom prst="rect">
            <a:avLst/>
          </a:prstGeom>
          <a:noFill/>
        </p:spPr>
      </p:pic>
      <p:pic>
        <p:nvPicPr>
          <p:cNvPr id="375" name="Picture 37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73700" y="3479800"/>
            <a:ext cx="241300" cy="241300"/>
          </a:xfrm>
          <a:prstGeom prst="rect">
            <a:avLst/>
          </a:prstGeom>
          <a:noFill/>
        </p:spPr>
      </p:pic>
      <p:pic>
        <p:nvPicPr>
          <p:cNvPr id="376" name="Picture 37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75300" y="3467100"/>
            <a:ext cx="241300" cy="241300"/>
          </a:xfrm>
          <a:prstGeom prst="rect">
            <a:avLst/>
          </a:prstGeom>
          <a:noFill/>
        </p:spPr>
      </p:pic>
      <p:pic>
        <p:nvPicPr>
          <p:cNvPr id="377" name="Picture 37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64200" y="3606800"/>
            <a:ext cx="241300" cy="241300"/>
          </a:xfrm>
          <a:prstGeom prst="rect">
            <a:avLst/>
          </a:prstGeom>
          <a:noFill/>
        </p:spPr>
      </p:pic>
      <p:pic>
        <p:nvPicPr>
          <p:cNvPr id="378" name="Picture 37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5800" y="3860800"/>
            <a:ext cx="241300" cy="241300"/>
          </a:xfrm>
          <a:prstGeom prst="rect">
            <a:avLst/>
          </a:prstGeom>
          <a:noFill/>
        </p:spPr>
      </p:pic>
      <p:pic>
        <p:nvPicPr>
          <p:cNvPr id="379" name="Picture 37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67400" y="3759200"/>
            <a:ext cx="241300" cy="241300"/>
          </a:xfrm>
          <a:prstGeom prst="rect">
            <a:avLst/>
          </a:prstGeom>
          <a:noFill/>
        </p:spPr>
      </p:pic>
      <p:pic>
        <p:nvPicPr>
          <p:cNvPr id="380" name="Picture 38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69000" y="3454400"/>
            <a:ext cx="241300" cy="241300"/>
          </a:xfrm>
          <a:prstGeom prst="rect">
            <a:avLst/>
          </a:prstGeom>
          <a:noFill/>
        </p:spPr>
      </p:pic>
      <p:pic>
        <p:nvPicPr>
          <p:cNvPr id="381" name="Picture 38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70600" y="3771900"/>
            <a:ext cx="241300" cy="241300"/>
          </a:xfrm>
          <a:prstGeom prst="rect">
            <a:avLst/>
          </a:prstGeom>
          <a:noFill/>
        </p:spPr>
      </p:pic>
      <p:pic>
        <p:nvPicPr>
          <p:cNvPr id="382" name="Picture 38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59500" y="3568700"/>
            <a:ext cx="241300" cy="241300"/>
          </a:xfrm>
          <a:prstGeom prst="rect">
            <a:avLst/>
          </a:prstGeom>
          <a:noFill/>
        </p:spPr>
      </p:pic>
      <p:pic>
        <p:nvPicPr>
          <p:cNvPr id="383" name="Picture 38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100" y="3886200"/>
            <a:ext cx="241300" cy="241300"/>
          </a:xfrm>
          <a:prstGeom prst="rect">
            <a:avLst/>
          </a:prstGeom>
          <a:noFill/>
        </p:spPr>
      </p:pic>
      <p:pic>
        <p:nvPicPr>
          <p:cNvPr id="384" name="Picture 38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62700" y="3352800"/>
            <a:ext cx="241300" cy="241300"/>
          </a:xfrm>
          <a:prstGeom prst="rect">
            <a:avLst/>
          </a:prstGeom>
          <a:noFill/>
        </p:spPr>
      </p:pic>
      <p:pic>
        <p:nvPicPr>
          <p:cNvPr id="385" name="Picture 38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64300" y="3708400"/>
            <a:ext cx="241300" cy="241300"/>
          </a:xfrm>
          <a:prstGeom prst="rect">
            <a:avLst/>
          </a:prstGeom>
          <a:noFill/>
        </p:spPr>
      </p:pic>
      <p:pic>
        <p:nvPicPr>
          <p:cNvPr id="386" name="Picture 38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3200" y="3759200"/>
            <a:ext cx="241300" cy="241300"/>
          </a:xfrm>
          <a:prstGeom prst="rect">
            <a:avLst/>
          </a:prstGeom>
          <a:noFill/>
        </p:spPr>
      </p:pic>
      <p:pic>
        <p:nvPicPr>
          <p:cNvPr id="387" name="Picture 38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54800" y="3860800"/>
            <a:ext cx="241300" cy="241300"/>
          </a:xfrm>
          <a:prstGeom prst="rect">
            <a:avLst/>
          </a:prstGeom>
          <a:noFill/>
        </p:spPr>
      </p:pic>
      <p:pic>
        <p:nvPicPr>
          <p:cNvPr id="388" name="Picture 38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6400" y="3835400"/>
            <a:ext cx="241300" cy="241300"/>
          </a:xfrm>
          <a:prstGeom prst="rect">
            <a:avLst/>
          </a:prstGeom>
          <a:noFill/>
        </p:spPr>
      </p:pic>
      <p:pic>
        <p:nvPicPr>
          <p:cNvPr id="389" name="Picture 38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0" y="3695700"/>
            <a:ext cx="241300" cy="241300"/>
          </a:xfrm>
          <a:prstGeom prst="rect">
            <a:avLst/>
          </a:prstGeom>
          <a:noFill/>
        </p:spPr>
      </p:pic>
      <p:pic>
        <p:nvPicPr>
          <p:cNvPr id="390" name="Picture 39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46900" y="3937000"/>
            <a:ext cx="241300" cy="241300"/>
          </a:xfrm>
          <a:prstGeom prst="rect">
            <a:avLst/>
          </a:prstGeom>
          <a:noFill/>
        </p:spPr>
      </p:pic>
      <p:pic>
        <p:nvPicPr>
          <p:cNvPr id="391" name="Picture 39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48500" y="3886200"/>
            <a:ext cx="241300" cy="241300"/>
          </a:xfrm>
          <a:prstGeom prst="rect">
            <a:avLst/>
          </a:prstGeom>
          <a:noFill/>
        </p:spPr>
      </p:pic>
      <p:pic>
        <p:nvPicPr>
          <p:cNvPr id="392" name="Picture 39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0100" y="3911600"/>
            <a:ext cx="241300" cy="241300"/>
          </a:xfrm>
          <a:prstGeom prst="rect">
            <a:avLst/>
          </a:prstGeom>
          <a:noFill/>
        </p:spPr>
      </p:pic>
      <p:pic>
        <p:nvPicPr>
          <p:cNvPr id="393" name="Picture 39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1700" y="4064000"/>
            <a:ext cx="241300" cy="241300"/>
          </a:xfrm>
          <a:prstGeom prst="rect">
            <a:avLst/>
          </a:prstGeom>
          <a:noFill/>
        </p:spPr>
      </p:pic>
      <p:pic>
        <p:nvPicPr>
          <p:cNvPr id="394" name="Picture 39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40600" y="3949700"/>
            <a:ext cx="241300" cy="241300"/>
          </a:xfrm>
          <a:prstGeom prst="rect">
            <a:avLst/>
          </a:prstGeom>
          <a:noFill/>
        </p:spPr>
      </p:pic>
      <p:pic>
        <p:nvPicPr>
          <p:cNvPr id="395" name="Picture 39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42200" y="4457700"/>
            <a:ext cx="241300" cy="241300"/>
          </a:xfrm>
          <a:prstGeom prst="rect">
            <a:avLst/>
          </a:prstGeom>
          <a:noFill/>
        </p:spPr>
      </p:pic>
      <p:pic>
        <p:nvPicPr>
          <p:cNvPr id="396" name="Picture 39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3800" y="4330700"/>
            <a:ext cx="241300" cy="241300"/>
          </a:xfrm>
          <a:prstGeom prst="rect">
            <a:avLst/>
          </a:prstGeom>
          <a:noFill/>
        </p:spPr>
      </p:pic>
      <p:pic>
        <p:nvPicPr>
          <p:cNvPr id="397" name="Picture 39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45400" y="4127500"/>
            <a:ext cx="241300" cy="241300"/>
          </a:xfrm>
          <a:prstGeom prst="rect">
            <a:avLst/>
          </a:prstGeom>
          <a:noFill/>
        </p:spPr>
      </p:pic>
      <p:pic>
        <p:nvPicPr>
          <p:cNvPr id="398" name="Picture 39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34300" y="4267200"/>
            <a:ext cx="241300" cy="241300"/>
          </a:xfrm>
          <a:prstGeom prst="rect">
            <a:avLst/>
          </a:prstGeom>
          <a:noFill/>
        </p:spPr>
      </p:pic>
      <p:pic>
        <p:nvPicPr>
          <p:cNvPr id="399" name="Picture 39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35900" y="4356100"/>
            <a:ext cx="241300" cy="241300"/>
          </a:xfrm>
          <a:prstGeom prst="rect">
            <a:avLst/>
          </a:prstGeom>
          <a:noFill/>
        </p:spPr>
      </p:pic>
      <p:pic>
        <p:nvPicPr>
          <p:cNvPr id="400" name="Picture 40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37500" y="4660900"/>
            <a:ext cx="241300" cy="241300"/>
          </a:xfrm>
          <a:prstGeom prst="rect">
            <a:avLst/>
          </a:prstGeom>
          <a:noFill/>
        </p:spPr>
      </p:pic>
      <p:pic>
        <p:nvPicPr>
          <p:cNvPr id="401" name="Picture 40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6625" y="3584575"/>
            <a:ext cx="127000" cy="127000"/>
          </a:xfrm>
          <a:prstGeom prst="rect">
            <a:avLst/>
          </a:prstGeom>
          <a:noFill/>
        </p:spPr>
      </p:pic>
      <p:sp>
        <p:nvSpPr>
          <p:cNvPr id="402" name="Freeform 402"/>
          <p:cNvSpPr/>
          <p:nvPr/>
        </p:nvSpPr>
        <p:spPr>
          <a:xfrm flipV="1">
            <a:off x="4759325" y="35972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3" name="Picture 40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8225" y="3394075"/>
            <a:ext cx="127000" cy="127000"/>
          </a:xfrm>
          <a:prstGeom prst="rect">
            <a:avLst/>
          </a:prstGeom>
          <a:noFill/>
        </p:spPr>
      </p:pic>
      <p:pic>
        <p:nvPicPr>
          <p:cNvPr id="404" name="Picture 40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8225" y="3394075"/>
            <a:ext cx="127000" cy="127000"/>
          </a:xfrm>
          <a:prstGeom prst="rect">
            <a:avLst/>
          </a:prstGeom>
          <a:noFill/>
        </p:spPr>
      </p:pic>
      <p:sp>
        <p:nvSpPr>
          <p:cNvPr id="405" name="Freeform 405"/>
          <p:cNvSpPr/>
          <p:nvPr/>
        </p:nvSpPr>
        <p:spPr>
          <a:xfrm flipV="1">
            <a:off x="4860925" y="34067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6" name="Picture 406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7125" y="3571875"/>
            <a:ext cx="127000" cy="127000"/>
          </a:xfrm>
          <a:prstGeom prst="rect">
            <a:avLst/>
          </a:prstGeom>
          <a:noFill/>
        </p:spPr>
      </p:pic>
      <p:sp>
        <p:nvSpPr>
          <p:cNvPr id="407" name="Freeform 407"/>
          <p:cNvSpPr/>
          <p:nvPr/>
        </p:nvSpPr>
        <p:spPr>
          <a:xfrm flipV="1">
            <a:off x="4949825" y="35845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8" name="Picture 40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38725" y="3508375"/>
            <a:ext cx="127000" cy="127000"/>
          </a:xfrm>
          <a:prstGeom prst="rect">
            <a:avLst/>
          </a:prstGeom>
          <a:noFill/>
        </p:spPr>
      </p:pic>
      <p:pic>
        <p:nvPicPr>
          <p:cNvPr id="409" name="Picture 40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38725" y="3508375"/>
            <a:ext cx="127000" cy="127000"/>
          </a:xfrm>
          <a:prstGeom prst="rect">
            <a:avLst/>
          </a:prstGeom>
          <a:noFill/>
        </p:spPr>
      </p:pic>
      <p:sp>
        <p:nvSpPr>
          <p:cNvPr id="410" name="Freeform 410"/>
          <p:cNvSpPr/>
          <p:nvPr/>
        </p:nvSpPr>
        <p:spPr>
          <a:xfrm flipV="1">
            <a:off x="5051425" y="35210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1" name="Picture 411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0325" y="3495675"/>
            <a:ext cx="127000" cy="127000"/>
          </a:xfrm>
          <a:prstGeom prst="rect">
            <a:avLst/>
          </a:prstGeom>
          <a:noFill/>
        </p:spPr>
      </p:pic>
      <p:pic>
        <p:nvPicPr>
          <p:cNvPr id="412" name="Picture 412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0325" y="3495675"/>
            <a:ext cx="127000" cy="127000"/>
          </a:xfrm>
          <a:prstGeom prst="rect">
            <a:avLst/>
          </a:prstGeom>
          <a:noFill/>
        </p:spPr>
      </p:pic>
      <p:sp>
        <p:nvSpPr>
          <p:cNvPr id="413" name="Freeform 413"/>
          <p:cNvSpPr/>
          <p:nvPr/>
        </p:nvSpPr>
        <p:spPr>
          <a:xfrm flipV="1">
            <a:off x="5153025" y="35083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4" name="Picture 414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41925" y="3597275"/>
            <a:ext cx="127000" cy="127000"/>
          </a:xfrm>
          <a:prstGeom prst="rect">
            <a:avLst/>
          </a:prstGeom>
          <a:noFill/>
        </p:spPr>
      </p:pic>
      <p:sp>
        <p:nvSpPr>
          <p:cNvPr id="415" name="Freeform 415"/>
          <p:cNvSpPr/>
          <p:nvPr/>
        </p:nvSpPr>
        <p:spPr>
          <a:xfrm flipV="1">
            <a:off x="5254625" y="36099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6" name="Picture 416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0825" y="3673475"/>
            <a:ext cx="127000" cy="127000"/>
          </a:xfrm>
          <a:prstGeom prst="rect">
            <a:avLst/>
          </a:prstGeom>
          <a:noFill/>
        </p:spPr>
      </p:pic>
      <p:sp>
        <p:nvSpPr>
          <p:cNvPr id="417" name="Freeform 417"/>
          <p:cNvSpPr/>
          <p:nvPr/>
        </p:nvSpPr>
        <p:spPr>
          <a:xfrm flipV="1">
            <a:off x="5343525" y="36861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18" name="Picture 418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32425" y="3482975"/>
            <a:ext cx="127000" cy="127000"/>
          </a:xfrm>
          <a:prstGeom prst="rect">
            <a:avLst/>
          </a:prstGeom>
          <a:noFill/>
        </p:spPr>
      </p:pic>
      <p:sp>
        <p:nvSpPr>
          <p:cNvPr id="419" name="Freeform 419"/>
          <p:cNvSpPr/>
          <p:nvPr/>
        </p:nvSpPr>
        <p:spPr>
          <a:xfrm flipV="1">
            <a:off x="5445125" y="34956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20" name="Picture 420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34025" y="3508375"/>
            <a:ext cx="127000" cy="127000"/>
          </a:xfrm>
          <a:prstGeom prst="rect">
            <a:avLst/>
          </a:prstGeom>
          <a:noFill/>
        </p:spPr>
      </p:pic>
      <p:pic>
        <p:nvPicPr>
          <p:cNvPr id="421" name="Picture 421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34025" y="3508375"/>
            <a:ext cx="127000" cy="127000"/>
          </a:xfrm>
          <a:prstGeom prst="rect">
            <a:avLst/>
          </a:prstGeom>
          <a:noFill/>
        </p:spPr>
      </p:pic>
      <p:sp>
        <p:nvSpPr>
          <p:cNvPr id="422" name="Freeform 422"/>
          <p:cNvSpPr/>
          <p:nvPr/>
        </p:nvSpPr>
        <p:spPr>
          <a:xfrm flipV="1">
            <a:off x="5546725" y="35210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23" name="Picture 423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5625" y="3495675"/>
            <a:ext cx="127000" cy="127000"/>
          </a:xfrm>
          <a:prstGeom prst="rect">
            <a:avLst/>
          </a:prstGeom>
          <a:noFill/>
        </p:spPr>
      </p:pic>
      <p:pic>
        <p:nvPicPr>
          <p:cNvPr id="424" name="Picture 424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35625" y="3495675"/>
            <a:ext cx="127000" cy="127000"/>
          </a:xfrm>
          <a:prstGeom prst="rect">
            <a:avLst/>
          </a:prstGeom>
          <a:noFill/>
        </p:spPr>
      </p:pic>
      <p:sp>
        <p:nvSpPr>
          <p:cNvPr id="425" name="Freeform 425"/>
          <p:cNvSpPr/>
          <p:nvPr/>
        </p:nvSpPr>
        <p:spPr>
          <a:xfrm flipV="1">
            <a:off x="5648325" y="35083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26" name="Picture 426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24525" y="3635375"/>
            <a:ext cx="127000" cy="127000"/>
          </a:xfrm>
          <a:prstGeom prst="rect">
            <a:avLst/>
          </a:prstGeom>
          <a:noFill/>
        </p:spPr>
      </p:pic>
      <p:sp>
        <p:nvSpPr>
          <p:cNvPr id="427" name="Freeform 427"/>
          <p:cNvSpPr/>
          <p:nvPr/>
        </p:nvSpPr>
        <p:spPr>
          <a:xfrm flipV="1">
            <a:off x="5737225" y="36480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28" name="Picture 428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26125" y="3889375"/>
            <a:ext cx="127000" cy="127000"/>
          </a:xfrm>
          <a:prstGeom prst="rect">
            <a:avLst/>
          </a:prstGeom>
          <a:noFill/>
        </p:spPr>
      </p:pic>
      <p:sp>
        <p:nvSpPr>
          <p:cNvPr id="429" name="Freeform 429"/>
          <p:cNvSpPr/>
          <p:nvPr/>
        </p:nvSpPr>
        <p:spPr>
          <a:xfrm flipV="1">
            <a:off x="5838825" y="39020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30" name="Picture 430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27725" y="3787775"/>
            <a:ext cx="127000" cy="127000"/>
          </a:xfrm>
          <a:prstGeom prst="rect">
            <a:avLst/>
          </a:prstGeom>
          <a:noFill/>
        </p:spPr>
      </p:pic>
      <p:sp>
        <p:nvSpPr>
          <p:cNvPr id="431" name="Freeform 431"/>
          <p:cNvSpPr/>
          <p:nvPr/>
        </p:nvSpPr>
        <p:spPr>
          <a:xfrm flipV="1">
            <a:off x="5940425" y="38004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32" name="Picture 432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29325" y="3482975"/>
            <a:ext cx="127000" cy="127000"/>
          </a:xfrm>
          <a:prstGeom prst="rect">
            <a:avLst/>
          </a:prstGeom>
          <a:noFill/>
        </p:spPr>
      </p:pic>
      <p:sp>
        <p:nvSpPr>
          <p:cNvPr id="433" name="Freeform 433"/>
          <p:cNvSpPr/>
          <p:nvPr/>
        </p:nvSpPr>
        <p:spPr>
          <a:xfrm flipV="1">
            <a:off x="6042025" y="34956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34" name="Picture 434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30925" y="3800475"/>
            <a:ext cx="127000" cy="127000"/>
          </a:xfrm>
          <a:prstGeom prst="rect">
            <a:avLst/>
          </a:prstGeom>
          <a:noFill/>
        </p:spPr>
      </p:pic>
      <p:sp>
        <p:nvSpPr>
          <p:cNvPr id="435" name="Freeform 435"/>
          <p:cNvSpPr/>
          <p:nvPr/>
        </p:nvSpPr>
        <p:spPr>
          <a:xfrm flipV="1">
            <a:off x="6143625" y="38131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36" name="Picture 436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9825" y="3597275"/>
            <a:ext cx="127000" cy="127000"/>
          </a:xfrm>
          <a:prstGeom prst="rect">
            <a:avLst/>
          </a:prstGeom>
          <a:noFill/>
        </p:spPr>
      </p:pic>
      <p:sp>
        <p:nvSpPr>
          <p:cNvPr id="437" name="Freeform 437"/>
          <p:cNvSpPr/>
          <p:nvPr/>
        </p:nvSpPr>
        <p:spPr>
          <a:xfrm flipV="1">
            <a:off x="6232525" y="36099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38" name="Picture 438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1425" y="3914775"/>
            <a:ext cx="127000" cy="127000"/>
          </a:xfrm>
          <a:prstGeom prst="rect">
            <a:avLst/>
          </a:prstGeom>
          <a:noFill/>
        </p:spPr>
      </p:pic>
      <p:pic>
        <p:nvPicPr>
          <p:cNvPr id="439" name="Picture 439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1425" y="3914775"/>
            <a:ext cx="127000" cy="127000"/>
          </a:xfrm>
          <a:prstGeom prst="rect">
            <a:avLst/>
          </a:prstGeom>
          <a:noFill/>
        </p:spPr>
      </p:pic>
      <p:sp>
        <p:nvSpPr>
          <p:cNvPr id="440" name="Freeform 440"/>
          <p:cNvSpPr/>
          <p:nvPr/>
        </p:nvSpPr>
        <p:spPr>
          <a:xfrm flipV="1">
            <a:off x="6334125" y="39274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41" name="Picture 441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23025" y="3381375"/>
            <a:ext cx="127000" cy="127000"/>
          </a:xfrm>
          <a:prstGeom prst="rect">
            <a:avLst/>
          </a:prstGeom>
          <a:noFill/>
        </p:spPr>
      </p:pic>
      <p:sp>
        <p:nvSpPr>
          <p:cNvPr id="442" name="Freeform 442"/>
          <p:cNvSpPr/>
          <p:nvPr/>
        </p:nvSpPr>
        <p:spPr>
          <a:xfrm flipV="1">
            <a:off x="6435725" y="33940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43" name="Picture 44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4625" y="3736975"/>
            <a:ext cx="127000" cy="127000"/>
          </a:xfrm>
          <a:prstGeom prst="rect">
            <a:avLst/>
          </a:prstGeom>
          <a:noFill/>
        </p:spPr>
      </p:pic>
      <p:sp>
        <p:nvSpPr>
          <p:cNvPr id="444" name="Freeform 444"/>
          <p:cNvSpPr/>
          <p:nvPr/>
        </p:nvSpPr>
        <p:spPr>
          <a:xfrm flipV="1">
            <a:off x="6537325" y="37496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45" name="Picture 445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13525" y="3787775"/>
            <a:ext cx="127000" cy="127000"/>
          </a:xfrm>
          <a:prstGeom prst="rect">
            <a:avLst/>
          </a:prstGeom>
          <a:noFill/>
        </p:spPr>
      </p:pic>
      <p:sp>
        <p:nvSpPr>
          <p:cNvPr id="446" name="Freeform 446"/>
          <p:cNvSpPr/>
          <p:nvPr/>
        </p:nvSpPr>
        <p:spPr>
          <a:xfrm flipV="1">
            <a:off x="6626225" y="38004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47" name="Picture 44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15125" y="3889375"/>
            <a:ext cx="127000" cy="127000"/>
          </a:xfrm>
          <a:prstGeom prst="rect">
            <a:avLst/>
          </a:prstGeom>
          <a:noFill/>
        </p:spPr>
      </p:pic>
      <p:sp>
        <p:nvSpPr>
          <p:cNvPr id="448" name="Freeform 448"/>
          <p:cNvSpPr/>
          <p:nvPr/>
        </p:nvSpPr>
        <p:spPr>
          <a:xfrm flipV="1">
            <a:off x="6727825" y="39020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49" name="Picture 449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6725" y="3863975"/>
            <a:ext cx="127000" cy="127000"/>
          </a:xfrm>
          <a:prstGeom prst="rect">
            <a:avLst/>
          </a:prstGeom>
          <a:noFill/>
        </p:spPr>
      </p:pic>
      <p:pic>
        <p:nvPicPr>
          <p:cNvPr id="450" name="Picture 450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6725" y="3863975"/>
            <a:ext cx="127000" cy="127000"/>
          </a:xfrm>
          <a:prstGeom prst="rect">
            <a:avLst/>
          </a:prstGeom>
          <a:noFill/>
        </p:spPr>
      </p:pic>
      <p:sp>
        <p:nvSpPr>
          <p:cNvPr id="451" name="Freeform 451"/>
          <p:cNvSpPr/>
          <p:nvPr/>
        </p:nvSpPr>
        <p:spPr>
          <a:xfrm flipV="1">
            <a:off x="6829425" y="38766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52" name="Picture 452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18325" y="3724275"/>
            <a:ext cx="127000" cy="127000"/>
          </a:xfrm>
          <a:prstGeom prst="rect">
            <a:avLst/>
          </a:prstGeom>
          <a:noFill/>
        </p:spPr>
      </p:pic>
      <p:sp>
        <p:nvSpPr>
          <p:cNvPr id="453" name="Freeform 453"/>
          <p:cNvSpPr/>
          <p:nvPr/>
        </p:nvSpPr>
        <p:spPr>
          <a:xfrm flipV="1">
            <a:off x="6931025" y="37369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54" name="Picture 454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07225" y="3965575"/>
            <a:ext cx="127000" cy="127000"/>
          </a:xfrm>
          <a:prstGeom prst="rect">
            <a:avLst/>
          </a:prstGeom>
          <a:noFill/>
        </p:spPr>
      </p:pic>
      <p:pic>
        <p:nvPicPr>
          <p:cNvPr id="455" name="Picture 455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07225" y="3965575"/>
            <a:ext cx="127000" cy="127000"/>
          </a:xfrm>
          <a:prstGeom prst="rect">
            <a:avLst/>
          </a:prstGeom>
          <a:noFill/>
        </p:spPr>
      </p:pic>
      <p:sp>
        <p:nvSpPr>
          <p:cNvPr id="456" name="Freeform 456"/>
          <p:cNvSpPr/>
          <p:nvPr/>
        </p:nvSpPr>
        <p:spPr>
          <a:xfrm flipV="1">
            <a:off x="7019925" y="39782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57" name="Picture 457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08825" y="3914775"/>
            <a:ext cx="127000" cy="127000"/>
          </a:xfrm>
          <a:prstGeom prst="rect">
            <a:avLst/>
          </a:prstGeom>
          <a:noFill/>
        </p:spPr>
      </p:pic>
      <p:pic>
        <p:nvPicPr>
          <p:cNvPr id="458" name="Picture 458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08825" y="3914775"/>
            <a:ext cx="127000" cy="127000"/>
          </a:xfrm>
          <a:prstGeom prst="rect">
            <a:avLst/>
          </a:prstGeom>
          <a:noFill/>
        </p:spPr>
      </p:pic>
      <p:sp>
        <p:nvSpPr>
          <p:cNvPr id="459" name="Freeform 459"/>
          <p:cNvSpPr/>
          <p:nvPr/>
        </p:nvSpPr>
        <p:spPr>
          <a:xfrm flipV="1">
            <a:off x="7121525" y="39274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0" name="Picture 460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0425" y="3940175"/>
            <a:ext cx="127000" cy="127000"/>
          </a:xfrm>
          <a:prstGeom prst="rect">
            <a:avLst/>
          </a:prstGeom>
          <a:noFill/>
        </p:spPr>
      </p:pic>
      <p:sp>
        <p:nvSpPr>
          <p:cNvPr id="461" name="Freeform 461"/>
          <p:cNvSpPr/>
          <p:nvPr/>
        </p:nvSpPr>
        <p:spPr>
          <a:xfrm flipV="1">
            <a:off x="7223125" y="39528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2" name="Picture 462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2025" y="4092575"/>
            <a:ext cx="127000" cy="127000"/>
          </a:xfrm>
          <a:prstGeom prst="rect">
            <a:avLst/>
          </a:prstGeom>
          <a:noFill/>
        </p:spPr>
      </p:pic>
      <p:sp>
        <p:nvSpPr>
          <p:cNvPr id="463" name="Freeform 463"/>
          <p:cNvSpPr/>
          <p:nvPr/>
        </p:nvSpPr>
        <p:spPr>
          <a:xfrm flipV="1">
            <a:off x="7324725" y="41052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4" name="Picture 464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00925" y="3978275"/>
            <a:ext cx="127000" cy="127000"/>
          </a:xfrm>
          <a:prstGeom prst="rect">
            <a:avLst/>
          </a:prstGeom>
          <a:noFill/>
        </p:spPr>
      </p:pic>
      <p:sp>
        <p:nvSpPr>
          <p:cNvPr id="465" name="Freeform 465"/>
          <p:cNvSpPr/>
          <p:nvPr/>
        </p:nvSpPr>
        <p:spPr>
          <a:xfrm flipV="1">
            <a:off x="7413625" y="39909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6" name="Picture 466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02525" y="4486275"/>
            <a:ext cx="127000" cy="127000"/>
          </a:xfrm>
          <a:prstGeom prst="rect">
            <a:avLst/>
          </a:prstGeom>
          <a:noFill/>
        </p:spPr>
      </p:pic>
      <p:pic>
        <p:nvPicPr>
          <p:cNvPr id="467" name="Picture 467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02525" y="4486275"/>
            <a:ext cx="127000" cy="127000"/>
          </a:xfrm>
          <a:prstGeom prst="rect">
            <a:avLst/>
          </a:prstGeom>
          <a:noFill/>
        </p:spPr>
      </p:pic>
      <p:sp>
        <p:nvSpPr>
          <p:cNvPr id="468" name="Freeform 468"/>
          <p:cNvSpPr/>
          <p:nvPr/>
        </p:nvSpPr>
        <p:spPr>
          <a:xfrm flipV="1">
            <a:off x="7515225" y="44989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69" name="Picture 469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04125" y="4359275"/>
            <a:ext cx="127000" cy="127000"/>
          </a:xfrm>
          <a:prstGeom prst="rect">
            <a:avLst/>
          </a:prstGeom>
          <a:noFill/>
        </p:spPr>
      </p:pic>
      <p:sp>
        <p:nvSpPr>
          <p:cNvPr id="470" name="Freeform 470"/>
          <p:cNvSpPr/>
          <p:nvPr/>
        </p:nvSpPr>
        <p:spPr>
          <a:xfrm flipV="1">
            <a:off x="7616825" y="43719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1" name="Picture 471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05725" y="4156075"/>
            <a:ext cx="127000" cy="127000"/>
          </a:xfrm>
          <a:prstGeom prst="rect">
            <a:avLst/>
          </a:prstGeom>
          <a:noFill/>
        </p:spPr>
      </p:pic>
      <p:sp>
        <p:nvSpPr>
          <p:cNvPr id="472" name="Freeform 472"/>
          <p:cNvSpPr/>
          <p:nvPr/>
        </p:nvSpPr>
        <p:spPr>
          <a:xfrm flipV="1">
            <a:off x="7718425" y="41687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3" name="Picture 473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94625" y="4295775"/>
            <a:ext cx="127000" cy="127000"/>
          </a:xfrm>
          <a:prstGeom prst="rect">
            <a:avLst/>
          </a:prstGeom>
          <a:noFill/>
        </p:spPr>
      </p:pic>
      <p:sp>
        <p:nvSpPr>
          <p:cNvPr id="474" name="Freeform 474"/>
          <p:cNvSpPr/>
          <p:nvPr/>
        </p:nvSpPr>
        <p:spPr>
          <a:xfrm flipV="1">
            <a:off x="7807325" y="43084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5" name="Picture 47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96225" y="4384675"/>
            <a:ext cx="127000" cy="127000"/>
          </a:xfrm>
          <a:prstGeom prst="rect">
            <a:avLst/>
          </a:prstGeom>
          <a:noFill/>
        </p:spPr>
      </p:pic>
      <p:pic>
        <p:nvPicPr>
          <p:cNvPr id="476" name="Picture 47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96225" y="4384675"/>
            <a:ext cx="127000" cy="127000"/>
          </a:xfrm>
          <a:prstGeom prst="rect">
            <a:avLst/>
          </a:prstGeom>
          <a:noFill/>
        </p:spPr>
      </p:pic>
      <p:sp>
        <p:nvSpPr>
          <p:cNvPr id="477" name="Freeform 477"/>
          <p:cNvSpPr/>
          <p:nvPr/>
        </p:nvSpPr>
        <p:spPr>
          <a:xfrm flipV="1">
            <a:off x="7908925" y="43973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8" name="Picture 478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97825" y="4689475"/>
            <a:ext cx="127000" cy="127000"/>
          </a:xfrm>
          <a:prstGeom prst="rect">
            <a:avLst/>
          </a:prstGeom>
          <a:noFill/>
        </p:spPr>
      </p:pic>
      <p:pic>
        <p:nvPicPr>
          <p:cNvPr id="479" name="Picture 47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97825" y="4689475"/>
            <a:ext cx="127000" cy="127000"/>
          </a:xfrm>
          <a:prstGeom prst="rect">
            <a:avLst/>
          </a:prstGeom>
          <a:noFill/>
        </p:spPr>
      </p:pic>
      <p:sp>
        <p:nvSpPr>
          <p:cNvPr id="480" name="Freeform 480"/>
          <p:cNvSpPr/>
          <p:nvPr/>
        </p:nvSpPr>
        <p:spPr>
          <a:xfrm flipV="1">
            <a:off x="8010525" y="4702176"/>
            <a:ext cx="101600" cy="101600"/>
          </a:xfrm>
          <a:custGeom>
            <a:avLst/>
            <a:gdLst/>
            <a:ahLst/>
            <a:cxnLst/>
            <a:rect l="0" t="0" r="0" b="0"/>
            <a:pathLst>
              <a:path w="1290320000" h="1290320000">
                <a:moveTo>
                  <a:pt x="645160000" y="1290320000"/>
                </a:moveTo>
                <a:lnTo>
                  <a:pt x="1290320000" y="645160000"/>
                </a:lnTo>
                <a:lnTo>
                  <a:pt x="645160000" y="0"/>
                </a:lnTo>
                <a:lnTo>
                  <a:pt x="0" y="645160000"/>
                </a:lnTo>
                <a:close/>
                <a:moveTo>
                  <a:pt x="0" y="13709650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81" name="Picture 481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8000" y="3365500"/>
            <a:ext cx="4254500" cy="1104900"/>
          </a:xfrm>
          <a:prstGeom prst="rect">
            <a:avLst/>
          </a:prstGeom>
          <a:noFill/>
        </p:spPr>
      </p:pic>
      <p:sp>
        <p:nvSpPr>
          <p:cNvPr id="482" name="Freeform 482"/>
          <p:cNvSpPr/>
          <p:nvPr/>
        </p:nvSpPr>
        <p:spPr>
          <a:xfrm flipV="1">
            <a:off x="4381500" y="3416300"/>
            <a:ext cx="4114800" cy="952500"/>
          </a:xfrm>
          <a:custGeom>
            <a:avLst/>
            <a:gdLst/>
            <a:ahLst/>
            <a:cxnLst/>
            <a:rect l="0" t="0" r="0" b="0"/>
            <a:pathLst>
              <a:path w="4114800" h="952500">
                <a:moveTo>
                  <a:pt x="0" y="952500"/>
                </a:moveTo>
                <a:lnTo>
                  <a:pt x="4114800" y="0"/>
                </a:ln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83" name="Picture 48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6100" y="3517900"/>
            <a:ext cx="4241800" cy="1257300"/>
          </a:xfrm>
          <a:prstGeom prst="rect">
            <a:avLst/>
          </a:prstGeom>
          <a:noFill/>
        </p:spPr>
      </p:pic>
      <p:sp>
        <p:nvSpPr>
          <p:cNvPr id="484" name="Freeform 484"/>
          <p:cNvSpPr/>
          <p:nvPr/>
        </p:nvSpPr>
        <p:spPr>
          <a:xfrm flipV="1">
            <a:off x="4419600" y="3568700"/>
            <a:ext cx="4114800" cy="1117600"/>
          </a:xfrm>
          <a:custGeom>
            <a:avLst/>
            <a:gdLst/>
            <a:ahLst/>
            <a:cxnLst/>
            <a:rect l="0" t="0" r="0" b="0"/>
            <a:pathLst>
              <a:path w="4114800" h="1117600">
                <a:moveTo>
                  <a:pt x="0" y="1117600"/>
                </a:moveTo>
                <a:cubicBezTo>
                  <a:pt x="787400" y="1109134"/>
                  <a:pt x="1574800" y="1100667"/>
                  <a:pt x="2260600" y="914400"/>
                </a:cubicBezTo>
                <a:cubicBezTo>
                  <a:pt x="2946400" y="728133"/>
                  <a:pt x="4114800" y="0"/>
                  <a:pt x="4114800" y="0"/>
                </a:cubicBezTo>
              </a:path>
            </a:pathLst>
          </a:custGeom>
          <a:noFill/>
          <a:ln w="25400" cap="flat" cmpd="sng">
            <a:solidFill>
              <a:srgbClr val="008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5" name="Rectangle 485"/>
          <p:cNvSpPr/>
          <p:nvPr/>
        </p:nvSpPr>
        <p:spPr>
          <a:xfrm>
            <a:off x="2072641" y="129694"/>
            <a:ext cx="7752315" cy="25869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68458"/>
            <a:r>
              <a:rPr lang="en-US" sz="4400" dirty="0">
                <a:solidFill>
                  <a:srgbClr val="000000"/>
                </a:solidFill>
                <a:latin typeface="Calibri"/>
              </a:rPr>
              <a:t>Supervise</a:t>
            </a:r>
            <a:r>
              <a:rPr lang="en-US" sz="4400" spc="100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Learning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Regression</a:t>
            </a:r>
          </a:p>
          <a:p>
            <a:pPr>
              <a:lnSpc>
                <a:spcPts val="6931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Give</a:t>
            </a:r>
            <a:r>
              <a:rPr lang="en-US" sz="3200" spc="73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3200" spc="724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...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lnSpc>
                <a:spcPts val="4195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Lear</a:t>
            </a:r>
            <a:r>
              <a:rPr lang="en-US" sz="3200" spc="732" dirty="0">
                <a:solidFill>
                  <a:srgbClr val="000000"/>
                </a:solidFill>
                <a:latin typeface="Calibri"/>
              </a:rPr>
              <a:t>na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functio</a:t>
            </a:r>
            <a:r>
              <a:rPr lang="en-US" sz="3200" spc="73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f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200" spc="730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spc="727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predic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spc="732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give</a:t>
            </a:r>
            <a:r>
              <a:rPr lang="en-US" sz="3200" spc="734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spc="734" dirty="0">
                <a:solidFill>
                  <a:srgbClr val="000000"/>
                </a:solidFill>
                <a:latin typeface="Arial"/>
              </a:rPr>
              <a:t>x</a:t>
            </a:r>
          </a:p>
          <a:p>
            <a:pPr marL="457199">
              <a:lnSpc>
                <a:spcPts val="40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spc="64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real-value</a:t>
            </a:r>
            <a:r>
              <a:rPr lang="en-US" sz="2800" spc="644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=</a:t>
            </a:r>
            <a:r>
              <a:rPr lang="en-US" sz="2800" spc="644" dirty="0">
                <a:solidFill>
                  <a:srgbClr val="000000"/>
                </a:solidFill>
                <a:latin typeface="Calibri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regression</a:t>
            </a:r>
          </a:p>
        </p:txBody>
      </p:sp>
      <p:sp>
        <p:nvSpPr>
          <p:cNvPr id="486" name="Rectangle 486"/>
          <p:cNvSpPr/>
          <p:nvPr/>
        </p:nvSpPr>
        <p:spPr>
          <a:xfrm>
            <a:off x="3663060" y="5757043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487" name="Rectangle 487"/>
          <p:cNvSpPr/>
          <p:nvPr/>
        </p:nvSpPr>
        <p:spPr>
          <a:xfrm>
            <a:off x="3663060" y="5449578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488" name="Rectangle 488"/>
          <p:cNvSpPr/>
          <p:nvPr/>
        </p:nvSpPr>
        <p:spPr>
          <a:xfrm>
            <a:off x="3663060" y="5142114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489" name="Rectangle 489"/>
          <p:cNvSpPr/>
          <p:nvPr/>
        </p:nvSpPr>
        <p:spPr>
          <a:xfrm>
            <a:off x="3663060" y="4834649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490" name="Rectangle 490"/>
          <p:cNvSpPr/>
          <p:nvPr/>
        </p:nvSpPr>
        <p:spPr>
          <a:xfrm>
            <a:off x="3663060" y="4527185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491" name="Rectangle 491"/>
          <p:cNvSpPr/>
          <p:nvPr/>
        </p:nvSpPr>
        <p:spPr>
          <a:xfrm>
            <a:off x="3663060" y="4219719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492" name="Rectangle 492"/>
          <p:cNvSpPr/>
          <p:nvPr/>
        </p:nvSpPr>
        <p:spPr>
          <a:xfrm>
            <a:off x="3663060" y="3912255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493" name="Rectangle 493"/>
          <p:cNvSpPr/>
          <p:nvPr/>
        </p:nvSpPr>
        <p:spPr>
          <a:xfrm>
            <a:off x="3663060" y="3604790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494" name="Rectangle 494"/>
          <p:cNvSpPr/>
          <p:nvPr/>
        </p:nvSpPr>
        <p:spPr>
          <a:xfrm>
            <a:off x="3663060" y="3297326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8</a:t>
            </a:r>
          </a:p>
        </p:txBody>
      </p:sp>
      <p:sp>
        <p:nvSpPr>
          <p:cNvPr id="495" name="Rectangle 495"/>
          <p:cNvSpPr/>
          <p:nvPr/>
        </p:nvSpPr>
        <p:spPr>
          <a:xfrm>
            <a:off x="3663060" y="2989860"/>
            <a:ext cx="9137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9</a:t>
            </a:r>
          </a:p>
        </p:txBody>
      </p:sp>
      <p:sp>
        <p:nvSpPr>
          <p:cNvPr id="496" name="Rectangle 496"/>
          <p:cNvSpPr/>
          <p:nvPr/>
        </p:nvSpPr>
        <p:spPr>
          <a:xfrm>
            <a:off x="3737906" y="5978424"/>
            <a:ext cx="534184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tabLst>
                <a:tab pos="985639" algn="l"/>
                <a:tab pos="1971277" algn="l"/>
                <a:tab pos="2956915" algn="l"/>
                <a:tab pos="3942553" algn="l"/>
                <a:tab pos="4928192" algn="l"/>
              </a:tabLst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1970	1980	1990	2000	2010	2020</a:t>
            </a:r>
          </a:p>
        </p:txBody>
      </p:sp>
      <p:sp>
        <p:nvSpPr>
          <p:cNvPr id="497" name="Rectangle 497"/>
          <p:cNvSpPr/>
          <p:nvPr/>
        </p:nvSpPr>
        <p:spPr>
          <a:xfrm rot="-5400000">
            <a:off x="2105552" y="4233757"/>
            <a:ext cx="2379408" cy="43299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Calibri"/>
              </a:rPr>
              <a:t>Septembe</a:t>
            </a:r>
            <a:r>
              <a:rPr lang="en-US" sz="1400" b="1" spc="317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1400" b="1" dirty="0">
                <a:solidFill>
                  <a:srgbClr val="000000"/>
                </a:solidFill>
                <a:latin typeface="Calibri"/>
              </a:rPr>
              <a:t>Arcti</a:t>
            </a:r>
            <a:r>
              <a:rPr lang="en-US" sz="1400" b="1" spc="317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sz="1400" b="1" dirty="0">
                <a:solidFill>
                  <a:srgbClr val="000000"/>
                </a:solidFill>
                <a:latin typeface="Calibri"/>
              </a:rPr>
              <a:t>Se</a:t>
            </a:r>
            <a:r>
              <a:rPr lang="en-US" sz="1400" b="1" spc="316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1400" b="1" dirty="0">
                <a:solidFill>
                  <a:srgbClr val="000000"/>
                </a:solidFill>
                <a:latin typeface="Calibri"/>
              </a:rPr>
              <a:t>Ic</a:t>
            </a:r>
            <a:r>
              <a:rPr lang="en-US" sz="1400" b="1" spc="317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b="1" dirty="0">
                <a:solidFill>
                  <a:srgbClr val="000000"/>
                </a:solidFill>
                <a:latin typeface="Calibri"/>
              </a:rPr>
              <a:t>Extent</a:t>
            </a:r>
          </a:p>
          <a:p>
            <a:pPr marL="514730">
              <a:lnSpc>
                <a:spcPts val="1700"/>
              </a:lnSpc>
            </a:pPr>
            <a:r>
              <a:rPr lang="en-US" sz="1400" b="1" dirty="0">
                <a:solidFill>
                  <a:srgbClr val="000000"/>
                </a:solidFill>
                <a:latin typeface="Calibri"/>
              </a:rPr>
              <a:t>(1,000,00</a:t>
            </a:r>
            <a:r>
              <a:rPr lang="en-US" sz="1400" b="1" spc="316" dirty="0">
                <a:solidFill>
                  <a:srgbClr val="000000"/>
                </a:solidFill>
                <a:latin typeface="Calibri"/>
              </a:rPr>
              <a:t>0</a:t>
            </a:r>
            <a:r>
              <a:rPr lang="en-US" sz="1400" b="1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1400" b="1" spc="316" dirty="0">
                <a:solidFill>
                  <a:srgbClr val="000000"/>
                </a:solidFill>
                <a:latin typeface="Calibri"/>
              </a:rPr>
              <a:t>q</a:t>
            </a:r>
            <a:r>
              <a:rPr lang="en-US" sz="1400" b="1" dirty="0">
                <a:solidFill>
                  <a:srgbClr val="000000"/>
                </a:solidFill>
                <a:latin typeface="Calibri"/>
              </a:rPr>
              <a:t>km)</a:t>
            </a:r>
          </a:p>
        </p:txBody>
      </p:sp>
      <p:sp>
        <p:nvSpPr>
          <p:cNvPr id="498" name="Rectangle 498"/>
          <p:cNvSpPr/>
          <p:nvPr/>
        </p:nvSpPr>
        <p:spPr>
          <a:xfrm>
            <a:off x="1615441" y="6239918"/>
            <a:ext cx="5720861" cy="5321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4607453"/>
            <a:r>
              <a:rPr lang="en-US" sz="1400" b="1" dirty="0">
                <a:solidFill>
                  <a:srgbClr val="000000"/>
                </a:solidFill>
                <a:latin typeface="Calibri"/>
              </a:rPr>
              <a:t>Year</a:t>
            </a:r>
          </a:p>
          <a:p>
            <a:pPr>
              <a:lnSpc>
                <a:spcPts val="2770"/>
              </a:lnSpc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Dat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fro</a:t>
            </a:r>
            <a:r>
              <a:rPr lang="en-US" sz="1400" spc="306" dirty="0">
                <a:solidFill>
                  <a:srgbClr val="000000"/>
                </a:solidFill>
                <a:latin typeface="Calibri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1400" spc="309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Witt</a:t>
            </a:r>
            <a:r>
              <a:rPr lang="en-US" sz="1400" spc="309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Journa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spc="310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Statistic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Education</a:t>
            </a:r>
            <a:r>
              <a:rPr lang="en-US" sz="1400" spc="312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Volum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21</a:t>
            </a:r>
            <a:r>
              <a:rPr lang="en-US" sz="1400" spc="312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Numbe</a:t>
            </a:r>
            <a:r>
              <a:rPr lang="en-US" sz="1400" spc="311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(2013)</a:t>
            </a:r>
          </a:p>
        </p:txBody>
      </p:sp>
      <p:sp>
        <p:nvSpPr>
          <p:cNvPr id="499" name="Rectangle 499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Freeform 621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2" name="Freeform 622"/>
          <p:cNvSpPr/>
          <p:nvPr/>
        </p:nvSpPr>
        <p:spPr>
          <a:xfrm>
            <a:off x="3536844" y="3406316"/>
            <a:ext cx="176861" cy="1972134"/>
          </a:xfrm>
          <a:custGeom>
            <a:avLst/>
            <a:gdLst/>
            <a:ahLst/>
            <a:cxnLst/>
            <a:rect l="0" t="0" r="0" b="0"/>
            <a:pathLst>
              <a:path w="176861" h="1972134">
                <a:moveTo>
                  <a:pt x="88431" y="0"/>
                </a:moveTo>
                <a:lnTo>
                  <a:pt x="5301" y="142509"/>
                </a:lnTo>
                <a:cubicBezTo>
                  <a:pt x="0" y="151597"/>
                  <a:pt x="3069" y="163261"/>
                  <a:pt x="12156" y="168563"/>
                </a:cubicBezTo>
                <a:cubicBezTo>
                  <a:pt x="21244" y="173864"/>
                  <a:pt x="32909" y="170794"/>
                  <a:pt x="38210" y="161706"/>
                </a:cubicBezTo>
                <a:lnTo>
                  <a:pt x="69380" y="108272"/>
                </a:lnTo>
                <a:lnTo>
                  <a:pt x="69380" y="1972134"/>
                </a:lnTo>
                <a:lnTo>
                  <a:pt x="107480" y="1972134"/>
                </a:lnTo>
                <a:lnTo>
                  <a:pt x="107480" y="108272"/>
                </a:lnTo>
                <a:lnTo>
                  <a:pt x="138651" y="161706"/>
                </a:lnTo>
                <a:cubicBezTo>
                  <a:pt x="143952" y="170794"/>
                  <a:pt x="155617" y="173864"/>
                  <a:pt x="164705" y="168563"/>
                </a:cubicBezTo>
                <a:cubicBezTo>
                  <a:pt x="173792" y="163261"/>
                  <a:pt x="176861" y="151597"/>
                  <a:pt x="171560" y="142509"/>
                </a:cubicBezTo>
                <a:close/>
                <a:moveTo>
                  <a:pt x="1438841" y="3451684"/>
                </a:moveTo>
              </a:path>
            </a:pathLst>
          </a:custGeom>
          <a:solidFill>
            <a:srgbClr val="7F7F7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3" name="Freeform 623"/>
          <p:cNvSpPr/>
          <p:nvPr/>
        </p:nvSpPr>
        <p:spPr>
          <a:xfrm>
            <a:off x="3486975" y="4834912"/>
            <a:ext cx="4945912" cy="174770"/>
          </a:xfrm>
          <a:custGeom>
            <a:avLst/>
            <a:gdLst/>
            <a:ahLst/>
            <a:cxnLst/>
            <a:rect l="0" t="0" r="0" b="0"/>
            <a:pathLst>
              <a:path w="4945912" h="174770">
                <a:moveTo>
                  <a:pt x="4788957" y="1241"/>
                </a:moveTo>
                <a:cubicBezTo>
                  <a:pt x="4784242" y="2482"/>
                  <a:pt x="4780001" y="5521"/>
                  <a:pt x="4777350" y="10065"/>
                </a:cubicBezTo>
                <a:cubicBezTo>
                  <a:pt x="4772049" y="19153"/>
                  <a:pt x="4775119" y="30818"/>
                  <a:pt x="4784206" y="36119"/>
                </a:cubicBezTo>
                <a:lnTo>
                  <a:pt x="4837641" y="67288"/>
                </a:lnTo>
                <a:lnTo>
                  <a:pt x="0" y="67290"/>
                </a:lnTo>
                <a:lnTo>
                  <a:pt x="0" y="105390"/>
                </a:lnTo>
                <a:lnTo>
                  <a:pt x="4837641" y="105388"/>
                </a:lnTo>
                <a:lnTo>
                  <a:pt x="4784206" y="136558"/>
                </a:lnTo>
                <a:cubicBezTo>
                  <a:pt x="4775119" y="141860"/>
                  <a:pt x="4772049" y="153524"/>
                  <a:pt x="4777350" y="162612"/>
                </a:cubicBezTo>
                <a:cubicBezTo>
                  <a:pt x="4782651" y="171700"/>
                  <a:pt x="4794316" y="174770"/>
                  <a:pt x="4803405" y="169469"/>
                </a:cubicBezTo>
                <a:lnTo>
                  <a:pt x="4945912" y="86338"/>
                </a:lnTo>
                <a:lnTo>
                  <a:pt x="4803405" y="3208"/>
                </a:lnTo>
                <a:cubicBezTo>
                  <a:pt x="4798860" y="558"/>
                  <a:pt x="4793672" y="0"/>
                  <a:pt x="4788957" y="1241"/>
                </a:cubicBezTo>
                <a:close/>
                <a:moveTo>
                  <a:pt x="58872" y="2023088"/>
                </a:moveTo>
              </a:path>
            </a:pathLst>
          </a:custGeom>
          <a:solidFill>
            <a:srgbClr val="7F7F7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4" name="Freeform 624"/>
          <p:cNvSpPr/>
          <p:nvPr/>
        </p:nvSpPr>
        <p:spPr>
          <a:xfrm flipV="1">
            <a:off x="3479800" y="3930651"/>
            <a:ext cx="266700" cy="1"/>
          </a:xfrm>
          <a:custGeom>
            <a:avLst/>
            <a:gdLst/>
            <a:ahLst/>
            <a:cxnLst/>
            <a:rect l="0" t="0" r="0" b="0"/>
            <a:pathLst>
              <a:path w="266700" h="1">
                <a:moveTo>
                  <a:pt x="0" y="1"/>
                </a:moveTo>
                <a:lnTo>
                  <a:pt x="266700" y="0"/>
                </a:lnTo>
              </a:path>
            </a:pathLst>
          </a:custGeom>
          <a:noFill/>
          <a:ln w="38100" cap="flat" cmpd="sng">
            <a:solidFill>
              <a:srgbClr val="7F7F7F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5" name="Picture 62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22700" y="4749800"/>
            <a:ext cx="381000" cy="393700"/>
          </a:xfrm>
          <a:prstGeom prst="rect">
            <a:avLst/>
          </a:prstGeom>
          <a:noFill/>
        </p:spPr>
      </p:pic>
      <p:pic>
        <p:nvPicPr>
          <p:cNvPr id="626" name="Picture 62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6200" y="4794250"/>
            <a:ext cx="254000" cy="254000"/>
          </a:xfrm>
          <a:prstGeom prst="rect">
            <a:avLst/>
          </a:prstGeom>
          <a:noFill/>
        </p:spPr>
      </p:pic>
      <p:sp>
        <p:nvSpPr>
          <p:cNvPr id="627" name="Freeform 627"/>
          <p:cNvSpPr/>
          <p:nvPr/>
        </p:nvSpPr>
        <p:spPr>
          <a:xfrm flipV="1">
            <a:off x="3898900" y="48069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28" name="Picture 62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4200" y="4749800"/>
            <a:ext cx="381000" cy="393700"/>
          </a:xfrm>
          <a:prstGeom prst="rect">
            <a:avLst/>
          </a:prstGeom>
          <a:noFill/>
        </p:spPr>
      </p:pic>
      <p:pic>
        <p:nvPicPr>
          <p:cNvPr id="629" name="Picture 62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7700" y="4794250"/>
            <a:ext cx="254000" cy="254000"/>
          </a:xfrm>
          <a:prstGeom prst="rect">
            <a:avLst/>
          </a:prstGeom>
          <a:noFill/>
        </p:spPr>
      </p:pic>
      <p:sp>
        <p:nvSpPr>
          <p:cNvPr id="630" name="Freeform 630"/>
          <p:cNvSpPr/>
          <p:nvPr/>
        </p:nvSpPr>
        <p:spPr>
          <a:xfrm flipV="1">
            <a:off x="4470400" y="48069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31" name="Picture 63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03700" y="4749800"/>
            <a:ext cx="381000" cy="393700"/>
          </a:xfrm>
          <a:prstGeom prst="rect">
            <a:avLst/>
          </a:prstGeom>
          <a:noFill/>
        </p:spPr>
      </p:pic>
      <p:pic>
        <p:nvPicPr>
          <p:cNvPr id="632" name="Picture 63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7200" y="4794250"/>
            <a:ext cx="254000" cy="254000"/>
          </a:xfrm>
          <a:prstGeom prst="rect">
            <a:avLst/>
          </a:prstGeom>
          <a:noFill/>
        </p:spPr>
      </p:pic>
      <p:sp>
        <p:nvSpPr>
          <p:cNvPr id="633" name="Freeform 633"/>
          <p:cNvSpPr/>
          <p:nvPr/>
        </p:nvSpPr>
        <p:spPr>
          <a:xfrm flipV="1">
            <a:off x="4279900" y="48069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34" name="Picture 63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02200" y="4749800"/>
            <a:ext cx="393700" cy="393700"/>
          </a:xfrm>
          <a:prstGeom prst="rect">
            <a:avLst/>
          </a:prstGeom>
          <a:noFill/>
        </p:spPr>
      </p:pic>
      <p:pic>
        <p:nvPicPr>
          <p:cNvPr id="635" name="Picture 635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74080" y="4794250"/>
            <a:ext cx="254000" cy="254000"/>
          </a:xfrm>
          <a:prstGeom prst="rect">
            <a:avLst/>
          </a:prstGeom>
          <a:noFill/>
        </p:spPr>
      </p:pic>
      <p:sp>
        <p:nvSpPr>
          <p:cNvPr id="636" name="Freeform 636"/>
          <p:cNvSpPr/>
          <p:nvPr/>
        </p:nvSpPr>
        <p:spPr>
          <a:xfrm flipV="1">
            <a:off x="4986780" y="48069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37" name="Picture 637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02300" y="4749800"/>
            <a:ext cx="381000" cy="393700"/>
          </a:xfrm>
          <a:prstGeom prst="rect">
            <a:avLst/>
          </a:prstGeom>
          <a:noFill/>
        </p:spPr>
      </p:pic>
      <p:pic>
        <p:nvPicPr>
          <p:cNvPr id="638" name="Picture 638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5800" y="4794250"/>
            <a:ext cx="254000" cy="254000"/>
          </a:xfrm>
          <a:prstGeom prst="rect">
            <a:avLst/>
          </a:prstGeom>
          <a:noFill/>
        </p:spPr>
      </p:pic>
      <p:sp>
        <p:nvSpPr>
          <p:cNvPr id="639" name="Freeform 639"/>
          <p:cNvSpPr/>
          <p:nvPr/>
        </p:nvSpPr>
        <p:spPr>
          <a:xfrm flipV="1">
            <a:off x="5778500" y="48069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40" name="Picture 640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4749800"/>
            <a:ext cx="381000" cy="393700"/>
          </a:xfrm>
          <a:prstGeom prst="rect">
            <a:avLst/>
          </a:prstGeom>
          <a:noFill/>
        </p:spPr>
      </p:pic>
      <p:pic>
        <p:nvPicPr>
          <p:cNvPr id="641" name="Picture 641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11900" y="4794250"/>
            <a:ext cx="254000" cy="254000"/>
          </a:xfrm>
          <a:prstGeom prst="rect">
            <a:avLst/>
          </a:prstGeom>
          <a:noFill/>
        </p:spPr>
      </p:pic>
      <p:sp>
        <p:nvSpPr>
          <p:cNvPr id="642" name="Freeform 642"/>
          <p:cNvSpPr/>
          <p:nvPr/>
        </p:nvSpPr>
        <p:spPr>
          <a:xfrm flipV="1">
            <a:off x="6324600" y="480695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43" name="Picture 643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1800" y="3759200"/>
            <a:ext cx="368300" cy="368300"/>
          </a:xfrm>
          <a:prstGeom prst="rect">
            <a:avLst/>
          </a:prstGeom>
          <a:noFill/>
        </p:spPr>
      </p:pic>
      <p:sp>
        <p:nvSpPr>
          <p:cNvPr id="644" name="Freeform 644"/>
          <p:cNvSpPr/>
          <p:nvPr/>
        </p:nvSpPr>
        <p:spPr>
          <a:xfrm>
            <a:off x="6847038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5" y="0"/>
                  <a:pt x="114300" y="0"/>
                </a:cubicBezTo>
                <a:cubicBezTo>
                  <a:pt x="177427" y="0"/>
                  <a:pt x="228600" y="51174"/>
                  <a:pt x="228600" y="114300"/>
                </a:cubicBezTo>
                <a:cubicBezTo>
                  <a:pt x="228600" y="177427"/>
                  <a:pt x="177427" y="228600"/>
                  <a:pt x="114300" y="228600"/>
                </a:cubicBezTo>
                <a:cubicBezTo>
                  <a:pt x="51175" y="228600"/>
                  <a:pt x="0" y="177427"/>
                  <a:pt x="0" y="114300"/>
                </a:cubicBezTo>
                <a:close/>
                <a:moveTo>
                  <a:pt x="-2389338" y="3048000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5" name="Freeform 645"/>
          <p:cNvSpPr/>
          <p:nvPr/>
        </p:nvSpPr>
        <p:spPr>
          <a:xfrm flipV="1">
            <a:off x="6847038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46" name="Picture 646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1700" y="3759200"/>
            <a:ext cx="355600" cy="368300"/>
          </a:xfrm>
          <a:prstGeom prst="rect">
            <a:avLst/>
          </a:prstGeom>
          <a:noFill/>
        </p:spPr>
      </p:pic>
      <p:sp>
        <p:nvSpPr>
          <p:cNvPr id="647" name="Freeform 647"/>
          <p:cNvSpPr/>
          <p:nvPr/>
        </p:nvSpPr>
        <p:spPr>
          <a:xfrm>
            <a:off x="731520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2857500" y="3048000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8" name="Freeform 648"/>
          <p:cNvSpPr/>
          <p:nvPr/>
        </p:nvSpPr>
        <p:spPr>
          <a:xfrm flipV="1">
            <a:off x="731520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49" name="Picture 649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0" y="3759200"/>
            <a:ext cx="368300" cy="368300"/>
          </a:xfrm>
          <a:prstGeom prst="rect">
            <a:avLst/>
          </a:prstGeom>
          <a:noFill/>
        </p:spPr>
      </p:pic>
      <p:sp>
        <p:nvSpPr>
          <p:cNvPr id="650" name="Freeform 650"/>
          <p:cNvSpPr/>
          <p:nvPr/>
        </p:nvSpPr>
        <p:spPr>
          <a:xfrm>
            <a:off x="763264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5" y="0"/>
                  <a:pt x="228600" y="51174"/>
                  <a:pt x="228600" y="114300"/>
                </a:cubicBezTo>
                <a:cubicBezTo>
                  <a:pt x="228600" y="177427"/>
                  <a:pt x="177425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3174940" y="3048000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1" name="Freeform 651"/>
          <p:cNvSpPr/>
          <p:nvPr/>
        </p:nvSpPr>
        <p:spPr>
          <a:xfrm flipV="1">
            <a:off x="763264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52" name="Picture 652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2500" y="3759200"/>
            <a:ext cx="355600" cy="368300"/>
          </a:xfrm>
          <a:prstGeom prst="rect">
            <a:avLst/>
          </a:prstGeom>
          <a:noFill/>
        </p:spPr>
      </p:pic>
      <p:sp>
        <p:nvSpPr>
          <p:cNvPr id="653" name="Freeform 653"/>
          <p:cNvSpPr/>
          <p:nvPr/>
        </p:nvSpPr>
        <p:spPr>
          <a:xfrm>
            <a:off x="609600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1638300" y="3048000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4" name="Freeform 654"/>
          <p:cNvSpPr/>
          <p:nvPr/>
        </p:nvSpPr>
        <p:spPr>
          <a:xfrm flipV="1">
            <a:off x="609600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55" name="Picture 655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00700" y="3759200"/>
            <a:ext cx="355600" cy="368300"/>
          </a:xfrm>
          <a:prstGeom prst="rect">
            <a:avLst/>
          </a:prstGeom>
          <a:noFill/>
        </p:spPr>
      </p:pic>
      <p:sp>
        <p:nvSpPr>
          <p:cNvPr id="656" name="Freeform 656"/>
          <p:cNvSpPr/>
          <p:nvPr/>
        </p:nvSpPr>
        <p:spPr>
          <a:xfrm>
            <a:off x="566420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1206500" y="3048000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7" name="Freeform 657"/>
          <p:cNvSpPr/>
          <p:nvPr/>
        </p:nvSpPr>
        <p:spPr>
          <a:xfrm flipV="1">
            <a:off x="5664200" y="38100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58" name="Freeform 658"/>
          <p:cNvSpPr/>
          <p:nvPr/>
        </p:nvSpPr>
        <p:spPr>
          <a:xfrm>
            <a:off x="3486975" y="6076079"/>
            <a:ext cx="4945912" cy="174770"/>
          </a:xfrm>
          <a:custGeom>
            <a:avLst/>
            <a:gdLst/>
            <a:ahLst/>
            <a:cxnLst/>
            <a:rect l="0" t="0" r="0" b="0"/>
            <a:pathLst>
              <a:path w="4945912" h="174770">
                <a:moveTo>
                  <a:pt x="4788957" y="1241"/>
                </a:moveTo>
                <a:cubicBezTo>
                  <a:pt x="4784242" y="2481"/>
                  <a:pt x="4780001" y="5521"/>
                  <a:pt x="4777350" y="10065"/>
                </a:cubicBezTo>
                <a:cubicBezTo>
                  <a:pt x="4772049" y="19153"/>
                  <a:pt x="4775119" y="30817"/>
                  <a:pt x="4784206" y="36118"/>
                </a:cubicBezTo>
                <a:lnTo>
                  <a:pt x="4837641" y="67288"/>
                </a:lnTo>
                <a:lnTo>
                  <a:pt x="0" y="67289"/>
                </a:lnTo>
                <a:lnTo>
                  <a:pt x="0" y="105389"/>
                </a:lnTo>
                <a:lnTo>
                  <a:pt x="4837641" y="105388"/>
                </a:lnTo>
                <a:lnTo>
                  <a:pt x="4784206" y="136558"/>
                </a:lnTo>
                <a:cubicBezTo>
                  <a:pt x="4775119" y="141860"/>
                  <a:pt x="4772049" y="153524"/>
                  <a:pt x="4777350" y="162612"/>
                </a:cubicBezTo>
                <a:cubicBezTo>
                  <a:pt x="4782651" y="171700"/>
                  <a:pt x="4794316" y="174770"/>
                  <a:pt x="4803405" y="169468"/>
                </a:cubicBezTo>
                <a:lnTo>
                  <a:pt x="4945912" y="86338"/>
                </a:lnTo>
                <a:lnTo>
                  <a:pt x="4803405" y="3208"/>
                </a:lnTo>
                <a:cubicBezTo>
                  <a:pt x="4798860" y="558"/>
                  <a:pt x="4793672" y="0"/>
                  <a:pt x="4788957" y="1241"/>
                </a:cubicBezTo>
                <a:close/>
                <a:moveTo>
                  <a:pt x="-1182295" y="781921"/>
                </a:moveTo>
              </a:path>
            </a:pathLst>
          </a:custGeom>
          <a:solidFill>
            <a:srgbClr val="7F7F7F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59" name="Picture 659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0" y="6007100"/>
            <a:ext cx="393700" cy="393700"/>
          </a:xfrm>
          <a:prstGeom prst="rect">
            <a:avLst/>
          </a:prstGeom>
          <a:noFill/>
        </p:spPr>
      </p:pic>
      <p:pic>
        <p:nvPicPr>
          <p:cNvPr id="660" name="Picture 660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1880" y="6048117"/>
            <a:ext cx="254000" cy="254000"/>
          </a:xfrm>
          <a:prstGeom prst="rect">
            <a:avLst/>
          </a:prstGeom>
          <a:noFill/>
        </p:spPr>
      </p:pic>
      <p:sp>
        <p:nvSpPr>
          <p:cNvPr id="661" name="Freeform 661"/>
          <p:cNvSpPr/>
          <p:nvPr/>
        </p:nvSpPr>
        <p:spPr>
          <a:xfrm flipV="1">
            <a:off x="3894580" y="60608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62" name="Picture 662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81500" y="6007100"/>
            <a:ext cx="393700" cy="393700"/>
          </a:xfrm>
          <a:prstGeom prst="rect">
            <a:avLst/>
          </a:prstGeom>
          <a:noFill/>
        </p:spPr>
      </p:pic>
      <p:pic>
        <p:nvPicPr>
          <p:cNvPr id="663" name="Picture 66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53380" y="6048117"/>
            <a:ext cx="254000" cy="254000"/>
          </a:xfrm>
          <a:prstGeom prst="rect">
            <a:avLst/>
          </a:prstGeom>
          <a:noFill/>
        </p:spPr>
      </p:pic>
      <p:sp>
        <p:nvSpPr>
          <p:cNvPr id="664" name="Freeform 664"/>
          <p:cNvSpPr/>
          <p:nvPr/>
        </p:nvSpPr>
        <p:spPr>
          <a:xfrm flipV="1">
            <a:off x="4466080" y="60608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65" name="Picture 665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1000" y="6007100"/>
            <a:ext cx="393700" cy="393700"/>
          </a:xfrm>
          <a:prstGeom prst="rect">
            <a:avLst/>
          </a:prstGeom>
          <a:noFill/>
        </p:spPr>
      </p:pic>
      <p:pic>
        <p:nvPicPr>
          <p:cNvPr id="666" name="Picture 666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2880" y="6048117"/>
            <a:ext cx="254000" cy="254000"/>
          </a:xfrm>
          <a:prstGeom prst="rect">
            <a:avLst/>
          </a:prstGeom>
          <a:noFill/>
        </p:spPr>
      </p:pic>
      <p:sp>
        <p:nvSpPr>
          <p:cNvPr id="667" name="Freeform 667"/>
          <p:cNvSpPr/>
          <p:nvPr/>
        </p:nvSpPr>
        <p:spPr>
          <a:xfrm flipV="1">
            <a:off x="4275580" y="60608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68" name="Picture 668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02200" y="6007100"/>
            <a:ext cx="393700" cy="393700"/>
          </a:xfrm>
          <a:prstGeom prst="rect">
            <a:avLst/>
          </a:prstGeom>
          <a:noFill/>
        </p:spPr>
      </p:pic>
      <p:pic>
        <p:nvPicPr>
          <p:cNvPr id="669" name="Picture 669"/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69762" y="6048117"/>
            <a:ext cx="254000" cy="254000"/>
          </a:xfrm>
          <a:prstGeom prst="rect">
            <a:avLst/>
          </a:prstGeom>
          <a:noFill/>
        </p:spPr>
      </p:pic>
      <p:sp>
        <p:nvSpPr>
          <p:cNvPr id="670" name="Freeform 670"/>
          <p:cNvSpPr/>
          <p:nvPr/>
        </p:nvSpPr>
        <p:spPr>
          <a:xfrm flipV="1">
            <a:off x="4982462" y="60608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71" name="Picture 671"/>
          <p:cNvPicPr>
            <a:picLocks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89600" y="6007100"/>
            <a:ext cx="393700" cy="393700"/>
          </a:xfrm>
          <a:prstGeom prst="rect">
            <a:avLst/>
          </a:prstGeom>
          <a:noFill/>
        </p:spPr>
      </p:pic>
      <p:pic>
        <p:nvPicPr>
          <p:cNvPr id="672" name="Picture 672"/>
          <p:cNvPicPr>
            <a:picLocks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1480" y="6048117"/>
            <a:ext cx="254000" cy="254000"/>
          </a:xfrm>
          <a:prstGeom prst="rect">
            <a:avLst/>
          </a:prstGeom>
          <a:noFill/>
        </p:spPr>
      </p:pic>
      <p:sp>
        <p:nvSpPr>
          <p:cNvPr id="673" name="Freeform 673"/>
          <p:cNvSpPr/>
          <p:nvPr/>
        </p:nvSpPr>
        <p:spPr>
          <a:xfrm flipV="1">
            <a:off x="5774180" y="60608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74" name="Picture 674"/>
          <p:cNvPicPr>
            <a:picLocks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35700" y="6007100"/>
            <a:ext cx="393700" cy="393700"/>
          </a:xfrm>
          <a:prstGeom prst="rect">
            <a:avLst/>
          </a:prstGeom>
          <a:noFill/>
        </p:spPr>
      </p:pic>
      <p:pic>
        <p:nvPicPr>
          <p:cNvPr id="675" name="Picture 675"/>
          <p:cNvPicPr>
            <a:picLocks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07580" y="6048117"/>
            <a:ext cx="254000" cy="254000"/>
          </a:xfrm>
          <a:prstGeom prst="rect">
            <a:avLst/>
          </a:prstGeom>
          <a:noFill/>
        </p:spPr>
      </p:pic>
      <p:sp>
        <p:nvSpPr>
          <p:cNvPr id="676" name="Freeform 676"/>
          <p:cNvSpPr/>
          <p:nvPr/>
        </p:nvSpPr>
        <p:spPr>
          <a:xfrm flipV="1">
            <a:off x="6320280" y="60608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77" name="Picture 677"/>
          <p:cNvPicPr>
            <a:picLocks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1800" y="6032500"/>
            <a:ext cx="368300" cy="368300"/>
          </a:xfrm>
          <a:prstGeom prst="rect">
            <a:avLst/>
          </a:prstGeom>
          <a:noFill/>
        </p:spPr>
      </p:pic>
      <p:sp>
        <p:nvSpPr>
          <p:cNvPr id="678" name="Freeform 678"/>
          <p:cNvSpPr/>
          <p:nvPr/>
        </p:nvSpPr>
        <p:spPr>
          <a:xfrm>
            <a:off x="6847038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5" y="0"/>
                  <a:pt x="114300" y="0"/>
                </a:cubicBezTo>
                <a:cubicBezTo>
                  <a:pt x="177427" y="0"/>
                  <a:pt x="228600" y="51174"/>
                  <a:pt x="228600" y="114300"/>
                </a:cubicBezTo>
                <a:cubicBezTo>
                  <a:pt x="228600" y="177427"/>
                  <a:pt x="177427" y="228600"/>
                  <a:pt x="114300" y="228600"/>
                </a:cubicBezTo>
                <a:cubicBezTo>
                  <a:pt x="51175" y="228600"/>
                  <a:pt x="0" y="177427"/>
                  <a:pt x="0" y="114300"/>
                </a:cubicBezTo>
                <a:close/>
                <a:moveTo>
                  <a:pt x="-4652855" y="784483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79" name="Freeform 679"/>
          <p:cNvSpPr/>
          <p:nvPr/>
        </p:nvSpPr>
        <p:spPr>
          <a:xfrm flipV="1">
            <a:off x="6847038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80" name="Picture 680"/>
          <p:cNvPicPr>
            <a:picLocks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1700" y="6032500"/>
            <a:ext cx="355600" cy="368300"/>
          </a:xfrm>
          <a:prstGeom prst="rect">
            <a:avLst/>
          </a:prstGeom>
          <a:noFill/>
        </p:spPr>
      </p:pic>
      <p:sp>
        <p:nvSpPr>
          <p:cNvPr id="681" name="Freeform 681"/>
          <p:cNvSpPr/>
          <p:nvPr/>
        </p:nvSpPr>
        <p:spPr>
          <a:xfrm>
            <a:off x="731520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5121017" y="784483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2" name="Freeform 682"/>
          <p:cNvSpPr/>
          <p:nvPr/>
        </p:nvSpPr>
        <p:spPr>
          <a:xfrm flipV="1">
            <a:off x="731520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83" name="Picture 683"/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0" y="6032500"/>
            <a:ext cx="368300" cy="368300"/>
          </a:xfrm>
          <a:prstGeom prst="rect">
            <a:avLst/>
          </a:prstGeom>
          <a:noFill/>
        </p:spPr>
      </p:pic>
      <p:sp>
        <p:nvSpPr>
          <p:cNvPr id="684" name="Freeform 684"/>
          <p:cNvSpPr/>
          <p:nvPr/>
        </p:nvSpPr>
        <p:spPr>
          <a:xfrm>
            <a:off x="763264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5" y="0"/>
                  <a:pt x="228600" y="51174"/>
                  <a:pt x="228600" y="114300"/>
                </a:cubicBezTo>
                <a:cubicBezTo>
                  <a:pt x="228600" y="177427"/>
                  <a:pt x="177425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5438457" y="784483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5" name="Freeform 685"/>
          <p:cNvSpPr/>
          <p:nvPr/>
        </p:nvSpPr>
        <p:spPr>
          <a:xfrm flipV="1">
            <a:off x="763264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86" name="Picture 686"/>
          <p:cNvPicPr>
            <a:picLocks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2500" y="6032500"/>
            <a:ext cx="355600" cy="368300"/>
          </a:xfrm>
          <a:prstGeom prst="rect">
            <a:avLst/>
          </a:prstGeom>
          <a:noFill/>
        </p:spPr>
      </p:pic>
      <p:sp>
        <p:nvSpPr>
          <p:cNvPr id="687" name="Freeform 687"/>
          <p:cNvSpPr/>
          <p:nvPr/>
        </p:nvSpPr>
        <p:spPr>
          <a:xfrm>
            <a:off x="609600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3901817" y="784483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88" name="Freeform 688"/>
          <p:cNvSpPr/>
          <p:nvPr/>
        </p:nvSpPr>
        <p:spPr>
          <a:xfrm flipV="1">
            <a:off x="609600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89" name="Picture 689"/>
          <p:cNvPicPr>
            <a:picLocks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00700" y="6032500"/>
            <a:ext cx="355600" cy="368300"/>
          </a:xfrm>
          <a:prstGeom prst="rect">
            <a:avLst/>
          </a:prstGeom>
          <a:noFill/>
        </p:spPr>
      </p:pic>
      <p:sp>
        <p:nvSpPr>
          <p:cNvPr id="690" name="Freeform 690"/>
          <p:cNvSpPr/>
          <p:nvPr/>
        </p:nvSpPr>
        <p:spPr>
          <a:xfrm>
            <a:off x="566420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-3470017" y="784483"/>
                </a:moveTo>
              </a:path>
            </a:pathLst>
          </a:custGeom>
          <a:solidFill>
            <a:srgbClr val="FF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1" name="Freeform 691"/>
          <p:cNvSpPr/>
          <p:nvPr/>
        </p:nvSpPr>
        <p:spPr>
          <a:xfrm flipV="1">
            <a:off x="5664200" y="607351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92" name="Picture 692"/>
          <p:cNvPicPr>
            <a:picLocks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9800" y="5715000"/>
            <a:ext cx="152400" cy="927100"/>
          </a:xfrm>
          <a:prstGeom prst="rect">
            <a:avLst/>
          </a:prstGeom>
          <a:noFill/>
        </p:spPr>
      </p:pic>
      <p:sp>
        <p:nvSpPr>
          <p:cNvPr id="693" name="Freeform 693"/>
          <p:cNvSpPr/>
          <p:nvPr/>
        </p:nvSpPr>
        <p:spPr>
          <a:xfrm flipV="1">
            <a:off x="6096001" y="5753101"/>
            <a:ext cx="1" cy="796091"/>
          </a:xfrm>
          <a:custGeom>
            <a:avLst/>
            <a:gdLst/>
            <a:ahLst/>
            <a:cxnLst/>
            <a:rect l="0" t="0" r="0" b="0"/>
            <a:pathLst>
              <a:path w="1" h="796091">
                <a:moveTo>
                  <a:pt x="0" y="796091"/>
                </a:moveTo>
                <a:lnTo>
                  <a:pt x="1" y="0"/>
                </a:lnTo>
              </a:path>
            </a:pathLst>
          </a:custGeom>
          <a:noFill/>
          <a:ln w="25400" cap="flat" cmpd="sng">
            <a:solidFill>
              <a:srgbClr val="4F81BD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94" name="Rectangle 694"/>
          <p:cNvSpPr/>
          <p:nvPr/>
        </p:nvSpPr>
        <p:spPr>
          <a:xfrm>
            <a:off x="2072640" y="129694"/>
            <a:ext cx="8006936" cy="258692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16363"/>
            <a:r>
              <a:rPr lang="en-US" sz="4400" dirty="0">
                <a:solidFill>
                  <a:srgbClr val="000000"/>
                </a:solidFill>
                <a:latin typeface="Calibri"/>
              </a:rPr>
              <a:t>Supervise</a:t>
            </a:r>
            <a:r>
              <a:rPr lang="en-US" sz="4400" spc="100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Learning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Classification</a:t>
            </a:r>
          </a:p>
          <a:p>
            <a:pPr>
              <a:lnSpc>
                <a:spcPts val="6931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Give</a:t>
            </a:r>
            <a:r>
              <a:rPr lang="en-US" sz="3200" spc="73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3200" spc="724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...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181" baseline="-33333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lnSpc>
                <a:spcPts val="4195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Lear</a:t>
            </a:r>
            <a:r>
              <a:rPr lang="en-US" sz="3200" spc="732" dirty="0">
                <a:solidFill>
                  <a:srgbClr val="000000"/>
                </a:solidFill>
                <a:latin typeface="Calibri"/>
              </a:rPr>
              <a:t>na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functio</a:t>
            </a:r>
            <a:r>
              <a:rPr lang="en-US" sz="3200" spc="73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f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</a:t>
            </a:r>
            <a:r>
              <a:rPr lang="en-US" sz="3200" spc="730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spc="727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predic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spc="732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give</a:t>
            </a:r>
            <a:r>
              <a:rPr lang="en-US" sz="3200" spc="734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spc="734" dirty="0">
                <a:solidFill>
                  <a:srgbClr val="000000"/>
                </a:solidFill>
                <a:latin typeface="Arial"/>
              </a:rPr>
              <a:t>x</a:t>
            </a:r>
          </a:p>
          <a:p>
            <a:pPr marL="457199">
              <a:lnSpc>
                <a:spcPts val="40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spc="640" dirty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categorica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=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classification</a:t>
            </a:r>
          </a:p>
        </p:txBody>
      </p:sp>
      <p:sp>
        <p:nvSpPr>
          <p:cNvPr id="695" name="Rectangle 695"/>
          <p:cNvSpPr/>
          <p:nvPr/>
        </p:nvSpPr>
        <p:spPr>
          <a:xfrm>
            <a:off x="2069653" y="3748088"/>
            <a:ext cx="1345753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/>
              </a:rPr>
              <a:t>1(Malignant)</a:t>
            </a:r>
          </a:p>
        </p:txBody>
      </p:sp>
      <p:sp>
        <p:nvSpPr>
          <p:cNvPr id="696" name="Rectangle 696"/>
          <p:cNvSpPr/>
          <p:nvPr/>
        </p:nvSpPr>
        <p:spPr>
          <a:xfrm>
            <a:off x="2433120" y="4740560"/>
            <a:ext cx="100348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/>
              </a:rPr>
              <a:t>0(Benign)</a:t>
            </a:r>
          </a:p>
        </p:txBody>
      </p:sp>
      <p:sp>
        <p:nvSpPr>
          <p:cNvPr id="697" name="Rectangle 697"/>
          <p:cNvSpPr/>
          <p:nvPr/>
        </p:nvSpPr>
        <p:spPr>
          <a:xfrm>
            <a:off x="5390781" y="5120268"/>
            <a:ext cx="1357295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/>
              </a:rPr>
              <a:t>Tumo</a:t>
            </a:r>
            <a:r>
              <a:rPr lang="en-US" sz="2400" spc="537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Size</a:t>
            </a:r>
          </a:p>
        </p:txBody>
      </p:sp>
      <p:sp>
        <p:nvSpPr>
          <p:cNvPr id="698" name="Rectangle 698"/>
          <p:cNvSpPr/>
          <p:nvPr/>
        </p:nvSpPr>
        <p:spPr>
          <a:xfrm>
            <a:off x="4295139" y="3082284"/>
            <a:ext cx="3725722" cy="31013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/>
              </a:rPr>
              <a:t>Breas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Cance</a:t>
            </a:r>
            <a:r>
              <a:rPr lang="en-US" sz="2000" spc="451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(Malignan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000" spc="452" dirty="0">
                <a:solidFill>
                  <a:srgbClr val="000000"/>
                </a:solidFill>
                <a:latin typeface="Calibri"/>
              </a:rPr>
              <a:t>/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Benign</a:t>
            </a:r>
            <a:r>
              <a:rPr lang="en-US" sz="2000" spc="456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699" name="Rectangle 699"/>
          <p:cNvSpPr/>
          <p:nvPr/>
        </p:nvSpPr>
        <p:spPr>
          <a:xfrm>
            <a:off x="1615439" y="6361437"/>
            <a:ext cx="5158848" cy="37305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tabLst>
                <a:tab pos="3775340" algn="l"/>
              </a:tabLst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Base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exampl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Andre</a:t>
            </a:r>
            <a:r>
              <a:rPr lang="en-US" sz="1400" spc="312" dirty="0">
                <a:solidFill>
                  <a:srgbClr val="000000"/>
                </a:solidFill>
                <a:latin typeface="Calibri"/>
              </a:rPr>
              <a:t>w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Ng	</a:t>
            </a:r>
            <a:r>
              <a:rPr lang="en-US" sz="3636" baseline="35566" dirty="0">
                <a:solidFill>
                  <a:srgbClr val="000000"/>
                </a:solidFill>
                <a:latin typeface="Calibri"/>
              </a:rPr>
              <a:t>Tumo</a:t>
            </a:r>
            <a:r>
              <a:rPr lang="en-US" sz="3636" spc="537" baseline="35566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3636" baseline="35566" dirty="0">
                <a:solidFill>
                  <a:srgbClr val="000000"/>
                </a:solidFill>
                <a:latin typeface="Calibri"/>
              </a:rPr>
              <a:t>Size</a:t>
            </a:r>
          </a:p>
        </p:txBody>
      </p:sp>
      <p:sp>
        <p:nvSpPr>
          <p:cNvPr id="700" name="Rectangle 700"/>
          <p:cNvSpPr/>
          <p:nvPr/>
        </p:nvSpPr>
        <p:spPr>
          <a:xfrm>
            <a:off x="4870265" y="5692995"/>
            <a:ext cx="2599430" cy="21762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tabLst>
                <a:tab pos="1297399" algn="l"/>
              </a:tabLst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Predic</a:t>
            </a:r>
            <a:r>
              <a:rPr lang="en-US" sz="1400" spc="317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Benign	</a:t>
            </a:r>
            <a:r>
              <a:rPr lang="en-US" sz="2121" baseline="-6208" dirty="0">
                <a:solidFill>
                  <a:srgbClr val="000000"/>
                </a:solidFill>
                <a:latin typeface="Calibri"/>
              </a:rPr>
              <a:t>Predic</a:t>
            </a:r>
            <a:r>
              <a:rPr lang="en-US" sz="2121" spc="317" baseline="-6208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121" baseline="-6208" dirty="0">
                <a:solidFill>
                  <a:srgbClr val="000000"/>
                </a:solidFill>
                <a:latin typeface="Calibri"/>
              </a:rPr>
              <a:t>Malignant</a:t>
            </a:r>
          </a:p>
        </p:txBody>
      </p:sp>
      <p:sp>
        <p:nvSpPr>
          <p:cNvPr id="701" name="Rectangle 701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Freeform 702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3" name="Freeform 703"/>
          <p:cNvSpPr/>
          <p:nvPr/>
        </p:nvSpPr>
        <p:spPr>
          <a:xfrm>
            <a:off x="2561043" y="2841538"/>
            <a:ext cx="176863" cy="2725623"/>
          </a:xfrm>
          <a:custGeom>
            <a:avLst/>
            <a:gdLst/>
            <a:ahLst/>
            <a:cxnLst/>
            <a:rect l="0" t="0" r="0" b="0"/>
            <a:pathLst>
              <a:path w="176863" h="2725623">
                <a:moveTo>
                  <a:pt x="69380" y="2725623"/>
                </a:moveTo>
                <a:lnTo>
                  <a:pt x="107480" y="2725623"/>
                </a:lnTo>
                <a:lnTo>
                  <a:pt x="107481" y="108272"/>
                </a:lnTo>
                <a:lnTo>
                  <a:pt x="138651" y="161706"/>
                </a:lnTo>
                <a:cubicBezTo>
                  <a:pt x="143953" y="170794"/>
                  <a:pt x="155617" y="173864"/>
                  <a:pt x="164705" y="168563"/>
                </a:cubicBezTo>
                <a:cubicBezTo>
                  <a:pt x="173793" y="163261"/>
                  <a:pt x="176863" y="151597"/>
                  <a:pt x="171561" y="142509"/>
                </a:cubicBezTo>
                <a:lnTo>
                  <a:pt x="88432" y="0"/>
                </a:lnTo>
                <a:lnTo>
                  <a:pt x="5302" y="142509"/>
                </a:lnTo>
                <a:cubicBezTo>
                  <a:pt x="0" y="151597"/>
                  <a:pt x="3070" y="163261"/>
                  <a:pt x="12158" y="168563"/>
                </a:cubicBezTo>
                <a:cubicBezTo>
                  <a:pt x="21245" y="173864"/>
                  <a:pt x="32910" y="170794"/>
                  <a:pt x="38211" y="161706"/>
                </a:cubicBezTo>
                <a:lnTo>
                  <a:pt x="69381" y="108272"/>
                </a:lnTo>
                <a:close/>
                <a:moveTo>
                  <a:pt x="253798" y="4016463"/>
                </a:moveTo>
              </a:path>
            </a:pathLst>
          </a:custGeom>
          <a:solidFill>
            <a:srgbClr val="7F7F7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4" name="Freeform 704"/>
          <p:cNvSpPr/>
          <p:nvPr/>
        </p:nvSpPr>
        <p:spPr>
          <a:xfrm>
            <a:off x="2485096" y="5328421"/>
            <a:ext cx="3598373" cy="174770"/>
          </a:xfrm>
          <a:custGeom>
            <a:avLst/>
            <a:gdLst/>
            <a:ahLst/>
            <a:cxnLst/>
            <a:rect l="0" t="0" r="0" b="0"/>
            <a:pathLst>
              <a:path w="3598373" h="174770">
                <a:moveTo>
                  <a:pt x="3441418" y="1241"/>
                </a:moveTo>
                <a:cubicBezTo>
                  <a:pt x="3446132" y="0"/>
                  <a:pt x="3451320" y="559"/>
                  <a:pt x="3455864" y="3210"/>
                </a:cubicBezTo>
                <a:lnTo>
                  <a:pt x="3598373" y="86340"/>
                </a:lnTo>
                <a:lnTo>
                  <a:pt x="3455864" y="169469"/>
                </a:lnTo>
                <a:cubicBezTo>
                  <a:pt x="3446776" y="174770"/>
                  <a:pt x="3435113" y="171701"/>
                  <a:pt x="3429810" y="162614"/>
                </a:cubicBezTo>
                <a:cubicBezTo>
                  <a:pt x="3424509" y="153526"/>
                  <a:pt x="3427579" y="141861"/>
                  <a:pt x="3436667" y="136560"/>
                </a:cubicBezTo>
                <a:lnTo>
                  <a:pt x="3490101" y="105390"/>
                </a:lnTo>
                <a:lnTo>
                  <a:pt x="0" y="105389"/>
                </a:lnTo>
                <a:lnTo>
                  <a:pt x="0" y="67289"/>
                </a:lnTo>
                <a:lnTo>
                  <a:pt x="3490101" y="67290"/>
                </a:lnTo>
                <a:lnTo>
                  <a:pt x="3436667" y="36119"/>
                </a:lnTo>
                <a:cubicBezTo>
                  <a:pt x="3427579" y="30818"/>
                  <a:pt x="3424509" y="19153"/>
                  <a:pt x="3429810" y="10065"/>
                </a:cubicBezTo>
                <a:cubicBezTo>
                  <a:pt x="3432461" y="5522"/>
                  <a:pt x="3436702" y="2482"/>
                  <a:pt x="3441418" y="1241"/>
                </a:cubicBezTo>
                <a:close/>
                <a:moveTo>
                  <a:pt x="567243" y="1529579"/>
                </a:moveTo>
              </a:path>
            </a:pathLst>
          </a:custGeom>
          <a:solidFill>
            <a:srgbClr val="7F7F7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05" name="Picture 70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5500" y="4775200"/>
            <a:ext cx="393700" cy="393700"/>
          </a:xfrm>
          <a:prstGeom prst="rect">
            <a:avLst/>
          </a:prstGeom>
          <a:noFill/>
        </p:spPr>
      </p:pic>
      <p:pic>
        <p:nvPicPr>
          <p:cNvPr id="706" name="Picture 70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1514" y="4824968"/>
            <a:ext cx="254000" cy="254000"/>
          </a:xfrm>
          <a:prstGeom prst="rect">
            <a:avLst/>
          </a:prstGeom>
          <a:noFill/>
        </p:spPr>
      </p:pic>
      <p:sp>
        <p:nvSpPr>
          <p:cNvPr id="707" name="Freeform 707"/>
          <p:cNvSpPr/>
          <p:nvPr/>
        </p:nvSpPr>
        <p:spPr>
          <a:xfrm flipV="1">
            <a:off x="4714214" y="4837668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08" name="Picture 70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46400" y="4737100"/>
            <a:ext cx="393700" cy="393700"/>
          </a:xfrm>
          <a:prstGeom prst="rect">
            <a:avLst/>
          </a:prstGeom>
          <a:noFill/>
        </p:spPr>
      </p:pic>
      <p:pic>
        <p:nvPicPr>
          <p:cNvPr id="709" name="Picture 70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18280" y="4786868"/>
            <a:ext cx="254000" cy="254000"/>
          </a:xfrm>
          <a:prstGeom prst="rect">
            <a:avLst/>
          </a:prstGeom>
          <a:noFill/>
        </p:spPr>
      </p:pic>
      <p:sp>
        <p:nvSpPr>
          <p:cNvPr id="710" name="Freeform 710"/>
          <p:cNvSpPr/>
          <p:nvPr/>
        </p:nvSpPr>
        <p:spPr>
          <a:xfrm flipV="1">
            <a:off x="3030980" y="4799568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11" name="Picture 711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51300" y="4241800"/>
            <a:ext cx="393700" cy="393700"/>
          </a:xfrm>
          <a:prstGeom prst="rect">
            <a:avLst/>
          </a:prstGeom>
          <a:noFill/>
        </p:spPr>
      </p:pic>
      <p:pic>
        <p:nvPicPr>
          <p:cNvPr id="712" name="Picture 712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3180" y="4283257"/>
            <a:ext cx="254000" cy="254000"/>
          </a:xfrm>
          <a:prstGeom prst="rect">
            <a:avLst/>
          </a:prstGeom>
          <a:noFill/>
        </p:spPr>
      </p:pic>
      <p:pic>
        <p:nvPicPr>
          <p:cNvPr id="713" name="Picture 713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3180" y="4283257"/>
            <a:ext cx="254000" cy="254000"/>
          </a:xfrm>
          <a:prstGeom prst="rect">
            <a:avLst/>
          </a:prstGeom>
          <a:noFill/>
        </p:spPr>
      </p:pic>
      <p:sp>
        <p:nvSpPr>
          <p:cNvPr id="714" name="Freeform 714"/>
          <p:cNvSpPr/>
          <p:nvPr/>
        </p:nvSpPr>
        <p:spPr>
          <a:xfrm flipV="1">
            <a:off x="4135880" y="4295957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15" name="Picture 71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9900" y="5003800"/>
            <a:ext cx="393700" cy="393700"/>
          </a:xfrm>
          <a:prstGeom prst="rect">
            <a:avLst/>
          </a:prstGeom>
          <a:noFill/>
        </p:spPr>
      </p:pic>
      <p:pic>
        <p:nvPicPr>
          <p:cNvPr id="716" name="Picture 716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1780" y="5053568"/>
            <a:ext cx="254000" cy="254000"/>
          </a:xfrm>
          <a:prstGeom prst="rect">
            <a:avLst/>
          </a:prstGeom>
          <a:noFill/>
        </p:spPr>
      </p:pic>
      <p:sp>
        <p:nvSpPr>
          <p:cNvPr id="717" name="Freeform 717"/>
          <p:cNvSpPr/>
          <p:nvPr/>
        </p:nvSpPr>
        <p:spPr>
          <a:xfrm flipV="1">
            <a:off x="4364480" y="5066268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18" name="Picture 718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3962400"/>
            <a:ext cx="393700" cy="393700"/>
          </a:xfrm>
          <a:prstGeom prst="rect">
            <a:avLst/>
          </a:prstGeom>
          <a:noFill/>
        </p:spPr>
      </p:pic>
      <p:pic>
        <p:nvPicPr>
          <p:cNvPr id="719" name="Picture 719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1940" y="4011179"/>
            <a:ext cx="254000" cy="254000"/>
          </a:xfrm>
          <a:prstGeom prst="rect">
            <a:avLst/>
          </a:prstGeom>
          <a:noFill/>
        </p:spPr>
      </p:pic>
      <p:sp>
        <p:nvSpPr>
          <p:cNvPr id="720" name="Freeform 720"/>
          <p:cNvSpPr/>
          <p:nvPr/>
        </p:nvSpPr>
        <p:spPr>
          <a:xfrm flipV="1">
            <a:off x="3354640" y="4023879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21" name="Picture 721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21200" y="3505200"/>
            <a:ext cx="393700" cy="393700"/>
          </a:xfrm>
          <a:prstGeom prst="rect">
            <a:avLst/>
          </a:prstGeom>
          <a:noFill/>
        </p:spPr>
      </p:pic>
      <p:sp>
        <p:nvSpPr>
          <p:cNvPr id="722" name="Freeform 722"/>
          <p:cNvSpPr/>
          <p:nvPr/>
        </p:nvSpPr>
        <p:spPr>
          <a:xfrm>
            <a:off x="4599914" y="3566679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3"/>
                  <a:pt x="51174" y="0"/>
                  <a:pt x="114300" y="0"/>
                </a:cubicBezTo>
                <a:cubicBezTo>
                  <a:pt x="177425" y="0"/>
                  <a:pt x="228600" y="51173"/>
                  <a:pt x="228600" y="114300"/>
                </a:cubicBezTo>
                <a:cubicBezTo>
                  <a:pt x="228600" y="177426"/>
                  <a:pt x="177425" y="228600"/>
                  <a:pt x="114300" y="228600"/>
                </a:cubicBezTo>
                <a:cubicBezTo>
                  <a:pt x="51174" y="228600"/>
                  <a:pt x="0" y="177426"/>
                  <a:pt x="0" y="114300"/>
                </a:cubicBezTo>
                <a:close/>
                <a:moveTo>
                  <a:pt x="101107" y="3291321"/>
                </a:moveTo>
              </a:path>
            </a:pathLst>
          </a:custGeom>
          <a:solidFill>
            <a:srgbClr val="FF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3" name="Freeform 723"/>
          <p:cNvSpPr/>
          <p:nvPr/>
        </p:nvSpPr>
        <p:spPr>
          <a:xfrm flipV="1">
            <a:off x="4599914" y="3566679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24" name="Picture 724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7600" y="3136900"/>
            <a:ext cx="381000" cy="393700"/>
          </a:xfrm>
          <a:prstGeom prst="rect">
            <a:avLst/>
          </a:prstGeom>
          <a:noFill/>
        </p:spPr>
      </p:pic>
      <p:sp>
        <p:nvSpPr>
          <p:cNvPr id="725" name="Freeform 725"/>
          <p:cNvSpPr/>
          <p:nvPr/>
        </p:nvSpPr>
        <p:spPr>
          <a:xfrm>
            <a:off x="3733800" y="32004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4"/>
                  <a:pt x="51173" y="0"/>
                  <a:pt x="114300" y="0"/>
                </a:cubicBezTo>
                <a:cubicBezTo>
                  <a:pt x="177426" y="0"/>
                  <a:pt x="228600" y="51174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3" y="228600"/>
                  <a:pt x="0" y="177427"/>
                  <a:pt x="0" y="114300"/>
                </a:cubicBezTo>
                <a:close/>
                <a:moveTo>
                  <a:pt x="1333500" y="3657600"/>
                </a:moveTo>
              </a:path>
            </a:pathLst>
          </a:custGeom>
          <a:solidFill>
            <a:srgbClr val="FF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6" name="Freeform 726"/>
          <p:cNvSpPr/>
          <p:nvPr/>
        </p:nvSpPr>
        <p:spPr>
          <a:xfrm flipV="1">
            <a:off x="3733800" y="3200400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27" name="Picture 727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59400" y="4508500"/>
            <a:ext cx="393700" cy="393700"/>
          </a:xfrm>
          <a:prstGeom prst="rect">
            <a:avLst/>
          </a:prstGeom>
          <a:noFill/>
        </p:spPr>
      </p:pic>
      <p:sp>
        <p:nvSpPr>
          <p:cNvPr id="728" name="Freeform 728"/>
          <p:cNvSpPr/>
          <p:nvPr/>
        </p:nvSpPr>
        <p:spPr>
          <a:xfrm>
            <a:off x="5439662" y="4570968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5"/>
                  <a:pt x="51174" y="0"/>
                  <a:pt x="114300" y="0"/>
                </a:cubicBezTo>
                <a:cubicBezTo>
                  <a:pt x="177426" y="0"/>
                  <a:pt x="228600" y="51175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4" y="228600"/>
                  <a:pt x="0" y="177427"/>
                  <a:pt x="0" y="114300"/>
                </a:cubicBezTo>
                <a:close/>
                <a:moveTo>
                  <a:pt x="-1742930" y="2287032"/>
                </a:moveTo>
              </a:path>
            </a:pathLst>
          </a:custGeom>
          <a:solidFill>
            <a:srgbClr val="FF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9" name="Freeform 729"/>
          <p:cNvSpPr/>
          <p:nvPr/>
        </p:nvSpPr>
        <p:spPr>
          <a:xfrm flipV="1">
            <a:off x="5439662" y="4570968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30" name="Picture 730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30800" y="3505200"/>
            <a:ext cx="393700" cy="393700"/>
          </a:xfrm>
          <a:prstGeom prst="rect">
            <a:avLst/>
          </a:prstGeom>
          <a:noFill/>
        </p:spPr>
      </p:pic>
      <p:sp>
        <p:nvSpPr>
          <p:cNvPr id="731" name="Freeform 731"/>
          <p:cNvSpPr/>
          <p:nvPr/>
        </p:nvSpPr>
        <p:spPr>
          <a:xfrm>
            <a:off x="5211062" y="3565646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5"/>
                  <a:pt x="51174" y="0"/>
                  <a:pt x="114300" y="0"/>
                </a:cubicBezTo>
                <a:cubicBezTo>
                  <a:pt x="177426" y="0"/>
                  <a:pt x="228600" y="51175"/>
                  <a:pt x="228600" y="114300"/>
                </a:cubicBezTo>
                <a:cubicBezTo>
                  <a:pt x="228600" y="177427"/>
                  <a:pt x="177426" y="228600"/>
                  <a:pt x="114300" y="228600"/>
                </a:cubicBezTo>
                <a:cubicBezTo>
                  <a:pt x="51174" y="228600"/>
                  <a:pt x="0" y="177427"/>
                  <a:pt x="0" y="114300"/>
                </a:cubicBezTo>
                <a:close/>
                <a:moveTo>
                  <a:pt x="-509008" y="3292354"/>
                </a:moveTo>
              </a:path>
            </a:pathLst>
          </a:custGeom>
          <a:solidFill>
            <a:srgbClr val="FF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2" name="Freeform 732"/>
          <p:cNvSpPr/>
          <p:nvPr/>
        </p:nvSpPr>
        <p:spPr>
          <a:xfrm flipV="1">
            <a:off x="5211062" y="3565646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33" name="Picture 73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54600" y="3073400"/>
            <a:ext cx="393700" cy="393700"/>
          </a:xfrm>
          <a:prstGeom prst="rect">
            <a:avLst/>
          </a:prstGeom>
          <a:noFill/>
        </p:spPr>
      </p:pic>
      <p:sp>
        <p:nvSpPr>
          <p:cNvPr id="734" name="Freeform 734"/>
          <p:cNvSpPr/>
          <p:nvPr/>
        </p:nvSpPr>
        <p:spPr>
          <a:xfrm>
            <a:off x="5139180" y="3135868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51175"/>
                  <a:pt x="51174" y="0"/>
                  <a:pt x="114300" y="0"/>
                </a:cubicBezTo>
                <a:cubicBezTo>
                  <a:pt x="177427" y="0"/>
                  <a:pt x="228600" y="51175"/>
                  <a:pt x="228600" y="114300"/>
                </a:cubicBezTo>
                <a:cubicBezTo>
                  <a:pt x="228600" y="177427"/>
                  <a:pt x="177427" y="228600"/>
                  <a:pt x="114300" y="228600"/>
                </a:cubicBezTo>
                <a:cubicBezTo>
                  <a:pt x="51174" y="228600"/>
                  <a:pt x="0" y="177427"/>
                  <a:pt x="0" y="114300"/>
                </a:cubicBezTo>
                <a:close/>
                <a:moveTo>
                  <a:pt x="-7348" y="3722132"/>
                </a:moveTo>
              </a:path>
            </a:pathLst>
          </a:custGeom>
          <a:solidFill>
            <a:srgbClr val="FF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5" name="Freeform 735"/>
          <p:cNvSpPr/>
          <p:nvPr/>
        </p:nvSpPr>
        <p:spPr>
          <a:xfrm flipV="1">
            <a:off x="5139180" y="3135868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114300"/>
                </a:moveTo>
                <a:cubicBezTo>
                  <a:pt x="0" y="177426"/>
                  <a:pt x="51173" y="228600"/>
                  <a:pt x="114300" y="228600"/>
                </a:cubicBezTo>
                <a:cubicBezTo>
                  <a:pt x="177426" y="228600"/>
                  <a:pt x="228600" y="177426"/>
                  <a:pt x="228600" y="114300"/>
                </a:cubicBezTo>
                <a:cubicBezTo>
                  <a:pt x="228600" y="51173"/>
                  <a:pt x="177426" y="0"/>
                  <a:pt x="114300" y="0"/>
                </a:cubicBezTo>
                <a:cubicBezTo>
                  <a:pt x="51173" y="0"/>
                  <a:pt x="0" y="51173"/>
                  <a:pt x="0" y="114300"/>
                </a:cubicBezTo>
                <a:close/>
                <a:moveTo>
                  <a:pt x="114300" y="228600"/>
                </a:moveTo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36" name="Picture 736"/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60700" y="3086100"/>
            <a:ext cx="2819400" cy="2286000"/>
          </a:xfrm>
          <a:prstGeom prst="rect">
            <a:avLst/>
          </a:prstGeom>
          <a:noFill/>
        </p:spPr>
      </p:pic>
      <p:sp>
        <p:nvSpPr>
          <p:cNvPr id="737" name="Freeform 737"/>
          <p:cNvSpPr/>
          <p:nvPr/>
        </p:nvSpPr>
        <p:spPr>
          <a:xfrm flipV="1">
            <a:off x="3136900" y="3135869"/>
            <a:ext cx="2667000" cy="2144157"/>
          </a:xfrm>
          <a:custGeom>
            <a:avLst/>
            <a:gdLst/>
            <a:ahLst/>
            <a:cxnLst/>
            <a:rect l="0" t="0" r="0" b="0"/>
            <a:pathLst>
              <a:path w="2667000" h="2144157">
                <a:moveTo>
                  <a:pt x="0" y="2144157"/>
                </a:moveTo>
                <a:lnTo>
                  <a:pt x="2667000" y="0"/>
                </a:lnTo>
              </a:path>
            </a:pathLst>
          </a:custGeom>
          <a:noFill/>
          <a:ln w="25400" cap="flat" cmpd="sng">
            <a:solidFill>
              <a:srgbClr val="4F81BD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8" name="Rectangle 738"/>
          <p:cNvSpPr/>
          <p:nvPr/>
        </p:nvSpPr>
        <p:spPr>
          <a:xfrm>
            <a:off x="3807491" y="129693"/>
            <a:ext cx="4621906" cy="67710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</a:rPr>
              <a:t>Supervise</a:t>
            </a:r>
            <a:r>
              <a:rPr lang="en-US" sz="4400" spc="100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Learning</a:t>
            </a:r>
          </a:p>
        </p:txBody>
      </p:sp>
      <p:sp>
        <p:nvSpPr>
          <p:cNvPr id="739" name="Rectangle 739"/>
          <p:cNvSpPr/>
          <p:nvPr/>
        </p:nvSpPr>
        <p:spPr>
          <a:xfrm>
            <a:off x="3717099" y="5697460"/>
            <a:ext cx="1132746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/>
              </a:rPr>
              <a:t>Tumo</a:t>
            </a:r>
            <a:r>
              <a:rPr lang="en-US" sz="2000" spc="452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Size</a:t>
            </a:r>
          </a:p>
        </p:txBody>
      </p:sp>
      <p:sp>
        <p:nvSpPr>
          <p:cNvPr id="740" name="Rectangle 740"/>
          <p:cNvSpPr/>
          <p:nvPr/>
        </p:nvSpPr>
        <p:spPr>
          <a:xfrm>
            <a:off x="1996441" y="4069092"/>
            <a:ext cx="395429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/>
              </a:rPr>
              <a:t>Age</a:t>
            </a:r>
          </a:p>
        </p:txBody>
      </p:sp>
      <p:sp>
        <p:nvSpPr>
          <p:cNvPr id="741" name="Rectangle 741"/>
          <p:cNvSpPr/>
          <p:nvPr/>
        </p:nvSpPr>
        <p:spPr>
          <a:xfrm>
            <a:off x="6284212" y="2879015"/>
            <a:ext cx="3847586" cy="197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800" spc="1843" dirty="0">
                <a:solidFill>
                  <a:srgbClr val="000000"/>
                </a:solidFill>
                <a:latin typeface="Calibri"/>
              </a:rPr>
              <a:t>-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Clum</a:t>
            </a:r>
            <a:r>
              <a:rPr lang="en-US" sz="2800" spc="645" dirty="0">
                <a:solidFill>
                  <a:srgbClr val="000000"/>
                </a:solidFill>
                <a:latin typeface="Calibri"/>
              </a:rPr>
              <a:t>p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Thickness</a:t>
            </a:r>
          </a:p>
          <a:p>
            <a:pPr>
              <a:lnSpc>
                <a:spcPts val="4099"/>
              </a:lnSpc>
            </a:pPr>
            <a:r>
              <a:rPr lang="en-US" sz="2800" spc="1843" dirty="0">
                <a:solidFill>
                  <a:srgbClr val="000000"/>
                </a:solidFill>
                <a:latin typeface="Calibri"/>
              </a:rPr>
              <a:t>-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Uniformit</a:t>
            </a:r>
            <a:r>
              <a:rPr lang="en-US" sz="2800" spc="632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Cel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Size</a:t>
            </a:r>
          </a:p>
          <a:p>
            <a:pPr>
              <a:lnSpc>
                <a:spcPts val="4000"/>
              </a:lnSpc>
            </a:pPr>
            <a:r>
              <a:rPr lang="en-US" sz="2800" spc="1843" dirty="0">
                <a:solidFill>
                  <a:srgbClr val="000000"/>
                </a:solidFill>
                <a:latin typeface="Calibri"/>
              </a:rPr>
              <a:t>-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Uniformit</a:t>
            </a:r>
            <a:r>
              <a:rPr lang="en-US" sz="2800" spc="632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Cel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Shape</a:t>
            </a:r>
          </a:p>
          <a:p>
            <a:pPr>
              <a:lnSpc>
                <a:spcPts val="4000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…</a:t>
            </a:r>
          </a:p>
        </p:txBody>
      </p:sp>
      <p:sp>
        <p:nvSpPr>
          <p:cNvPr id="742" name="Rectangle 742"/>
          <p:cNvSpPr/>
          <p:nvPr/>
        </p:nvSpPr>
        <p:spPr>
          <a:xfrm>
            <a:off x="2072640" y="1144728"/>
            <a:ext cx="7047560" cy="101594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x 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ca</a:t>
            </a:r>
            <a:r>
              <a:rPr lang="en-US" sz="3200" spc="73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3200" spc="719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multi-dimensional</a:t>
            </a:r>
          </a:p>
          <a:p>
            <a:pPr marL="457199">
              <a:lnSpc>
                <a:spcPts val="40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Eac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h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dimensio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correspond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attribute</a:t>
            </a:r>
          </a:p>
        </p:txBody>
      </p:sp>
      <p:sp>
        <p:nvSpPr>
          <p:cNvPr id="743" name="Rectangle 743"/>
          <p:cNvSpPr/>
          <p:nvPr/>
        </p:nvSpPr>
        <p:spPr>
          <a:xfrm>
            <a:off x="1615440" y="6590746"/>
            <a:ext cx="239411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Base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exampl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Andre</a:t>
            </a:r>
            <a:r>
              <a:rPr lang="en-US" sz="1400" spc="312" dirty="0">
                <a:solidFill>
                  <a:srgbClr val="000000"/>
                </a:solidFill>
                <a:latin typeface="Calibri"/>
              </a:rPr>
              <a:t>w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Ng</a:t>
            </a:r>
          </a:p>
        </p:txBody>
      </p:sp>
      <p:sp>
        <p:nvSpPr>
          <p:cNvPr id="744" name="Rectangle 744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Freeform 986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87" name="Rectangle 987"/>
          <p:cNvSpPr/>
          <p:nvPr/>
        </p:nvSpPr>
        <p:spPr>
          <a:xfrm>
            <a:off x="2914396" y="2518880"/>
            <a:ext cx="6363670" cy="6822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</a:rPr>
              <a:t>Framin</a:t>
            </a:r>
            <a:r>
              <a:rPr lang="en-US" sz="4400" spc="1002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4400" spc="1004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4400" spc="1002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Problem</a:t>
            </a:r>
          </a:p>
        </p:txBody>
      </p:sp>
      <p:sp>
        <p:nvSpPr>
          <p:cNvPr id="988" name="Rectangle 988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Freeform 989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0" name="Freeform 990"/>
          <p:cNvSpPr/>
          <p:nvPr/>
        </p:nvSpPr>
        <p:spPr>
          <a:xfrm>
            <a:off x="3170238" y="4838700"/>
            <a:ext cx="2165351" cy="966788"/>
          </a:xfrm>
          <a:custGeom>
            <a:avLst/>
            <a:gdLst/>
            <a:ahLst/>
            <a:cxnLst/>
            <a:rect l="0" t="0" r="0" b="0"/>
            <a:pathLst>
              <a:path w="2165351" h="966788">
                <a:moveTo>
                  <a:pt x="0" y="483394"/>
                </a:moveTo>
                <a:cubicBezTo>
                  <a:pt x="0" y="216424"/>
                  <a:pt x="484731" y="0"/>
                  <a:pt x="1082675" y="0"/>
                </a:cubicBezTo>
                <a:cubicBezTo>
                  <a:pt x="1680620" y="0"/>
                  <a:pt x="2165351" y="216424"/>
                  <a:pt x="2165351" y="483394"/>
                </a:cubicBezTo>
                <a:cubicBezTo>
                  <a:pt x="2165351" y="750366"/>
                  <a:pt x="1680620" y="966788"/>
                  <a:pt x="1082675" y="966788"/>
                </a:cubicBezTo>
                <a:cubicBezTo>
                  <a:pt x="484731" y="966788"/>
                  <a:pt x="0" y="750366"/>
                  <a:pt x="0" y="483394"/>
                </a:cubicBezTo>
                <a:close/>
                <a:moveTo>
                  <a:pt x="-110331" y="2019300"/>
                </a:moveTo>
              </a:path>
            </a:pathLst>
          </a:custGeom>
          <a:solidFill>
            <a:srgbClr val="FFFF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1" name="Freeform 991"/>
          <p:cNvSpPr/>
          <p:nvPr/>
        </p:nvSpPr>
        <p:spPr>
          <a:xfrm flipV="1">
            <a:off x="3170237" y="4838700"/>
            <a:ext cx="2165350" cy="966788"/>
          </a:xfrm>
          <a:custGeom>
            <a:avLst/>
            <a:gdLst/>
            <a:ahLst/>
            <a:cxnLst/>
            <a:rect l="0" t="0" r="0" b="0"/>
            <a:pathLst>
              <a:path w="2165350" h="966788">
                <a:moveTo>
                  <a:pt x="0" y="483394"/>
                </a:moveTo>
                <a:cubicBezTo>
                  <a:pt x="0" y="750365"/>
                  <a:pt x="484730" y="966788"/>
                  <a:pt x="1082675" y="966788"/>
                </a:cubicBezTo>
                <a:cubicBezTo>
                  <a:pt x="1680620" y="966788"/>
                  <a:pt x="2165350" y="750365"/>
                  <a:pt x="2165350" y="483394"/>
                </a:cubicBezTo>
                <a:cubicBezTo>
                  <a:pt x="2165350" y="216422"/>
                  <a:pt x="1680620" y="0"/>
                  <a:pt x="1082675" y="0"/>
                </a:cubicBezTo>
                <a:cubicBezTo>
                  <a:pt x="484730" y="0"/>
                  <a:pt x="0" y="216422"/>
                  <a:pt x="0" y="483394"/>
                </a:cubicBezTo>
                <a:close/>
                <a:moveTo>
                  <a:pt x="483394" y="966788"/>
                </a:moveTo>
              </a:path>
            </a:pathLst>
          </a:custGeom>
          <a:noFill/>
          <a:ln w="12700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92" name="Picture 99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16700" y="4292600"/>
            <a:ext cx="2197100" cy="635000"/>
          </a:xfrm>
          <a:prstGeom prst="rect">
            <a:avLst/>
          </a:prstGeom>
          <a:noFill/>
        </p:spPr>
      </p:pic>
      <p:pic>
        <p:nvPicPr>
          <p:cNvPr id="993" name="Picture 99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24650" y="4337051"/>
            <a:ext cx="2019300" cy="434975"/>
          </a:xfrm>
          <a:prstGeom prst="rect">
            <a:avLst/>
          </a:prstGeom>
          <a:noFill/>
        </p:spPr>
      </p:pic>
      <p:sp>
        <p:nvSpPr>
          <p:cNvPr id="994" name="Freeform 994"/>
          <p:cNvSpPr/>
          <p:nvPr/>
        </p:nvSpPr>
        <p:spPr>
          <a:xfrm flipV="1">
            <a:off x="6737350" y="4349751"/>
            <a:ext cx="1993900" cy="409575"/>
          </a:xfrm>
          <a:custGeom>
            <a:avLst/>
            <a:gdLst/>
            <a:ahLst/>
            <a:cxnLst/>
            <a:rect l="0" t="0" r="0" b="0"/>
            <a:pathLst>
              <a:path w="1993900" h="409575">
                <a:moveTo>
                  <a:pt x="0" y="409575"/>
                </a:moveTo>
                <a:lnTo>
                  <a:pt x="1993900" y="409575"/>
                </a:lnTo>
                <a:lnTo>
                  <a:pt x="1993900" y="0"/>
                </a:lnTo>
                <a:lnTo>
                  <a:pt x="0" y="0"/>
                </a:lnTo>
                <a:lnTo>
                  <a:pt x="0" y="409575"/>
                </a:lnTo>
                <a:close/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5" name="Freeform 995"/>
          <p:cNvSpPr/>
          <p:nvPr/>
        </p:nvSpPr>
        <p:spPr>
          <a:xfrm>
            <a:off x="5328237" y="4522788"/>
            <a:ext cx="1340851" cy="812352"/>
          </a:xfrm>
          <a:custGeom>
            <a:avLst/>
            <a:gdLst/>
            <a:ahLst/>
            <a:cxnLst/>
            <a:rect l="0" t="0" r="0" b="0"/>
            <a:pathLst>
              <a:path w="1340851" h="812352">
                <a:moveTo>
                  <a:pt x="14702" y="812352"/>
                </a:moveTo>
                <a:lnTo>
                  <a:pt x="1274694" y="56358"/>
                </a:lnTo>
                <a:lnTo>
                  <a:pt x="1289396" y="80860"/>
                </a:lnTo>
                <a:lnTo>
                  <a:pt x="1340851" y="0"/>
                </a:lnTo>
                <a:lnTo>
                  <a:pt x="1245290" y="7351"/>
                </a:lnTo>
                <a:lnTo>
                  <a:pt x="1259993" y="31854"/>
                </a:lnTo>
                <a:lnTo>
                  <a:pt x="0" y="787850"/>
                </a:lnTo>
                <a:close/>
                <a:moveTo>
                  <a:pt x="-2281376" y="2335212"/>
                </a:moveTo>
              </a:path>
            </a:pathLst>
          </a:custGeom>
          <a:solidFill>
            <a:srgbClr val="00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6" name="Freeform 996"/>
          <p:cNvSpPr/>
          <p:nvPr/>
        </p:nvSpPr>
        <p:spPr>
          <a:xfrm>
            <a:off x="6823076" y="5102226"/>
            <a:ext cx="1851025" cy="536575"/>
          </a:xfrm>
          <a:custGeom>
            <a:avLst/>
            <a:gdLst/>
            <a:ahLst/>
            <a:cxnLst/>
            <a:rect l="0" t="0" r="0" b="0"/>
            <a:pathLst>
              <a:path w="1851025" h="536575">
                <a:moveTo>
                  <a:pt x="0" y="268288"/>
                </a:moveTo>
                <a:cubicBezTo>
                  <a:pt x="0" y="120117"/>
                  <a:pt x="414365" y="0"/>
                  <a:pt x="925512" y="0"/>
                </a:cubicBezTo>
                <a:cubicBezTo>
                  <a:pt x="1436659" y="0"/>
                  <a:pt x="1851025" y="120117"/>
                  <a:pt x="1851025" y="268288"/>
                </a:cubicBezTo>
                <a:cubicBezTo>
                  <a:pt x="1851025" y="416459"/>
                  <a:pt x="1436659" y="536575"/>
                  <a:pt x="925512" y="536575"/>
                </a:cubicBezTo>
                <a:cubicBezTo>
                  <a:pt x="414365" y="536575"/>
                  <a:pt x="0" y="416459"/>
                  <a:pt x="0" y="268288"/>
                </a:cubicBezTo>
                <a:close/>
                <a:moveTo>
                  <a:pt x="-3811588" y="1755775"/>
                </a:moveTo>
              </a:path>
            </a:pathLst>
          </a:custGeom>
          <a:solidFill>
            <a:srgbClr val="FFFF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7" name="Freeform 997"/>
          <p:cNvSpPr/>
          <p:nvPr/>
        </p:nvSpPr>
        <p:spPr>
          <a:xfrm flipV="1">
            <a:off x="6823076" y="5102226"/>
            <a:ext cx="1851025" cy="536575"/>
          </a:xfrm>
          <a:custGeom>
            <a:avLst/>
            <a:gdLst/>
            <a:ahLst/>
            <a:cxnLst/>
            <a:rect l="0" t="0" r="0" b="0"/>
            <a:pathLst>
              <a:path w="1851025" h="536575">
                <a:moveTo>
                  <a:pt x="0" y="268287"/>
                </a:moveTo>
                <a:cubicBezTo>
                  <a:pt x="0" y="416458"/>
                  <a:pt x="414366" y="536575"/>
                  <a:pt x="925512" y="536575"/>
                </a:cubicBezTo>
                <a:cubicBezTo>
                  <a:pt x="1436659" y="536575"/>
                  <a:pt x="1851025" y="416458"/>
                  <a:pt x="1851025" y="268287"/>
                </a:cubicBezTo>
                <a:cubicBezTo>
                  <a:pt x="1851025" y="120116"/>
                  <a:pt x="1436659" y="0"/>
                  <a:pt x="925512" y="0"/>
                </a:cubicBezTo>
                <a:cubicBezTo>
                  <a:pt x="414366" y="0"/>
                  <a:pt x="0" y="120116"/>
                  <a:pt x="0" y="268287"/>
                </a:cubicBezTo>
                <a:close/>
                <a:moveTo>
                  <a:pt x="268287" y="536575"/>
                </a:moveTo>
              </a:path>
            </a:pathLst>
          </a:custGeom>
          <a:noFill/>
          <a:ln w="12700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98" name="Picture 99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16700" y="5905500"/>
            <a:ext cx="2197100" cy="927100"/>
          </a:xfrm>
          <a:prstGeom prst="rect">
            <a:avLst/>
          </a:prstGeom>
          <a:noFill/>
        </p:spPr>
      </p:pic>
      <p:pic>
        <p:nvPicPr>
          <p:cNvPr id="999" name="Picture 999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31000" y="5959476"/>
            <a:ext cx="2019300" cy="739775"/>
          </a:xfrm>
          <a:prstGeom prst="rect">
            <a:avLst/>
          </a:prstGeom>
          <a:noFill/>
        </p:spPr>
      </p:pic>
      <p:sp>
        <p:nvSpPr>
          <p:cNvPr id="1000" name="Freeform 1000"/>
          <p:cNvSpPr/>
          <p:nvPr/>
        </p:nvSpPr>
        <p:spPr>
          <a:xfrm flipV="1">
            <a:off x="6743700" y="5972176"/>
            <a:ext cx="1993900" cy="714375"/>
          </a:xfrm>
          <a:custGeom>
            <a:avLst/>
            <a:gdLst/>
            <a:ahLst/>
            <a:cxnLst/>
            <a:rect l="0" t="0" r="0" b="0"/>
            <a:pathLst>
              <a:path w="1993900" h="714375">
                <a:moveTo>
                  <a:pt x="0" y="714375"/>
                </a:moveTo>
                <a:lnTo>
                  <a:pt x="1993900" y="714375"/>
                </a:lnTo>
                <a:lnTo>
                  <a:pt x="1993900" y="0"/>
                </a:lnTo>
                <a:lnTo>
                  <a:pt x="0" y="0"/>
                </a:lnTo>
                <a:lnTo>
                  <a:pt x="0" y="714375"/>
                </a:lnTo>
                <a:close/>
              </a:path>
            </a:pathLst>
          </a:custGeom>
          <a:noFill/>
          <a:ln w="12700" cap="flat" cmpd="sng">
            <a:solidFill>
              <a:srgbClr val="4A7EBB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1" name="Freeform 1001"/>
          <p:cNvSpPr/>
          <p:nvPr/>
        </p:nvSpPr>
        <p:spPr>
          <a:xfrm>
            <a:off x="7702194" y="4758731"/>
            <a:ext cx="85651" cy="343494"/>
          </a:xfrm>
          <a:custGeom>
            <a:avLst/>
            <a:gdLst/>
            <a:ahLst/>
            <a:cxnLst/>
            <a:rect l="0" t="0" r="0" b="0"/>
            <a:pathLst>
              <a:path w="85651" h="343494">
                <a:moveTo>
                  <a:pt x="46381" y="0"/>
                </a:moveTo>
                <a:lnTo>
                  <a:pt x="57100" y="257249"/>
                </a:lnTo>
                <a:lnTo>
                  <a:pt x="85651" y="256059"/>
                </a:lnTo>
                <a:lnTo>
                  <a:pt x="46394" y="343494"/>
                </a:lnTo>
                <a:lnTo>
                  <a:pt x="0" y="259629"/>
                </a:lnTo>
                <a:lnTo>
                  <a:pt x="28551" y="258439"/>
                </a:lnTo>
                <a:lnTo>
                  <a:pt x="17832" y="1189"/>
                </a:lnTo>
                <a:close/>
                <a:moveTo>
                  <a:pt x="-4078924" y="2099269"/>
                </a:moveTo>
              </a:path>
            </a:pathLst>
          </a:custGeom>
          <a:solidFill>
            <a:srgbClr val="00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2" name="Freeform 1002"/>
          <p:cNvSpPr/>
          <p:nvPr/>
        </p:nvSpPr>
        <p:spPr>
          <a:xfrm>
            <a:off x="7699840" y="5638461"/>
            <a:ext cx="85701" cy="333715"/>
          </a:xfrm>
          <a:custGeom>
            <a:avLst/>
            <a:gdLst/>
            <a:ahLst/>
            <a:cxnLst/>
            <a:rect l="0" t="0" r="0" b="0"/>
            <a:pathLst>
              <a:path w="85701" h="333715">
                <a:moveTo>
                  <a:pt x="34464" y="0"/>
                </a:moveTo>
                <a:lnTo>
                  <a:pt x="28568" y="247675"/>
                </a:lnTo>
                <a:lnTo>
                  <a:pt x="0" y="246994"/>
                </a:lnTo>
                <a:lnTo>
                  <a:pt x="40811" y="333715"/>
                </a:lnTo>
                <a:lnTo>
                  <a:pt x="85701" y="249035"/>
                </a:lnTo>
                <a:lnTo>
                  <a:pt x="57135" y="248355"/>
                </a:lnTo>
                <a:lnTo>
                  <a:pt x="63032" y="681"/>
                </a:lnTo>
                <a:close/>
                <a:moveTo>
                  <a:pt x="-4956299" y="1219540"/>
                </a:moveTo>
              </a:path>
            </a:pathLst>
          </a:custGeom>
          <a:solidFill>
            <a:srgbClr val="00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3" name="Freeform 1003"/>
          <p:cNvSpPr/>
          <p:nvPr/>
        </p:nvSpPr>
        <p:spPr>
          <a:xfrm>
            <a:off x="5327280" y="5311265"/>
            <a:ext cx="1416421" cy="1018098"/>
          </a:xfrm>
          <a:custGeom>
            <a:avLst/>
            <a:gdLst/>
            <a:ahLst/>
            <a:cxnLst/>
            <a:rect l="0" t="0" r="0" b="0"/>
            <a:pathLst>
              <a:path w="1416421" h="1018098">
                <a:moveTo>
                  <a:pt x="16616" y="0"/>
                </a:moveTo>
                <a:lnTo>
                  <a:pt x="1354987" y="956626"/>
                </a:lnTo>
                <a:lnTo>
                  <a:pt x="1371603" y="933379"/>
                </a:lnTo>
                <a:lnTo>
                  <a:pt x="1416421" y="1018098"/>
                </a:lnTo>
                <a:lnTo>
                  <a:pt x="1321755" y="1003120"/>
                </a:lnTo>
                <a:lnTo>
                  <a:pt x="1338371" y="979873"/>
                </a:lnTo>
                <a:lnTo>
                  <a:pt x="0" y="23247"/>
                </a:lnTo>
                <a:close/>
                <a:moveTo>
                  <a:pt x="-2256544" y="1546735"/>
                </a:moveTo>
              </a:path>
            </a:pathLst>
          </a:custGeom>
          <a:solidFill>
            <a:srgbClr val="000000">
              <a:alpha val="100000"/>
            </a:srgbClr>
          </a:solidFill>
          <a:ln w="20116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4" name="Rectangle 1004"/>
          <p:cNvSpPr/>
          <p:nvPr/>
        </p:nvSpPr>
        <p:spPr>
          <a:xfrm>
            <a:off x="2301241" y="129694"/>
            <a:ext cx="7111755" cy="36311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577532"/>
            <a:r>
              <a:rPr lang="en-US" sz="4400" dirty="0">
                <a:solidFill>
                  <a:srgbClr val="000000"/>
                </a:solidFill>
                <a:latin typeface="Calibri"/>
              </a:rPr>
              <a:t>Designin</a:t>
            </a:r>
            <a:r>
              <a:rPr lang="en-US" sz="4400" spc="1003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4400" spc="1007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4400" spc="1003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System</a:t>
            </a:r>
          </a:p>
          <a:p>
            <a:pPr>
              <a:lnSpc>
                <a:spcPts val="7519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Choos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experience</a:t>
            </a:r>
          </a:p>
          <a:p>
            <a:pPr>
              <a:lnSpc>
                <a:spcPts val="34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Choos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exactl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wha</a:t>
            </a:r>
            <a:r>
              <a:rPr lang="en-US" sz="2800" spc="639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800" spc="62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learned</a:t>
            </a:r>
          </a:p>
          <a:p>
            <a:pPr marL="457199">
              <a:lnSpc>
                <a:spcPts val="2892"/>
              </a:lnSpc>
            </a:pPr>
            <a:r>
              <a:rPr lang="en-US" sz="2400" spc="915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i.e</a:t>
            </a:r>
            <a:r>
              <a:rPr lang="en-US" sz="2400" spc="532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2400" spc="543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400" b="1" i="1" dirty="0">
                <a:solidFill>
                  <a:srgbClr val="FF0000"/>
                </a:solidFill>
                <a:latin typeface="Calibri"/>
              </a:rPr>
              <a:t>targe</a:t>
            </a:r>
            <a:r>
              <a:rPr lang="en-US" sz="2400" b="1" i="1" spc="542" dirty="0">
                <a:solidFill>
                  <a:srgbClr val="FF0000"/>
                </a:solidFill>
                <a:latin typeface="Calibri"/>
              </a:rPr>
              <a:t>t</a:t>
            </a:r>
            <a:r>
              <a:rPr lang="en-US" sz="2400" b="1" i="1" dirty="0">
                <a:solidFill>
                  <a:srgbClr val="FF0000"/>
                </a:solidFill>
                <a:latin typeface="Calibri"/>
              </a:rPr>
              <a:t>function</a:t>
            </a:r>
          </a:p>
          <a:p>
            <a:pPr>
              <a:lnSpc>
                <a:spcPts val="3307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Choos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ho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w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spc="639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represen</a:t>
            </a:r>
            <a:r>
              <a:rPr lang="en-US" sz="2800" spc="639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targe</a:t>
            </a:r>
            <a:r>
              <a:rPr lang="en-US" sz="2800" spc="619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function</a:t>
            </a:r>
          </a:p>
          <a:p>
            <a:pPr>
              <a:lnSpc>
                <a:spcPts val="34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Choos</a:t>
            </a:r>
            <a:r>
              <a:rPr lang="en-US" sz="2800" spc="62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algorith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spc="637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infe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2800" spc="632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target</a:t>
            </a:r>
          </a:p>
          <a:p>
            <a:pPr marL="342899">
              <a:lnSpc>
                <a:spcPts val="2699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functio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fro</a:t>
            </a:r>
            <a:r>
              <a:rPr lang="en-US" sz="2800" spc="638" dirty="0">
                <a:solidFill>
                  <a:srgbClr val="000000"/>
                </a:solidFill>
                <a:latin typeface="Calibri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experience</a:t>
            </a:r>
          </a:p>
        </p:txBody>
      </p:sp>
      <p:sp>
        <p:nvSpPr>
          <p:cNvPr id="1005" name="Rectangle 1005"/>
          <p:cNvSpPr/>
          <p:nvPr/>
        </p:nvSpPr>
        <p:spPr>
          <a:xfrm>
            <a:off x="3577347" y="5046048"/>
            <a:ext cx="1293559" cy="54630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Environment/</a:t>
            </a:r>
          </a:p>
          <a:p>
            <a:pPr>
              <a:lnSpc>
                <a:spcPts val="21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</a:rPr>
              <a:t>Experience</a:t>
            </a:r>
          </a:p>
        </p:txBody>
      </p:sp>
      <p:sp>
        <p:nvSpPr>
          <p:cNvPr id="1006" name="Rectangle 1006"/>
          <p:cNvSpPr/>
          <p:nvPr/>
        </p:nvSpPr>
        <p:spPr>
          <a:xfrm>
            <a:off x="6827349" y="4415651"/>
            <a:ext cx="714740" cy="2791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Learner</a:t>
            </a:r>
          </a:p>
        </p:txBody>
      </p:sp>
      <p:sp>
        <p:nvSpPr>
          <p:cNvPr id="1007" name="Rectangle 1007"/>
          <p:cNvSpPr/>
          <p:nvPr/>
        </p:nvSpPr>
        <p:spPr>
          <a:xfrm>
            <a:off x="7184152" y="5231627"/>
            <a:ext cx="1037143" cy="2769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Knowledge</a:t>
            </a:r>
          </a:p>
        </p:txBody>
      </p:sp>
      <p:sp>
        <p:nvSpPr>
          <p:cNvPr id="1008" name="Rectangle 1008"/>
          <p:cNvSpPr/>
          <p:nvPr/>
        </p:nvSpPr>
        <p:spPr>
          <a:xfrm>
            <a:off x="6833699" y="6053317"/>
            <a:ext cx="1207190" cy="54630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Performance</a:t>
            </a:r>
          </a:p>
          <a:p>
            <a:pPr>
              <a:lnSpc>
                <a:spcPts val="2100"/>
              </a:lnSpc>
            </a:pPr>
            <a:r>
              <a:rPr lang="en-US" dirty="0">
                <a:solidFill>
                  <a:srgbClr val="000000"/>
                </a:solidFill>
                <a:latin typeface="Calibri"/>
              </a:rPr>
              <a:t>Element</a:t>
            </a:r>
          </a:p>
        </p:txBody>
      </p:sp>
      <p:sp>
        <p:nvSpPr>
          <p:cNvPr id="1009" name="Rectangle 1009"/>
          <p:cNvSpPr/>
          <p:nvPr/>
        </p:nvSpPr>
        <p:spPr>
          <a:xfrm>
            <a:off x="1615439" y="6590746"/>
            <a:ext cx="2215030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Base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Ra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Mooney</a:t>
            </a:r>
          </a:p>
        </p:txBody>
      </p:sp>
      <p:sp>
        <p:nvSpPr>
          <p:cNvPr id="1010" name="Rectangle 1010"/>
          <p:cNvSpPr/>
          <p:nvPr/>
        </p:nvSpPr>
        <p:spPr>
          <a:xfrm>
            <a:off x="5120640" y="4446686"/>
            <a:ext cx="1199098" cy="2791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pc="414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data</a:t>
            </a:r>
          </a:p>
        </p:txBody>
      </p:sp>
      <p:sp>
        <p:nvSpPr>
          <p:cNvPr id="1011" name="Rectangle 1011"/>
          <p:cNvSpPr/>
          <p:nvPr/>
        </p:nvSpPr>
        <p:spPr>
          <a:xfrm>
            <a:off x="5097801" y="5899805"/>
            <a:ext cx="1112390" cy="2791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/>
              </a:rPr>
              <a:t>Testin</a:t>
            </a:r>
            <a:r>
              <a:rPr lang="en-US" spc="414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data</a:t>
            </a:r>
          </a:p>
        </p:txBody>
      </p:sp>
      <p:sp>
        <p:nvSpPr>
          <p:cNvPr id="1012" name="Rectangle 1012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Freeform 1013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14" name="Rectangle 1014"/>
          <p:cNvSpPr/>
          <p:nvPr/>
        </p:nvSpPr>
        <p:spPr>
          <a:xfrm>
            <a:off x="1615440" y="129694"/>
            <a:ext cx="8366719" cy="667814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289685"/>
            <a:r>
              <a:rPr lang="en-US" sz="4400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z="4400" spc="1004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vs</a:t>
            </a:r>
            <a:r>
              <a:rPr lang="en-US" sz="4400" spc="1004" dirty="0">
                <a:solidFill>
                  <a:srgbClr val="000000"/>
                </a:solidFill>
                <a:latin typeface="Calibri"/>
              </a:rPr>
              <a:t>.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Tes</a:t>
            </a:r>
            <a:r>
              <a:rPr lang="en-US" sz="4400" spc="1004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Distribution</a:t>
            </a:r>
          </a:p>
          <a:p>
            <a:pPr marL="457200">
              <a:lnSpc>
                <a:spcPts val="6627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W</a:t>
            </a:r>
            <a:r>
              <a:rPr lang="en-US" sz="3200" spc="718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generall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assum</a:t>
            </a:r>
            <a:r>
              <a:rPr lang="en-US" sz="3200" spc="719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tha</a:t>
            </a:r>
            <a:r>
              <a:rPr lang="en-US" sz="3200" spc="726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3200" spc="719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z="3200" spc="729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and</a:t>
            </a:r>
          </a:p>
          <a:p>
            <a:pPr marL="800100">
              <a:lnSpc>
                <a:spcPts val="3800"/>
              </a:lnSpc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tes</a:t>
            </a:r>
            <a:r>
              <a:rPr lang="en-US" sz="3200" spc="728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example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ar</a:t>
            </a:r>
            <a:r>
              <a:rPr lang="en-US" sz="3200" spc="719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independentl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draw</a:t>
            </a:r>
            <a:r>
              <a:rPr lang="en-US" sz="3200" spc="73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from</a:t>
            </a:r>
          </a:p>
          <a:p>
            <a:pPr marL="800100">
              <a:lnSpc>
                <a:spcPts val="3900"/>
              </a:lnSpc>
            </a:pPr>
            <a:r>
              <a:rPr lang="en-US" sz="3200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z="3200" spc="719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sam</a:t>
            </a:r>
            <a:r>
              <a:rPr lang="en-US" sz="3200" spc="719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overal</a:t>
            </a:r>
            <a:r>
              <a:rPr lang="en-US" sz="3200" spc="732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distributio</a:t>
            </a:r>
            <a:r>
              <a:rPr lang="en-US" sz="3200" spc="73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3200" spc="720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data</a:t>
            </a:r>
          </a:p>
          <a:p>
            <a:pPr marL="914400">
              <a:lnSpc>
                <a:spcPts val="3992"/>
              </a:lnSpc>
            </a:pPr>
            <a:r>
              <a:rPr lang="en-US" sz="2800" spc="693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W</a:t>
            </a:r>
            <a:r>
              <a:rPr lang="en-US" sz="2800" spc="628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cal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thi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“i.i.d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”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whic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h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stand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fo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“independent</a:t>
            </a:r>
          </a:p>
          <a:p>
            <a:pPr marL="1200150">
              <a:lnSpc>
                <a:spcPts val="3400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identicall</a:t>
            </a:r>
            <a:r>
              <a:rPr lang="en-US" sz="2800" spc="632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distributed”</a:t>
            </a:r>
          </a:p>
          <a:p>
            <a:pPr marL="457200">
              <a:lnSpc>
                <a:spcPts val="6907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3200" spc="724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example</a:t>
            </a:r>
            <a:r>
              <a:rPr lang="en-US" sz="3200" spc="723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ar</a:t>
            </a:r>
            <a:r>
              <a:rPr lang="en-US" sz="3200" spc="719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no</a:t>
            </a:r>
            <a:r>
              <a:rPr lang="en-US" sz="3200" spc="727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independent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requires</a:t>
            </a:r>
          </a:p>
          <a:p>
            <a:pPr marL="800100">
              <a:lnSpc>
                <a:spcPts val="3800"/>
              </a:lnSpc>
            </a:pPr>
            <a:r>
              <a:rPr lang="en-US" sz="3200" b="1" i="1" dirty="0">
                <a:solidFill>
                  <a:srgbClr val="FF0000"/>
                </a:solidFill>
                <a:latin typeface="Calibri"/>
              </a:rPr>
              <a:t>collectiv</a:t>
            </a:r>
            <a:r>
              <a:rPr lang="en-US" sz="3200" b="1" i="1" spc="727" dirty="0">
                <a:solidFill>
                  <a:srgbClr val="FF0000"/>
                </a:solidFill>
                <a:latin typeface="Calibri"/>
              </a:rPr>
              <a:t>e</a:t>
            </a:r>
            <a:r>
              <a:rPr lang="en-US" sz="3200" b="1" i="1" dirty="0">
                <a:solidFill>
                  <a:srgbClr val="FF0000"/>
                </a:solidFill>
                <a:latin typeface="Calibri"/>
              </a:rPr>
              <a:t>classification</a:t>
            </a:r>
          </a:p>
          <a:p>
            <a:pPr marL="457200">
              <a:lnSpc>
                <a:spcPts val="6200"/>
              </a:lnSpc>
            </a:pPr>
            <a:r>
              <a:rPr lang="en-US" sz="3200" spc="157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3200" spc="724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tes</a:t>
            </a:r>
            <a:r>
              <a:rPr lang="en-US" sz="3200" spc="727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distributio</a:t>
            </a:r>
            <a:r>
              <a:rPr lang="en-US" sz="3200" spc="73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3200" spc="723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different</a:t>
            </a:r>
            <a:r>
              <a:rPr lang="en-US" sz="3200" spc="725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alibri"/>
              </a:rPr>
              <a:t>requires</a:t>
            </a:r>
          </a:p>
          <a:p>
            <a:pPr marL="800100">
              <a:lnSpc>
                <a:spcPts val="3899"/>
              </a:lnSpc>
            </a:pPr>
            <a:r>
              <a:rPr lang="en-US" sz="3200" b="1" i="1" dirty="0">
                <a:solidFill>
                  <a:srgbClr val="FF0000"/>
                </a:solidFill>
                <a:latin typeface="Calibri"/>
              </a:rPr>
              <a:t>transfe</a:t>
            </a:r>
            <a:r>
              <a:rPr lang="en-US" sz="3200" b="1" i="1" spc="717" dirty="0">
                <a:solidFill>
                  <a:srgbClr val="FF0000"/>
                </a:solidFill>
                <a:latin typeface="Calibri"/>
              </a:rPr>
              <a:t>r</a:t>
            </a:r>
            <a:r>
              <a:rPr lang="en-US" sz="3200" b="1" i="1" dirty="0">
                <a:solidFill>
                  <a:srgbClr val="FF0000"/>
                </a:solidFill>
                <a:latin typeface="Calibri"/>
              </a:rPr>
              <a:t>learning</a:t>
            </a:r>
          </a:p>
          <a:p>
            <a:pPr>
              <a:lnSpc>
                <a:spcPts val="4684"/>
              </a:lnSpc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credit</a:t>
            </a:r>
            <a:r>
              <a:rPr lang="en-US" sz="1400" spc="313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Ra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Mooney</a:t>
            </a:r>
          </a:p>
        </p:txBody>
      </p:sp>
      <p:sp>
        <p:nvSpPr>
          <p:cNvPr id="1015" name="Rectangle 1015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Freeform 1020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1" name="Rectangle 1021"/>
          <p:cNvSpPr/>
          <p:nvPr/>
        </p:nvSpPr>
        <p:spPr>
          <a:xfrm>
            <a:off x="2290350" y="129694"/>
            <a:ext cx="7684861" cy="605178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</a:rPr>
              <a:t>Variou</a:t>
            </a:r>
            <a:r>
              <a:rPr lang="en-US" sz="4400" spc="1004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Functio</a:t>
            </a:r>
            <a:r>
              <a:rPr lang="en-US" sz="4400" spc="1000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Representations</a:t>
            </a:r>
          </a:p>
          <a:p>
            <a:pPr marL="10890">
              <a:lnSpc>
                <a:spcPts val="6704"/>
              </a:lnSpc>
              <a:tabLst>
                <a:tab pos="35378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Numerica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functions</a:t>
            </a:r>
          </a:p>
          <a:p>
            <a:pPr marL="468090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Linea</a:t>
            </a:r>
            <a:r>
              <a:rPr lang="en-US" spc="410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regression</a:t>
            </a:r>
          </a:p>
          <a:p>
            <a:pPr marL="46809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Neura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networks</a:t>
            </a:r>
          </a:p>
          <a:p>
            <a:pPr marL="46809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Suppor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vecto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machines</a:t>
            </a:r>
          </a:p>
          <a:p>
            <a:pPr marL="10890">
              <a:lnSpc>
                <a:spcPts val="2353"/>
              </a:lnSpc>
              <a:tabLst>
                <a:tab pos="35378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Symboli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functions</a:t>
            </a:r>
          </a:p>
          <a:p>
            <a:pPr marL="468090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Decisio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trees</a:t>
            </a:r>
          </a:p>
          <a:p>
            <a:pPr marL="46809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Rule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propositiona</a:t>
            </a:r>
            <a:r>
              <a:rPr lang="en-US" spc="41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logic</a:t>
            </a:r>
          </a:p>
          <a:p>
            <a:pPr marL="468090">
              <a:lnSpc>
                <a:spcPts val="2099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Rule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first-orde</a:t>
            </a:r>
            <a:r>
              <a:rPr lang="en-US" spc="407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predicat</a:t>
            </a:r>
            <a:r>
              <a:rPr lang="en-US" spc="4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logic</a:t>
            </a:r>
          </a:p>
          <a:p>
            <a:pPr marL="10890">
              <a:lnSpc>
                <a:spcPts val="2453"/>
              </a:lnSpc>
              <a:tabLst>
                <a:tab pos="35378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Instance-base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functions</a:t>
            </a:r>
          </a:p>
          <a:p>
            <a:pPr marL="468090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Nearest-neighbor</a:t>
            </a:r>
          </a:p>
          <a:p>
            <a:pPr marL="46809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Case-based</a:t>
            </a:r>
          </a:p>
          <a:p>
            <a:pPr marL="10890">
              <a:lnSpc>
                <a:spcPts val="2353"/>
              </a:lnSpc>
              <a:tabLst>
                <a:tab pos="35378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Probabilisti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Graphica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Models</a:t>
            </a:r>
          </a:p>
          <a:p>
            <a:pPr marL="468090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Naïv</a:t>
            </a:r>
            <a:r>
              <a:rPr lang="en-US" spc="4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Bayes</a:t>
            </a:r>
          </a:p>
          <a:p>
            <a:pPr marL="46809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Bayesia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networks</a:t>
            </a:r>
          </a:p>
          <a:p>
            <a:pPr marL="468090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Hidden-Marko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v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Model</a:t>
            </a:r>
            <a:r>
              <a:rPr lang="en-US" spc="821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(HMMs)</a:t>
            </a:r>
          </a:p>
          <a:p>
            <a:pPr marL="46809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Probabilisti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Contex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Fre</a:t>
            </a:r>
            <a:r>
              <a:rPr lang="en-US" spc="4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Grammar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(PCFGs)</a:t>
            </a:r>
          </a:p>
          <a:p>
            <a:pPr marL="468090">
              <a:lnSpc>
                <a:spcPts val="2199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Marko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v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networks</a:t>
            </a:r>
          </a:p>
        </p:txBody>
      </p:sp>
      <p:sp>
        <p:nvSpPr>
          <p:cNvPr id="1022" name="Rectangle 1022"/>
          <p:cNvSpPr/>
          <p:nvPr/>
        </p:nvSpPr>
        <p:spPr>
          <a:xfrm>
            <a:off x="1615439" y="6590746"/>
            <a:ext cx="1811906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credit</a:t>
            </a:r>
            <a:r>
              <a:rPr lang="en-US" sz="1400" spc="313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Ra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Mooney</a:t>
            </a:r>
          </a:p>
        </p:txBody>
      </p:sp>
      <p:sp>
        <p:nvSpPr>
          <p:cNvPr id="1023" name="Rectangle 1023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1028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9" name="Rectangle 1029"/>
          <p:cNvSpPr/>
          <p:nvPr/>
        </p:nvSpPr>
        <p:spPr>
          <a:xfrm>
            <a:off x="4880674" y="129693"/>
            <a:ext cx="2431003" cy="6822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Calibri"/>
              </a:rPr>
              <a:t>Evaluation</a:t>
            </a:r>
          </a:p>
        </p:txBody>
      </p:sp>
      <p:sp>
        <p:nvSpPr>
          <p:cNvPr id="1030" name="Rectangle 1030"/>
          <p:cNvSpPr/>
          <p:nvPr/>
        </p:nvSpPr>
        <p:spPr>
          <a:xfrm>
            <a:off x="2072640" y="1078790"/>
            <a:ext cx="3292602" cy="42822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Accuracy</a:t>
            </a:r>
          </a:p>
          <a:p>
            <a:pPr>
              <a:lnSpc>
                <a:spcPts val="34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Precisio</a:t>
            </a:r>
            <a:r>
              <a:rPr lang="en-US" sz="2800" spc="643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z="2800" spc="643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recall</a:t>
            </a:r>
          </a:p>
          <a:p>
            <a:pPr>
              <a:lnSpc>
                <a:spcPts val="33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Square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error</a:t>
            </a:r>
          </a:p>
          <a:p>
            <a:pPr>
              <a:lnSpc>
                <a:spcPts val="34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Likelihood</a:t>
            </a:r>
          </a:p>
          <a:p>
            <a:pPr>
              <a:lnSpc>
                <a:spcPts val="34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Posterio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probability</a:t>
            </a:r>
          </a:p>
          <a:p>
            <a:pPr>
              <a:lnSpc>
                <a:spcPts val="3299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Cos</a:t>
            </a:r>
            <a:r>
              <a:rPr lang="en-US" sz="2800" spc="639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spc="645" dirty="0">
                <a:solidFill>
                  <a:srgbClr val="000000"/>
                </a:solidFill>
                <a:latin typeface="Calibri"/>
              </a:rPr>
              <a:t>/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Utility</a:t>
            </a:r>
          </a:p>
          <a:p>
            <a:pPr>
              <a:lnSpc>
                <a:spcPts val="34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Margin</a:t>
            </a:r>
          </a:p>
          <a:p>
            <a:pPr>
              <a:lnSpc>
                <a:spcPts val="33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Entropy</a:t>
            </a:r>
          </a:p>
          <a:p>
            <a:pPr>
              <a:lnSpc>
                <a:spcPts val="34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K-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divergence</a:t>
            </a:r>
          </a:p>
          <a:p>
            <a:pPr>
              <a:lnSpc>
                <a:spcPts val="3399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etc.</a:t>
            </a:r>
          </a:p>
        </p:txBody>
      </p:sp>
      <p:sp>
        <p:nvSpPr>
          <p:cNvPr id="1031" name="Rectangle 1031"/>
          <p:cNvSpPr/>
          <p:nvPr/>
        </p:nvSpPr>
        <p:spPr>
          <a:xfrm>
            <a:off x="1615440" y="6590746"/>
            <a:ext cx="2101281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credit</a:t>
            </a:r>
            <a:r>
              <a:rPr lang="en-US" sz="1400" spc="313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Pedr</a:t>
            </a:r>
            <a:r>
              <a:rPr lang="en-US" sz="1400" spc="31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Domingos</a:t>
            </a:r>
          </a:p>
        </p:txBody>
      </p:sp>
      <p:sp>
        <p:nvSpPr>
          <p:cNvPr id="1032" name="Rectangle 1032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Freeform 1043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4" name="Rectangle 1044"/>
          <p:cNvSpPr/>
          <p:nvPr/>
        </p:nvSpPr>
        <p:spPr>
          <a:xfrm>
            <a:off x="6018212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49</a:t>
            </a:r>
          </a:p>
        </p:txBody>
      </p:sp>
      <p:sp>
        <p:nvSpPr>
          <p:cNvPr id="1045" name="Rectangle 1045"/>
          <p:cNvSpPr/>
          <p:nvPr/>
        </p:nvSpPr>
        <p:spPr>
          <a:xfrm>
            <a:off x="2072640" y="129694"/>
            <a:ext cx="8049356" cy="56377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85603"/>
            <a:r>
              <a:rPr lang="en-US" sz="4400" dirty="0">
                <a:solidFill>
                  <a:srgbClr val="000000"/>
                </a:solidFill>
                <a:latin typeface="Calibri"/>
              </a:rPr>
              <a:t>Lesson</a:t>
            </a:r>
            <a:r>
              <a:rPr lang="en-US" sz="4400" spc="1007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Learne</a:t>
            </a:r>
            <a:r>
              <a:rPr lang="en-US" sz="4400" spc="1003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abou</a:t>
            </a:r>
            <a:r>
              <a:rPr lang="en-US" sz="4400" spc="1003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>
              <a:lnSpc>
                <a:spcPts val="6119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ca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viewe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usin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direc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indirect</a:t>
            </a:r>
          </a:p>
          <a:p>
            <a:pPr marL="342899">
              <a:lnSpc>
                <a:spcPts val="3400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experienc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spc="637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approximat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chose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targe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function.</a:t>
            </a:r>
          </a:p>
          <a:p>
            <a:pPr>
              <a:lnSpc>
                <a:spcPts val="80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Functio</a:t>
            </a:r>
            <a:r>
              <a:rPr lang="en-US" sz="2800" spc="643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approximatio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ca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viewe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search</a:t>
            </a:r>
          </a:p>
          <a:p>
            <a:pPr marL="342899">
              <a:lnSpc>
                <a:spcPts val="3400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throug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h</a:t>
            </a:r>
            <a:r>
              <a:rPr lang="en-US" sz="2800" spc="634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spac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spc="634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hypothese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(representation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of</a:t>
            </a:r>
          </a:p>
          <a:p>
            <a:pPr marL="342899">
              <a:lnSpc>
                <a:spcPts val="3399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functions</a:t>
            </a:r>
            <a:r>
              <a:rPr lang="en-US" sz="2800" spc="638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fo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on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tha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bes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fit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se</a:t>
            </a:r>
            <a:r>
              <a:rPr lang="en-US" sz="2800" spc="636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800" spc="633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trainin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data.</a:t>
            </a:r>
          </a:p>
          <a:p>
            <a:pPr>
              <a:lnSpc>
                <a:spcPts val="8000"/>
              </a:lnSpc>
            </a:pPr>
            <a:r>
              <a:rPr lang="en-US" sz="2800" spc="171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Differen</a:t>
            </a:r>
            <a:r>
              <a:rPr lang="en-US" sz="2800" spc="64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method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assum</a:t>
            </a:r>
            <a:r>
              <a:rPr lang="en-US" sz="2800" spc="631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different</a:t>
            </a:r>
          </a:p>
          <a:p>
            <a:pPr marL="342899">
              <a:lnSpc>
                <a:spcPts val="3399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hypothesi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space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(representatio</a:t>
            </a:r>
            <a:r>
              <a:rPr lang="en-US" sz="2800" spc="642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languages</a:t>
            </a:r>
            <a:r>
              <a:rPr lang="en-US" sz="2800" spc="639" dirty="0">
                <a:solidFill>
                  <a:srgbClr val="000000"/>
                </a:solidFill>
                <a:latin typeface="Calibri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and/or</a:t>
            </a:r>
          </a:p>
          <a:p>
            <a:pPr marL="342899">
              <a:lnSpc>
                <a:spcPts val="3300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</a:rPr>
              <a:t>emplo</a:t>
            </a:r>
            <a:r>
              <a:rPr lang="en-US" sz="2800" spc="630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differen</a:t>
            </a:r>
            <a:r>
              <a:rPr lang="en-US" sz="2800" spc="635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searc</a:t>
            </a:r>
            <a:r>
              <a:rPr lang="en-US" sz="2800" spc="641" dirty="0">
                <a:solidFill>
                  <a:srgbClr val="000000"/>
                </a:solidFill>
                <a:latin typeface="Calibri"/>
              </a:rPr>
              <a:t>h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techniques.</a:t>
            </a:r>
          </a:p>
        </p:txBody>
      </p:sp>
      <p:sp>
        <p:nvSpPr>
          <p:cNvPr id="1046" name="Rectangle 1046"/>
          <p:cNvSpPr/>
          <p:nvPr/>
        </p:nvSpPr>
        <p:spPr>
          <a:xfrm>
            <a:off x="1615439" y="6590746"/>
            <a:ext cx="1811906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credit</a:t>
            </a:r>
            <a:r>
              <a:rPr lang="en-US" sz="1400" spc="313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Ra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Mooney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Freeform 1047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" name="Rectangle 1048"/>
          <p:cNvSpPr/>
          <p:nvPr/>
        </p:nvSpPr>
        <p:spPr>
          <a:xfrm>
            <a:off x="4066381" y="2183601"/>
            <a:ext cx="4059402" cy="13553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01155"/>
            <a:r>
              <a:rPr lang="en-US" sz="4400" spc="1003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Brie</a:t>
            </a:r>
            <a:r>
              <a:rPr lang="en-US" sz="4400" spc="994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Histor</a:t>
            </a:r>
            <a:r>
              <a:rPr lang="en-US" sz="4400" spc="994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of</a:t>
            </a:r>
          </a:p>
          <a:p>
            <a:pPr>
              <a:lnSpc>
                <a:spcPts val="5300"/>
              </a:lnSpc>
            </a:pPr>
            <a:r>
              <a:rPr lang="en-US" sz="4400" dirty="0">
                <a:solidFill>
                  <a:srgbClr val="000000"/>
                </a:solidFill>
                <a:latin typeface="Calibri"/>
              </a:rPr>
              <a:t>Machin</a:t>
            </a:r>
            <a:r>
              <a:rPr lang="en-US" sz="4400" spc="99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Learning</a:t>
            </a:r>
          </a:p>
        </p:txBody>
      </p:sp>
      <p:sp>
        <p:nvSpPr>
          <p:cNvPr id="1049" name="Rectangle 1049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Freeform 1050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1" name="Rectangle 1051"/>
          <p:cNvSpPr/>
          <p:nvPr/>
        </p:nvSpPr>
        <p:spPr>
          <a:xfrm>
            <a:off x="2301241" y="129693"/>
            <a:ext cx="6990591" cy="57052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597249"/>
            <a:r>
              <a:rPr lang="en-US" sz="4400" dirty="0">
                <a:solidFill>
                  <a:srgbClr val="000000"/>
                </a:solidFill>
                <a:latin typeface="Calibri"/>
              </a:rPr>
              <a:t>Histor</a:t>
            </a:r>
            <a:r>
              <a:rPr lang="en-US" sz="4400" spc="991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Machin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>
              <a:lnSpc>
                <a:spcPts val="6604"/>
              </a:lnSpc>
              <a:tabLst>
                <a:tab pos="34289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1950s</a:t>
            </a:r>
          </a:p>
          <a:p>
            <a:pPr marL="457199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Samuel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’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checke</a:t>
            </a:r>
            <a:r>
              <a:rPr lang="en-US" spc="410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player</a:t>
            </a:r>
          </a:p>
          <a:p>
            <a:pPr marL="457199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Selfridge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’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Pandemonium</a:t>
            </a:r>
          </a:p>
          <a:p>
            <a:pPr>
              <a:lnSpc>
                <a:spcPts val="2453"/>
              </a:lnSpc>
              <a:tabLst>
                <a:tab pos="34289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1960s:</a:t>
            </a:r>
          </a:p>
          <a:p>
            <a:pPr marL="457199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Neura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networks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Perceptron</a:t>
            </a:r>
          </a:p>
          <a:p>
            <a:pPr marL="457199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Patter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recognition</a:t>
            </a:r>
          </a:p>
          <a:p>
            <a:pPr marL="457199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limi</a:t>
            </a:r>
            <a:r>
              <a:rPr lang="en-US" spc="41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theory</a:t>
            </a:r>
          </a:p>
          <a:p>
            <a:pPr marL="457199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Minsk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Paper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prov</a:t>
            </a:r>
            <a:r>
              <a:rPr lang="en-US" spc="4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limitation</a:t>
            </a:r>
            <a:r>
              <a:rPr lang="en-US" spc="407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Perceptron</a:t>
            </a:r>
          </a:p>
          <a:p>
            <a:pPr>
              <a:lnSpc>
                <a:spcPts val="2453"/>
              </a:lnSpc>
              <a:tabLst>
                <a:tab pos="34289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1970s:</a:t>
            </a:r>
          </a:p>
          <a:p>
            <a:pPr marL="457199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Symboli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concep</a:t>
            </a:r>
            <a:r>
              <a:rPr lang="en-US" spc="41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induction</a:t>
            </a:r>
          </a:p>
          <a:p>
            <a:pPr marL="457199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Winston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’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arc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h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learner</a:t>
            </a:r>
          </a:p>
          <a:p>
            <a:pPr marL="457199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Exper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system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th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knowledg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acquisitio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bottleneck</a:t>
            </a:r>
          </a:p>
          <a:p>
            <a:pPr marL="457199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Quinlan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’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ID3</a:t>
            </a:r>
          </a:p>
          <a:p>
            <a:pPr marL="457199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Michalski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’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Q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soybea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diagnosis</a:t>
            </a:r>
          </a:p>
          <a:p>
            <a:pPr marL="457199">
              <a:lnSpc>
                <a:spcPts val="2199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Scientifi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discover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wit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h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BACON</a:t>
            </a:r>
          </a:p>
          <a:p>
            <a:pPr marL="457199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Mathematica</a:t>
            </a:r>
            <a:r>
              <a:rPr lang="en-US" spc="412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discover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wit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h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AM</a:t>
            </a:r>
          </a:p>
        </p:txBody>
      </p:sp>
      <p:sp>
        <p:nvSpPr>
          <p:cNvPr id="1052" name="Rectangle 1052"/>
          <p:cNvSpPr/>
          <p:nvPr/>
        </p:nvSpPr>
        <p:spPr>
          <a:xfrm>
            <a:off x="1615439" y="6590746"/>
            <a:ext cx="1811906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credit</a:t>
            </a:r>
            <a:r>
              <a:rPr lang="en-US" sz="1400" spc="313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Ra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Mooney</a:t>
            </a:r>
          </a:p>
        </p:txBody>
      </p:sp>
      <p:sp>
        <p:nvSpPr>
          <p:cNvPr id="1053" name="Rectangle 1053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Freeform 1054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5" name="Rectangle 1055"/>
          <p:cNvSpPr/>
          <p:nvPr/>
        </p:nvSpPr>
        <p:spPr>
          <a:xfrm>
            <a:off x="1615441" y="129694"/>
            <a:ext cx="8481499" cy="667814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477360"/>
            <a:r>
              <a:rPr lang="en-US" sz="4400" dirty="0">
                <a:solidFill>
                  <a:srgbClr val="000000"/>
                </a:solidFill>
                <a:latin typeface="Calibri"/>
              </a:rPr>
              <a:t>Histor</a:t>
            </a:r>
            <a:r>
              <a:rPr lang="en-US" sz="4400" spc="991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Machin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4400" spc="1000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(cont.)</a:t>
            </a:r>
          </a:p>
          <a:p>
            <a:pPr marL="685800">
              <a:lnSpc>
                <a:spcPts val="6704"/>
              </a:lnSpc>
              <a:tabLst>
                <a:tab pos="102869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1980s:</a:t>
            </a:r>
          </a:p>
          <a:p>
            <a:pPr marL="1143000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Advance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decisio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tre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rul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114300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Explanation-base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(EBL)</a:t>
            </a:r>
          </a:p>
          <a:p>
            <a:pPr marL="114300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plannin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proble</a:t>
            </a:r>
            <a:r>
              <a:rPr lang="en-US" spc="412" dirty="0">
                <a:solidFill>
                  <a:srgbClr val="000000"/>
                </a:solidFill>
                <a:latin typeface="Calibri"/>
              </a:rPr>
              <a:t>m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solving</a:t>
            </a:r>
          </a:p>
          <a:p>
            <a:pPr marL="1143000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Utilit</a:t>
            </a:r>
            <a:r>
              <a:rPr lang="en-US" spc="410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problem</a:t>
            </a:r>
          </a:p>
          <a:p>
            <a:pPr marL="114300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Analogy</a:t>
            </a:r>
          </a:p>
          <a:p>
            <a:pPr marL="1143000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Cognitiv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architectures</a:t>
            </a:r>
          </a:p>
          <a:p>
            <a:pPr marL="114300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Resurgenc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neura</a:t>
            </a:r>
            <a:r>
              <a:rPr lang="en-US" spc="412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network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(connectionism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backpropagation)</a:t>
            </a:r>
          </a:p>
          <a:p>
            <a:pPr marL="1143000">
              <a:lnSpc>
                <a:spcPts val="2199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Valiant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’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PA</a:t>
            </a:r>
            <a:r>
              <a:rPr lang="en-US" spc="415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Theory</a:t>
            </a:r>
          </a:p>
          <a:p>
            <a:pPr marL="1143000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Focu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pc="418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experimenta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methodology</a:t>
            </a:r>
          </a:p>
          <a:p>
            <a:pPr marL="685800">
              <a:lnSpc>
                <a:spcPts val="2453"/>
              </a:lnSpc>
              <a:tabLst>
                <a:tab pos="1028699" algn="l"/>
              </a:tabLst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•	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1990s</a:t>
            </a:r>
          </a:p>
          <a:p>
            <a:pPr marL="1143000">
              <a:lnSpc>
                <a:spcPts val="2146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Dat</a:t>
            </a:r>
            <a:r>
              <a:rPr lang="en-US" spc="412" dirty="0">
                <a:solidFill>
                  <a:srgbClr val="000000"/>
                </a:solidFill>
                <a:latin typeface="Calibri"/>
              </a:rPr>
              <a:t>a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mining</a:t>
            </a:r>
          </a:p>
          <a:p>
            <a:pPr marL="1143000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Adaptiv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softwar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agent</a:t>
            </a:r>
            <a:r>
              <a:rPr lang="en-US" spc="410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we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applications</a:t>
            </a:r>
          </a:p>
          <a:p>
            <a:pPr marL="1143000">
              <a:lnSpc>
                <a:spcPts val="22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Tex</a:t>
            </a:r>
            <a:r>
              <a:rPr lang="en-US" spc="408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1143000">
              <a:lnSpc>
                <a:spcPts val="2199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Reinforcemen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pc="416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(RL)</a:t>
            </a:r>
          </a:p>
          <a:p>
            <a:pPr marL="1143000">
              <a:lnSpc>
                <a:spcPts val="2100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Inductiv</a:t>
            </a:r>
            <a:r>
              <a:rPr lang="en-US" spc="4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Logi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Programmin</a:t>
            </a:r>
            <a:r>
              <a:rPr lang="en-US" spc="413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(ILP)</a:t>
            </a:r>
          </a:p>
          <a:p>
            <a:pPr marL="1143000">
              <a:lnSpc>
                <a:spcPts val="2199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Ensembles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Bagging</a:t>
            </a:r>
            <a:r>
              <a:rPr lang="en-US" spc="412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Boosting</a:t>
            </a:r>
            <a:r>
              <a:rPr lang="en-US" spc="412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pc="417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Stacking</a:t>
            </a:r>
          </a:p>
          <a:p>
            <a:pPr marL="1143000">
              <a:lnSpc>
                <a:spcPts val="2099"/>
              </a:lnSpc>
            </a:pPr>
            <a:r>
              <a:rPr lang="en-US" spc="1249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Baye</a:t>
            </a:r>
            <a:r>
              <a:rPr lang="en-US" spc="409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Ne</a:t>
            </a:r>
            <a:r>
              <a:rPr lang="en-US" spc="411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>
              <a:lnSpc>
                <a:spcPts val="3560"/>
              </a:lnSpc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credit</a:t>
            </a:r>
            <a:r>
              <a:rPr lang="en-US" sz="1400" spc="313" dirty="0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Ra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Mooney</a:t>
            </a:r>
          </a:p>
        </p:txBody>
      </p:sp>
      <p:sp>
        <p:nvSpPr>
          <p:cNvPr id="1056" name="Rectangle 1056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Freeform 1057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0" t="0" r="0" b="0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8" name="Rectangle 1058"/>
          <p:cNvSpPr/>
          <p:nvPr/>
        </p:nvSpPr>
        <p:spPr>
          <a:xfrm>
            <a:off x="1615441" y="129694"/>
            <a:ext cx="8481499" cy="667814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477360"/>
            <a:r>
              <a:rPr lang="en-US" sz="4400" dirty="0">
                <a:solidFill>
                  <a:srgbClr val="000000"/>
                </a:solidFill>
                <a:latin typeface="Calibri"/>
              </a:rPr>
              <a:t>Histor</a:t>
            </a:r>
            <a:r>
              <a:rPr lang="en-US" sz="4400" spc="991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f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Machin</a:t>
            </a:r>
            <a:r>
              <a:rPr lang="en-US" sz="4400" spc="996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4400" spc="1000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4400" dirty="0">
                <a:solidFill>
                  <a:srgbClr val="000000"/>
                </a:solidFill>
                <a:latin typeface="Calibri"/>
              </a:rPr>
              <a:t>(cont.)</a:t>
            </a:r>
          </a:p>
          <a:p>
            <a:pPr marL="685800">
              <a:lnSpc>
                <a:spcPts val="6911"/>
              </a:lnSpc>
            </a:pPr>
            <a:r>
              <a:rPr lang="en-US" sz="2400" spc="185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2000s</a:t>
            </a:r>
          </a:p>
          <a:p>
            <a:pPr marL="1143000">
              <a:lnSpc>
                <a:spcPts val="2192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Suppor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vecto</a:t>
            </a:r>
            <a:r>
              <a:rPr lang="en-US" sz="2000" spc="452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machine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000" spc="448" dirty="0">
                <a:solidFill>
                  <a:srgbClr val="000000"/>
                </a:solidFill>
                <a:latin typeface="Calibri"/>
              </a:rPr>
              <a:t>&amp;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kerne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methods</a:t>
            </a:r>
          </a:p>
          <a:p>
            <a:pPr marL="1143000">
              <a:lnSpc>
                <a:spcPts val="21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Graphica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models</a:t>
            </a:r>
          </a:p>
          <a:p>
            <a:pPr marL="1143000">
              <a:lnSpc>
                <a:spcPts val="22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Statistica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relationa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1143000">
              <a:lnSpc>
                <a:spcPts val="21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Transfe</a:t>
            </a:r>
            <a:r>
              <a:rPr lang="en-US" sz="2000" spc="451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1143000">
              <a:lnSpc>
                <a:spcPts val="22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Sequenc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labeling</a:t>
            </a:r>
          </a:p>
          <a:p>
            <a:pPr marL="1143000">
              <a:lnSpc>
                <a:spcPts val="22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Collectiv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classificatio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structure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outputs</a:t>
            </a:r>
          </a:p>
          <a:p>
            <a:pPr marL="1143000">
              <a:lnSpc>
                <a:spcPts val="21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Compute</a:t>
            </a:r>
            <a:r>
              <a:rPr lang="en-US" sz="2000" spc="451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System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Application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Compilers</a:t>
            </a:r>
            <a:r>
              <a:rPr lang="en-US" sz="1600" spc="362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Debugging</a:t>
            </a:r>
            <a:r>
              <a:rPr lang="en-US" sz="1600" spc="362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Graphics</a:t>
            </a:r>
            <a:r>
              <a:rPr lang="en-US" sz="1600" spc="362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Security)</a:t>
            </a:r>
          </a:p>
          <a:p>
            <a:pPr marL="1143000">
              <a:lnSpc>
                <a:spcPts val="22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E-mai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management</a:t>
            </a:r>
          </a:p>
          <a:p>
            <a:pPr marL="1143000">
              <a:lnSpc>
                <a:spcPts val="21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Personalize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assistant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tha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</a:t>
            </a:r>
          </a:p>
          <a:p>
            <a:pPr marL="1143000">
              <a:lnSpc>
                <a:spcPts val="22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2000" spc="445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-US" sz="2000" spc="449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robotic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an</a:t>
            </a:r>
            <a:r>
              <a:rPr lang="en-US" sz="2000" spc="449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vision</a:t>
            </a:r>
          </a:p>
          <a:p>
            <a:pPr marL="685800">
              <a:lnSpc>
                <a:spcPts val="2607"/>
              </a:lnSpc>
            </a:pPr>
            <a:r>
              <a:rPr lang="en-US" sz="2400" spc="1859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2010s</a:t>
            </a:r>
          </a:p>
          <a:p>
            <a:pPr marL="1143000">
              <a:lnSpc>
                <a:spcPts val="2092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Dee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p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2000" spc="445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systems</a:t>
            </a:r>
          </a:p>
          <a:p>
            <a:pPr marL="1143000">
              <a:lnSpc>
                <a:spcPts val="2199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2000" spc="445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fo</a:t>
            </a:r>
            <a:r>
              <a:rPr lang="en-US" sz="2000" spc="451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bi</a:t>
            </a:r>
            <a:r>
              <a:rPr lang="en-US" sz="2000" spc="445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data</a:t>
            </a:r>
          </a:p>
          <a:p>
            <a:pPr marL="1143000">
              <a:lnSpc>
                <a:spcPts val="22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Bayesia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methods</a:t>
            </a:r>
          </a:p>
          <a:p>
            <a:pPr marL="1143000">
              <a:lnSpc>
                <a:spcPts val="21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Multi-tas</a:t>
            </a:r>
            <a:r>
              <a:rPr lang="en-US" sz="2000" spc="452" dirty="0">
                <a:solidFill>
                  <a:srgbClr val="000000"/>
                </a:solidFill>
                <a:latin typeface="Calibri"/>
              </a:rPr>
              <a:t>k</a:t>
            </a:r>
            <a:r>
              <a:rPr lang="en-US" sz="2000" spc="448" dirty="0">
                <a:solidFill>
                  <a:srgbClr val="000000"/>
                </a:solidFill>
                <a:latin typeface="Calibri"/>
              </a:rPr>
              <a:t>&amp;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lifelon</a:t>
            </a:r>
            <a:r>
              <a:rPr lang="en-US" sz="2000" spc="445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learning</a:t>
            </a:r>
          </a:p>
          <a:p>
            <a:pPr marL="1143000">
              <a:lnSpc>
                <a:spcPts val="22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Application</a:t>
            </a:r>
            <a:r>
              <a:rPr lang="en-US" sz="2000" spc="455" dirty="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000" spc="446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vision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speech</a:t>
            </a:r>
            <a:r>
              <a:rPr lang="en-US" sz="2000" spc="449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socia</a:t>
            </a:r>
            <a:r>
              <a:rPr lang="en-US" sz="2000" spc="454" dirty="0">
                <a:solidFill>
                  <a:srgbClr val="000000"/>
                </a:solidFill>
                <a:latin typeface="Calibri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networks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learnin</a:t>
            </a:r>
            <a:r>
              <a:rPr lang="en-US" sz="2000" spc="445" dirty="0">
                <a:solidFill>
                  <a:srgbClr val="000000"/>
                </a:solidFill>
                <a:latin typeface="Calibri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t</a:t>
            </a:r>
            <a:r>
              <a:rPr lang="en-US" sz="2000" spc="445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read</a:t>
            </a:r>
            <a:r>
              <a:rPr lang="en-US" sz="2000" spc="450" dirty="0">
                <a:solidFill>
                  <a:srgbClr val="000000"/>
                </a:solidFill>
                <a:latin typeface="Calibri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etc.</a:t>
            </a:r>
          </a:p>
          <a:p>
            <a:pPr marL="1143000">
              <a:lnSpc>
                <a:spcPts val="2100"/>
              </a:lnSpc>
            </a:pPr>
            <a:r>
              <a:rPr lang="en-US" sz="2000" spc="1138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???</a:t>
            </a:r>
          </a:p>
          <a:p>
            <a:pPr>
              <a:lnSpc>
                <a:spcPts val="3207"/>
              </a:lnSpc>
            </a:pPr>
            <a:r>
              <a:rPr lang="en-US" sz="1400" dirty="0">
                <a:solidFill>
                  <a:srgbClr val="000000"/>
                </a:solidFill>
                <a:latin typeface="Calibri"/>
              </a:rPr>
              <a:t>Base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d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o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slid</a:t>
            </a:r>
            <a:r>
              <a:rPr lang="en-US" sz="1400" spc="315" dirty="0">
                <a:solidFill>
                  <a:srgbClr val="000000"/>
                </a:solidFill>
                <a:latin typeface="Calibri"/>
              </a:rPr>
              <a:t>e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b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Ra</a:t>
            </a:r>
            <a:r>
              <a:rPr lang="en-US" sz="1400" spc="316" dirty="0">
                <a:solidFill>
                  <a:srgbClr val="000000"/>
                </a:solidFill>
                <a:latin typeface="Calibri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alibri"/>
              </a:rPr>
              <a:t>Mooney</a:t>
            </a:r>
          </a:p>
        </p:txBody>
      </p:sp>
      <p:sp>
        <p:nvSpPr>
          <p:cNvPr id="1059" name="Rectangle 1059"/>
          <p:cNvSpPr/>
          <p:nvPr/>
        </p:nvSpPr>
        <p:spPr>
          <a:xfrm>
            <a:off x="9962515" y="6442088"/>
            <a:ext cx="15709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898989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558</Words>
  <Application>Microsoft Office PowerPoint</Application>
  <PresentationFormat>Widescreen</PresentationFormat>
  <Paragraphs>196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How Does Machine Learning Work?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Fortuna, Jeff</dc:creator>
  <cp:lastModifiedBy>Fortuna, Jeff</cp:lastModifiedBy>
  <cp:revision>2</cp:revision>
  <dcterms:created xsi:type="dcterms:W3CDTF">2023-09-13T21:44:04Z</dcterms:created>
  <dcterms:modified xsi:type="dcterms:W3CDTF">2023-09-13T21:56:10Z</dcterms:modified>
</cp:coreProperties>
</file>