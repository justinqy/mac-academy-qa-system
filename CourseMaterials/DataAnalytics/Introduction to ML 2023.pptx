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37.jpg" ContentType="image/jpeg"/>
  <Override PartName="/ppt/media/image38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sldIdLst>
    <p:sldId id="256" r:id="rId2"/>
    <p:sldId id="410" r:id="rId3"/>
    <p:sldId id="374" r:id="rId4"/>
    <p:sldId id="411" r:id="rId5"/>
    <p:sldId id="412" r:id="rId6"/>
    <p:sldId id="377" r:id="rId7"/>
    <p:sldId id="413" r:id="rId8"/>
    <p:sldId id="263" r:id="rId9"/>
    <p:sldId id="264" r:id="rId10"/>
    <p:sldId id="414" r:id="rId11"/>
    <p:sldId id="415" r:id="rId12"/>
    <p:sldId id="265" r:id="rId13"/>
    <p:sldId id="266" r:id="rId14"/>
    <p:sldId id="267" r:id="rId15"/>
    <p:sldId id="299" r:id="rId16"/>
    <p:sldId id="300" r:id="rId17"/>
    <p:sldId id="301" r:id="rId18"/>
    <p:sldId id="349" r:id="rId19"/>
    <p:sldId id="350" r:id="rId20"/>
    <p:sldId id="333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4675" autoAdjust="0"/>
  </p:normalViewPr>
  <p:slideViewPr>
    <p:cSldViewPr>
      <p:cViewPr varScale="1">
        <p:scale>
          <a:sx n="147" d="100"/>
          <a:sy n="147" d="100"/>
        </p:scale>
        <p:origin x="2004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5E1DC-C4EF-4E25-A10E-874244272027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0663C-57BB-4A30-B444-50E3DD386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7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91BA9-DA72-493C-9CAF-B9DAB0BC4A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934D68-701E-4120-BE37-6B12802E2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D10B3-575B-4422-A3D0-6FC94134D5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775989-AF31-447B-90B2-0A05E48011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665F6-55E4-4747-8650-E714965F5E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6A3DC-0A89-4FEC-9F6F-0BD29E7B7F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356AF-6F91-46AF-8F07-C76DF88FE9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3B78D-18D5-4987-905C-8A896F8A46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53DEC-37EC-496E-BE7F-EADDA82822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A9CFD-C5C2-46D1-8D49-D18039D347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76043-FAE8-4F83-BCF3-488C6EB464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8DAD9-B174-4C1E-BF07-A33894D793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FE295FA2-29F8-46BD-B850-055946D80E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prostheticknowledge.tumblr.com/post/172309765681/yolo-v3new-release-of-object-recognition-framework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447800"/>
            <a:ext cx="7623175" cy="1752600"/>
          </a:xfrm>
        </p:spPr>
        <p:txBody>
          <a:bodyPr/>
          <a:lstStyle/>
          <a:p>
            <a:pPr algn="ctr" eaLnBrk="1" hangingPunct="1"/>
            <a:r>
              <a:rPr lang="en-US" sz="4600" b="1" dirty="0"/>
              <a:t>Introduction to </a:t>
            </a:r>
            <a:br>
              <a:rPr lang="en-US" sz="4600" b="1" dirty="0"/>
            </a:br>
            <a:r>
              <a:rPr lang="en-US" sz="4600" b="1" dirty="0"/>
              <a:t>Machine Learning</a:t>
            </a:r>
          </a:p>
        </p:txBody>
      </p:sp>
      <p:sp>
        <p:nvSpPr>
          <p:cNvPr id="3075" name="Text Box 33"/>
          <p:cNvSpPr txBox="1">
            <a:spLocks noChangeArrowheads="1"/>
          </p:cNvSpPr>
          <p:nvPr/>
        </p:nvSpPr>
        <p:spPr bwMode="auto">
          <a:xfrm>
            <a:off x="609600" y="4191000"/>
            <a:ext cx="7864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Instructor: Dr. Jeff Fortuna, B. Eng, M. Eng, PhD, (Electrical Engineering), 			 McMaster University</a:t>
            </a:r>
          </a:p>
          <a:p>
            <a:endParaRPr lang="en-US"/>
          </a:p>
          <a:p>
            <a:pPr algn="ctr"/>
            <a:r>
              <a:rPr lang="en-US"/>
              <a:t>email: fortunjj@mcmaster.ca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355" y="183994"/>
            <a:ext cx="7362153" cy="657646"/>
          </a:xfrm>
          <a:prstGeom prst="rect">
            <a:avLst/>
          </a:prstGeom>
        </p:spPr>
        <p:txBody>
          <a:bodyPr vert="horz" wrap="square" lIns="0" tIns="11206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b="1" spc="-66" dirty="0"/>
              <a:t>Machine </a:t>
            </a:r>
            <a:r>
              <a:rPr b="1" spc="-172" dirty="0"/>
              <a:t>Learning </a:t>
            </a:r>
            <a:r>
              <a:rPr b="1" spc="-137" dirty="0"/>
              <a:t>is</a:t>
            </a:r>
            <a:r>
              <a:rPr b="1" spc="-675" dirty="0"/>
              <a:t> </a:t>
            </a:r>
            <a:r>
              <a:rPr b="1" spc="-172" dirty="0"/>
              <a:t>Everywhere</a:t>
            </a:r>
          </a:p>
        </p:txBody>
      </p:sp>
      <p:sp>
        <p:nvSpPr>
          <p:cNvPr id="3" name="object 3"/>
          <p:cNvSpPr/>
          <p:nvPr/>
        </p:nvSpPr>
        <p:spPr>
          <a:xfrm>
            <a:off x="4656401" y="2461033"/>
            <a:ext cx="3949716" cy="2445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0920" y="4060931"/>
            <a:ext cx="3238987" cy="23459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6134" y="4005016"/>
            <a:ext cx="3464298" cy="2407584"/>
          </a:xfrm>
          <a:custGeom>
            <a:avLst/>
            <a:gdLst/>
            <a:ahLst/>
            <a:cxnLst/>
            <a:rect l="l" t="t" r="r" b="b"/>
            <a:pathLst>
              <a:path w="3926204" h="2728595">
                <a:moveTo>
                  <a:pt x="0" y="0"/>
                </a:moveTo>
                <a:lnTo>
                  <a:pt x="3925902" y="0"/>
                </a:lnTo>
                <a:lnTo>
                  <a:pt x="3925902" y="2728421"/>
                </a:lnTo>
                <a:lnTo>
                  <a:pt x="0" y="272842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2353" y="1075765"/>
            <a:ext cx="3686735" cy="28799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2702" y="1105370"/>
            <a:ext cx="3577982" cy="27713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35530" y="1156929"/>
            <a:ext cx="1613647" cy="210110"/>
          </a:xfrm>
          <a:custGeom>
            <a:avLst/>
            <a:gdLst/>
            <a:ahLst/>
            <a:cxnLst/>
            <a:rect l="l" t="t" r="r" b="b"/>
            <a:pathLst>
              <a:path w="1828800" h="238125">
                <a:moveTo>
                  <a:pt x="0" y="0"/>
                </a:moveTo>
                <a:lnTo>
                  <a:pt x="1828801" y="0"/>
                </a:lnTo>
                <a:lnTo>
                  <a:pt x="1828801" y="238059"/>
                </a:lnTo>
                <a:lnTo>
                  <a:pt x="0" y="23805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79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71232" y="6190409"/>
            <a:ext cx="907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22" dirty="0">
                <a:solidFill>
                  <a:srgbClr val="898989"/>
                </a:solidFill>
                <a:latin typeface="Trebuchet MS"/>
                <a:cs typeface="Trebuchet MS"/>
              </a:rPr>
              <a:t>2</a:t>
            </a:r>
            <a:endParaRPr sz="1059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82158" y="1142181"/>
            <a:ext cx="3384725" cy="13274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91913" y="1305989"/>
            <a:ext cx="486896" cy="453838"/>
          </a:xfrm>
          <a:custGeom>
            <a:avLst/>
            <a:gdLst/>
            <a:ahLst/>
            <a:cxnLst/>
            <a:rect l="l" t="t" r="r" b="b"/>
            <a:pathLst>
              <a:path w="551815" h="514350">
                <a:moveTo>
                  <a:pt x="0" y="0"/>
                </a:moveTo>
                <a:lnTo>
                  <a:pt x="551755" y="0"/>
                </a:lnTo>
                <a:lnTo>
                  <a:pt x="551755" y="514049"/>
                </a:lnTo>
                <a:lnTo>
                  <a:pt x="0" y="51404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54119" y="1368316"/>
            <a:ext cx="486896" cy="453838"/>
          </a:xfrm>
          <a:custGeom>
            <a:avLst/>
            <a:gdLst/>
            <a:ahLst/>
            <a:cxnLst/>
            <a:rect l="l" t="t" r="r" b="b"/>
            <a:pathLst>
              <a:path w="551815" h="514350">
                <a:moveTo>
                  <a:pt x="0" y="0"/>
                </a:moveTo>
                <a:lnTo>
                  <a:pt x="551755" y="0"/>
                </a:lnTo>
                <a:lnTo>
                  <a:pt x="551755" y="514049"/>
                </a:lnTo>
                <a:lnTo>
                  <a:pt x="0" y="51404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39294" y="1394504"/>
            <a:ext cx="486896" cy="453838"/>
          </a:xfrm>
          <a:custGeom>
            <a:avLst/>
            <a:gdLst/>
            <a:ahLst/>
            <a:cxnLst/>
            <a:rect l="l" t="t" r="r" b="b"/>
            <a:pathLst>
              <a:path w="551815" h="514350">
                <a:moveTo>
                  <a:pt x="0" y="0"/>
                </a:moveTo>
                <a:lnTo>
                  <a:pt x="551755" y="0"/>
                </a:lnTo>
                <a:lnTo>
                  <a:pt x="551755" y="514049"/>
                </a:lnTo>
                <a:lnTo>
                  <a:pt x="0" y="51404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59088" y="5009029"/>
            <a:ext cx="4090147" cy="14455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93356" y="5038375"/>
            <a:ext cx="3973527" cy="13684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428" y="196009"/>
            <a:ext cx="6719720" cy="657646"/>
          </a:xfrm>
          <a:prstGeom prst="rect">
            <a:avLst/>
          </a:prstGeom>
        </p:spPr>
        <p:txBody>
          <a:bodyPr vert="horz" wrap="square" lIns="0" tIns="11206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b="1" spc="-176" dirty="0"/>
              <a:t>Applications: </a:t>
            </a:r>
            <a:r>
              <a:rPr b="1" spc="-128" dirty="0"/>
              <a:t>Spam</a:t>
            </a:r>
            <a:r>
              <a:rPr b="1" spc="-476" dirty="0"/>
              <a:t> </a:t>
            </a:r>
            <a:r>
              <a:rPr b="1" spc="-168" dirty="0"/>
              <a:t>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065" y="1329499"/>
            <a:ext cx="4405032" cy="2041532"/>
          </a:xfrm>
          <a:prstGeom prst="rect">
            <a:avLst/>
          </a:prstGeom>
        </p:spPr>
        <p:txBody>
          <a:bodyPr vert="horz" wrap="square" lIns="0" tIns="8965" rIns="0" bIns="0" rtlCol="0">
            <a:spAutoFit/>
          </a:bodyPr>
          <a:lstStyle/>
          <a:p>
            <a:pPr marL="313781" marR="4483" indent="-302575">
              <a:lnSpc>
                <a:spcPct val="100699"/>
              </a:lnSpc>
              <a:spcBef>
                <a:spcPts val="71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2118" spc="-97" dirty="0">
                <a:latin typeface="Trebuchet MS"/>
                <a:cs typeface="Trebuchet MS"/>
              </a:rPr>
              <a:t>This </a:t>
            </a:r>
            <a:r>
              <a:rPr sz="2118" spc="-75" dirty="0">
                <a:latin typeface="Trebuchet MS"/>
                <a:cs typeface="Trebuchet MS"/>
              </a:rPr>
              <a:t>is </a:t>
            </a:r>
            <a:r>
              <a:rPr sz="2118" spc="-101" dirty="0">
                <a:latin typeface="Trebuchet MS"/>
                <a:cs typeface="Trebuchet MS"/>
              </a:rPr>
              <a:t>a </a:t>
            </a:r>
            <a:r>
              <a:rPr sz="2118" spc="-84" dirty="0">
                <a:solidFill>
                  <a:srgbClr val="4F81BD"/>
                </a:solidFill>
                <a:latin typeface="Trebuchet MS"/>
                <a:cs typeface="Trebuchet MS"/>
              </a:rPr>
              <a:t>binary </a:t>
            </a:r>
            <a:r>
              <a:rPr sz="2118" spc="-106" dirty="0">
                <a:solidFill>
                  <a:srgbClr val="4F81BD"/>
                </a:solidFill>
                <a:latin typeface="Trebuchet MS"/>
                <a:cs typeface="Trebuchet MS"/>
              </a:rPr>
              <a:t>classification </a:t>
            </a:r>
            <a:r>
              <a:rPr sz="2118" spc="-124" dirty="0">
                <a:solidFill>
                  <a:srgbClr val="4F81BD"/>
                </a:solidFill>
                <a:latin typeface="Trebuchet MS"/>
                <a:cs typeface="Trebuchet MS"/>
              </a:rPr>
              <a:t>task</a:t>
            </a:r>
            <a:r>
              <a:rPr sz="2118" spc="-124" dirty="0">
                <a:latin typeface="Trebuchet MS"/>
                <a:cs typeface="Trebuchet MS"/>
              </a:rPr>
              <a:t>:  </a:t>
            </a:r>
            <a:r>
              <a:rPr sz="2118" spc="-57" dirty="0">
                <a:latin typeface="Trebuchet MS"/>
                <a:cs typeface="Trebuchet MS"/>
              </a:rPr>
              <a:t>Assign </a:t>
            </a:r>
            <a:r>
              <a:rPr sz="2118" spc="-57" dirty="0">
                <a:solidFill>
                  <a:srgbClr val="4F81BD"/>
                </a:solidFill>
                <a:latin typeface="Trebuchet MS"/>
                <a:cs typeface="Trebuchet MS"/>
              </a:rPr>
              <a:t>one </a:t>
            </a:r>
            <a:r>
              <a:rPr sz="2118" spc="-84" dirty="0">
                <a:solidFill>
                  <a:srgbClr val="4F81BD"/>
                </a:solidFill>
                <a:latin typeface="Trebuchet MS"/>
                <a:cs typeface="Trebuchet MS"/>
              </a:rPr>
              <a:t>of two </a:t>
            </a:r>
            <a:r>
              <a:rPr sz="2118" spc="-97" dirty="0">
                <a:solidFill>
                  <a:srgbClr val="4F81BD"/>
                </a:solidFill>
                <a:latin typeface="Trebuchet MS"/>
                <a:cs typeface="Trebuchet MS"/>
              </a:rPr>
              <a:t>labels </a:t>
            </a:r>
            <a:r>
              <a:rPr sz="2118" spc="-172" dirty="0">
                <a:solidFill>
                  <a:srgbClr val="4F81BD"/>
                </a:solidFill>
                <a:latin typeface="Trebuchet MS"/>
                <a:cs typeface="Trebuchet MS"/>
              </a:rPr>
              <a:t>(i.e. </a:t>
            </a:r>
            <a:r>
              <a:rPr sz="2118" spc="-110" dirty="0">
                <a:solidFill>
                  <a:srgbClr val="4F81BD"/>
                </a:solidFill>
                <a:latin typeface="Trebuchet MS"/>
                <a:cs typeface="Trebuchet MS"/>
              </a:rPr>
              <a:t>yes/no)  </a:t>
            </a:r>
            <a:r>
              <a:rPr sz="2118" spc="-88" dirty="0">
                <a:solidFill>
                  <a:srgbClr val="4F81BD"/>
                </a:solidFill>
                <a:latin typeface="Trebuchet MS"/>
                <a:cs typeface="Trebuchet MS"/>
              </a:rPr>
              <a:t>to</a:t>
            </a:r>
            <a:r>
              <a:rPr sz="2118" spc="-172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97" dirty="0">
                <a:solidFill>
                  <a:srgbClr val="4F81BD"/>
                </a:solidFill>
                <a:latin typeface="Trebuchet MS"/>
                <a:cs typeface="Trebuchet MS"/>
              </a:rPr>
              <a:t>the</a:t>
            </a:r>
            <a:r>
              <a:rPr sz="2118" spc="-163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84" dirty="0">
                <a:solidFill>
                  <a:srgbClr val="4F81BD"/>
                </a:solidFill>
                <a:latin typeface="Trebuchet MS"/>
                <a:cs typeface="Trebuchet MS"/>
              </a:rPr>
              <a:t>input</a:t>
            </a:r>
            <a:r>
              <a:rPr sz="2118" spc="-176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128" dirty="0">
                <a:latin typeface="Trebuchet MS"/>
                <a:cs typeface="Trebuchet MS"/>
              </a:rPr>
              <a:t>(here,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75" dirty="0">
                <a:latin typeface="Trebuchet MS"/>
                <a:cs typeface="Trebuchet MS"/>
              </a:rPr>
              <a:t>an</a:t>
            </a:r>
            <a:r>
              <a:rPr sz="2118" spc="-163" dirty="0">
                <a:latin typeface="Trebuchet MS"/>
                <a:cs typeface="Trebuchet MS"/>
              </a:rPr>
              <a:t> </a:t>
            </a:r>
            <a:r>
              <a:rPr sz="2118" spc="-106" dirty="0">
                <a:latin typeface="Trebuchet MS"/>
                <a:cs typeface="Trebuchet MS"/>
              </a:rPr>
              <a:t>email</a:t>
            </a:r>
            <a:r>
              <a:rPr sz="2118" spc="-172" dirty="0">
                <a:latin typeface="Trebuchet MS"/>
                <a:cs typeface="Trebuchet MS"/>
              </a:rPr>
              <a:t> </a:t>
            </a:r>
            <a:r>
              <a:rPr sz="2118" spc="-84" dirty="0">
                <a:latin typeface="Trebuchet MS"/>
                <a:cs typeface="Trebuchet MS"/>
              </a:rPr>
              <a:t>message)</a:t>
            </a:r>
            <a:endParaRPr sz="2118" dirty="0">
              <a:latin typeface="Trebuchet MS"/>
              <a:cs typeface="Trebuchet MS"/>
            </a:endParaRPr>
          </a:p>
          <a:p>
            <a:pPr marL="312100" marR="584418" indent="-300894">
              <a:lnSpc>
                <a:spcPct val="99000"/>
              </a:lnSpc>
              <a:spcBef>
                <a:spcPts val="569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2118" spc="-106" dirty="0">
                <a:latin typeface="Trebuchet MS"/>
                <a:cs typeface="Trebuchet MS"/>
              </a:rPr>
              <a:t>Classification </a:t>
            </a:r>
            <a:r>
              <a:rPr sz="2118" spc="-88" dirty="0">
                <a:latin typeface="Trebuchet MS"/>
                <a:cs typeface="Trebuchet MS"/>
              </a:rPr>
              <a:t>requires </a:t>
            </a:r>
            <a:r>
              <a:rPr sz="2118" spc="-101" dirty="0">
                <a:solidFill>
                  <a:srgbClr val="4F81BD"/>
                </a:solidFill>
                <a:latin typeface="Trebuchet MS"/>
                <a:cs typeface="Trebuchet MS"/>
              </a:rPr>
              <a:t>a </a:t>
            </a:r>
            <a:r>
              <a:rPr sz="2118" spc="-84" dirty="0">
                <a:solidFill>
                  <a:srgbClr val="4F81BD"/>
                </a:solidFill>
                <a:latin typeface="Trebuchet MS"/>
                <a:cs typeface="Trebuchet MS"/>
              </a:rPr>
              <a:t>model  </a:t>
            </a:r>
            <a:r>
              <a:rPr sz="2118" spc="-119" dirty="0">
                <a:solidFill>
                  <a:srgbClr val="4F81BD"/>
                </a:solidFill>
                <a:latin typeface="Trebuchet MS"/>
                <a:cs typeface="Trebuchet MS"/>
              </a:rPr>
              <a:t>(a </a:t>
            </a:r>
            <a:r>
              <a:rPr sz="2118" spc="-106" dirty="0">
                <a:solidFill>
                  <a:srgbClr val="4F81BD"/>
                </a:solidFill>
                <a:latin typeface="Trebuchet MS"/>
                <a:cs typeface="Trebuchet MS"/>
              </a:rPr>
              <a:t>classifier) </a:t>
            </a:r>
            <a:r>
              <a:rPr sz="2118" spc="-88" dirty="0">
                <a:latin typeface="Trebuchet MS"/>
                <a:cs typeface="Trebuchet MS"/>
              </a:rPr>
              <a:t>to </a:t>
            </a:r>
            <a:r>
              <a:rPr sz="2118" spc="-97" dirty="0">
                <a:latin typeface="Trebuchet MS"/>
                <a:cs typeface="Trebuchet MS"/>
              </a:rPr>
              <a:t>determine</a:t>
            </a:r>
            <a:r>
              <a:rPr sz="2118" spc="-401" dirty="0">
                <a:latin typeface="Trebuchet MS"/>
                <a:cs typeface="Trebuchet MS"/>
              </a:rPr>
              <a:t> </a:t>
            </a:r>
            <a:r>
              <a:rPr sz="2118" spc="-88" dirty="0">
                <a:latin typeface="Trebuchet MS"/>
                <a:cs typeface="Trebuchet MS"/>
              </a:rPr>
              <a:t>which  </a:t>
            </a:r>
            <a:r>
              <a:rPr sz="2118" spc="-110" dirty="0">
                <a:latin typeface="Trebuchet MS"/>
                <a:cs typeface="Trebuchet MS"/>
              </a:rPr>
              <a:t>label </a:t>
            </a:r>
            <a:r>
              <a:rPr sz="2118" spc="-88" dirty="0">
                <a:latin typeface="Trebuchet MS"/>
                <a:cs typeface="Trebuchet MS"/>
              </a:rPr>
              <a:t>to </a:t>
            </a:r>
            <a:r>
              <a:rPr sz="2118" spc="-71" dirty="0">
                <a:latin typeface="Trebuchet MS"/>
                <a:cs typeface="Trebuchet MS"/>
              </a:rPr>
              <a:t>assign </a:t>
            </a:r>
            <a:r>
              <a:rPr sz="2118" spc="-88" dirty="0">
                <a:latin typeface="Trebuchet MS"/>
                <a:cs typeface="Trebuchet MS"/>
              </a:rPr>
              <a:t>to</a:t>
            </a:r>
            <a:r>
              <a:rPr sz="2118" spc="-415" dirty="0">
                <a:latin typeface="Trebuchet MS"/>
                <a:cs typeface="Trebuchet MS"/>
              </a:rPr>
              <a:t> </a:t>
            </a:r>
            <a:r>
              <a:rPr sz="2118" spc="-124" dirty="0">
                <a:latin typeface="Trebuchet MS"/>
                <a:cs typeface="Trebuchet MS"/>
              </a:rPr>
              <a:t>items.</a:t>
            </a:r>
            <a:endParaRPr sz="2118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77971" y="1143000"/>
            <a:ext cx="3328147" cy="2902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16608" y="1191689"/>
            <a:ext cx="3210619" cy="27571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11006" y="1186075"/>
            <a:ext cx="3222251" cy="2768413"/>
          </a:xfrm>
          <a:custGeom>
            <a:avLst/>
            <a:gdLst/>
            <a:ahLst/>
            <a:cxnLst/>
            <a:rect l="l" t="t" r="r" b="b"/>
            <a:pathLst>
              <a:path w="3651884" h="3137535">
                <a:moveTo>
                  <a:pt x="0" y="0"/>
                </a:moveTo>
                <a:lnTo>
                  <a:pt x="3651402" y="0"/>
                </a:lnTo>
                <a:lnTo>
                  <a:pt x="3651402" y="3137491"/>
                </a:lnTo>
                <a:lnTo>
                  <a:pt x="0" y="313749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51079" y="1197943"/>
            <a:ext cx="1613647" cy="210110"/>
          </a:xfrm>
          <a:custGeom>
            <a:avLst/>
            <a:gdLst/>
            <a:ahLst/>
            <a:cxnLst/>
            <a:rect l="l" t="t" r="r" b="b"/>
            <a:pathLst>
              <a:path w="1828800" h="238125">
                <a:moveTo>
                  <a:pt x="0" y="0"/>
                </a:moveTo>
                <a:lnTo>
                  <a:pt x="1828801" y="0"/>
                </a:lnTo>
                <a:lnTo>
                  <a:pt x="1828801" y="238059"/>
                </a:lnTo>
                <a:lnTo>
                  <a:pt x="0" y="23805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79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69120" y="4478308"/>
            <a:ext cx="255416" cy="1552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24535" y="4478307"/>
            <a:ext cx="1205305" cy="1983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69120" y="4478311"/>
            <a:ext cx="1460706" cy="17505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69120" y="6030586"/>
            <a:ext cx="1205302" cy="1983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74425" y="4676632"/>
            <a:ext cx="255416" cy="15522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23527" y="4757301"/>
            <a:ext cx="345701" cy="247090"/>
          </a:xfrm>
          <a:custGeom>
            <a:avLst/>
            <a:gdLst/>
            <a:ahLst/>
            <a:cxnLst/>
            <a:rect l="l" t="t" r="r" b="b"/>
            <a:pathLst>
              <a:path w="391795" h="280035">
                <a:moveTo>
                  <a:pt x="195770" y="0"/>
                </a:moveTo>
                <a:lnTo>
                  <a:pt x="143729" y="4994"/>
                </a:lnTo>
                <a:lnTo>
                  <a:pt x="96964" y="19089"/>
                </a:lnTo>
                <a:lnTo>
                  <a:pt x="57342" y="40952"/>
                </a:lnTo>
                <a:lnTo>
                  <a:pt x="26729" y="69251"/>
                </a:lnTo>
                <a:lnTo>
                  <a:pt x="6993" y="102653"/>
                </a:lnTo>
                <a:lnTo>
                  <a:pt x="0" y="139826"/>
                </a:lnTo>
                <a:lnTo>
                  <a:pt x="6993" y="177001"/>
                </a:lnTo>
                <a:lnTo>
                  <a:pt x="26729" y="210405"/>
                </a:lnTo>
                <a:lnTo>
                  <a:pt x="57342" y="238707"/>
                </a:lnTo>
                <a:lnTo>
                  <a:pt x="96964" y="260573"/>
                </a:lnTo>
                <a:lnTo>
                  <a:pt x="143729" y="274671"/>
                </a:lnTo>
                <a:lnTo>
                  <a:pt x="195770" y="279666"/>
                </a:lnTo>
                <a:lnTo>
                  <a:pt x="247816" y="274671"/>
                </a:lnTo>
                <a:lnTo>
                  <a:pt x="294582" y="260573"/>
                </a:lnTo>
                <a:lnTo>
                  <a:pt x="334203" y="238707"/>
                </a:lnTo>
                <a:lnTo>
                  <a:pt x="364814" y="210405"/>
                </a:lnTo>
                <a:lnTo>
                  <a:pt x="384548" y="177001"/>
                </a:lnTo>
                <a:lnTo>
                  <a:pt x="391541" y="139826"/>
                </a:lnTo>
                <a:lnTo>
                  <a:pt x="384548" y="102653"/>
                </a:lnTo>
                <a:lnTo>
                  <a:pt x="364814" y="69251"/>
                </a:lnTo>
                <a:lnTo>
                  <a:pt x="334203" y="40952"/>
                </a:lnTo>
                <a:lnTo>
                  <a:pt x="294582" y="19089"/>
                </a:lnTo>
                <a:lnTo>
                  <a:pt x="247816" y="4994"/>
                </a:lnTo>
                <a:lnTo>
                  <a:pt x="1957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51065" y="4506995"/>
            <a:ext cx="255413" cy="15522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06481" y="4506995"/>
            <a:ext cx="1205293" cy="1983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51065" y="4506998"/>
            <a:ext cx="1460706" cy="17505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51065" y="6059273"/>
            <a:ext cx="1205291" cy="19831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56358" y="4705318"/>
            <a:ext cx="255416" cy="15522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87497" y="4803121"/>
            <a:ext cx="345701" cy="247090"/>
          </a:xfrm>
          <a:custGeom>
            <a:avLst/>
            <a:gdLst/>
            <a:ahLst/>
            <a:cxnLst/>
            <a:rect l="l" t="t" r="r" b="b"/>
            <a:pathLst>
              <a:path w="391795" h="280035">
                <a:moveTo>
                  <a:pt x="195770" y="0"/>
                </a:moveTo>
                <a:lnTo>
                  <a:pt x="143724" y="4994"/>
                </a:lnTo>
                <a:lnTo>
                  <a:pt x="96958" y="19089"/>
                </a:lnTo>
                <a:lnTo>
                  <a:pt x="57337" y="40952"/>
                </a:lnTo>
                <a:lnTo>
                  <a:pt x="26726" y="69251"/>
                </a:lnTo>
                <a:lnTo>
                  <a:pt x="6992" y="102653"/>
                </a:lnTo>
                <a:lnTo>
                  <a:pt x="0" y="139826"/>
                </a:lnTo>
                <a:lnTo>
                  <a:pt x="6992" y="177001"/>
                </a:lnTo>
                <a:lnTo>
                  <a:pt x="26726" y="210405"/>
                </a:lnTo>
                <a:lnTo>
                  <a:pt x="57337" y="238707"/>
                </a:lnTo>
                <a:lnTo>
                  <a:pt x="96958" y="260573"/>
                </a:lnTo>
                <a:lnTo>
                  <a:pt x="143724" y="274671"/>
                </a:lnTo>
                <a:lnTo>
                  <a:pt x="195770" y="279666"/>
                </a:lnTo>
                <a:lnTo>
                  <a:pt x="247811" y="274671"/>
                </a:lnTo>
                <a:lnTo>
                  <a:pt x="294576" y="260573"/>
                </a:lnTo>
                <a:lnTo>
                  <a:pt x="334198" y="238707"/>
                </a:lnTo>
                <a:lnTo>
                  <a:pt x="364811" y="210405"/>
                </a:lnTo>
                <a:lnTo>
                  <a:pt x="384547" y="177001"/>
                </a:lnTo>
                <a:lnTo>
                  <a:pt x="391541" y="139826"/>
                </a:lnTo>
                <a:lnTo>
                  <a:pt x="384547" y="102653"/>
                </a:lnTo>
                <a:lnTo>
                  <a:pt x="364811" y="69251"/>
                </a:lnTo>
                <a:lnTo>
                  <a:pt x="334198" y="40952"/>
                </a:lnTo>
                <a:lnTo>
                  <a:pt x="294576" y="19089"/>
                </a:lnTo>
                <a:lnTo>
                  <a:pt x="247811" y="4994"/>
                </a:lnTo>
                <a:lnTo>
                  <a:pt x="19577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33009" y="4535682"/>
            <a:ext cx="1461247" cy="1750919"/>
          </a:xfrm>
          <a:custGeom>
            <a:avLst/>
            <a:gdLst/>
            <a:ahLst/>
            <a:cxnLst/>
            <a:rect l="l" t="t" r="r" b="b"/>
            <a:pathLst>
              <a:path w="1656080" h="1984375">
                <a:moveTo>
                  <a:pt x="289471" y="0"/>
                </a:moveTo>
                <a:lnTo>
                  <a:pt x="0" y="1759245"/>
                </a:lnTo>
                <a:lnTo>
                  <a:pt x="1365999" y="1984009"/>
                </a:lnTo>
                <a:lnTo>
                  <a:pt x="1655470" y="224764"/>
                </a:lnTo>
                <a:lnTo>
                  <a:pt x="289471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3009" y="4535682"/>
            <a:ext cx="255409" cy="15522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88425" y="4535682"/>
            <a:ext cx="1205293" cy="1983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33009" y="4535685"/>
            <a:ext cx="1460706" cy="17505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33009" y="6087960"/>
            <a:ext cx="1205291" cy="19831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38303" y="4734005"/>
            <a:ext cx="255416" cy="15522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569431" y="4831808"/>
            <a:ext cx="345701" cy="247090"/>
          </a:xfrm>
          <a:custGeom>
            <a:avLst/>
            <a:gdLst/>
            <a:ahLst/>
            <a:cxnLst/>
            <a:rect l="l" t="t" r="r" b="b"/>
            <a:pathLst>
              <a:path w="391794" h="280035">
                <a:moveTo>
                  <a:pt x="195770" y="0"/>
                </a:moveTo>
                <a:lnTo>
                  <a:pt x="143729" y="4994"/>
                </a:lnTo>
                <a:lnTo>
                  <a:pt x="96964" y="19089"/>
                </a:lnTo>
                <a:lnTo>
                  <a:pt x="57342" y="40952"/>
                </a:lnTo>
                <a:lnTo>
                  <a:pt x="26729" y="69251"/>
                </a:lnTo>
                <a:lnTo>
                  <a:pt x="6993" y="102653"/>
                </a:lnTo>
                <a:lnTo>
                  <a:pt x="0" y="139826"/>
                </a:lnTo>
                <a:lnTo>
                  <a:pt x="6993" y="177001"/>
                </a:lnTo>
                <a:lnTo>
                  <a:pt x="26729" y="210405"/>
                </a:lnTo>
                <a:lnTo>
                  <a:pt x="57342" y="238707"/>
                </a:lnTo>
                <a:lnTo>
                  <a:pt x="96964" y="260573"/>
                </a:lnTo>
                <a:lnTo>
                  <a:pt x="143729" y="274671"/>
                </a:lnTo>
                <a:lnTo>
                  <a:pt x="195770" y="279666"/>
                </a:lnTo>
                <a:lnTo>
                  <a:pt x="247816" y="274671"/>
                </a:lnTo>
                <a:lnTo>
                  <a:pt x="294582" y="260573"/>
                </a:lnTo>
                <a:lnTo>
                  <a:pt x="334203" y="238707"/>
                </a:lnTo>
                <a:lnTo>
                  <a:pt x="364814" y="210405"/>
                </a:lnTo>
                <a:lnTo>
                  <a:pt x="384548" y="177001"/>
                </a:lnTo>
                <a:lnTo>
                  <a:pt x="391540" y="139826"/>
                </a:lnTo>
                <a:lnTo>
                  <a:pt x="384548" y="102653"/>
                </a:lnTo>
                <a:lnTo>
                  <a:pt x="364814" y="69251"/>
                </a:lnTo>
                <a:lnTo>
                  <a:pt x="334203" y="40952"/>
                </a:lnTo>
                <a:lnTo>
                  <a:pt x="294582" y="19089"/>
                </a:lnTo>
                <a:lnTo>
                  <a:pt x="247816" y="4994"/>
                </a:lnTo>
                <a:lnTo>
                  <a:pt x="19577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314954" y="4564369"/>
            <a:ext cx="255405" cy="15522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70359" y="4564369"/>
            <a:ext cx="1205293" cy="1983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14954" y="4564372"/>
            <a:ext cx="1460697" cy="17505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14954" y="6116647"/>
            <a:ext cx="1205287" cy="19831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20247" y="4762693"/>
            <a:ext cx="255404" cy="15522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51375" y="4860495"/>
            <a:ext cx="345701" cy="247090"/>
          </a:xfrm>
          <a:custGeom>
            <a:avLst/>
            <a:gdLst/>
            <a:ahLst/>
            <a:cxnLst/>
            <a:rect l="l" t="t" r="r" b="b"/>
            <a:pathLst>
              <a:path w="391794" h="280035">
                <a:moveTo>
                  <a:pt x="195770" y="0"/>
                </a:moveTo>
                <a:lnTo>
                  <a:pt x="143724" y="4994"/>
                </a:lnTo>
                <a:lnTo>
                  <a:pt x="96958" y="19089"/>
                </a:lnTo>
                <a:lnTo>
                  <a:pt x="57337" y="40952"/>
                </a:lnTo>
                <a:lnTo>
                  <a:pt x="26726" y="69251"/>
                </a:lnTo>
                <a:lnTo>
                  <a:pt x="6992" y="102653"/>
                </a:lnTo>
                <a:lnTo>
                  <a:pt x="0" y="139826"/>
                </a:lnTo>
                <a:lnTo>
                  <a:pt x="6992" y="177001"/>
                </a:lnTo>
                <a:lnTo>
                  <a:pt x="26726" y="210405"/>
                </a:lnTo>
                <a:lnTo>
                  <a:pt x="57337" y="238707"/>
                </a:lnTo>
                <a:lnTo>
                  <a:pt x="96958" y="260573"/>
                </a:lnTo>
                <a:lnTo>
                  <a:pt x="143724" y="274671"/>
                </a:lnTo>
                <a:lnTo>
                  <a:pt x="195770" y="279666"/>
                </a:lnTo>
                <a:lnTo>
                  <a:pt x="247811" y="274671"/>
                </a:lnTo>
                <a:lnTo>
                  <a:pt x="294576" y="260573"/>
                </a:lnTo>
                <a:lnTo>
                  <a:pt x="334198" y="238707"/>
                </a:lnTo>
                <a:lnTo>
                  <a:pt x="364811" y="210405"/>
                </a:lnTo>
                <a:lnTo>
                  <a:pt x="384547" y="177001"/>
                </a:lnTo>
                <a:lnTo>
                  <a:pt x="391540" y="139826"/>
                </a:lnTo>
                <a:lnTo>
                  <a:pt x="384547" y="102653"/>
                </a:lnTo>
                <a:lnTo>
                  <a:pt x="364811" y="69251"/>
                </a:lnTo>
                <a:lnTo>
                  <a:pt x="334198" y="40952"/>
                </a:lnTo>
                <a:lnTo>
                  <a:pt x="294576" y="19089"/>
                </a:lnTo>
                <a:lnTo>
                  <a:pt x="247811" y="4994"/>
                </a:lnTo>
                <a:lnTo>
                  <a:pt x="19577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6888" y="4593056"/>
            <a:ext cx="255411" cy="15522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52304" y="4593056"/>
            <a:ext cx="1205293" cy="1983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96889" y="4593059"/>
            <a:ext cx="1460706" cy="17505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96889" y="6145334"/>
            <a:ext cx="1205293" cy="19831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02181" y="4791380"/>
            <a:ext cx="255416" cy="15522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133320" y="4889182"/>
            <a:ext cx="345701" cy="247090"/>
          </a:xfrm>
          <a:custGeom>
            <a:avLst/>
            <a:gdLst/>
            <a:ahLst/>
            <a:cxnLst/>
            <a:rect l="l" t="t" r="r" b="b"/>
            <a:pathLst>
              <a:path w="391794" h="280035">
                <a:moveTo>
                  <a:pt x="195770" y="0"/>
                </a:moveTo>
                <a:lnTo>
                  <a:pt x="143724" y="4994"/>
                </a:lnTo>
                <a:lnTo>
                  <a:pt x="96958" y="19089"/>
                </a:lnTo>
                <a:lnTo>
                  <a:pt x="57337" y="40952"/>
                </a:lnTo>
                <a:lnTo>
                  <a:pt x="26726" y="69251"/>
                </a:lnTo>
                <a:lnTo>
                  <a:pt x="6992" y="102653"/>
                </a:lnTo>
                <a:lnTo>
                  <a:pt x="0" y="139826"/>
                </a:lnTo>
                <a:lnTo>
                  <a:pt x="6992" y="177001"/>
                </a:lnTo>
                <a:lnTo>
                  <a:pt x="26726" y="210405"/>
                </a:lnTo>
                <a:lnTo>
                  <a:pt x="57337" y="238707"/>
                </a:lnTo>
                <a:lnTo>
                  <a:pt x="96958" y="260573"/>
                </a:lnTo>
                <a:lnTo>
                  <a:pt x="143724" y="274671"/>
                </a:lnTo>
                <a:lnTo>
                  <a:pt x="195770" y="279666"/>
                </a:lnTo>
                <a:lnTo>
                  <a:pt x="247811" y="274671"/>
                </a:lnTo>
                <a:lnTo>
                  <a:pt x="294573" y="260573"/>
                </a:lnTo>
                <a:lnTo>
                  <a:pt x="334192" y="238707"/>
                </a:lnTo>
                <a:lnTo>
                  <a:pt x="364801" y="210405"/>
                </a:lnTo>
                <a:lnTo>
                  <a:pt x="384535" y="177001"/>
                </a:lnTo>
                <a:lnTo>
                  <a:pt x="391528" y="139826"/>
                </a:lnTo>
                <a:lnTo>
                  <a:pt x="384535" y="102653"/>
                </a:lnTo>
                <a:lnTo>
                  <a:pt x="364801" y="69251"/>
                </a:lnTo>
                <a:lnTo>
                  <a:pt x="334192" y="40952"/>
                </a:lnTo>
                <a:lnTo>
                  <a:pt x="294573" y="19089"/>
                </a:lnTo>
                <a:lnTo>
                  <a:pt x="247811" y="4994"/>
                </a:lnTo>
                <a:lnTo>
                  <a:pt x="19577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78829" y="4621743"/>
            <a:ext cx="1461247" cy="1750919"/>
          </a:xfrm>
          <a:custGeom>
            <a:avLst/>
            <a:gdLst/>
            <a:ahLst/>
            <a:cxnLst/>
            <a:rect l="l" t="t" r="r" b="b"/>
            <a:pathLst>
              <a:path w="1656080" h="1984375">
                <a:moveTo>
                  <a:pt x="289468" y="0"/>
                </a:moveTo>
                <a:lnTo>
                  <a:pt x="0" y="1759245"/>
                </a:lnTo>
                <a:lnTo>
                  <a:pt x="1366003" y="1984009"/>
                </a:lnTo>
                <a:lnTo>
                  <a:pt x="1655474" y="224764"/>
                </a:lnTo>
                <a:lnTo>
                  <a:pt x="28946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78829" y="4621743"/>
            <a:ext cx="255411" cy="15522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34242" y="4621743"/>
            <a:ext cx="1205299" cy="1983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78829" y="4621746"/>
            <a:ext cx="1460706" cy="17505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78829" y="6174022"/>
            <a:ext cx="1205293" cy="19831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084126" y="4820067"/>
            <a:ext cx="255416" cy="15522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15254" y="4917869"/>
            <a:ext cx="345701" cy="247090"/>
          </a:xfrm>
          <a:custGeom>
            <a:avLst/>
            <a:gdLst/>
            <a:ahLst/>
            <a:cxnLst/>
            <a:rect l="l" t="t" r="r" b="b"/>
            <a:pathLst>
              <a:path w="391794" h="280035">
                <a:moveTo>
                  <a:pt x="195770" y="0"/>
                </a:moveTo>
                <a:lnTo>
                  <a:pt x="143729" y="4994"/>
                </a:lnTo>
                <a:lnTo>
                  <a:pt x="96964" y="19089"/>
                </a:lnTo>
                <a:lnTo>
                  <a:pt x="57342" y="40952"/>
                </a:lnTo>
                <a:lnTo>
                  <a:pt x="26729" y="69251"/>
                </a:lnTo>
                <a:lnTo>
                  <a:pt x="6993" y="102653"/>
                </a:lnTo>
                <a:lnTo>
                  <a:pt x="0" y="139826"/>
                </a:lnTo>
                <a:lnTo>
                  <a:pt x="6993" y="177001"/>
                </a:lnTo>
                <a:lnTo>
                  <a:pt x="26729" y="210405"/>
                </a:lnTo>
                <a:lnTo>
                  <a:pt x="57342" y="238707"/>
                </a:lnTo>
                <a:lnTo>
                  <a:pt x="96964" y="260573"/>
                </a:lnTo>
                <a:lnTo>
                  <a:pt x="143729" y="274671"/>
                </a:lnTo>
                <a:lnTo>
                  <a:pt x="195770" y="279666"/>
                </a:lnTo>
                <a:lnTo>
                  <a:pt x="247816" y="274671"/>
                </a:lnTo>
                <a:lnTo>
                  <a:pt x="294582" y="260573"/>
                </a:lnTo>
                <a:lnTo>
                  <a:pt x="334203" y="238707"/>
                </a:lnTo>
                <a:lnTo>
                  <a:pt x="364814" y="210405"/>
                </a:lnTo>
                <a:lnTo>
                  <a:pt x="384548" y="177001"/>
                </a:lnTo>
                <a:lnTo>
                  <a:pt x="391541" y="139826"/>
                </a:lnTo>
                <a:lnTo>
                  <a:pt x="384548" y="102653"/>
                </a:lnTo>
                <a:lnTo>
                  <a:pt x="364814" y="69251"/>
                </a:lnTo>
                <a:lnTo>
                  <a:pt x="334203" y="40952"/>
                </a:lnTo>
                <a:lnTo>
                  <a:pt x="294582" y="19089"/>
                </a:lnTo>
                <a:lnTo>
                  <a:pt x="247816" y="4994"/>
                </a:lnTo>
                <a:lnTo>
                  <a:pt x="19577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0771" y="4650430"/>
            <a:ext cx="255409" cy="15522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16183" y="4650430"/>
            <a:ext cx="1205291" cy="1983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0771" y="4650434"/>
            <a:ext cx="1460704" cy="17505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60771" y="6202708"/>
            <a:ext cx="1205293" cy="19831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66071" y="4848754"/>
            <a:ext cx="255404" cy="15522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697199" y="4946556"/>
            <a:ext cx="345701" cy="247090"/>
          </a:xfrm>
          <a:custGeom>
            <a:avLst/>
            <a:gdLst/>
            <a:ahLst/>
            <a:cxnLst/>
            <a:rect l="l" t="t" r="r" b="b"/>
            <a:pathLst>
              <a:path w="391794" h="280035">
                <a:moveTo>
                  <a:pt x="195770" y="0"/>
                </a:moveTo>
                <a:lnTo>
                  <a:pt x="143724" y="4994"/>
                </a:lnTo>
                <a:lnTo>
                  <a:pt x="96958" y="19089"/>
                </a:lnTo>
                <a:lnTo>
                  <a:pt x="57337" y="40952"/>
                </a:lnTo>
                <a:lnTo>
                  <a:pt x="26726" y="69251"/>
                </a:lnTo>
                <a:lnTo>
                  <a:pt x="6992" y="102653"/>
                </a:lnTo>
                <a:lnTo>
                  <a:pt x="0" y="139826"/>
                </a:lnTo>
                <a:lnTo>
                  <a:pt x="6992" y="177001"/>
                </a:lnTo>
                <a:lnTo>
                  <a:pt x="26726" y="210405"/>
                </a:lnTo>
                <a:lnTo>
                  <a:pt x="57337" y="238707"/>
                </a:lnTo>
                <a:lnTo>
                  <a:pt x="96958" y="260573"/>
                </a:lnTo>
                <a:lnTo>
                  <a:pt x="143724" y="274671"/>
                </a:lnTo>
                <a:lnTo>
                  <a:pt x="195770" y="279666"/>
                </a:lnTo>
                <a:lnTo>
                  <a:pt x="247811" y="274671"/>
                </a:lnTo>
                <a:lnTo>
                  <a:pt x="294576" y="260573"/>
                </a:lnTo>
                <a:lnTo>
                  <a:pt x="334198" y="238707"/>
                </a:lnTo>
                <a:lnTo>
                  <a:pt x="364811" y="210405"/>
                </a:lnTo>
                <a:lnTo>
                  <a:pt x="384547" y="177001"/>
                </a:lnTo>
                <a:lnTo>
                  <a:pt x="391541" y="139826"/>
                </a:lnTo>
                <a:lnTo>
                  <a:pt x="384547" y="102653"/>
                </a:lnTo>
                <a:lnTo>
                  <a:pt x="364811" y="69251"/>
                </a:lnTo>
                <a:lnTo>
                  <a:pt x="334198" y="40952"/>
                </a:lnTo>
                <a:lnTo>
                  <a:pt x="294576" y="19089"/>
                </a:lnTo>
                <a:lnTo>
                  <a:pt x="247811" y="4994"/>
                </a:lnTo>
                <a:lnTo>
                  <a:pt x="19577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588213" y="4417773"/>
            <a:ext cx="273076" cy="165962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861288" y="4417773"/>
            <a:ext cx="1288654" cy="2120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588213" y="4417775"/>
            <a:ext cx="1561729" cy="18716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588212" y="6077398"/>
            <a:ext cx="1288654" cy="21203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876867" y="4629811"/>
            <a:ext cx="273076" cy="165962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662711" y="4661770"/>
            <a:ext cx="369794" cy="263899"/>
          </a:xfrm>
          <a:custGeom>
            <a:avLst/>
            <a:gdLst/>
            <a:ahLst/>
            <a:cxnLst/>
            <a:rect l="l" t="t" r="r" b="b"/>
            <a:pathLst>
              <a:path w="419100" h="299085">
                <a:moveTo>
                  <a:pt x="0" y="149506"/>
                </a:moveTo>
                <a:lnTo>
                  <a:pt x="7476" y="109761"/>
                </a:lnTo>
                <a:lnTo>
                  <a:pt x="28576" y="74047"/>
                </a:lnTo>
                <a:lnTo>
                  <a:pt x="61304" y="43789"/>
                </a:lnTo>
                <a:lnTo>
                  <a:pt x="103665" y="20411"/>
                </a:lnTo>
                <a:lnTo>
                  <a:pt x="153665" y="5340"/>
                </a:lnTo>
                <a:lnTo>
                  <a:pt x="209307" y="0"/>
                </a:lnTo>
                <a:lnTo>
                  <a:pt x="264949" y="5340"/>
                </a:lnTo>
                <a:lnTo>
                  <a:pt x="314949" y="20411"/>
                </a:lnTo>
                <a:lnTo>
                  <a:pt x="357310" y="43789"/>
                </a:lnTo>
                <a:lnTo>
                  <a:pt x="390038" y="74047"/>
                </a:lnTo>
                <a:lnTo>
                  <a:pt x="411138" y="109761"/>
                </a:lnTo>
                <a:lnTo>
                  <a:pt x="418615" y="149506"/>
                </a:lnTo>
                <a:lnTo>
                  <a:pt x="411138" y="189250"/>
                </a:lnTo>
                <a:lnTo>
                  <a:pt x="390038" y="224964"/>
                </a:lnTo>
                <a:lnTo>
                  <a:pt x="357310" y="255222"/>
                </a:lnTo>
                <a:lnTo>
                  <a:pt x="314949" y="278599"/>
                </a:lnTo>
                <a:lnTo>
                  <a:pt x="264949" y="293670"/>
                </a:lnTo>
                <a:lnTo>
                  <a:pt x="209307" y="299011"/>
                </a:lnTo>
                <a:lnTo>
                  <a:pt x="153665" y="293670"/>
                </a:lnTo>
                <a:lnTo>
                  <a:pt x="103665" y="278599"/>
                </a:lnTo>
                <a:lnTo>
                  <a:pt x="61304" y="255222"/>
                </a:lnTo>
                <a:lnTo>
                  <a:pt x="28576" y="224964"/>
                </a:lnTo>
                <a:lnTo>
                  <a:pt x="7476" y="189250"/>
                </a:lnTo>
                <a:lnTo>
                  <a:pt x="0" y="149506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4784945" y="4608969"/>
            <a:ext cx="147357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b="1" spc="53" dirty="0">
                <a:latin typeface="Trebuchet MS"/>
                <a:cs typeface="Trebuchet MS"/>
              </a:rPr>
              <a:t>?</a:t>
            </a:r>
            <a:endParaRPr sz="2118">
              <a:latin typeface="Trebuchet MS"/>
              <a:cs typeface="Trebuchet MS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327411" y="4168588"/>
            <a:ext cx="3218329" cy="1843368"/>
          </a:xfrm>
          <a:custGeom>
            <a:avLst/>
            <a:gdLst/>
            <a:ahLst/>
            <a:cxnLst/>
            <a:rect l="l" t="t" r="r" b="b"/>
            <a:pathLst>
              <a:path w="3647440" h="2089150">
                <a:moveTo>
                  <a:pt x="0" y="2089150"/>
                </a:moveTo>
                <a:lnTo>
                  <a:pt x="3646970" y="2089150"/>
                </a:lnTo>
                <a:lnTo>
                  <a:pt x="3646970" y="0"/>
                </a:lnTo>
                <a:lnTo>
                  <a:pt x="0" y="0"/>
                </a:lnTo>
                <a:lnTo>
                  <a:pt x="0" y="20891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27411" y="4168588"/>
            <a:ext cx="3218329" cy="1843368"/>
          </a:xfrm>
          <a:custGeom>
            <a:avLst/>
            <a:gdLst/>
            <a:ahLst/>
            <a:cxnLst/>
            <a:rect l="l" t="t" r="r" b="b"/>
            <a:pathLst>
              <a:path w="3647440" h="2089150">
                <a:moveTo>
                  <a:pt x="0" y="0"/>
                </a:moveTo>
                <a:lnTo>
                  <a:pt x="3646972" y="0"/>
                </a:lnTo>
                <a:lnTo>
                  <a:pt x="3646972" y="2089151"/>
                </a:lnTo>
                <a:lnTo>
                  <a:pt x="0" y="208915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408093" y="4143655"/>
            <a:ext cx="843803" cy="1317824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R="4483" indent="184907">
              <a:lnSpc>
                <a:spcPct val="120100"/>
              </a:lnSpc>
              <a:spcBef>
                <a:spcPts val="40"/>
              </a:spcBef>
            </a:pPr>
            <a:r>
              <a:rPr sz="1588" u="sng" spc="-62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Data </a:t>
            </a:r>
            <a:r>
              <a:rPr sz="1588" spc="-62" dirty="0">
                <a:latin typeface="Trebuchet MS"/>
                <a:cs typeface="Trebuchet MS"/>
              </a:rPr>
              <a:t> </a:t>
            </a:r>
            <a:r>
              <a:rPr sz="1412" spc="-9" dirty="0">
                <a:latin typeface="Trebuchet MS"/>
                <a:cs typeface="Trebuchet MS"/>
              </a:rPr>
              <a:t>D</a:t>
            </a:r>
            <a:r>
              <a:rPr sz="1412" spc="-4" dirty="0">
                <a:latin typeface="Trebuchet MS"/>
                <a:cs typeface="Trebuchet MS"/>
              </a:rPr>
              <a:t>o</a:t>
            </a:r>
            <a:r>
              <a:rPr sz="1412" spc="-110" dirty="0">
                <a:latin typeface="Trebuchet MS"/>
                <a:cs typeface="Trebuchet MS"/>
              </a:rPr>
              <a:t>c</a:t>
            </a:r>
            <a:r>
              <a:rPr sz="1412" spc="-35" dirty="0">
                <a:latin typeface="Trebuchet MS"/>
                <a:cs typeface="Trebuchet MS"/>
              </a:rPr>
              <a:t>u</a:t>
            </a:r>
            <a:r>
              <a:rPr sz="1412" spc="-49" dirty="0">
                <a:latin typeface="Trebuchet MS"/>
                <a:cs typeface="Trebuchet MS"/>
              </a:rPr>
              <a:t>me</a:t>
            </a:r>
            <a:r>
              <a:rPr sz="1412" spc="-57" dirty="0">
                <a:latin typeface="Trebuchet MS"/>
                <a:cs typeface="Trebuchet MS"/>
              </a:rPr>
              <a:t>n</a:t>
            </a:r>
            <a:r>
              <a:rPr sz="1412" spc="-88" dirty="0">
                <a:latin typeface="Trebuchet MS"/>
                <a:cs typeface="Trebuchet MS"/>
              </a:rPr>
              <a:t>t</a:t>
            </a:r>
            <a:r>
              <a:rPr sz="1412" spc="-18" dirty="0">
                <a:latin typeface="Trebuchet MS"/>
                <a:cs typeface="Trebuchet MS"/>
              </a:rPr>
              <a:t>s  </a:t>
            </a:r>
            <a:r>
              <a:rPr sz="1412" spc="-57" dirty="0">
                <a:latin typeface="Trebuchet MS"/>
                <a:cs typeface="Trebuchet MS"/>
              </a:rPr>
              <a:t>Sentences  </a:t>
            </a:r>
            <a:r>
              <a:rPr sz="1412" spc="-49" dirty="0">
                <a:latin typeface="Trebuchet MS"/>
                <a:cs typeface="Trebuchet MS"/>
              </a:rPr>
              <a:t>Phrases  </a:t>
            </a:r>
            <a:r>
              <a:rPr sz="1412" spc="-53" dirty="0">
                <a:latin typeface="Trebuchet MS"/>
                <a:cs typeface="Trebuchet MS"/>
              </a:rPr>
              <a:t>Images</a:t>
            </a:r>
            <a:endParaRPr sz="1412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658950" y="4143655"/>
            <a:ext cx="1724025" cy="1327675"/>
          </a:xfrm>
          <a:prstGeom prst="rect">
            <a:avLst/>
          </a:prstGeom>
        </p:spPr>
        <p:txBody>
          <a:bodyPr vert="horz" wrap="square" lIns="0" tIns="53788" rIns="0" bIns="0" rtlCol="0">
            <a:spAutoFit/>
          </a:bodyPr>
          <a:lstStyle/>
          <a:p>
            <a:pPr marL="104781">
              <a:spcBef>
                <a:spcPts val="424"/>
              </a:spcBef>
            </a:pPr>
            <a:r>
              <a:rPr sz="1588" u="sng" spc="-79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Labels</a:t>
            </a:r>
            <a:endParaRPr sz="1588">
              <a:latin typeface="Trebuchet MS"/>
              <a:cs typeface="Trebuchet MS"/>
            </a:endParaRPr>
          </a:p>
          <a:p>
            <a:pPr marR="4483">
              <a:lnSpc>
                <a:spcPts val="2030"/>
              </a:lnSpc>
              <a:spcBef>
                <a:spcPts val="88"/>
              </a:spcBef>
            </a:pPr>
            <a:r>
              <a:rPr sz="1412" spc="-84" dirty="0">
                <a:solidFill>
                  <a:srgbClr val="FF0000"/>
                </a:solidFill>
                <a:latin typeface="Trebuchet MS"/>
                <a:cs typeface="Trebuchet MS"/>
              </a:rPr>
              <a:t>Politics, </a:t>
            </a:r>
            <a:r>
              <a:rPr sz="1412" spc="-62" dirty="0">
                <a:solidFill>
                  <a:srgbClr val="0000FF"/>
                </a:solidFill>
                <a:latin typeface="Trebuchet MS"/>
                <a:cs typeface="Trebuchet MS"/>
              </a:rPr>
              <a:t>Sports</a:t>
            </a:r>
            <a:r>
              <a:rPr sz="1412" spc="-62" dirty="0">
                <a:solidFill>
                  <a:srgbClr val="FF0000"/>
                </a:solidFill>
                <a:latin typeface="Trebuchet MS"/>
                <a:cs typeface="Trebuchet MS"/>
              </a:rPr>
              <a:t>,</a:t>
            </a:r>
            <a:r>
              <a:rPr sz="1412" spc="-15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12" spc="-71" dirty="0">
                <a:solidFill>
                  <a:srgbClr val="00B050"/>
                </a:solidFill>
                <a:latin typeface="Trebuchet MS"/>
                <a:cs typeface="Trebuchet MS"/>
              </a:rPr>
              <a:t>Finance  </a:t>
            </a:r>
            <a:r>
              <a:rPr sz="1412" spc="-71" dirty="0">
                <a:solidFill>
                  <a:srgbClr val="0000FF"/>
                </a:solidFill>
                <a:latin typeface="Trebuchet MS"/>
                <a:cs typeface="Trebuchet MS"/>
              </a:rPr>
              <a:t>Positive</a:t>
            </a:r>
            <a:r>
              <a:rPr sz="1412" spc="-71" dirty="0">
                <a:solidFill>
                  <a:srgbClr val="FF0000"/>
                </a:solidFill>
                <a:latin typeface="Trebuchet MS"/>
                <a:cs typeface="Trebuchet MS"/>
              </a:rPr>
              <a:t>,</a:t>
            </a:r>
            <a:r>
              <a:rPr sz="1412" spc="-1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12" spc="-62" dirty="0">
                <a:solidFill>
                  <a:srgbClr val="FF0000"/>
                </a:solidFill>
                <a:latin typeface="Trebuchet MS"/>
                <a:cs typeface="Trebuchet MS"/>
              </a:rPr>
              <a:t>Negative</a:t>
            </a:r>
            <a:endParaRPr sz="1412">
              <a:latin typeface="Trebuchet MS"/>
              <a:cs typeface="Trebuchet MS"/>
            </a:endParaRPr>
          </a:p>
          <a:p>
            <a:pPr marR="420802">
              <a:lnSpc>
                <a:spcPts val="2030"/>
              </a:lnSpc>
              <a:spcBef>
                <a:spcPts val="88"/>
              </a:spcBef>
            </a:pPr>
            <a:r>
              <a:rPr sz="1412" spc="-62" dirty="0">
                <a:solidFill>
                  <a:srgbClr val="FF0000"/>
                </a:solidFill>
                <a:latin typeface="Trebuchet MS"/>
                <a:cs typeface="Trebuchet MS"/>
              </a:rPr>
              <a:t>Person, </a:t>
            </a:r>
            <a:r>
              <a:rPr sz="1412" spc="-66" dirty="0">
                <a:solidFill>
                  <a:srgbClr val="00B050"/>
                </a:solidFill>
                <a:latin typeface="Trebuchet MS"/>
                <a:cs typeface="Trebuchet MS"/>
              </a:rPr>
              <a:t>Location  </a:t>
            </a:r>
            <a:r>
              <a:rPr sz="1412" spc="-93" dirty="0">
                <a:solidFill>
                  <a:srgbClr val="FF9933"/>
                </a:solidFill>
                <a:latin typeface="Trebuchet MS"/>
                <a:cs typeface="Trebuchet MS"/>
              </a:rPr>
              <a:t>cats, </a:t>
            </a:r>
            <a:r>
              <a:rPr sz="1412" spc="-62" dirty="0">
                <a:solidFill>
                  <a:srgbClr val="FF0000"/>
                </a:solidFill>
                <a:latin typeface="Trebuchet MS"/>
                <a:cs typeface="Trebuchet MS"/>
              </a:rPr>
              <a:t>dogs</a:t>
            </a:r>
            <a:r>
              <a:rPr sz="1412" spc="-62" dirty="0">
                <a:solidFill>
                  <a:srgbClr val="0000FF"/>
                </a:solidFill>
                <a:latin typeface="Trebuchet MS"/>
                <a:cs typeface="Trebuchet MS"/>
              </a:rPr>
              <a:t>,</a:t>
            </a:r>
            <a:r>
              <a:rPr sz="1412" spc="-18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412" spc="-49" dirty="0">
                <a:solidFill>
                  <a:srgbClr val="0000FF"/>
                </a:solidFill>
                <a:latin typeface="Trebuchet MS"/>
                <a:cs typeface="Trebuchet MS"/>
              </a:rPr>
              <a:t>snakes</a:t>
            </a:r>
            <a:endParaRPr sz="1412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408094" y="5466229"/>
            <a:ext cx="3127001" cy="780153"/>
          </a:xfrm>
          <a:prstGeom prst="rect">
            <a:avLst/>
          </a:prstGeom>
        </p:spPr>
        <p:txBody>
          <a:bodyPr vert="horz" wrap="square" lIns="0" tIns="53788" rIns="0" bIns="0" rtlCol="0">
            <a:spAutoFit/>
          </a:bodyPr>
          <a:lstStyle/>
          <a:p>
            <a:pPr>
              <a:spcBef>
                <a:spcPts val="424"/>
              </a:spcBef>
            </a:pPr>
            <a:r>
              <a:rPr sz="1412" spc="-40" dirty="0">
                <a:latin typeface="Trebuchet MS"/>
                <a:cs typeface="Trebuchet MS"/>
              </a:rPr>
              <a:t>Medical </a:t>
            </a:r>
            <a:r>
              <a:rPr sz="1412" spc="-53" dirty="0">
                <a:latin typeface="Trebuchet MS"/>
                <a:cs typeface="Trebuchet MS"/>
              </a:rPr>
              <a:t>records </a:t>
            </a:r>
            <a:r>
              <a:rPr sz="1412" spc="-71" dirty="0">
                <a:solidFill>
                  <a:srgbClr val="FF0000"/>
                </a:solidFill>
                <a:latin typeface="Trebuchet MS"/>
                <a:cs typeface="Trebuchet MS"/>
              </a:rPr>
              <a:t>Re-admit</a:t>
            </a:r>
            <a:r>
              <a:rPr sz="1412" spc="-291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12" spc="-49" dirty="0">
                <a:solidFill>
                  <a:srgbClr val="FF0000"/>
                </a:solidFill>
                <a:latin typeface="Trebuchet MS"/>
                <a:cs typeface="Trebuchet MS"/>
              </a:rPr>
              <a:t>soon/</a:t>
            </a:r>
            <a:r>
              <a:rPr sz="1412" spc="-49" dirty="0">
                <a:solidFill>
                  <a:srgbClr val="0000FF"/>
                </a:solidFill>
                <a:latin typeface="Trebuchet MS"/>
                <a:cs typeface="Trebuchet MS"/>
              </a:rPr>
              <a:t>Not</a:t>
            </a:r>
            <a:endParaRPr sz="1412">
              <a:latin typeface="Trebuchet MS"/>
              <a:cs typeface="Trebuchet MS"/>
            </a:endParaRPr>
          </a:p>
          <a:p>
            <a:pPr>
              <a:spcBef>
                <a:spcPts val="335"/>
              </a:spcBef>
            </a:pPr>
            <a:r>
              <a:rPr sz="1412" spc="-132" dirty="0">
                <a:latin typeface="Trebuchet MS"/>
                <a:cs typeface="Trebuchet MS"/>
              </a:rPr>
              <a:t>…..</a:t>
            </a:r>
            <a:endParaRPr sz="1412">
              <a:latin typeface="Trebuchet MS"/>
              <a:cs typeface="Trebuchet MS"/>
            </a:endParaRPr>
          </a:p>
          <a:p>
            <a:pPr marR="4483" algn="r">
              <a:spcBef>
                <a:spcPts val="693"/>
              </a:spcBef>
            </a:pPr>
            <a:r>
              <a:rPr sz="1059" spc="-22" dirty="0">
                <a:solidFill>
                  <a:srgbClr val="898989"/>
                </a:solidFill>
                <a:latin typeface="Trebuchet MS"/>
                <a:cs typeface="Trebuchet MS"/>
              </a:rPr>
              <a:t>3</a:t>
            </a:r>
            <a:endParaRPr sz="1059">
              <a:latin typeface="Trebuchet MS"/>
              <a:cs typeface="Trebuchet MS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662711" y="4662666"/>
            <a:ext cx="369794" cy="263899"/>
          </a:xfrm>
          <a:custGeom>
            <a:avLst/>
            <a:gdLst/>
            <a:ahLst/>
            <a:cxnLst/>
            <a:rect l="l" t="t" r="r" b="b"/>
            <a:pathLst>
              <a:path w="419100" h="299085">
                <a:moveTo>
                  <a:pt x="209295" y="0"/>
                </a:moveTo>
                <a:lnTo>
                  <a:pt x="153655" y="5340"/>
                </a:lnTo>
                <a:lnTo>
                  <a:pt x="103658" y="20413"/>
                </a:lnTo>
                <a:lnTo>
                  <a:pt x="61299" y="43791"/>
                </a:lnTo>
                <a:lnTo>
                  <a:pt x="28574" y="74049"/>
                </a:lnTo>
                <a:lnTo>
                  <a:pt x="7475" y="109762"/>
                </a:lnTo>
                <a:lnTo>
                  <a:pt x="0" y="149504"/>
                </a:lnTo>
                <a:lnTo>
                  <a:pt x="7475" y="189250"/>
                </a:lnTo>
                <a:lnTo>
                  <a:pt x="28574" y="224964"/>
                </a:lnTo>
                <a:lnTo>
                  <a:pt x="61299" y="255222"/>
                </a:lnTo>
                <a:lnTo>
                  <a:pt x="103658" y="278598"/>
                </a:lnTo>
                <a:lnTo>
                  <a:pt x="153655" y="293668"/>
                </a:lnTo>
                <a:lnTo>
                  <a:pt x="209295" y="299008"/>
                </a:lnTo>
                <a:lnTo>
                  <a:pt x="264942" y="293668"/>
                </a:lnTo>
                <a:lnTo>
                  <a:pt x="314942" y="278598"/>
                </a:lnTo>
                <a:lnTo>
                  <a:pt x="357303" y="255222"/>
                </a:lnTo>
                <a:lnTo>
                  <a:pt x="390030" y="224964"/>
                </a:lnTo>
                <a:lnTo>
                  <a:pt x="411128" y="189250"/>
                </a:lnTo>
                <a:lnTo>
                  <a:pt x="418604" y="149504"/>
                </a:lnTo>
                <a:lnTo>
                  <a:pt x="411128" y="109762"/>
                </a:lnTo>
                <a:lnTo>
                  <a:pt x="390030" y="74049"/>
                </a:lnTo>
                <a:lnTo>
                  <a:pt x="357303" y="43791"/>
                </a:lnTo>
                <a:lnTo>
                  <a:pt x="314942" y="20413"/>
                </a:lnTo>
                <a:lnTo>
                  <a:pt x="264942" y="5340"/>
                </a:lnTo>
                <a:lnTo>
                  <a:pt x="2092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177" y="207177"/>
            <a:ext cx="7533883" cy="657646"/>
          </a:xfrm>
          <a:prstGeom prst="rect">
            <a:avLst/>
          </a:prstGeom>
        </p:spPr>
        <p:txBody>
          <a:bodyPr vert="horz" wrap="square" lIns="0" tIns="11206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b="1" spc="-176" dirty="0"/>
              <a:t>Applications: </a:t>
            </a:r>
            <a:r>
              <a:rPr b="1" spc="-234" dirty="0"/>
              <a:t>Object</a:t>
            </a:r>
            <a:r>
              <a:rPr b="1" spc="-441" dirty="0"/>
              <a:t> </a:t>
            </a:r>
            <a:r>
              <a:rPr b="1" spc="-159" dirty="0"/>
              <a:t>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41060" y="6069946"/>
            <a:ext cx="907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22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059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8716" y="3712128"/>
            <a:ext cx="3658059" cy="2059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360" y="6176339"/>
            <a:ext cx="4803401" cy="225311"/>
          </a:xfrm>
          <a:prstGeom prst="rect">
            <a:avLst/>
          </a:prstGeom>
        </p:spPr>
        <p:txBody>
          <a:bodyPr vert="horz" wrap="square" lIns="0" tIns="6724" rIns="0" bIns="0" rtlCol="0">
            <a:spAutoFit/>
          </a:bodyPr>
          <a:lstStyle/>
          <a:p>
            <a:pPr marL="571530" marR="4483" indent="-560324">
              <a:lnSpc>
                <a:spcPct val="104200"/>
              </a:lnSpc>
              <a:spcBef>
                <a:spcPts val="53"/>
              </a:spcBef>
            </a:pPr>
            <a:r>
              <a:rPr sz="706" spc="-31" dirty="0">
                <a:latin typeface="Trebuchet MS"/>
                <a:cs typeface="Trebuchet MS"/>
              </a:rPr>
              <a:t>Image </a:t>
            </a:r>
            <a:r>
              <a:rPr sz="706" spc="-44" dirty="0">
                <a:latin typeface="Trebuchet MS"/>
                <a:cs typeface="Trebuchet MS"/>
              </a:rPr>
              <a:t>credits: </a:t>
            </a:r>
            <a:r>
              <a:rPr sz="706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http://prostheticknowledge.tumblr.com/post/172309765681/yolo-v3new-release-of-object-recognition-framework </a:t>
            </a:r>
            <a:r>
              <a:rPr sz="706" spc="-3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706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https://junshengfu.github.io/vehicle-detection/</a:t>
            </a:r>
            <a:endParaRPr sz="706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44928" y="1472263"/>
            <a:ext cx="3661062" cy="20593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44928" y="3707679"/>
            <a:ext cx="3668985" cy="20637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1067" y="1472263"/>
            <a:ext cx="3665702" cy="208886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73144" y="1649662"/>
            <a:ext cx="527797" cy="491378"/>
          </a:xfrm>
          <a:custGeom>
            <a:avLst/>
            <a:gdLst/>
            <a:ahLst/>
            <a:cxnLst/>
            <a:rect l="l" t="t" r="r" b="b"/>
            <a:pathLst>
              <a:path w="598169" h="556894">
                <a:moveTo>
                  <a:pt x="0" y="0"/>
                </a:moveTo>
                <a:lnTo>
                  <a:pt x="597559" y="0"/>
                </a:lnTo>
                <a:lnTo>
                  <a:pt x="597559" y="556723"/>
                </a:lnTo>
                <a:lnTo>
                  <a:pt x="0" y="556723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23518" y="1760197"/>
            <a:ext cx="527797" cy="491378"/>
          </a:xfrm>
          <a:custGeom>
            <a:avLst/>
            <a:gdLst/>
            <a:ahLst/>
            <a:cxnLst/>
            <a:rect l="l" t="t" r="r" b="b"/>
            <a:pathLst>
              <a:path w="598169" h="556894">
                <a:moveTo>
                  <a:pt x="0" y="0"/>
                </a:moveTo>
                <a:lnTo>
                  <a:pt x="597559" y="0"/>
                </a:lnTo>
                <a:lnTo>
                  <a:pt x="597559" y="556723"/>
                </a:lnTo>
                <a:lnTo>
                  <a:pt x="0" y="556723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60655" y="1842348"/>
            <a:ext cx="527797" cy="491378"/>
          </a:xfrm>
          <a:custGeom>
            <a:avLst/>
            <a:gdLst/>
            <a:ahLst/>
            <a:cxnLst/>
            <a:rect l="l" t="t" r="r" b="b"/>
            <a:pathLst>
              <a:path w="598170" h="556894">
                <a:moveTo>
                  <a:pt x="0" y="0"/>
                </a:moveTo>
                <a:lnTo>
                  <a:pt x="597559" y="0"/>
                </a:lnTo>
                <a:lnTo>
                  <a:pt x="597559" y="556723"/>
                </a:lnTo>
                <a:lnTo>
                  <a:pt x="0" y="556723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92693"/>
            <a:ext cx="6539227" cy="657646"/>
          </a:xfrm>
          <a:prstGeom prst="rect">
            <a:avLst/>
          </a:prstGeom>
        </p:spPr>
        <p:txBody>
          <a:bodyPr vert="horz" wrap="square" lIns="0" tIns="11206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b="1" spc="-101" dirty="0"/>
              <a:t>What </a:t>
            </a:r>
            <a:r>
              <a:rPr b="1" spc="-137" dirty="0"/>
              <a:t>is </a:t>
            </a:r>
            <a:r>
              <a:rPr b="1" spc="-71" dirty="0"/>
              <a:t>Machine</a:t>
            </a:r>
            <a:r>
              <a:rPr b="1" spc="-631" dirty="0"/>
              <a:t> </a:t>
            </a:r>
            <a:r>
              <a:rPr b="1" spc="-115" dirty="0"/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769" y="1407459"/>
            <a:ext cx="7180169" cy="4929025"/>
          </a:xfrm>
          <a:prstGeom prst="rect">
            <a:avLst/>
          </a:prstGeom>
        </p:spPr>
        <p:txBody>
          <a:bodyPr vert="horz" wrap="square" lIns="0" tIns="51546" rIns="0" bIns="0" rtlCol="0">
            <a:spAutoFit/>
          </a:bodyPr>
          <a:lstStyle/>
          <a:p>
            <a:pPr marL="159692" marR="4483" indent="-148486">
              <a:lnSpc>
                <a:spcPts val="2912"/>
              </a:lnSpc>
              <a:spcBef>
                <a:spcPts val="405"/>
              </a:spcBef>
            </a:pPr>
            <a:r>
              <a:rPr sz="2647" spc="-141" dirty="0">
                <a:latin typeface="Trebuchet MS"/>
                <a:cs typeface="Trebuchet MS"/>
              </a:rPr>
              <a:t>“Learning</a:t>
            </a:r>
            <a:r>
              <a:rPr sz="2647" spc="-207" dirty="0">
                <a:latin typeface="Trebuchet MS"/>
                <a:cs typeface="Trebuchet MS"/>
              </a:rPr>
              <a:t> </a:t>
            </a:r>
            <a:r>
              <a:rPr sz="2647" spc="-97" dirty="0">
                <a:latin typeface="Trebuchet MS"/>
                <a:cs typeface="Trebuchet MS"/>
              </a:rPr>
              <a:t>is</a:t>
            </a:r>
            <a:r>
              <a:rPr sz="2647" spc="-202" dirty="0">
                <a:latin typeface="Trebuchet MS"/>
                <a:cs typeface="Trebuchet MS"/>
              </a:rPr>
              <a:t> </a:t>
            </a:r>
            <a:r>
              <a:rPr sz="2647" spc="-115" dirty="0">
                <a:latin typeface="Trebuchet MS"/>
                <a:cs typeface="Trebuchet MS"/>
              </a:rPr>
              <a:t>any</a:t>
            </a:r>
            <a:r>
              <a:rPr sz="2647" spc="-194" dirty="0">
                <a:latin typeface="Trebuchet MS"/>
                <a:cs typeface="Trebuchet MS"/>
              </a:rPr>
              <a:t> </a:t>
            </a:r>
            <a:r>
              <a:rPr sz="2647" spc="-97" dirty="0">
                <a:latin typeface="Trebuchet MS"/>
                <a:cs typeface="Trebuchet MS"/>
              </a:rPr>
              <a:t>process</a:t>
            </a:r>
            <a:r>
              <a:rPr sz="2647" spc="-202" dirty="0">
                <a:latin typeface="Trebuchet MS"/>
                <a:cs typeface="Trebuchet MS"/>
              </a:rPr>
              <a:t> </a:t>
            </a:r>
            <a:r>
              <a:rPr sz="2647" spc="-106" dirty="0">
                <a:latin typeface="Trebuchet MS"/>
                <a:cs typeface="Trebuchet MS"/>
              </a:rPr>
              <a:t>by</a:t>
            </a:r>
            <a:r>
              <a:rPr sz="2647" spc="-199" dirty="0">
                <a:latin typeface="Trebuchet MS"/>
                <a:cs typeface="Trebuchet MS"/>
              </a:rPr>
              <a:t> </a:t>
            </a:r>
            <a:r>
              <a:rPr sz="2647" spc="-110" dirty="0">
                <a:latin typeface="Trebuchet MS"/>
                <a:cs typeface="Trebuchet MS"/>
              </a:rPr>
              <a:t>which</a:t>
            </a:r>
            <a:r>
              <a:rPr sz="2647" spc="-202" dirty="0">
                <a:latin typeface="Trebuchet MS"/>
                <a:cs typeface="Trebuchet MS"/>
              </a:rPr>
              <a:t> </a:t>
            </a:r>
            <a:r>
              <a:rPr sz="2647" spc="-124" dirty="0">
                <a:latin typeface="Trebuchet MS"/>
                <a:cs typeface="Trebuchet MS"/>
              </a:rPr>
              <a:t>a</a:t>
            </a:r>
            <a:r>
              <a:rPr sz="2647" spc="-202" dirty="0">
                <a:latin typeface="Trebuchet MS"/>
                <a:cs typeface="Trebuchet MS"/>
              </a:rPr>
              <a:t> </a:t>
            </a:r>
            <a:r>
              <a:rPr sz="2647" spc="-119" dirty="0">
                <a:latin typeface="Trebuchet MS"/>
                <a:cs typeface="Trebuchet MS"/>
              </a:rPr>
              <a:t>system</a:t>
            </a:r>
            <a:r>
              <a:rPr sz="2647" spc="-199" dirty="0">
                <a:latin typeface="Trebuchet MS"/>
                <a:cs typeface="Trebuchet MS"/>
              </a:rPr>
              <a:t> </a:t>
            </a:r>
            <a:r>
              <a:rPr sz="2647" spc="-101" dirty="0">
                <a:latin typeface="Trebuchet MS"/>
                <a:cs typeface="Trebuchet MS"/>
              </a:rPr>
              <a:t>improves  </a:t>
            </a:r>
            <a:r>
              <a:rPr sz="2647" spc="-119" dirty="0">
                <a:latin typeface="Trebuchet MS"/>
                <a:cs typeface="Trebuchet MS"/>
              </a:rPr>
              <a:t>performance </a:t>
            </a:r>
            <a:r>
              <a:rPr sz="2647" spc="-106" dirty="0">
                <a:latin typeface="Trebuchet MS"/>
                <a:cs typeface="Trebuchet MS"/>
              </a:rPr>
              <a:t>from</a:t>
            </a:r>
            <a:r>
              <a:rPr sz="2647" spc="-296" dirty="0">
                <a:latin typeface="Trebuchet MS"/>
                <a:cs typeface="Trebuchet MS"/>
              </a:rPr>
              <a:t> </a:t>
            </a:r>
            <a:r>
              <a:rPr sz="2647" spc="-180" dirty="0">
                <a:latin typeface="Trebuchet MS"/>
                <a:cs typeface="Trebuchet MS"/>
              </a:rPr>
              <a:t>experience.”</a:t>
            </a:r>
            <a:endParaRPr sz="2647">
              <a:latin typeface="Trebuchet MS"/>
              <a:cs typeface="Trebuchet MS"/>
            </a:endParaRPr>
          </a:p>
          <a:p>
            <a:pPr marR="134478" algn="ctr">
              <a:spcBef>
                <a:spcPts val="212"/>
              </a:spcBef>
            </a:pPr>
            <a:r>
              <a:rPr sz="2647" spc="-163" dirty="0">
                <a:latin typeface="Trebuchet MS"/>
                <a:cs typeface="Trebuchet MS"/>
              </a:rPr>
              <a:t>- </a:t>
            </a:r>
            <a:r>
              <a:rPr sz="2647" spc="-119" dirty="0">
                <a:latin typeface="Trebuchet MS"/>
                <a:cs typeface="Trebuchet MS"/>
              </a:rPr>
              <a:t>Herbert</a:t>
            </a:r>
            <a:r>
              <a:rPr sz="2647" spc="-256" dirty="0">
                <a:latin typeface="Trebuchet MS"/>
                <a:cs typeface="Trebuchet MS"/>
              </a:rPr>
              <a:t> </a:t>
            </a:r>
            <a:r>
              <a:rPr sz="2647" spc="-75" dirty="0">
                <a:latin typeface="Trebuchet MS"/>
                <a:cs typeface="Trebuchet MS"/>
              </a:rPr>
              <a:t>Simon</a:t>
            </a:r>
            <a:endParaRPr sz="2647">
              <a:latin typeface="Trebuchet MS"/>
              <a:cs typeface="Trebuchet MS"/>
            </a:endParaRPr>
          </a:p>
          <a:p>
            <a:pPr>
              <a:spcBef>
                <a:spcPts val="26"/>
              </a:spcBef>
            </a:pPr>
            <a:endParaRPr sz="3353">
              <a:latin typeface="Times New Roman"/>
              <a:cs typeface="Times New Roman"/>
            </a:endParaRPr>
          </a:p>
          <a:p>
            <a:pPr marL="11206"/>
            <a:r>
              <a:rPr sz="2647" spc="-110" dirty="0">
                <a:latin typeface="Trebuchet MS"/>
                <a:cs typeface="Trebuchet MS"/>
              </a:rPr>
              <a:t>Definition </a:t>
            </a:r>
            <a:r>
              <a:rPr sz="2647" spc="-106" dirty="0">
                <a:latin typeface="Trebuchet MS"/>
                <a:cs typeface="Trebuchet MS"/>
              </a:rPr>
              <a:t>by </a:t>
            </a:r>
            <a:r>
              <a:rPr sz="2647" spc="-199" dirty="0">
                <a:latin typeface="Trebuchet MS"/>
                <a:cs typeface="Trebuchet MS"/>
              </a:rPr>
              <a:t>Tom </a:t>
            </a:r>
            <a:r>
              <a:rPr sz="2647" spc="-93" dirty="0">
                <a:latin typeface="Trebuchet MS"/>
                <a:cs typeface="Trebuchet MS"/>
              </a:rPr>
              <a:t>Mitchell</a:t>
            </a:r>
            <a:r>
              <a:rPr sz="2647" spc="-401" dirty="0">
                <a:latin typeface="Trebuchet MS"/>
                <a:cs typeface="Trebuchet MS"/>
              </a:rPr>
              <a:t> </a:t>
            </a:r>
            <a:r>
              <a:rPr sz="2647" spc="-115" dirty="0">
                <a:latin typeface="Trebuchet MS"/>
                <a:cs typeface="Trebuchet MS"/>
              </a:rPr>
              <a:t>(1998):</a:t>
            </a:r>
            <a:endParaRPr sz="2647">
              <a:latin typeface="Trebuchet MS"/>
              <a:cs typeface="Trebuchet MS"/>
            </a:endParaRPr>
          </a:p>
          <a:p>
            <a:pPr marL="414640">
              <a:spcBef>
                <a:spcPts val="265"/>
              </a:spcBef>
            </a:pPr>
            <a:r>
              <a:rPr sz="2647" spc="-53" dirty="0">
                <a:latin typeface="Trebuchet MS"/>
                <a:cs typeface="Trebuchet MS"/>
              </a:rPr>
              <a:t>Machine</a:t>
            </a:r>
            <a:r>
              <a:rPr sz="2647" spc="-212" dirty="0">
                <a:latin typeface="Trebuchet MS"/>
                <a:cs typeface="Trebuchet MS"/>
              </a:rPr>
              <a:t> </a:t>
            </a:r>
            <a:r>
              <a:rPr sz="2647" spc="-119" dirty="0">
                <a:latin typeface="Trebuchet MS"/>
                <a:cs typeface="Trebuchet MS"/>
              </a:rPr>
              <a:t>Learning</a:t>
            </a:r>
            <a:r>
              <a:rPr sz="2647" spc="-207" dirty="0">
                <a:latin typeface="Trebuchet MS"/>
                <a:cs typeface="Trebuchet MS"/>
              </a:rPr>
              <a:t> </a:t>
            </a:r>
            <a:r>
              <a:rPr sz="2647" spc="-97" dirty="0">
                <a:latin typeface="Trebuchet MS"/>
                <a:cs typeface="Trebuchet MS"/>
              </a:rPr>
              <a:t>is</a:t>
            </a:r>
            <a:r>
              <a:rPr sz="2647" spc="-199" dirty="0">
                <a:latin typeface="Trebuchet MS"/>
                <a:cs typeface="Trebuchet MS"/>
              </a:rPr>
              <a:t> </a:t>
            </a:r>
            <a:r>
              <a:rPr sz="2647" spc="-119" dirty="0">
                <a:latin typeface="Trebuchet MS"/>
                <a:cs typeface="Trebuchet MS"/>
              </a:rPr>
              <a:t>the</a:t>
            </a:r>
            <a:r>
              <a:rPr sz="2647" spc="-212" dirty="0">
                <a:latin typeface="Trebuchet MS"/>
                <a:cs typeface="Trebuchet MS"/>
              </a:rPr>
              <a:t> </a:t>
            </a:r>
            <a:r>
              <a:rPr sz="2647" spc="-101" dirty="0">
                <a:latin typeface="Trebuchet MS"/>
                <a:cs typeface="Trebuchet MS"/>
              </a:rPr>
              <a:t>study</a:t>
            </a:r>
            <a:r>
              <a:rPr sz="2647" spc="-199" dirty="0">
                <a:latin typeface="Trebuchet MS"/>
                <a:cs typeface="Trebuchet MS"/>
              </a:rPr>
              <a:t> </a:t>
            </a:r>
            <a:r>
              <a:rPr sz="2647" spc="-97" dirty="0">
                <a:latin typeface="Trebuchet MS"/>
                <a:cs typeface="Trebuchet MS"/>
              </a:rPr>
              <a:t>of</a:t>
            </a:r>
            <a:r>
              <a:rPr sz="2647" spc="-207" dirty="0">
                <a:latin typeface="Trebuchet MS"/>
                <a:cs typeface="Trebuchet MS"/>
              </a:rPr>
              <a:t> </a:t>
            </a:r>
            <a:r>
              <a:rPr sz="2647" spc="-106" dirty="0">
                <a:latin typeface="Trebuchet MS"/>
                <a:cs typeface="Trebuchet MS"/>
              </a:rPr>
              <a:t>algorithms</a:t>
            </a:r>
            <a:r>
              <a:rPr sz="2647" spc="-199" dirty="0">
                <a:latin typeface="Trebuchet MS"/>
                <a:cs typeface="Trebuchet MS"/>
              </a:rPr>
              <a:t> </a:t>
            </a:r>
            <a:r>
              <a:rPr sz="2647" spc="-137" dirty="0">
                <a:latin typeface="Trebuchet MS"/>
                <a:cs typeface="Trebuchet MS"/>
              </a:rPr>
              <a:t>that</a:t>
            </a:r>
            <a:endParaRPr sz="2647">
              <a:latin typeface="Trebuchet MS"/>
              <a:cs typeface="Trebuchet MS"/>
            </a:endParaRPr>
          </a:p>
          <a:p>
            <a:pPr marL="742429" indent="-329471">
              <a:spcBef>
                <a:spcPts val="353"/>
              </a:spcBef>
              <a:buFont typeface="Arial"/>
              <a:buChar char="•"/>
              <a:tabLst>
                <a:tab pos="741869" algn="l"/>
                <a:tab pos="742429" algn="l"/>
              </a:tabLst>
            </a:pPr>
            <a:r>
              <a:rPr sz="2647" spc="-110" dirty="0">
                <a:latin typeface="Trebuchet MS"/>
                <a:cs typeface="Trebuchet MS"/>
              </a:rPr>
              <a:t>improve </a:t>
            </a:r>
            <a:r>
              <a:rPr sz="2647" spc="-128" dirty="0">
                <a:latin typeface="Trebuchet MS"/>
                <a:cs typeface="Trebuchet MS"/>
              </a:rPr>
              <a:t>their </a:t>
            </a:r>
            <a:r>
              <a:rPr sz="2647" spc="-119" dirty="0">
                <a:latin typeface="Trebuchet MS"/>
                <a:cs typeface="Trebuchet MS"/>
              </a:rPr>
              <a:t>performance</a:t>
            </a:r>
            <a:r>
              <a:rPr sz="2647" spc="-375" dirty="0">
                <a:latin typeface="Trebuchet MS"/>
                <a:cs typeface="Trebuchet MS"/>
              </a:rPr>
              <a:t> </a:t>
            </a:r>
            <a:r>
              <a:rPr sz="2647" i="1" spc="79" dirty="0">
                <a:latin typeface="Times New Roman"/>
                <a:cs typeface="Times New Roman"/>
              </a:rPr>
              <a:t>P</a:t>
            </a:r>
            <a:endParaRPr sz="2647">
              <a:latin typeface="Times New Roman"/>
              <a:cs typeface="Times New Roman"/>
            </a:endParaRPr>
          </a:p>
          <a:p>
            <a:pPr marL="742429" indent="-329471">
              <a:spcBef>
                <a:spcPts val="265"/>
              </a:spcBef>
              <a:buFont typeface="Arial"/>
              <a:buChar char="•"/>
              <a:tabLst>
                <a:tab pos="741869" algn="l"/>
                <a:tab pos="742429" algn="l"/>
              </a:tabLst>
            </a:pPr>
            <a:r>
              <a:rPr sz="2647" spc="-159" dirty="0">
                <a:latin typeface="Trebuchet MS"/>
                <a:cs typeface="Trebuchet MS"/>
              </a:rPr>
              <a:t>at </a:t>
            </a:r>
            <a:r>
              <a:rPr sz="2647" spc="-71" dirty="0">
                <a:latin typeface="Trebuchet MS"/>
                <a:cs typeface="Trebuchet MS"/>
              </a:rPr>
              <a:t>some </a:t>
            </a:r>
            <a:r>
              <a:rPr sz="2647" spc="-124" dirty="0">
                <a:latin typeface="Trebuchet MS"/>
                <a:cs typeface="Trebuchet MS"/>
              </a:rPr>
              <a:t>task</a:t>
            </a:r>
            <a:r>
              <a:rPr sz="2647" spc="-401" dirty="0">
                <a:latin typeface="Trebuchet MS"/>
                <a:cs typeface="Trebuchet MS"/>
              </a:rPr>
              <a:t> </a:t>
            </a:r>
            <a:r>
              <a:rPr sz="2647" i="1" spc="71" dirty="0">
                <a:latin typeface="Times New Roman"/>
                <a:cs typeface="Times New Roman"/>
              </a:rPr>
              <a:t>T</a:t>
            </a:r>
            <a:endParaRPr sz="2647">
              <a:latin typeface="Times New Roman"/>
              <a:cs typeface="Times New Roman"/>
            </a:endParaRPr>
          </a:p>
          <a:p>
            <a:pPr marL="742429" indent="-329471">
              <a:spcBef>
                <a:spcPts val="353"/>
              </a:spcBef>
              <a:buFont typeface="Arial"/>
              <a:buChar char="•"/>
              <a:tabLst>
                <a:tab pos="741869" algn="l"/>
                <a:tab pos="742429" algn="l"/>
              </a:tabLst>
            </a:pPr>
            <a:r>
              <a:rPr sz="2647" spc="-115" dirty="0">
                <a:latin typeface="Trebuchet MS"/>
                <a:cs typeface="Trebuchet MS"/>
              </a:rPr>
              <a:t>with </a:t>
            </a:r>
            <a:r>
              <a:rPr sz="2647" spc="-137" dirty="0">
                <a:latin typeface="Trebuchet MS"/>
                <a:cs typeface="Trebuchet MS"/>
              </a:rPr>
              <a:t>experience</a:t>
            </a:r>
            <a:r>
              <a:rPr sz="2647" spc="-300" dirty="0">
                <a:latin typeface="Trebuchet MS"/>
                <a:cs typeface="Trebuchet MS"/>
              </a:rPr>
              <a:t> </a:t>
            </a:r>
            <a:r>
              <a:rPr sz="2647" i="1" spc="13" dirty="0">
                <a:latin typeface="Times New Roman"/>
                <a:cs typeface="Times New Roman"/>
              </a:rPr>
              <a:t>E</a:t>
            </a:r>
            <a:r>
              <a:rPr sz="2647" spc="13" dirty="0">
                <a:latin typeface="Trebuchet MS"/>
                <a:cs typeface="Trebuchet MS"/>
              </a:rPr>
              <a:t>.</a:t>
            </a:r>
            <a:endParaRPr sz="2647">
              <a:latin typeface="Trebuchet MS"/>
              <a:cs typeface="Trebuchet MS"/>
            </a:endParaRPr>
          </a:p>
          <a:p>
            <a:pPr marL="412959">
              <a:spcBef>
                <a:spcPts val="353"/>
              </a:spcBef>
            </a:pPr>
            <a:r>
              <a:rPr sz="2647" spc="-31" dirty="0">
                <a:latin typeface="Trebuchet MS"/>
                <a:cs typeface="Trebuchet MS"/>
              </a:rPr>
              <a:t>A</a:t>
            </a:r>
            <a:r>
              <a:rPr sz="2647" spc="-202" dirty="0">
                <a:latin typeface="Trebuchet MS"/>
                <a:cs typeface="Trebuchet MS"/>
              </a:rPr>
              <a:t> </a:t>
            </a:r>
            <a:r>
              <a:rPr sz="2647" spc="-137" dirty="0">
                <a:latin typeface="Trebuchet MS"/>
                <a:cs typeface="Trebuchet MS"/>
              </a:rPr>
              <a:t>well-defined</a:t>
            </a:r>
            <a:r>
              <a:rPr sz="2647" spc="-202" dirty="0">
                <a:latin typeface="Trebuchet MS"/>
                <a:cs typeface="Trebuchet MS"/>
              </a:rPr>
              <a:t> </a:t>
            </a:r>
            <a:r>
              <a:rPr sz="2647" spc="-115" dirty="0">
                <a:latin typeface="Trebuchet MS"/>
                <a:cs typeface="Trebuchet MS"/>
              </a:rPr>
              <a:t>learning</a:t>
            </a:r>
            <a:r>
              <a:rPr sz="2647" spc="-207" dirty="0">
                <a:latin typeface="Trebuchet MS"/>
                <a:cs typeface="Trebuchet MS"/>
              </a:rPr>
              <a:t> </a:t>
            </a:r>
            <a:r>
              <a:rPr sz="2647" spc="-124" dirty="0">
                <a:latin typeface="Trebuchet MS"/>
                <a:cs typeface="Trebuchet MS"/>
              </a:rPr>
              <a:t>task</a:t>
            </a:r>
            <a:r>
              <a:rPr sz="2647" spc="-199" dirty="0">
                <a:latin typeface="Trebuchet MS"/>
                <a:cs typeface="Trebuchet MS"/>
              </a:rPr>
              <a:t> </a:t>
            </a:r>
            <a:r>
              <a:rPr sz="2647" spc="-97" dirty="0">
                <a:latin typeface="Trebuchet MS"/>
                <a:cs typeface="Trebuchet MS"/>
              </a:rPr>
              <a:t>is</a:t>
            </a:r>
            <a:r>
              <a:rPr sz="2647" spc="-202" dirty="0">
                <a:latin typeface="Trebuchet MS"/>
                <a:cs typeface="Trebuchet MS"/>
              </a:rPr>
              <a:t> </a:t>
            </a:r>
            <a:r>
              <a:rPr sz="2647" spc="-115" dirty="0">
                <a:latin typeface="Trebuchet MS"/>
                <a:cs typeface="Trebuchet MS"/>
              </a:rPr>
              <a:t>given</a:t>
            </a:r>
            <a:r>
              <a:rPr sz="2647" spc="-202" dirty="0">
                <a:latin typeface="Trebuchet MS"/>
                <a:cs typeface="Trebuchet MS"/>
              </a:rPr>
              <a:t> </a:t>
            </a:r>
            <a:r>
              <a:rPr sz="2647" spc="-106" dirty="0">
                <a:latin typeface="Trebuchet MS"/>
                <a:cs typeface="Trebuchet MS"/>
              </a:rPr>
              <a:t>by</a:t>
            </a:r>
            <a:r>
              <a:rPr sz="2647" spc="-199" dirty="0">
                <a:latin typeface="Trebuchet MS"/>
                <a:cs typeface="Trebuchet MS"/>
              </a:rPr>
              <a:t> </a:t>
            </a:r>
            <a:r>
              <a:rPr sz="2647" spc="-101" dirty="0">
                <a:latin typeface="Trebuchet MS"/>
                <a:cs typeface="Trebuchet MS"/>
              </a:rPr>
              <a:t>&lt;</a:t>
            </a:r>
            <a:r>
              <a:rPr sz="2647" i="1" spc="-101" dirty="0">
                <a:latin typeface="Times New Roman"/>
                <a:cs typeface="Times New Roman"/>
              </a:rPr>
              <a:t>P</a:t>
            </a:r>
            <a:r>
              <a:rPr sz="2647" spc="-101" dirty="0">
                <a:latin typeface="Trebuchet MS"/>
                <a:cs typeface="Trebuchet MS"/>
              </a:rPr>
              <a:t>,</a:t>
            </a:r>
            <a:r>
              <a:rPr sz="2647" spc="-199" dirty="0">
                <a:latin typeface="Trebuchet MS"/>
                <a:cs typeface="Trebuchet MS"/>
              </a:rPr>
              <a:t> </a:t>
            </a:r>
            <a:r>
              <a:rPr sz="2647" i="1" spc="-124" dirty="0">
                <a:latin typeface="Times New Roman"/>
                <a:cs typeface="Times New Roman"/>
              </a:rPr>
              <a:t>T</a:t>
            </a:r>
            <a:r>
              <a:rPr sz="2647" spc="-124" dirty="0">
                <a:latin typeface="Trebuchet MS"/>
                <a:cs typeface="Trebuchet MS"/>
              </a:rPr>
              <a:t>,</a:t>
            </a:r>
            <a:r>
              <a:rPr sz="2647" spc="-199" dirty="0">
                <a:latin typeface="Trebuchet MS"/>
                <a:cs typeface="Trebuchet MS"/>
              </a:rPr>
              <a:t> </a:t>
            </a:r>
            <a:r>
              <a:rPr sz="2647" i="1" spc="-13" dirty="0">
                <a:latin typeface="Times New Roman"/>
                <a:cs typeface="Times New Roman"/>
              </a:rPr>
              <a:t>E</a:t>
            </a:r>
            <a:r>
              <a:rPr sz="2647" spc="-13" dirty="0">
                <a:latin typeface="Trebuchet MS"/>
                <a:cs typeface="Trebuchet MS"/>
              </a:rPr>
              <a:t>&gt;.</a:t>
            </a:r>
            <a:endParaRPr sz="2647">
              <a:latin typeface="Trebuchet MS"/>
              <a:cs typeface="Trebuchet MS"/>
            </a:endParaRPr>
          </a:p>
          <a:p>
            <a:pPr marR="63317" algn="r">
              <a:spcBef>
                <a:spcPts val="2652"/>
              </a:spcBef>
            </a:pPr>
            <a:r>
              <a:rPr sz="1059" spc="-22" dirty="0">
                <a:solidFill>
                  <a:srgbClr val="898989"/>
                </a:solidFill>
                <a:latin typeface="Trebuchet MS"/>
                <a:cs typeface="Trebuchet MS"/>
              </a:rPr>
              <a:t>5</a:t>
            </a:r>
            <a:endParaRPr sz="1059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255" y="948018"/>
            <a:ext cx="3709147" cy="445922"/>
          </a:xfrm>
          <a:prstGeom prst="rect">
            <a:avLst/>
          </a:prstGeom>
        </p:spPr>
        <p:txBody>
          <a:bodyPr vert="horz" wrap="square" lIns="0" tIns="11206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2824" b="1" spc="-176" dirty="0">
                <a:solidFill>
                  <a:srgbClr val="C0504D"/>
                </a:solidFill>
                <a:latin typeface="Trebuchet MS"/>
                <a:cs typeface="Trebuchet MS"/>
              </a:rPr>
              <a:t>Traditional</a:t>
            </a:r>
            <a:r>
              <a:rPr sz="2824" b="1" spc="-243" dirty="0">
                <a:solidFill>
                  <a:srgbClr val="C0504D"/>
                </a:solidFill>
                <a:latin typeface="Trebuchet MS"/>
                <a:cs typeface="Trebuchet MS"/>
              </a:rPr>
              <a:t> </a:t>
            </a:r>
            <a:r>
              <a:rPr sz="2824" b="1" spc="-146" dirty="0">
                <a:solidFill>
                  <a:srgbClr val="C0504D"/>
                </a:solidFill>
                <a:latin typeface="Trebuchet MS"/>
                <a:cs typeface="Trebuchet MS"/>
              </a:rPr>
              <a:t>Programming</a:t>
            </a:r>
            <a:endParaRPr sz="2824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3255" y="3525371"/>
            <a:ext cx="2674844" cy="44592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824" b="1" spc="-101" dirty="0">
                <a:solidFill>
                  <a:srgbClr val="C0504D"/>
                </a:solidFill>
                <a:latin typeface="Trebuchet MS"/>
                <a:cs typeface="Trebuchet MS"/>
              </a:rPr>
              <a:t>Machine</a:t>
            </a:r>
            <a:r>
              <a:rPr sz="2824" b="1" spc="-260" dirty="0">
                <a:solidFill>
                  <a:srgbClr val="C0504D"/>
                </a:solidFill>
                <a:latin typeface="Trebuchet MS"/>
                <a:cs typeface="Trebuchet MS"/>
              </a:rPr>
              <a:t> </a:t>
            </a:r>
            <a:r>
              <a:rPr sz="2824" b="1" spc="-180" dirty="0">
                <a:solidFill>
                  <a:srgbClr val="C0504D"/>
                </a:solidFill>
                <a:latin typeface="Trebuchet MS"/>
                <a:cs typeface="Trebuchet MS"/>
              </a:rPr>
              <a:t>Learning</a:t>
            </a:r>
            <a:endParaRPr sz="2824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6236" y="2062161"/>
            <a:ext cx="2353235" cy="892303"/>
          </a:xfrm>
          <a:prstGeom prst="rect">
            <a:avLst/>
          </a:prstGeom>
          <a:solidFill>
            <a:srgbClr val="4F81BD"/>
          </a:solidFill>
          <a:ln w="25400">
            <a:solidFill>
              <a:srgbClr val="000000"/>
            </a:solidFill>
          </a:ln>
        </p:spPr>
        <p:txBody>
          <a:bodyPr vert="horz" wrap="square" lIns="0" tIns="2801" rIns="0" bIns="0" rtlCol="0">
            <a:spAutoFit/>
          </a:bodyPr>
          <a:lstStyle/>
          <a:p>
            <a:pPr>
              <a:spcBef>
                <a:spcPts val="22"/>
              </a:spcBef>
            </a:pPr>
            <a:endParaRPr sz="2956" dirty="0">
              <a:latin typeface="Times New Roman"/>
              <a:cs typeface="Times New Roman"/>
            </a:endParaRPr>
          </a:p>
          <a:p>
            <a:pPr marL="443215"/>
            <a:r>
              <a:rPr sz="2824" spc="-110" dirty="0">
                <a:latin typeface="Trebuchet MS"/>
                <a:cs typeface="Trebuchet MS"/>
              </a:rPr>
              <a:t>Computer</a:t>
            </a:r>
            <a:endParaRPr sz="2824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89412" y="2162735"/>
            <a:ext cx="806824" cy="112059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89412" y="2767853"/>
            <a:ext cx="806824" cy="112059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49471" y="2364441"/>
            <a:ext cx="672353" cy="112059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635000" y="76200"/>
                </a:lnTo>
                <a:lnTo>
                  <a:pt x="635000" y="127000"/>
                </a:lnTo>
                <a:lnTo>
                  <a:pt x="762000" y="635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12476" y="1742515"/>
            <a:ext cx="1292038" cy="113593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marR="4483" indent="591142">
              <a:lnSpc>
                <a:spcPct val="137400"/>
              </a:lnSpc>
              <a:spcBef>
                <a:spcPts val="84"/>
              </a:spcBef>
            </a:pPr>
            <a:r>
              <a:rPr sz="2824" spc="-66" dirty="0">
                <a:latin typeface="Trebuchet MS"/>
                <a:cs typeface="Trebuchet MS"/>
              </a:rPr>
              <a:t>D</a:t>
            </a:r>
            <a:r>
              <a:rPr sz="2824" spc="-88" dirty="0">
                <a:latin typeface="Trebuchet MS"/>
                <a:cs typeface="Trebuchet MS"/>
              </a:rPr>
              <a:t>a</a:t>
            </a:r>
            <a:r>
              <a:rPr sz="2824" spc="-207" dirty="0">
                <a:latin typeface="Trebuchet MS"/>
                <a:cs typeface="Trebuchet MS"/>
              </a:rPr>
              <a:t>t</a:t>
            </a:r>
            <a:r>
              <a:rPr sz="2824" spc="-97" dirty="0">
                <a:latin typeface="Trebuchet MS"/>
                <a:cs typeface="Trebuchet MS"/>
              </a:rPr>
              <a:t>a  </a:t>
            </a:r>
            <a:r>
              <a:rPr sz="2824" spc="-115" dirty="0">
                <a:latin typeface="Trebuchet MS"/>
                <a:cs typeface="Trebuchet MS"/>
              </a:rPr>
              <a:t>Program</a:t>
            </a:r>
            <a:endParaRPr sz="2824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91300" y="2158253"/>
            <a:ext cx="1069041" cy="44592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824" spc="-97" dirty="0">
                <a:latin typeface="Trebuchet MS"/>
                <a:cs typeface="Trebuchet MS"/>
              </a:rPr>
              <a:t>Ou</a:t>
            </a:r>
            <a:r>
              <a:rPr sz="2824" spc="-66" dirty="0">
                <a:latin typeface="Trebuchet MS"/>
                <a:cs typeface="Trebuchet MS"/>
              </a:rPr>
              <a:t>t</a:t>
            </a:r>
            <a:r>
              <a:rPr sz="2824" spc="-106" dirty="0">
                <a:latin typeface="Trebuchet MS"/>
                <a:cs typeface="Trebuchet MS"/>
              </a:rPr>
              <a:t>put</a:t>
            </a:r>
            <a:endParaRPr sz="2824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63471" y="4528814"/>
            <a:ext cx="2353235" cy="892303"/>
          </a:xfrm>
          <a:prstGeom prst="rect">
            <a:avLst/>
          </a:prstGeom>
          <a:solidFill>
            <a:srgbClr val="4F81BD"/>
          </a:solidFill>
          <a:ln w="25400">
            <a:solidFill>
              <a:srgbClr val="000000"/>
            </a:solidFill>
          </a:ln>
        </p:spPr>
        <p:txBody>
          <a:bodyPr vert="horz" wrap="square" lIns="0" tIns="2801" rIns="0" bIns="0" rtlCol="0">
            <a:spAutoFit/>
          </a:bodyPr>
          <a:lstStyle/>
          <a:p>
            <a:pPr>
              <a:spcBef>
                <a:spcPts val="22"/>
              </a:spcBef>
            </a:pPr>
            <a:endParaRPr sz="2956" dirty="0">
              <a:latin typeface="Times New Roman"/>
              <a:cs typeface="Times New Roman"/>
            </a:endParaRPr>
          </a:p>
          <a:p>
            <a:pPr marL="443215"/>
            <a:r>
              <a:rPr sz="2824" spc="-110" dirty="0">
                <a:latin typeface="Trebuchet MS"/>
                <a:cs typeface="Trebuchet MS"/>
              </a:rPr>
              <a:t>Computer</a:t>
            </a:r>
            <a:endParaRPr sz="2824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56647" y="4650441"/>
            <a:ext cx="806824" cy="112059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56647" y="5255559"/>
            <a:ext cx="806824" cy="112059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16706" y="4852147"/>
            <a:ext cx="672353" cy="112059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635000" y="76200"/>
                </a:lnTo>
                <a:lnTo>
                  <a:pt x="635000" y="127000"/>
                </a:lnTo>
                <a:lnTo>
                  <a:pt x="762000" y="635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48652" y="4162985"/>
            <a:ext cx="1069041" cy="12581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322186">
              <a:lnSpc>
                <a:spcPct val="153000"/>
              </a:lnSpc>
              <a:spcBef>
                <a:spcPts val="88"/>
              </a:spcBef>
            </a:pPr>
            <a:r>
              <a:rPr sz="2824" spc="-124" dirty="0">
                <a:latin typeface="Trebuchet MS"/>
                <a:cs typeface="Trebuchet MS"/>
              </a:rPr>
              <a:t>Data  </a:t>
            </a:r>
            <a:r>
              <a:rPr sz="2824" spc="-97" dirty="0">
                <a:latin typeface="Trebuchet MS"/>
                <a:cs typeface="Trebuchet MS"/>
              </a:rPr>
              <a:t>Ou</a:t>
            </a:r>
            <a:r>
              <a:rPr sz="2824" spc="-66" dirty="0">
                <a:latin typeface="Trebuchet MS"/>
                <a:cs typeface="Trebuchet MS"/>
              </a:rPr>
              <a:t>t</a:t>
            </a:r>
            <a:r>
              <a:rPr sz="2824" spc="-106" dirty="0">
                <a:latin typeface="Trebuchet MS"/>
                <a:cs typeface="Trebuchet MS"/>
              </a:rPr>
              <a:t>put</a:t>
            </a:r>
            <a:endParaRPr sz="2824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8536" y="4645959"/>
            <a:ext cx="1261222" cy="44592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824" spc="-141" dirty="0">
                <a:latin typeface="Trebuchet MS"/>
                <a:cs typeface="Trebuchet MS"/>
              </a:rPr>
              <a:t>P</a:t>
            </a:r>
            <a:r>
              <a:rPr sz="2824" spc="-146" dirty="0">
                <a:latin typeface="Trebuchet MS"/>
                <a:cs typeface="Trebuchet MS"/>
              </a:rPr>
              <a:t>r</a:t>
            </a:r>
            <a:r>
              <a:rPr sz="2824" spc="-26" dirty="0">
                <a:latin typeface="Trebuchet MS"/>
                <a:cs typeface="Trebuchet MS"/>
              </a:rPr>
              <a:t>o</a:t>
            </a:r>
            <a:r>
              <a:rPr sz="2824" spc="-84" dirty="0">
                <a:latin typeface="Trebuchet MS"/>
                <a:cs typeface="Trebuchet MS"/>
              </a:rPr>
              <a:t>g</a:t>
            </a:r>
            <a:r>
              <a:rPr sz="2824" spc="-176" dirty="0">
                <a:latin typeface="Trebuchet MS"/>
                <a:cs typeface="Trebuchet MS"/>
              </a:rPr>
              <a:t>r</a:t>
            </a:r>
            <a:r>
              <a:rPr sz="2824" spc="-128" dirty="0">
                <a:latin typeface="Trebuchet MS"/>
                <a:cs typeface="Trebuchet MS"/>
              </a:rPr>
              <a:t>a</a:t>
            </a:r>
            <a:r>
              <a:rPr sz="2824" spc="-88" dirty="0">
                <a:latin typeface="Trebuchet MS"/>
                <a:cs typeface="Trebuchet MS"/>
              </a:rPr>
              <a:t>m</a:t>
            </a:r>
            <a:endParaRPr sz="2824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359" y="6200038"/>
            <a:ext cx="1858496" cy="2013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235" spc="-57" dirty="0">
                <a:latin typeface="Trebuchet MS"/>
                <a:cs typeface="Trebuchet MS"/>
              </a:rPr>
              <a:t>Slide </a:t>
            </a:r>
            <a:r>
              <a:rPr sz="1235" spc="-75" dirty="0">
                <a:latin typeface="Trebuchet MS"/>
                <a:cs typeface="Trebuchet MS"/>
              </a:rPr>
              <a:t>credit: </a:t>
            </a:r>
            <a:r>
              <a:rPr sz="1235" spc="-53" dirty="0">
                <a:latin typeface="Trebuchet MS"/>
                <a:cs typeface="Trebuchet MS"/>
              </a:rPr>
              <a:t>Pedro</a:t>
            </a:r>
            <a:r>
              <a:rPr sz="1235" spc="-212" dirty="0">
                <a:latin typeface="Trebuchet MS"/>
                <a:cs typeface="Trebuchet MS"/>
              </a:rPr>
              <a:t> </a:t>
            </a:r>
            <a:r>
              <a:rPr sz="1235" spc="-31" dirty="0">
                <a:latin typeface="Trebuchet MS"/>
                <a:cs typeface="Trebuchet MS"/>
              </a:rPr>
              <a:t>Domingos</a:t>
            </a:r>
            <a:endParaRPr sz="1235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41060" y="6069946"/>
            <a:ext cx="907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22" dirty="0">
                <a:solidFill>
                  <a:srgbClr val="898989"/>
                </a:solidFill>
                <a:latin typeface="Trebuchet MS"/>
                <a:cs typeface="Trebuchet MS"/>
              </a:rPr>
              <a:t>6</a:t>
            </a:r>
            <a:endParaRPr sz="1059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057" y="284922"/>
            <a:ext cx="8494543" cy="657646"/>
          </a:xfrm>
          <a:prstGeom prst="rect">
            <a:avLst/>
          </a:prstGeom>
        </p:spPr>
        <p:txBody>
          <a:bodyPr vert="horz" wrap="square" lIns="0" tIns="11206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b="1" spc="-146" dirty="0">
                <a:latin typeface="Trebuchet MS"/>
                <a:cs typeface="Trebuchet MS"/>
              </a:rPr>
              <a:t>Why </a:t>
            </a:r>
            <a:r>
              <a:rPr b="1" spc="-194" dirty="0">
                <a:latin typeface="Trebuchet MS"/>
                <a:cs typeface="Trebuchet MS"/>
              </a:rPr>
              <a:t>Study</a:t>
            </a:r>
            <a:r>
              <a:rPr lang="en-US" b="1" spc="-194" dirty="0">
                <a:latin typeface="Trebuchet MS"/>
                <a:cs typeface="Trebuchet MS"/>
              </a:rPr>
              <a:t>/Use</a:t>
            </a:r>
            <a:r>
              <a:rPr b="1" spc="-194" dirty="0">
                <a:latin typeface="Trebuchet MS"/>
                <a:cs typeface="Trebuchet MS"/>
              </a:rPr>
              <a:t> </a:t>
            </a:r>
            <a:r>
              <a:rPr b="1" spc="-137" dirty="0">
                <a:latin typeface="Trebuchet MS"/>
                <a:cs typeface="Trebuchet MS"/>
              </a:rPr>
              <a:t>Machine</a:t>
            </a:r>
            <a:r>
              <a:rPr b="1" spc="-574" dirty="0">
                <a:latin typeface="Trebuchet MS"/>
                <a:cs typeface="Trebuchet MS"/>
              </a:rPr>
              <a:t> </a:t>
            </a:r>
            <a:r>
              <a:rPr b="1" spc="-207" dirty="0">
                <a:latin typeface="Trebuchet MS"/>
                <a:cs typeface="Trebuchet MS"/>
              </a:rPr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770" y="1351429"/>
            <a:ext cx="6937562" cy="448895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2312"/>
              </a:lnSpc>
              <a:spcBef>
                <a:spcPts val="88"/>
              </a:spcBef>
            </a:pPr>
            <a:r>
              <a:rPr sz="1941" spc="-194" dirty="0">
                <a:latin typeface="Trebuchet MS"/>
                <a:cs typeface="Trebuchet MS"/>
              </a:rPr>
              <a:t>“A</a:t>
            </a:r>
            <a:r>
              <a:rPr sz="1941" spc="-141" dirty="0">
                <a:latin typeface="Trebuchet MS"/>
                <a:cs typeface="Trebuchet MS"/>
              </a:rPr>
              <a:t> </a:t>
            </a:r>
            <a:r>
              <a:rPr sz="1941" spc="-79" dirty="0">
                <a:latin typeface="Trebuchet MS"/>
                <a:cs typeface="Trebuchet MS"/>
              </a:rPr>
              <a:t>breakthrough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79" dirty="0">
                <a:latin typeface="Trebuchet MS"/>
                <a:cs typeface="Trebuchet MS"/>
              </a:rPr>
              <a:t>in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88" dirty="0">
                <a:latin typeface="Trebuchet MS"/>
                <a:cs typeface="Trebuchet MS"/>
              </a:rPr>
              <a:t>machine</a:t>
            </a:r>
            <a:r>
              <a:rPr sz="1941" spc="-137" dirty="0">
                <a:latin typeface="Trebuchet MS"/>
                <a:cs typeface="Trebuchet MS"/>
              </a:rPr>
              <a:t> </a:t>
            </a:r>
            <a:r>
              <a:rPr sz="1941" spc="-84" dirty="0">
                <a:latin typeface="Trebuchet MS"/>
                <a:cs typeface="Trebuchet MS"/>
              </a:rPr>
              <a:t>learning</a:t>
            </a:r>
            <a:r>
              <a:rPr sz="1941" spc="-137" dirty="0">
                <a:latin typeface="Trebuchet MS"/>
                <a:cs typeface="Trebuchet MS"/>
              </a:rPr>
              <a:t> </a:t>
            </a:r>
            <a:r>
              <a:rPr sz="1941" spc="-71" dirty="0">
                <a:latin typeface="Trebuchet MS"/>
                <a:cs typeface="Trebuchet MS"/>
              </a:rPr>
              <a:t>would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84" dirty="0">
                <a:latin typeface="Trebuchet MS"/>
                <a:cs typeface="Trebuchet MS"/>
              </a:rPr>
              <a:t>be</a:t>
            </a:r>
            <a:r>
              <a:rPr sz="1941" spc="-137" dirty="0">
                <a:latin typeface="Trebuchet MS"/>
                <a:cs typeface="Trebuchet MS"/>
              </a:rPr>
              <a:t> </a:t>
            </a:r>
            <a:r>
              <a:rPr sz="1941" spc="-71" dirty="0">
                <a:latin typeface="Trebuchet MS"/>
                <a:cs typeface="Trebuchet MS"/>
              </a:rPr>
              <a:t>worth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93" dirty="0">
                <a:latin typeface="Trebuchet MS"/>
                <a:cs typeface="Trebuchet MS"/>
              </a:rPr>
              <a:t>ten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62" dirty="0">
                <a:latin typeface="Trebuchet MS"/>
                <a:cs typeface="Trebuchet MS"/>
              </a:rPr>
              <a:t>Microsofts”</a:t>
            </a:r>
            <a:endParaRPr sz="1941">
              <a:latin typeface="Trebuchet MS"/>
              <a:cs typeface="Trebuchet MS"/>
            </a:endParaRPr>
          </a:p>
          <a:p>
            <a:pPr marL="1220946">
              <a:lnSpc>
                <a:spcPts val="2312"/>
              </a:lnSpc>
            </a:pPr>
            <a:r>
              <a:rPr sz="1941" spc="-110" dirty="0">
                <a:latin typeface="Trebuchet MS"/>
                <a:cs typeface="Trebuchet MS"/>
              </a:rPr>
              <a:t>-Bill </a:t>
            </a:r>
            <a:r>
              <a:rPr sz="1941" spc="-119" dirty="0">
                <a:latin typeface="Trebuchet MS"/>
                <a:cs typeface="Trebuchet MS"/>
              </a:rPr>
              <a:t>Gates, </a:t>
            </a:r>
            <a:r>
              <a:rPr sz="1941" spc="-101" dirty="0">
                <a:latin typeface="Trebuchet MS"/>
                <a:cs typeface="Trebuchet MS"/>
              </a:rPr>
              <a:t>Chairman,</a:t>
            </a:r>
            <a:r>
              <a:rPr sz="1941" spc="-212" dirty="0">
                <a:latin typeface="Trebuchet MS"/>
                <a:cs typeface="Trebuchet MS"/>
              </a:rPr>
              <a:t> </a:t>
            </a:r>
            <a:r>
              <a:rPr sz="1941" spc="-49" dirty="0">
                <a:latin typeface="Trebuchet MS"/>
                <a:cs typeface="Trebuchet MS"/>
              </a:rPr>
              <a:t>Microsoft</a:t>
            </a:r>
            <a:endParaRPr sz="1941">
              <a:latin typeface="Trebuchet MS"/>
              <a:cs typeface="Trebuchet MS"/>
            </a:endParaRPr>
          </a:p>
          <a:p>
            <a:pPr marL="11206">
              <a:lnSpc>
                <a:spcPts val="2091"/>
              </a:lnSpc>
              <a:spcBef>
                <a:spcPts val="1730"/>
              </a:spcBef>
            </a:pPr>
            <a:r>
              <a:rPr sz="1941" spc="-62" dirty="0">
                <a:latin typeface="Trebuchet MS"/>
                <a:cs typeface="Trebuchet MS"/>
              </a:rPr>
              <a:t>“Machine </a:t>
            </a:r>
            <a:r>
              <a:rPr sz="1941" spc="-88" dirty="0">
                <a:latin typeface="Trebuchet MS"/>
                <a:cs typeface="Trebuchet MS"/>
              </a:rPr>
              <a:t>learning </a:t>
            </a:r>
            <a:r>
              <a:rPr sz="1941" spc="-71" dirty="0">
                <a:latin typeface="Trebuchet MS"/>
                <a:cs typeface="Trebuchet MS"/>
              </a:rPr>
              <a:t>is </a:t>
            </a:r>
            <a:r>
              <a:rPr sz="1941" spc="-88" dirty="0">
                <a:latin typeface="Trebuchet MS"/>
                <a:cs typeface="Trebuchet MS"/>
              </a:rPr>
              <a:t>the </a:t>
            </a:r>
            <a:r>
              <a:rPr sz="1941" spc="-106" dirty="0">
                <a:latin typeface="Trebuchet MS"/>
                <a:cs typeface="Trebuchet MS"/>
              </a:rPr>
              <a:t>next</a:t>
            </a:r>
            <a:r>
              <a:rPr sz="1941" spc="-415" dirty="0">
                <a:latin typeface="Trebuchet MS"/>
                <a:cs typeface="Trebuchet MS"/>
              </a:rPr>
              <a:t> </a:t>
            </a:r>
            <a:r>
              <a:rPr sz="1941" spc="-97" dirty="0">
                <a:latin typeface="Trebuchet MS"/>
                <a:cs typeface="Trebuchet MS"/>
              </a:rPr>
              <a:t>Internet”</a:t>
            </a:r>
            <a:endParaRPr sz="1941">
              <a:latin typeface="Trebuchet MS"/>
              <a:cs typeface="Trebuchet MS"/>
            </a:endParaRPr>
          </a:p>
          <a:p>
            <a:pPr marL="1220946">
              <a:lnSpc>
                <a:spcPts val="2091"/>
              </a:lnSpc>
            </a:pPr>
            <a:r>
              <a:rPr sz="1941" spc="-132" dirty="0">
                <a:latin typeface="Trebuchet MS"/>
                <a:cs typeface="Trebuchet MS"/>
              </a:rPr>
              <a:t>-Tony </a:t>
            </a:r>
            <a:r>
              <a:rPr sz="1941" spc="-172" dirty="0">
                <a:latin typeface="Trebuchet MS"/>
                <a:cs typeface="Trebuchet MS"/>
              </a:rPr>
              <a:t>Tether, </a:t>
            </a:r>
            <a:r>
              <a:rPr sz="1941" spc="-124" dirty="0">
                <a:latin typeface="Trebuchet MS"/>
                <a:cs typeface="Trebuchet MS"/>
              </a:rPr>
              <a:t>Director,</a:t>
            </a:r>
            <a:r>
              <a:rPr sz="1941" spc="-132" dirty="0">
                <a:latin typeface="Trebuchet MS"/>
                <a:cs typeface="Trebuchet MS"/>
              </a:rPr>
              <a:t> </a:t>
            </a:r>
            <a:r>
              <a:rPr sz="1941" spc="-75" dirty="0">
                <a:latin typeface="Trebuchet MS"/>
                <a:cs typeface="Trebuchet MS"/>
              </a:rPr>
              <a:t>DARPA</a:t>
            </a:r>
            <a:endParaRPr sz="1941">
              <a:latin typeface="Trebuchet MS"/>
              <a:cs typeface="Trebuchet MS"/>
            </a:endParaRPr>
          </a:p>
          <a:p>
            <a:pPr marL="11206">
              <a:lnSpc>
                <a:spcPts val="2091"/>
              </a:lnSpc>
              <a:spcBef>
                <a:spcPts val="1730"/>
              </a:spcBef>
            </a:pPr>
            <a:r>
              <a:rPr sz="1941" spc="-40" dirty="0">
                <a:latin typeface="Trebuchet MS"/>
                <a:cs typeface="Trebuchet MS"/>
              </a:rPr>
              <a:t>Machine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88" dirty="0">
                <a:latin typeface="Trebuchet MS"/>
                <a:cs typeface="Trebuchet MS"/>
              </a:rPr>
              <a:t>learning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71" dirty="0">
                <a:latin typeface="Trebuchet MS"/>
                <a:cs typeface="Trebuchet MS"/>
              </a:rPr>
              <a:t>is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88" dirty="0">
                <a:latin typeface="Trebuchet MS"/>
                <a:cs typeface="Trebuchet MS"/>
              </a:rPr>
              <a:t>the</a:t>
            </a:r>
            <a:r>
              <a:rPr sz="1941" spc="-141" dirty="0">
                <a:latin typeface="Trebuchet MS"/>
                <a:cs typeface="Trebuchet MS"/>
              </a:rPr>
              <a:t> </a:t>
            </a:r>
            <a:r>
              <a:rPr sz="1941" spc="-66" dirty="0">
                <a:latin typeface="Trebuchet MS"/>
                <a:cs typeface="Trebuchet MS"/>
              </a:rPr>
              <a:t>hot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71" dirty="0">
                <a:latin typeface="Trebuchet MS"/>
                <a:cs typeface="Trebuchet MS"/>
              </a:rPr>
              <a:t>new</a:t>
            </a:r>
            <a:r>
              <a:rPr sz="1941" spc="-141" dirty="0">
                <a:latin typeface="Trebuchet MS"/>
                <a:cs typeface="Trebuchet MS"/>
              </a:rPr>
              <a:t> </a:t>
            </a:r>
            <a:r>
              <a:rPr sz="1941" spc="-88" dirty="0">
                <a:latin typeface="Trebuchet MS"/>
                <a:cs typeface="Trebuchet MS"/>
              </a:rPr>
              <a:t>thing”</a:t>
            </a:r>
            <a:endParaRPr sz="1941">
              <a:latin typeface="Trebuchet MS"/>
              <a:cs typeface="Trebuchet MS"/>
            </a:endParaRPr>
          </a:p>
          <a:p>
            <a:pPr marL="1220946">
              <a:lnSpc>
                <a:spcPts val="2091"/>
              </a:lnSpc>
            </a:pPr>
            <a:r>
              <a:rPr sz="1941" spc="-110" dirty="0">
                <a:latin typeface="Trebuchet MS"/>
                <a:cs typeface="Trebuchet MS"/>
              </a:rPr>
              <a:t>-John </a:t>
            </a:r>
            <a:r>
              <a:rPr sz="1941" spc="-97" dirty="0">
                <a:latin typeface="Trebuchet MS"/>
                <a:cs typeface="Trebuchet MS"/>
              </a:rPr>
              <a:t>Hennessy, </a:t>
            </a:r>
            <a:r>
              <a:rPr sz="1941" spc="-101" dirty="0">
                <a:latin typeface="Trebuchet MS"/>
                <a:cs typeface="Trebuchet MS"/>
              </a:rPr>
              <a:t>President,</a:t>
            </a:r>
            <a:r>
              <a:rPr sz="1941" spc="-238" dirty="0">
                <a:latin typeface="Trebuchet MS"/>
                <a:cs typeface="Trebuchet MS"/>
              </a:rPr>
              <a:t> </a:t>
            </a:r>
            <a:r>
              <a:rPr sz="1941" spc="-88" dirty="0">
                <a:latin typeface="Trebuchet MS"/>
                <a:cs typeface="Trebuchet MS"/>
              </a:rPr>
              <a:t>Stanford</a:t>
            </a:r>
            <a:endParaRPr sz="1941">
              <a:latin typeface="Trebuchet MS"/>
              <a:cs typeface="Trebuchet MS"/>
            </a:endParaRPr>
          </a:p>
          <a:p>
            <a:pPr marL="11206">
              <a:spcBef>
                <a:spcPts val="1641"/>
              </a:spcBef>
            </a:pPr>
            <a:r>
              <a:rPr sz="1941" spc="-88" dirty="0">
                <a:latin typeface="Trebuchet MS"/>
                <a:cs typeface="Trebuchet MS"/>
              </a:rPr>
              <a:t>“Web</a:t>
            </a:r>
            <a:r>
              <a:rPr sz="1941" spc="-150" dirty="0">
                <a:latin typeface="Trebuchet MS"/>
                <a:cs typeface="Trebuchet MS"/>
              </a:rPr>
              <a:t> </a:t>
            </a:r>
            <a:r>
              <a:rPr sz="1941" spc="-79" dirty="0">
                <a:latin typeface="Trebuchet MS"/>
                <a:cs typeface="Trebuchet MS"/>
              </a:rPr>
              <a:t>rankings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88" dirty="0">
                <a:latin typeface="Trebuchet MS"/>
                <a:cs typeface="Trebuchet MS"/>
              </a:rPr>
              <a:t>today</a:t>
            </a:r>
            <a:r>
              <a:rPr sz="1941" spc="-137" dirty="0">
                <a:latin typeface="Trebuchet MS"/>
                <a:cs typeface="Trebuchet MS"/>
              </a:rPr>
              <a:t> </a:t>
            </a:r>
            <a:r>
              <a:rPr sz="1941" spc="-101" dirty="0">
                <a:latin typeface="Trebuchet MS"/>
                <a:cs typeface="Trebuchet MS"/>
              </a:rPr>
              <a:t>are</a:t>
            </a:r>
            <a:r>
              <a:rPr sz="1941" spc="-141" dirty="0">
                <a:latin typeface="Trebuchet MS"/>
                <a:cs typeface="Trebuchet MS"/>
              </a:rPr>
              <a:t> </a:t>
            </a:r>
            <a:r>
              <a:rPr sz="1941" spc="-79" dirty="0">
                <a:latin typeface="Trebuchet MS"/>
                <a:cs typeface="Trebuchet MS"/>
              </a:rPr>
              <a:t>mostly</a:t>
            </a:r>
            <a:r>
              <a:rPr sz="1941" spc="-137" dirty="0">
                <a:latin typeface="Trebuchet MS"/>
                <a:cs typeface="Trebuchet MS"/>
              </a:rPr>
              <a:t> </a:t>
            </a:r>
            <a:r>
              <a:rPr sz="1941" spc="-93" dirty="0">
                <a:latin typeface="Trebuchet MS"/>
                <a:cs typeface="Trebuchet MS"/>
              </a:rPr>
              <a:t>a</a:t>
            </a:r>
            <a:r>
              <a:rPr sz="1941" spc="-150" dirty="0">
                <a:latin typeface="Trebuchet MS"/>
                <a:cs typeface="Trebuchet MS"/>
              </a:rPr>
              <a:t> </a:t>
            </a:r>
            <a:r>
              <a:rPr sz="1941" spc="-106" dirty="0">
                <a:latin typeface="Trebuchet MS"/>
                <a:cs typeface="Trebuchet MS"/>
              </a:rPr>
              <a:t>matter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75" dirty="0">
                <a:latin typeface="Trebuchet MS"/>
                <a:cs typeface="Trebuchet MS"/>
              </a:rPr>
              <a:t>of</a:t>
            </a:r>
            <a:r>
              <a:rPr sz="1941" spc="-141" dirty="0">
                <a:latin typeface="Trebuchet MS"/>
                <a:cs typeface="Trebuchet MS"/>
              </a:rPr>
              <a:t> </a:t>
            </a:r>
            <a:r>
              <a:rPr sz="1941" spc="-88" dirty="0">
                <a:latin typeface="Trebuchet MS"/>
                <a:cs typeface="Trebuchet MS"/>
              </a:rPr>
              <a:t>machine</a:t>
            </a:r>
            <a:r>
              <a:rPr sz="1941" spc="-141" dirty="0">
                <a:latin typeface="Trebuchet MS"/>
                <a:cs typeface="Trebuchet MS"/>
              </a:rPr>
              <a:t> </a:t>
            </a:r>
            <a:r>
              <a:rPr sz="1941" spc="-93" dirty="0">
                <a:latin typeface="Trebuchet MS"/>
                <a:cs typeface="Trebuchet MS"/>
              </a:rPr>
              <a:t>learning”</a:t>
            </a:r>
            <a:endParaRPr sz="1941">
              <a:latin typeface="Trebuchet MS"/>
              <a:cs typeface="Trebuchet MS"/>
            </a:endParaRPr>
          </a:p>
          <a:p>
            <a:pPr marL="1220946">
              <a:spcBef>
                <a:spcPts val="53"/>
              </a:spcBef>
            </a:pPr>
            <a:r>
              <a:rPr sz="1941" spc="-97" dirty="0">
                <a:latin typeface="Trebuchet MS"/>
                <a:cs typeface="Trebuchet MS"/>
              </a:rPr>
              <a:t>-Prabhakar </a:t>
            </a:r>
            <a:r>
              <a:rPr sz="1941" spc="-101" dirty="0">
                <a:latin typeface="Trebuchet MS"/>
                <a:cs typeface="Trebuchet MS"/>
              </a:rPr>
              <a:t>Raghavan, </a:t>
            </a:r>
            <a:r>
              <a:rPr sz="1941" spc="-154" dirty="0">
                <a:latin typeface="Trebuchet MS"/>
                <a:cs typeface="Trebuchet MS"/>
              </a:rPr>
              <a:t>Dir. </a:t>
            </a:r>
            <a:r>
              <a:rPr sz="1941" spc="-106" dirty="0">
                <a:latin typeface="Trebuchet MS"/>
                <a:cs typeface="Trebuchet MS"/>
              </a:rPr>
              <a:t>Research,</a:t>
            </a:r>
            <a:r>
              <a:rPr sz="1941" spc="-238" dirty="0">
                <a:latin typeface="Trebuchet MS"/>
                <a:cs typeface="Trebuchet MS"/>
              </a:rPr>
              <a:t> </a:t>
            </a:r>
            <a:r>
              <a:rPr sz="1941" spc="-97" dirty="0">
                <a:latin typeface="Trebuchet MS"/>
                <a:cs typeface="Trebuchet MS"/>
              </a:rPr>
              <a:t>Yahoo</a:t>
            </a:r>
            <a:endParaRPr sz="1941">
              <a:latin typeface="Trebuchet MS"/>
              <a:cs typeface="Trebuchet MS"/>
            </a:endParaRPr>
          </a:p>
          <a:p>
            <a:pPr marL="11206">
              <a:spcBef>
                <a:spcPts val="1641"/>
              </a:spcBef>
            </a:pPr>
            <a:r>
              <a:rPr sz="1941" spc="-62" dirty="0">
                <a:latin typeface="Trebuchet MS"/>
                <a:cs typeface="Trebuchet MS"/>
              </a:rPr>
              <a:t>“Machine</a:t>
            </a:r>
            <a:r>
              <a:rPr sz="1941" spc="-141" dirty="0">
                <a:latin typeface="Trebuchet MS"/>
                <a:cs typeface="Trebuchet MS"/>
              </a:rPr>
              <a:t> </a:t>
            </a:r>
            <a:r>
              <a:rPr sz="1941" spc="-88" dirty="0">
                <a:latin typeface="Trebuchet MS"/>
                <a:cs typeface="Trebuchet MS"/>
              </a:rPr>
              <a:t>learning</a:t>
            </a:r>
            <a:r>
              <a:rPr sz="1941" spc="-150" dirty="0">
                <a:latin typeface="Trebuchet MS"/>
                <a:cs typeface="Trebuchet MS"/>
              </a:rPr>
              <a:t> </a:t>
            </a:r>
            <a:r>
              <a:rPr sz="1941" spc="-71" dirty="0">
                <a:latin typeface="Trebuchet MS"/>
                <a:cs typeface="Trebuchet MS"/>
              </a:rPr>
              <a:t>is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66" dirty="0">
                <a:latin typeface="Trebuchet MS"/>
                <a:cs typeface="Trebuchet MS"/>
              </a:rPr>
              <a:t>going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79" dirty="0">
                <a:latin typeface="Trebuchet MS"/>
                <a:cs typeface="Trebuchet MS"/>
              </a:rPr>
              <a:t>to</a:t>
            </a:r>
            <a:r>
              <a:rPr sz="1941" spc="-141" dirty="0">
                <a:latin typeface="Trebuchet MS"/>
                <a:cs typeface="Trebuchet MS"/>
              </a:rPr>
              <a:t> </a:t>
            </a:r>
            <a:r>
              <a:rPr sz="1941" spc="-88" dirty="0">
                <a:latin typeface="Trebuchet MS"/>
                <a:cs typeface="Trebuchet MS"/>
              </a:rPr>
              <a:t>result</a:t>
            </a:r>
            <a:r>
              <a:rPr sz="1941" spc="-146" dirty="0">
                <a:latin typeface="Trebuchet MS"/>
                <a:cs typeface="Trebuchet MS"/>
              </a:rPr>
              <a:t> </a:t>
            </a:r>
            <a:r>
              <a:rPr sz="1941" spc="-79" dirty="0">
                <a:latin typeface="Trebuchet MS"/>
                <a:cs typeface="Trebuchet MS"/>
              </a:rPr>
              <a:t>in</a:t>
            </a:r>
            <a:r>
              <a:rPr sz="1941" spc="-150" dirty="0">
                <a:latin typeface="Trebuchet MS"/>
                <a:cs typeface="Trebuchet MS"/>
              </a:rPr>
              <a:t> </a:t>
            </a:r>
            <a:r>
              <a:rPr sz="1941" spc="-93" dirty="0">
                <a:latin typeface="Trebuchet MS"/>
                <a:cs typeface="Trebuchet MS"/>
              </a:rPr>
              <a:t>a</a:t>
            </a:r>
            <a:r>
              <a:rPr sz="1941" spc="-150" dirty="0">
                <a:latin typeface="Trebuchet MS"/>
                <a:cs typeface="Trebuchet MS"/>
              </a:rPr>
              <a:t> </a:t>
            </a:r>
            <a:r>
              <a:rPr sz="1941" spc="-106" dirty="0">
                <a:latin typeface="Trebuchet MS"/>
                <a:cs typeface="Trebuchet MS"/>
              </a:rPr>
              <a:t>real</a:t>
            </a:r>
            <a:r>
              <a:rPr sz="1941" spc="-150" dirty="0">
                <a:latin typeface="Trebuchet MS"/>
                <a:cs typeface="Trebuchet MS"/>
              </a:rPr>
              <a:t> </a:t>
            </a:r>
            <a:r>
              <a:rPr sz="1941" spc="-93" dirty="0">
                <a:latin typeface="Trebuchet MS"/>
                <a:cs typeface="Trebuchet MS"/>
              </a:rPr>
              <a:t>revolution”</a:t>
            </a:r>
            <a:endParaRPr sz="1941">
              <a:latin typeface="Trebuchet MS"/>
              <a:cs typeface="Trebuchet MS"/>
            </a:endParaRPr>
          </a:p>
          <a:p>
            <a:pPr marL="1220946">
              <a:spcBef>
                <a:spcPts val="53"/>
              </a:spcBef>
            </a:pPr>
            <a:r>
              <a:rPr sz="1941" spc="-97" dirty="0">
                <a:latin typeface="Trebuchet MS"/>
                <a:cs typeface="Trebuchet MS"/>
              </a:rPr>
              <a:t>-Greg </a:t>
            </a:r>
            <a:r>
              <a:rPr sz="1941" spc="-79" dirty="0">
                <a:latin typeface="Trebuchet MS"/>
                <a:cs typeface="Trebuchet MS"/>
              </a:rPr>
              <a:t>Papadopoulos, </a:t>
            </a:r>
            <a:r>
              <a:rPr sz="1941" spc="-163" dirty="0">
                <a:latin typeface="Trebuchet MS"/>
                <a:cs typeface="Trebuchet MS"/>
              </a:rPr>
              <a:t>CTO,</a:t>
            </a:r>
            <a:r>
              <a:rPr sz="1941" spc="-265" dirty="0">
                <a:latin typeface="Trebuchet MS"/>
                <a:cs typeface="Trebuchet MS"/>
              </a:rPr>
              <a:t> </a:t>
            </a:r>
            <a:r>
              <a:rPr sz="1941" spc="-44" dirty="0">
                <a:latin typeface="Trebuchet MS"/>
                <a:cs typeface="Trebuchet MS"/>
              </a:rPr>
              <a:t>Sun</a:t>
            </a:r>
            <a:endParaRPr sz="1941">
              <a:latin typeface="Trebuchet MS"/>
              <a:cs typeface="Trebuchet MS"/>
            </a:endParaRPr>
          </a:p>
          <a:p>
            <a:pPr marL="11206">
              <a:lnSpc>
                <a:spcPts val="2091"/>
              </a:lnSpc>
              <a:spcBef>
                <a:spcPts val="1641"/>
              </a:spcBef>
            </a:pPr>
            <a:r>
              <a:rPr sz="1941" spc="-62" dirty="0">
                <a:latin typeface="Trebuchet MS"/>
                <a:cs typeface="Trebuchet MS"/>
              </a:rPr>
              <a:t>“Machine </a:t>
            </a:r>
            <a:r>
              <a:rPr sz="1941" spc="-88" dirty="0">
                <a:latin typeface="Trebuchet MS"/>
                <a:cs typeface="Trebuchet MS"/>
              </a:rPr>
              <a:t>learning </a:t>
            </a:r>
            <a:r>
              <a:rPr sz="1941" spc="-71" dirty="0">
                <a:latin typeface="Trebuchet MS"/>
                <a:cs typeface="Trebuchet MS"/>
              </a:rPr>
              <a:t>is </a:t>
            </a:r>
            <a:r>
              <a:rPr sz="1941" spc="-110" dirty="0">
                <a:latin typeface="Trebuchet MS"/>
                <a:cs typeface="Trebuchet MS"/>
              </a:rPr>
              <a:t>today’s</a:t>
            </a:r>
            <a:r>
              <a:rPr sz="1941" spc="-357" dirty="0">
                <a:latin typeface="Trebuchet MS"/>
                <a:cs typeface="Trebuchet MS"/>
              </a:rPr>
              <a:t> </a:t>
            </a:r>
            <a:r>
              <a:rPr sz="1941" spc="-93" dirty="0">
                <a:latin typeface="Trebuchet MS"/>
                <a:cs typeface="Trebuchet MS"/>
              </a:rPr>
              <a:t>discontinuity”</a:t>
            </a:r>
            <a:endParaRPr sz="1941">
              <a:latin typeface="Trebuchet MS"/>
              <a:cs typeface="Trebuchet MS"/>
            </a:endParaRPr>
          </a:p>
          <a:p>
            <a:pPr marL="1220946">
              <a:lnSpc>
                <a:spcPts val="2091"/>
              </a:lnSpc>
            </a:pPr>
            <a:r>
              <a:rPr sz="1941" spc="-128" dirty="0">
                <a:latin typeface="Trebuchet MS"/>
                <a:cs typeface="Trebuchet MS"/>
              </a:rPr>
              <a:t>-Jerry </a:t>
            </a:r>
            <a:r>
              <a:rPr sz="1941" spc="-141" dirty="0">
                <a:latin typeface="Trebuchet MS"/>
                <a:cs typeface="Trebuchet MS"/>
              </a:rPr>
              <a:t>Yang, </a:t>
            </a:r>
            <a:r>
              <a:rPr sz="1941" spc="-137" dirty="0">
                <a:latin typeface="Trebuchet MS"/>
                <a:cs typeface="Trebuchet MS"/>
              </a:rPr>
              <a:t>CEO,</a:t>
            </a:r>
            <a:r>
              <a:rPr sz="1941" spc="-168" dirty="0">
                <a:latin typeface="Trebuchet MS"/>
                <a:cs typeface="Trebuchet MS"/>
              </a:rPr>
              <a:t> </a:t>
            </a:r>
            <a:r>
              <a:rPr sz="1941" spc="-97" dirty="0">
                <a:latin typeface="Trebuchet MS"/>
                <a:cs typeface="Trebuchet MS"/>
              </a:rPr>
              <a:t>Yahoo</a:t>
            </a:r>
            <a:endParaRPr sz="1941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359" y="6200038"/>
            <a:ext cx="2210360" cy="2013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235" spc="-40" dirty="0">
                <a:latin typeface="Trebuchet MS"/>
                <a:cs typeface="Trebuchet MS"/>
              </a:rPr>
              <a:t>Based</a:t>
            </a:r>
            <a:r>
              <a:rPr sz="1235" spc="-110" dirty="0">
                <a:latin typeface="Trebuchet MS"/>
                <a:cs typeface="Trebuchet MS"/>
              </a:rPr>
              <a:t> </a:t>
            </a:r>
            <a:r>
              <a:rPr sz="1235" spc="-22" dirty="0">
                <a:latin typeface="Trebuchet MS"/>
                <a:cs typeface="Trebuchet MS"/>
              </a:rPr>
              <a:t>on</a:t>
            </a:r>
            <a:r>
              <a:rPr sz="1235" spc="-106" dirty="0">
                <a:latin typeface="Trebuchet MS"/>
                <a:cs typeface="Trebuchet MS"/>
              </a:rPr>
              <a:t> </a:t>
            </a:r>
            <a:r>
              <a:rPr sz="1235" spc="-53" dirty="0">
                <a:latin typeface="Trebuchet MS"/>
                <a:cs typeface="Trebuchet MS"/>
              </a:rPr>
              <a:t>slide</a:t>
            </a:r>
            <a:r>
              <a:rPr sz="1235" spc="-110" dirty="0">
                <a:latin typeface="Trebuchet MS"/>
                <a:cs typeface="Trebuchet MS"/>
              </a:rPr>
              <a:t> </a:t>
            </a:r>
            <a:r>
              <a:rPr sz="1235" spc="-49" dirty="0">
                <a:latin typeface="Trebuchet MS"/>
                <a:cs typeface="Trebuchet MS"/>
              </a:rPr>
              <a:t>by</a:t>
            </a:r>
            <a:r>
              <a:rPr sz="1235" spc="-101" dirty="0">
                <a:latin typeface="Trebuchet MS"/>
                <a:cs typeface="Trebuchet MS"/>
              </a:rPr>
              <a:t> </a:t>
            </a:r>
            <a:r>
              <a:rPr sz="1235" spc="-53" dirty="0">
                <a:latin typeface="Trebuchet MS"/>
                <a:cs typeface="Trebuchet MS"/>
              </a:rPr>
              <a:t>Pedro</a:t>
            </a:r>
            <a:r>
              <a:rPr sz="1235" spc="-106" dirty="0">
                <a:latin typeface="Trebuchet MS"/>
                <a:cs typeface="Trebuchet MS"/>
              </a:rPr>
              <a:t> </a:t>
            </a:r>
            <a:r>
              <a:rPr sz="1235" spc="-31" dirty="0">
                <a:latin typeface="Trebuchet MS"/>
                <a:cs typeface="Trebuchet MS"/>
              </a:rPr>
              <a:t>Domingos</a:t>
            </a:r>
            <a:endParaRPr sz="1235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41060" y="6069946"/>
            <a:ext cx="907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22" dirty="0">
                <a:solidFill>
                  <a:srgbClr val="898989"/>
                </a:solidFill>
                <a:latin typeface="Trebuchet MS"/>
                <a:cs typeface="Trebuchet MS"/>
              </a:rPr>
              <a:t>7</a:t>
            </a:r>
            <a:endParaRPr sz="1059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6779559" cy="554541"/>
          </a:xfrm>
          <a:prstGeom prst="rect">
            <a:avLst/>
          </a:prstGeom>
        </p:spPr>
        <p:txBody>
          <a:bodyPr vert="horz" wrap="square" lIns="0" tIns="11206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530" b="1" spc="-53" dirty="0"/>
              <a:t>When</a:t>
            </a:r>
            <a:r>
              <a:rPr sz="3530" b="1" spc="-282" dirty="0"/>
              <a:t> </a:t>
            </a:r>
            <a:r>
              <a:rPr sz="3530" b="1" spc="-13" dirty="0"/>
              <a:t>Do</a:t>
            </a:r>
            <a:r>
              <a:rPr sz="3530" b="1" spc="-278" dirty="0"/>
              <a:t> </a:t>
            </a:r>
            <a:r>
              <a:rPr sz="3530" b="1" spc="-84" dirty="0"/>
              <a:t>We</a:t>
            </a:r>
            <a:r>
              <a:rPr sz="3530" b="1" spc="-282" dirty="0"/>
              <a:t> </a:t>
            </a:r>
            <a:r>
              <a:rPr sz="3530" b="1" spc="-84" dirty="0"/>
              <a:t>Use</a:t>
            </a:r>
            <a:r>
              <a:rPr sz="3530" b="1" spc="-282" dirty="0"/>
              <a:t> </a:t>
            </a:r>
            <a:r>
              <a:rPr sz="3530" b="1" spc="-66" dirty="0"/>
              <a:t>Machine</a:t>
            </a:r>
            <a:r>
              <a:rPr sz="3530" b="1" spc="-287" dirty="0"/>
              <a:t> </a:t>
            </a:r>
            <a:r>
              <a:rPr sz="3530" b="1" spc="-101" dirty="0"/>
              <a:t>Learning?</a:t>
            </a:r>
            <a:endParaRPr sz="3530" b="1" dirty="0"/>
          </a:p>
        </p:txBody>
      </p:sp>
      <p:sp>
        <p:nvSpPr>
          <p:cNvPr id="3" name="object 3"/>
          <p:cNvSpPr txBox="1"/>
          <p:nvPr/>
        </p:nvSpPr>
        <p:spPr>
          <a:xfrm>
            <a:off x="1010770" y="1318185"/>
            <a:ext cx="6608669" cy="1880997"/>
          </a:xfrm>
          <a:prstGeom prst="rect">
            <a:avLst/>
          </a:prstGeom>
        </p:spPr>
        <p:txBody>
          <a:bodyPr vert="horz" wrap="square" lIns="0" tIns="55469" rIns="0" bIns="0" rtlCol="0">
            <a:spAutoFit/>
          </a:bodyPr>
          <a:lstStyle/>
          <a:p>
            <a:pPr marL="11206">
              <a:spcBef>
                <a:spcPts val="437"/>
              </a:spcBef>
            </a:pPr>
            <a:r>
              <a:rPr sz="2471" spc="75" dirty="0">
                <a:latin typeface="Trebuchet MS"/>
                <a:cs typeface="Trebuchet MS"/>
              </a:rPr>
              <a:t>ML </a:t>
            </a:r>
            <a:r>
              <a:rPr sz="2471" spc="-88" dirty="0">
                <a:latin typeface="Trebuchet MS"/>
                <a:cs typeface="Trebuchet MS"/>
              </a:rPr>
              <a:t>is </a:t>
            </a:r>
            <a:r>
              <a:rPr sz="2471" spc="-75" dirty="0">
                <a:latin typeface="Trebuchet MS"/>
                <a:cs typeface="Trebuchet MS"/>
              </a:rPr>
              <a:t>used</a:t>
            </a:r>
            <a:r>
              <a:rPr sz="2471" spc="-534" dirty="0">
                <a:latin typeface="Trebuchet MS"/>
                <a:cs typeface="Trebuchet MS"/>
              </a:rPr>
              <a:t> </a:t>
            </a:r>
            <a:r>
              <a:rPr sz="2471" spc="-110" dirty="0">
                <a:latin typeface="Trebuchet MS"/>
                <a:cs typeface="Trebuchet MS"/>
              </a:rPr>
              <a:t>when:</a:t>
            </a:r>
            <a:endParaRPr sz="2471">
              <a:latin typeface="Trebuchet MS"/>
              <a:cs typeface="Trebuchet MS"/>
            </a:endParaRPr>
          </a:p>
          <a:p>
            <a:pPr marL="313781" indent="-302575">
              <a:spcBef>
                <a:spcPts val="300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2118" spc="-66" dirty="0">
                <a:latin typeface="Trebuchet MS"/>
                <a:cs typeface="Trebuchet MS"/>
              </a:rPr>
              <a:t>Human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106" dirty="0">
                <a:latin typeface="Trebuchet MS"/>
                <a:cs typeface="Trebuchet MS"/>
              </a:rPr>
              <a:t>expertise</a:t>
            </a:r>
            <a:r>
              <a:rPr sz="2118" spc="-163" dirty="0">
                <a:latin typeface="Trebuchet MS"/>
                <a:cs typeface="Trebuchet MS"/>
              </a:rPr>
              <a:t> </a:t>
            </a:r>
            <a:r>
              <a:rPr sz="2118" spc="-57" dirty="0">
                <a:latin typeface="Trebuchet MS"/>
                <a:cs typeface="Trebuchet MS"/>
              </a:rPr>
              <a:t>does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71" dirty="0">
                <a:latin typeface="Trebuchet MS"/>
                <a:cs typeface="Trebuchet MS"/>
              </a:rPr>
              <a:t>not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119" dirty="0">
                <a:latin typeface="Trebuchet MS"/>
                <a:cs typeface="Trebuchet MS"/>
              </a:rPr>
              <a:t>exist</a:t>
            </a:r>
            <a:r>
              <a:rPr sz="2118" spc="-172" dirty="0">
                <a:latin typeface="Trebuchet MS"/>
                <a:cs typeface="Trebuchet MS"/>
              </a:rPr>
              <a:t> </a:t>
            </a:r>
            <a:r>
              <a:rPr sz="2118" spc="-101" dirty="0">
                <a:latin typeface="Trebuchet MS"/>
                <a:cs typeface="Trebuchet MS"/>
              </a:rPr>
              <a:t>(navigating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35" dirty="0">
                <a:latin typeface="Trebuchet MS"/>
                <a:cs typeface="Trebuchet MS"/>
              </a:rPr>
              <a:t>on</a:t>
            </a:r>
            <a:r>
              <a:rPr sz="2118" spc="-163" dirty="0">
                <a:latin typeface="Trebuchet MS"/>
                <a:cs typeface="Trebuchet MS"/>
              </a:rPr>
              <a:t> </a:t>
            </a:r>
            <a:r>
              <a:rPr sz="2118" spc="-18" dirty="0">
                <a:latin typeface="Trebuchet MS"/>
                <a:cs typeface="Trebuchet MS"/>
              </a:rPr>
              <a:t>Mars)</a:t>
            </a:r>
            <a:endParaRPr sz="2118">
              <a:latin typeface="Trebuchet MS"/>
              <a:cs typeface="Trebuchet MS"/>
            </a:endParaRPr>
          </a:p>
          <a:p>
            <a:pPr marL="313781" indent="-302575">
              <a:spcBef>
                <a:spcPts val="194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2118" spc="-62" dirty="0">
                <a:latin typeface="Trebuchet MS"/>
                <a:cs typeface="Trebuchet MS"/>
              </a:rPr>
              <a:t>Humans </a:t>
            </a:r>
            <a:r>
              <a:rPr sz="2118" spc="-141" dirty="0">
                <a:latin typeface="Trebuchet MS"/>
                <a:cs typeface="Trebuchet MS"/>
              </a:rPr>
              <a:t>can’t </a:t>
            </a:r>
            <a:r>
              <a:rPr sz="2118" spc="-110" dirty="0">
                <a:latin typeface="Trebuchet MS"/>
                <a:cs typeface="Trebuchet MS"/>
              </a:rPr>
              <a:t>explain </a:t>
            </a:r>
            <a:r>
              <a:rPr sz="2118" spc="-97" dirty="0">
                <a:latin typeface="Trebuchet MS"/>
                <a:cs typeface="Trebuchet MS"/>
              </a:rPr>
              <a:t>their </a:t>
            </a:r>
            <a:r>
              <a:rPr sz="2118" spc="-106" dirty="0">
                <a:latin typeface="Trebuchet MS"/>
                <a:cs typeface="Trebuchet MS"/>
              </a:rPr>
              <a:t>expertise </a:t>
            </a:r>
            <a:r>
              <a:rPr sz="2118" spc="-93" dirty="0">
                <a:latin typeface="Trebuchet MS"/>
                <a:cs typeface="Trebuchet MS"/>
              </a:rPr>
              <a:t>(speech</a:t>
            </a:r>
            <a:r>
              <a:rPr sz="2118" spc="-485" dirty="0">
                <a:latin typeface="Trebuchet MS"/>
                <a:cs typeface="Trebuchet MS"/>
              </a:rPr>
              <a:t> </a:t>
            </a:r>
            <a:r>
              <a:rPr sz="2118" spc="-93" dirty="0">
                <a:latin typeface="Trebuchet MS"/>
                <a:cs typeface="Trebuchet MS"/>
              </a:rPr>
              <a:t>recognition)</a:t>
            </a:r>
            <a:endParaRPr sz="2118">
              <a:latin typeface="Trebuchet MS"/>
              <a:cs typeface="Trebuchet MS"/>
            </a:endParaRPr>
          </a:p>
          <a:p>
            <a:pPr marL="313781" indent="-302575">
              <a:spcBef>
                <a:spcPts val="282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2118" spc="-13" dirty="0">
                <a:latin typeface="Trebuchet MS"/>
                <a:cs typeface="Trebuchet MS"/>
              </a:rPr>
              <a:t>Models</a:t>
            </a:r>
            <a:r>
              <a:rPr sz="2118" spc="-437" dirty="0">
                <a:latin typeface="Trebuchet MS"/>
                <a:cs typeface="Trebuchet MS"/>
              </a:rPr>
              <a:t> </a:t>
            </a:r>
            <a:r>
              <a:rPr sz="2118" spc="-79" dirty="0">
                <a:latin typeface="Trebuchet MS"/>
                <a:cs typeface="Trebuchet MS"/>
              </a:rPr>
              <a:t>must </a:t>
            </a:r>
            <a:r>
              <a:rPr sz="2118" spc="-88" dirty="0">
                <a:latin typeface="Trebuchet MS"/>
                <a:cs typeface="Trebuchet MS"/>
              </a:rPr>
              <a:t>be </a:t>
            </a:r>
            <a:r>
              <a:rPr sz="2118" spc="-106" dirty="0">
                <a:latin typeface="Trebuchet MS"/>
                <a:cs typeface="Trebuchet MS"/>
              </a:rPr>
              <a:t>customized </a:t>
            </a:r>
            <a:r>
              <a:rPr sz="2118" spc="-101" dirty="0">
                <a:latin typeface="Trebuchet MS"/>
                <a:cs typeface="Trebuchet MS"/>
              </a:rPr>
              <a:t>(personalized medicine)</a:t>
            </a:r>
            <a:endParaRPr sz="2118">
              <a:latin typeface="Trebuchet MS"/>
              <a:cs typeface="Trebuchet MS"/>
            </a:endParaRPr>
          </a:p>
          <a:p>
            <a:pPr marL="313781" indent="-302575">
              <a:spcBef>
                <a:spcPts val="282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2118" spc="-13" dirty="0">
                <a:latin typeface="Trebuchet MS"/>
                <a:cs typeface="Trebuchet MS"/>
              </a:rPr>
              <a:t>Models</a:t>
            </a:r>
            <a:r>
              <a:rPr sz="2118" spc="-172" dirty="0">
                <a:latin typeface="Trebuchet MS"/>
                <a:cs typeface="Trebuchet MS"/>
              </a:rPr>
              <a:t> </a:t>
            </a:r>
            <a:r>
              <a:rPr sz="2118" spc="-106" dirty="0">
                <a:latin typeface="Trebuchet MS"/>
                <a:cs typeface="Trebuchet MS"/>
              </a:rPr>
              <a:t>are</a:t>
            </a:r>
            <a:r>
              <a:rPr sz="2118" spc="-159" dirty="0">
                <a:latin typeface="Trebuchet MS"/>
                <a:cs typeface="Trebuchet MS"/>
              </a:rPr>
              <a:t> </a:t>
            </a:r>
            <a:r>
              <a:rPr sz="2118" spc="-75" dirty="0">
                <a:latin typeface="Trebuchet MS"/>
                <a:cs typeface="Trebuchet MS"/>
              </a:rPr>
              <a:t>based</a:t>
            </a:r>
            <a:r>
              <a:rPr sz="2118" spc="-163" dirty="0">
                <a:latin typeface="Trebuchet MS"/>
                <a:cs typeface="Trebuchet MS"/>
              </a:rPr>
              <a:t> </a:t>
            </a:r>
            <a:r>
              <a:rPr sz="2118" spc="-35" dirty="0">
                <a:latin typeface="Trebuchet MS"/>
                <a:cs typeface="Trebuchet MS"/>
              </a:rPr>
              <a:t>on</a:t>
            </a:r>
            <a:r>
              <a:rPr sz="2118" spc="-163" dirty="0">
                <a:latin typeface="Trebuchet MS"/>
                <a:cs typeface="Trebuchet MS"/>
              </a:rPr>
              <a:t> </a:t>
            </a:r>
            <a:r>
              <a:rPr sz="2118" spc="-71" dirty="0">
                <a:latin typeface="Trebuchet MS"/>
                <a:cs typeface="Trebuchet MS"/>
              </a:rPr>
              <a:t>huge</a:t>
            </a:r>
            <a:r>
              <a:rPr sz="2118" spc="-159" dirty="0">
                <a:latin typeface="Trebuchet MS"/>
                <a:cs typeface="Trebuchet MS"/>
              </a:rPr>
              <a:t> </a:t>
            </a:r>
            <a:r>
              <a:rPr sz="2118" spc="-66" dirty="0">
                <a:latin typeface="Trebuchet MS"/>
                <a:cs typeface="Trebuchet MS"/>
              </a:rPr>
              <a:t>amounts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84" dirty="0">
                <a:latin typeface="Trebuchet MS"/>
                <a:cs typeface="Trebuchet MS"/>
              </a:rPr>
              <a:t>of</a:t>
            </a:r>
            <a:r>
              <a:rPr sz="2118" spc="-163" dirty="0">
                <a:latin typeface="Trebuchet MS"/>
                <a:cs typeface="Trebuchet MS"/>
              </a:rPr>
              <a:t> </a:t>
            </a:r>
            <a:r>
              <a:rPr sz="2118" spc="-115" dirty="0">
                <a:latin typeface="Trebuchet MS"/>
                <a:cs typeface="Trebuchet MS"/>
              </a:rPr>
              <a:t>data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93" dirty="0">
                <a:latin typeface="Trebuchet MS"/>
                <a:cs typeface="Trebuchet MS"/>
              </a:rPr>
              <a:t>(genomics)</a:t>
            </a:r>
            <a:endParaRPr sz="2118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1294" y="3307787"/>
            <a:ext cx="1837484" cy="1471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22180" y="3307787"/>
            <a:ext cx="1765733" cy="14714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31315" y="3304514"/>
            <a:ext cx="1741304" cy="14747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16022" y="3307787"/>
            <a:ext cx="1614733" cy="1471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7359" y="5217833"/>
            <a:ext cx="5794001" cy="1195875"/>
          </a:xfrm>
          <a:prstGeom prst="rect">
            <a:avLst/>
          </a:prstGeom>
        </p:spPr>
        <p:txBody>
          <a:bodyPr vert="horz" wrap="square" lIns="0" tIns="55469" rIns="0" bIns="0" rtlCol="0">
            <a:spAutoFit/>
          </a:bodyPr>
          <a:lstStyle/>
          <a:p>
            <a:pPr marL="414640">
              <a:spcBef>
                <a:spcPts val="437"/>
              </a:spcBef>
            </a:pPr>
            <a:r>
              <a:rPr sz="2471" spc="-115" dirty="0">
                <a:latin typeface="Trebuchet MS"/>
                <a:cs typeface="Trebuchet MS"/>
              </a:rPr>
              <a:t>Learning </a:t>
            </a:r>
            <a:r>
              <a:rPr sz="2471" spc="-137" dirty="0">
                <a:latin typeface="Trebuchet MS"/>
                <a:cs typeface="Trebuchet MS"/>
              </a:rPr>
              <a:t>isn’t </a:t>
            </a:r>
            <a:r>
              <a:rPr sz="2471" spc="-124" dirty="0">
                <a:latin typeface="Trebuchet MS"/>
                <a:cs typeface="Trebuchet MS"/>
              </a:rPr>
              <a:t>always</a:t>
            </a:r>
            <a:r>
              <a:rPr sz="2471" spc="-309" dirty="0">
                <a:latin typeface="Trebuchet MS"/>
                <a:cs typeface="Trebuchet MS"/>
              </a:rPr>
              <a:t> </a:t>
            </a:r>
            <a:r>
              <a:rPr sz="2471" spc="-124" dirty="0">
                <a:latin typeface="Trebuchet MS"/>
                <a:cs typeface="Trebuchet MS"/>
              </a:rPr>
              <a:t>useful:</a:t>
            </a:r>
            <a:endParaRPr sz="2471">
              <a:latin typeface="Trebuchet MS"/>
              <a:cs typeface="Trebuchet MS"/>
            </a:endParaRPr>
          </a:p>
          <a:p>
            <a:pPr marL="717215" indent="-302575">
              <a:spcBef>
                <a:spcPts val="300"/>
              </a:spcBef>
              <a:buFont typeface="Arial"/>
              <a:buChar char="•"/>
              <a:tabLst>
                <a:tab pos="716654" algn="l"/>
                <a:tab pos="717215" algn="l"/>
              </a:tabLst>
            </a:pPr>
            <a:r>
              <a:rPr sz="2118" spc="-115" dirty="0">
                <a:latin typeface="Trebuchet MS"/>
                <a:cs typeface="Trebuchet MS"/>
              </a:rPr>
              <a:t>There</a:t>
            </a:r>
            <a:r>
              <a:rPr sz="2118" spc="-163" dirty="0">
                <a:latin typeface="Trebuchet MS"/>
                <a:cs typeface="Trebuchet MS"/>
              </a:rPr>
              <a:t> </a:t>
            </a:r>
            <a:r>
              <a:rPr sz="2118" spc="-79" dirty="0">
                <a:latin typeface="Trebuchet MS"/>
                <a:cs typeface="Trebuchet MS"/>
              </a:rPr>
              <a:t>is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35" dirty="0">
                <a:latin typeface="Trebuchet MS"/>
                <a:cs typeface="Trebuchet MS"/>
              </a:rPr>
              <a:t>no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79" dirty="0">
                <a:latin typeface="Trebuchet MS"/>
                <a:cs typeface="Trebuchet MS"/>
              </a:rPr>
              <a:t>need</a:t>
            </a:r>
            <a:r>
              <a:rPr sz="2118" spc="-163" dirty="0">
                <a:latin typeface="Trebuchet MS"/>
                <a:cs typeface="Trebuchet MS"/>
              </a:rPr>
              <a:t> </a:t>
            </a:r>
            <a:r>
              <a:rPr sz="2118" spc="-88" dirty="0">
                <a:latin typeface="Trebuchet MS"/>
                <a:cs typeface="Trebuchet MS"/>
              </a:rPr>
              <a:t>to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132" dirty="0">
                <a:latin typeface="Trebuchet MS"/>
                <a:cs typeface="Trebuchet MS"/>
              </a:rPr>
              <a:t>“learn”</a:t>
            </a:r>
            <a:r>
              <a:rPr sz="2118" spc="-172" dirty="0">
                <a:latin typeface="Trebuchet MS"/>
                <a:cs typeface="Trebuchet MS"/>
              </a:rPr>
              <a:t> </a:t>
            </a:r>
            <a:r>
              <a:rPr sz="2118" spc="-88" dirty="0">
                <a:latin typeface="Trebuchet MS"/>
                <a:cs typeface="Trebuchet MS"/>
              </a:rPr>
              <a:t>to</a:t>
            </a:r>
            <a:r>
              <a:rPr sz="2118" spc="-168" dirty="0">
                <a:latin typeface="Trebuchet MS"/>
                <a:cs typeface="Trebuchet MS"/>
              </a:rPr>
              <a:t> </a:t>
            </a:r>
            <a:r>
              <a:rPr sz="2118" spc="-128" dirty="0">
                <a:latin typeface="Trebuchet MS"/>
                <a:cs typeface="Trebuchet MS"/>
              </a:rPr>
              <a:t>calculate</a:t>
            </a:r>
            <a:r>
              <a:rPr sz="2118" spc="-159" dirty="0">
                <a:latin typeface="Trebuchet MS"/>
                <a:cs typeface="Trebuchet MS"/>
              </a:rPr>
              <a:t> </a:t>
            </a:r>
            <a:r>
              <a:rPr sz="2118" spc="-106" dirty="0">
                <a:latin typeface="Trebuchet MS"/>
                <a:cs typeface="Trebuchet MS"/>
              </a:rPr>
              <a:t>payroll</a:t>
            </a:r>
            <a:endParaRPr sz="2118">
              <a:latin typeface="Trebuchet MS"/>
              <a:cs typeface="Trebuchet MS"/>
            </a:endParaRPr>
          </a:p>
          <a:p>
            <a:pPr marL="11206">
              <a:spcBef>
                <a:spcPts val="1584"/>
              </a:spcBef>
            </a:pPr>
            <a:r>
              <a:rPr sz="1235" spc="-40" dirty="0">
                <a:latin typeface="Trebuchet MS"/>
                <a:cs typeface="Trebuchet MS"/>
              </a:rPr>
              <a:t>Based </a:t>
            </a:r>
            <a:r>
              <a:rPr sz="1235" spc="-22" dirty="0">
                <a:latin typeface="Trebuchet MS"/>
                <a:cs typeface="Trebuchet MS"/>
              </a:rPr>
              <a:t>on </a:t>
            </a:r>
            <a:r>
              <a:rPr sz="1235" spc="-53" dirty="0">
                <a:latin typeface="Trebuchet MS"/>
                <a:cs typeface="Trebuchet MS"/>
              </a:rPr>
              <a:t>slide </a:t>
            </a:r>
            <a:r>
              <a:rPr sz="1235" spc="-49" dirty="0">
                <a:latin typeface="Trebuchet MS"/>
                <a:cs typeface="Trebuchet MS"/>
              </a:rPr>
              <a:t>by</a:t>
            </a:r>
            <a:r>
              <a:rPr sz="1235" spc="-274" dirty="0">
                <a:latin typeface="Trebuchet MS"/>
                <a:cs typeface="Trebuchet MS"/>
              </a:rPr>
              <a:t> </a:t>
            </a:r>
            <a:r>
              <a:rPr sz="1235" spc="-101" dirty="0">
                <a:latin typeface="Trebuchet MS"/>
                <a:cs typeface="Trebuchet MS"/>
              </a:rPr>
              <a:t>E. </a:t>
            </a:r>
            <a:r>
              <a:rPr sz="1235" spc="-53" dirty="0">
                <a:latin typeface="Trebuchet MS"/>
                <a:cs typeface="Trebuchet MS"/>
              </a:rPr>
              <a:t>Alpaydin</a:t>
            </a:r>
            <a:endParaRPr sz="1235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41060" y="6069946"/>
            <a:ext cx="907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22" dirty="0">
                <a:solidFill>
                  <a:srgbClr val="898989"/>
                </a:solidFill>
                <a:latin typeface="Trebuchet MS"/>
                <a:cs typeface="Trebuchet MS"/>
              </a:rPr>
              <a:t>8</a:t>
            </a:r>
            <a:endParaRPr sz="1059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696200" cy="852251"/>
          </a:xfrm>
          <a:prstGeom prst="rect">
            <a:avLst/>
          </a:prstGeom>
        </p:spPr>
        <p:txBody>
          <a:bodyPr vert="horz" wrap="square" lIns="0" tIns="11206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420421" marR="4483" indent="-1409775">
              <a:lnSpc>
                <a:spcPct val="113100"/>
              </a:lnSpc>
              <a:spcBef>
                <a:spcPts val="88"/>
              </a:spcBef>
            </a:pPr>
            <a:r>
              <a:rPr sz="2471" b="1" spc="-31" dirty="0"/>
              <a:t>A</a:t>
            </a:r>
            <a:r>
              <a:rPr sz="2471" b="1" spc="-185" dirty="0"/>
              <a:t> </a:t>
            </a:r>
            <a:r>
              <a:rPr sz="2471" b="1" spc="-124" dirty="0"/>
              <a:t>classic</a:t>
            </a:r>
            <a:r>
              <a:rPr sz="2471" b="1" spc="-180" dirty="0"/>
              <a:t> </a:t>
            </a:r>
            <a:r>
              <a:rPr sz="2471" b="1" spc="-137" dirty="0"/>
              <a:t>example</a:t>
            </a:r>
            <a:r>
              <a:rPr sz="2471" b="1" spc="-190" dirty="0"/>
              <a:t> </a:t>
            </a:r>
            <a:r>
              <a:rPr sz="2471" b="1" spc="-97" dirty="0"/>
              <a:t>of</a:t>
            </a:r>
            <a:r>
              <a:rPr sz="2471" b="1" spc="-190" dirty="0"/>
              <a:t> </a:t>
            </a:r>
            <a:r>
              <a:rPr sz="2471" b="1" spc="-115" dirty="0"/>
              <a:t>a</a:t>
            </a:r>
            <a:r>
              <a:rPr sz="2471" b="1" spc="-190" dirty="0"/>
              <a:t> </a:t>
            </a:r>
            <a:r>
              <a:rPr sz="2471" b="1" spc="-115" dirty="0"/>
              <a:t>task</a:t>
            </a:r>
            <a:r>
              <a:rPr sz="2471" b="1" spc="-185" dirty="0"/>
              <a:t> </a:t>
            </a:r>
            <a:r>
              <a:rPr sz="2471" b="1" spc="-128" dirty="0"/>
              <a:t>that</a:t>
            </a:r>
            <a:r>
              <a:rPr sz="2471" b="1" spc="-185" dirty="0"/>
              <a:t> </a:t>
            </a:r>
            <a:r>
              <a:rPr sz="2471" b="1" spc="-106" dirty="0"/>
              <a:t>requires</a:t>
            </a:r>
            <a:r>
              <a:rPr sz="2471" b="1" spc="-180" dirty="0"/>
              <a:t> </a:t>
            </a:r>
            <a:r>
              <a:rPr sz="2471" b="1" spc="-106" dirty="0"/>
              <a:t>machine</a:t>
            </a:r>
            <a:r>
              <a:rPr sz="2471" b="1" spc="-194" dirty="0"/>
              <a:t> </a:t>
            </a:r>
            <a:r>
              <a:rPr sz="2471" b="1" spc="-124" dirty="0"/>
              <a:t>learning:  </a:t>
            </a:r>
            <a:r>
              <a:rPr sz="2471" b="1" spc="-115" dirty="0"/>
              <a:t>It</a:t>
            </a:r>
            <a:r>
              <a:rPr sz="2471" b="1" spc="-185" dirty="0"/>
              <a:t> </a:t>
            </a:r>
            <a:r>
              <a:rPr sz="2471" b="1" spc="-88" dirty="0"/>
              <a:t>is</a:t>
            </a:r>
            <a:r>
              <a:rPr sz="2471" b="1" spc="-176" dirty="0"/>
              <a:t> </a:t>
            </a:r>
            <a:r>
              <a:rPr sz="2471" b="1" spc="-115" dirty="0"/>
              <a:t>very</a:t>
            </a:r>
            <a:r>
              <a:rPr sz="2471" b="1" spc="-185" dirty="0"/>
              <a:t> </a:t>
            </a:r>
            <a:r>
              <a:rPr sz="2471" b="1" spc="-97" dirty="0"/>
              <a:t>hard</a:t>
            </a:r>
            <a:r>
              <a:rPr sz="2471" b="1" spc="-185" dirty="0"/>
              <a:t> </a:t>
            </a:r>
            <a:r>
              <a:rPr sz="2471" b="1" spc="-101" dirty="0"/>
              <a:t>to</a:t>
            </a:r>
            <a:r>
              <a:rPr sz="2471" b="1" spc="-185" dirty="0"/>
              <a:t> </a:t>
            </a:r>
            <a:r>
              <a:rPr sz="2471" b="1" spc="-101" dirty="0"/>
              <a:t>say</a:t>
            </a:r>
            <a:r>
              <a:rPr sz="2471" b="1" spc="-185" dirty="0"/>
              <a:t> </a:t>
            </a:r>
            <a:r>
              <a:rPr sz="2471" b="1" spc="-106" dirty="0"/>
              <a:t>what</a:t>
            </a:r>
            <a:r>
              <a:rPr sz="2471" b="1" spc="-180" dirty="0"/>
              <a:t> </a:t>
            </a:r>
            <a:r>
              <a:rPr sz="2471" b="1" spc="-115" dirty="0"/>
              <a:t>makes</a:t>
            </a:r>
            <a:r>
              <a:rPr sz="2471" b="1" spc="-180" dirty="0"/>
              <a:t> </a:t>
            </a:r>
            <a:r>
              <a:rPr sz="2471" b="1" spc="-115" dirty="0"/>
              <a:t>a</a:t>
            </a:r>
            <a:r>
              <a:rPr sz="2471" b="1" spc="-185" dirty="0"/>
              <a:t> </a:t>
            </a:r>
            <a:r>
              <a:rPr sz="2471" b="1" spc="-44" dirty="0"/>
              <a:t>2</a:t>
            </a:r>
            <a:endParaRPr sz="2471" b="1" dirty="0"/>
          </a:p>
        </p:txBody>
      </p:sp>
      <p:sp>
        <p:nvSpPr>
          <p:cNvPr id="3" name="object 3"/>
          <p:cNvSpPr/>
          <p:nvPr/>
        </p:nvSpPr>
        <p:spPr>
          <a:xfrm>
            <a:off x="1425338" y="1780808"/>
            <a:ext cx="6268558" cy="441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36849" y="2667001"/>
            <a:ext cx="4605618" cy="730063"/>
          </a:xfrm>
          <a:custGeom>
            <a:avLst/>
            <a:gdLst/>
            <a:ahLst/>
            <a:cxnLst/>
            <a:rect l="l" t="t" r="r" b="b"/>
            <a:pathLst>
              <a:path w="5219700" h="827404">
                <a:moveTo>
                  <a:pt x="0" y="0"/>
                </a:moveTo>
                <a:lnTo>
                  <a:pt x="5219702" y="0"/>
                </a:lnTo>
                <a:lnTo>
                  <a:pt x="5219702" y="827088"/>
                </a:lnTo>
                <a:lnTo>
                  <a:pt x="0" y="827088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7000" y="2667001"/>
            <a:ext cx="635934" cy="730063"/>
          </a:xfrm>
          <a:custGeom>
            <a:avLst/>
            <a:gdLst/>
            <a:ahLst/>
            <a:cxnLst/>
            <a:rect l="l" t="t" r="r" b="b"/>
            <a:pathLst>
              <a:path w="720725" h="827404">
                <a:moveTo>
                  <a:pt x="0" y="0"/>
                </a:moveTo>
                <a:lnTo>
                  <a:pt x="720725" y="0"/>
                </a:lnTo>
                <a:lnTo>
                  <a:pt x="720725" y="827088"/>
                </a:lnTo>
                <a:lnTo>
                  <a:pt x="0" y="827088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02567" y="4605618"/>
            <a:ext cx="1207434" cy="730063"/>
          </a:xfrm>
          <a:custGeom>
            <a:avLst/>
            <a:gdLst/>
            <a:ahLst/>
            <a:cxnLst/>
            <a:rect l="l" t="t" r="r" b="b"/>
            <a:pathLst>
              <a:path w="1368425" h="827404">
                <a:moveTo>
                  <a:pt x="0" y="0"/>
                </a:moveTo>
                <a:lnTo>
                  <a:pt x="1368430" y="0"/>
                </a:lnTo>
                <a:lnTo>
                  <a:pt x="1368430" y="827088"/>
                </a:lnTo>
                <a:lnTo>
                  <a:pt x="0" y="827088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67665" y="3651717"/>
            <a:ext cx="635934" cy="730063"/>
          </a:xfrm>
          <a:custGeom>
            <a:avLst/>
            <a:gdLst/>
            <a:ahLst/>
            <a:cxnLst/>
            <a:rect l="l" t="t" r="r" b="b"/>
            <a:pathLst>
              <a:path w="720725" h="827404">
                <a:moveTo>
                  <a:pt x="0" y="0"/>
                </a:moveTo>
                <a:lnTo>
                  <a:pt x="720725" y="0"/>
                </a:lnTo>
                <a:lnTo>
                  <a:pt x="720725" y="827087"/>
                </a:lnTo>
                <a:lnTo>
                  <a:pt x="0" y="82708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7359" y="6200950"/>
            <a:ext cx="1833282" cy="2013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235" spc="-57" dirty="0">
                <a:latin typeface="Trebuchet MS"/>
                <a:cs typeface="Trebuchet MS"/>
              </a:rPr>
              <a:t>Slide </a:t>
            </a:r>
            <a:r>
              <a:rPr sz="1235" spc="-75" dirty="0">
                <a:latin typeface="Trebuchet MS"/>
                <a:cs typeface="Trebuchet MS"/>
              </a:rPr>
              <a:t>credit: </a:t>
            </a:r>
            <a:r>
              <a:rPr sz="1235" spc="-62" dirty="0">
                <a:latin typeface="Trebuchet MS"/>
                <a:cs typeface="Trebuchet MS"/>
              </a:rPr>
              <a:t>Geoffrey</a:t>
            </a:r>
            <a:r>
              <a:rPr sz="1235" spc="-207" dirty="0">
                <a:latin typeface="Trebuchet MS"/>
                <a:cs typeface="Trebuchet MS"/>
              </a:rPr>
              <a:t> </a:t>
            </a:r>
            <a:r>
              <a:rPr sz="1235" spc="-49" dirty="0">
                <a:latin typeface="Trebuchet MS"/>
                <a:cs typeface="Trebuchet MS"/>
              </a:rPr>
              <a:t>Hinton</a:t>
            </a:r>
            <a:endParaRPr sz="1235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41060" y="6069946"/>
            <a:ext cx="907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22" dirty="0">
                <a:solidFill>
                  <a:srgbClr val="898989"/>
                </a:solidFill>
                <a:latin typeface="Trebuchet MS"/>
                <a:cs typeface="Trebuchet MS"/>
              </a:rPr>
              <a:t>9</a:t>
            </a:r>
            <a:endParaRPr sz="1059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6675456" cy="657646"/>
          </a:xfrm>
          <a:prstGeom prst="rect">
            <a:avLst/>
          </a:prstGeom>
        </p:spPr>
        <p:txBody>
          <a:bodyPr vert="horz" wrap="square" lIns="0" tIns="11206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b="1" spc="-172" dirty="0"/>
              <a:t>Learning </a:t>
            </a:r>
            <a:r>
              <a:rPr b="1" spc="-106" dirty="0"/>
              <a:t>=</a:t>
            </a:r>
            <a:r>
              <a:rPr b="1" spc="-427" dirty="0"/>
              <a:t> </a:t>
            </a:r>
            <a:r>
              <a:rPr b="1" spc="-194" dirty="0"/>
              <a:t>Generalization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770" y="1313330"/>
            <a:ext cx="7035052" cy="2070846"/>
          </a:xfrm>
          <a:prstGeom prst="rect">
            <a:avLst/>
          </a:prstGeom>
        </p:spPr>
        <p:txBody>
          <a:bodyPr vert="horz" wrap="square" lIns="0" tIns="94129" rIns="0" bIns="0" rtlCol="0">
            <a:spAutoFit/>
          </a:bodyPr>
          <a:lstStyle/>
          <a:p>
            <a:pPr marL="11206">
              <a:spcBef>
                <a:spcPts val="741"/>
              </a:spcBef>
            </a:pPr>
            <a:r>
              <a:rPr sz="2471" b="1" spc="-194" dirty="0">
                <a:latin typeface="Trebuchet MS"/>
                <a:cs typeface="Trebuchet MS"/>
              </a:rPr>
              <a:t>H. </a:t>
            </a:r>
            <a:r>
              <a:rPr sz="2471" b="1" spc="-115" dirty="0">
                <a:latin typeface="Trebuchet MS"/>
                <a:cs typeface="Trebuchet MS"/>
              </a:rPr>
              <a:t>Simon</a:t>
            </a:r>
            <a:r>
              <a:rPr sz="2471" b="1" spc="-176" dirty="0">
                <a:latin typeface="Trebuchet MS"/>
                <a:cs typeface="Trebuchet MS"/>
              </a:rPr>
              <a:t> </a:t>
            </a:r>
            <a:r>
              <a:rPr sz="2471" b="1" spc="-154" dirty="0">
                <a:latin typeface="Trebuchet MS"/>
                <a:cs typeface="Trebuchet MS"/>
              </a:rPr>
              <a:t>-</a:t>
            </a:r>
            <a:endParaRPr sz="2471">
              <a:latin typeface="Trebuchet MS"/>
              <a:cs typeface="Trebuchet MS"/>
            </a:endParaRPr>
          </a:p>
          <a:p>
            <a:pPr marL="282964" marR="4483" indent="-271757">
              <a:lnSpc>
                <a:spcPct val="99200"/>
              </a:lnSpc>
              <a:spcBef>
                <a:spcPts val="675"/>
              </a:spcBef>
            </a:pPr>
            <a:r>
              <a:rPr sz="2471" spc="-128" dirty="0">
                <a:solidFill>
                  <a:srgbClr val="006600"/>
                </a:solidFill>
                <a:latin typeface="Trebuchet MS"/>
                <a:cs typeface="Trebuchet MS"/>
              </a:rPr>
              <a:t>“Learning </a:t>
            </a:r>
            <a:r>
              <a:rPr sz="2471" spc="-93" dirty="0">
                <a:solidFill>
                  <a:srgbClr val="006600"/>
                </a:solidFill>
                <a:latin typeface="Trebuchet MS"/>
                <a:cs typeface="Trebuchet MS"/>
              </a:rPr>
              <a:t>denotes </a:t>
            </a:r>
            <a:r>
              <a:rPr sz="2471" spc="-97" dirty="0">
                <a:solidFill>
                  <a:srgbClr val="006600"/>
                </a:solidFill>
                <a:latin typeface="Trebuchet MS"/>
                <a:cs typeface="Trebuchet MS"/>
              </a:rPr>
              <a:t>changes in </a:t>
            </a:r>
            <a:r>
              <a:rPr sz="2471" spc="-110" dirty="0">
                <a:solidFill>
                  <a:srgbClr val="006600"/>
                </a:solidFill>
                <a:latin typeface="Trebuchet MS"/>
                <a:cs typeface="Trebuchet MS"/>
              </a:rPr>
              <a:t>the system </a:t>
            </a:r>
            <a:r>
              <a:rPr sz="2471" spc="-128" dirty="0">
                <a:solidFill>
                  <a:srgbClr val="006600"/>
                </a:solidFill>
                <a:latin typeface="Trebuchet MS"/>
                <a:cs typeface="Trebuchet MS"/>
              </a:rPr>
              <a:t>that are  </a:t>
            </a:r>
            <a:r>
              <a:rPr sz="2471" spc="-119" dirty="0">
                <a:solidFill>
                  <a:srgbClr val="006600"/>
                </a:solidFill>
                <a:latin typeface="Trebuchet MS"/>
                <a:cs typeface="Trebuchet MS"/>
              </a:rPr>
              <a:t>adaptive </a:t>
            </a:r>
            <a:r>
              <a:rPr sz="2471" spc="-97" dirty="0">
                <a:solidFill>
                  <a:srgbClr val="006600"/>
                </a:solidFill>
                <a:latin typeface="Trebuchet MS"/>
                <a:cs typeface="Trebuchet MS"/>
              </a:rPr>
              <a:t>in </a:t>
            </a:r>
            <a:r>
              <a:rPr sz="2471" spc="-110" dirty="0">
                <a:solidFill>
                  <a:srgbClr val="006600"/>
                </a:solidFill>
                <a:latin typeface="Trebuchet MS"/>
                <a:cs typeface="Trebuchet MS"/>
              </a:rPr>
              <a:t>the </a:t>
            </a:r>
            <a:r>
              <a:rPr sz="2471" spc="-75" dirty="0">
                <a:solidFill>
                  <a:srgbClr val="006600"/>
                </a:solidFill>
                <a:latin typeface="Trebuchet MS"/>
                <a:cs typeface="Trebuchet MS"/>
              </a:rPr>
              <a:t>sense </a:t>
            </a:r>
            <a:r>
              <a:rPr sz="2471" spc="-128" dirty="0">
                <a:solidFill>
                  <a:srgbClr val="006600"/>
                </a:solidFill>
                <a:latin typeface="Trebuchet MS"/>
                <a:cs typeface="Trebuchet MS"/>
              </a:rPr>
              <a:t>that </a:t>
            </a:r>
            <a:r>
              <a:rPr sz="2471" spc="-115" dirty="0">
                <a:solidFill>
                  <a:srgbClr val="006600"/>
                </a:solidFill>
                <a:latin typeface="Trebuchet MS"/>
                <a:cs typeface="Trebuchet MS"/>
              </a:rPr>
              <a:t>they </a:t>
            </a:r>
            <a:r>
              <a:rPr sz="2471" spc="-110" dirty="0">
                <a:solidFill>
                  <a:srgbClr val="006600"/>
                </a:solidFill>
                <a:latin typeface="Trebuchet MS"/>
                <a:cs typeface="Trebuchet MS"/>
              </a:rPr>
              <a:t>enable the system </a:t>
            </a:r>
            <a:r>
              <a:rPr sz="2471" spc="-101" dirty="0">
                <a:solidFill>
                  <a:srgbClr val="006600"/>
                </a:solidFill>
                <a:latin typeface="Trebuchet MS"/>
                <a:cs typeface="Trebuchet MS"/>
              </a:rPr>
              <a:t>to  </a:t>
            </a:r>
            <a:r>
              <a:rPr sz="2471" spc="-53" dirty="0">
                <a:solidFill>
                  <a:srgbClr val="006600"/>
                </a:solidFill>
                <a:latin typeface="Trebuchet MS"/>
                <a:cs typeface="Trebuchet MS"/>
              </a:rPr>
              <a:t>do</a:t>
            </a:r>
            <a:r>
              <a:rPr sz="2471" spc="-19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110" dirty="0">
                <a:solidFill>
                  <a:srgbClr val="006600"/>
                </a:solidFill>
                <a:latin typeface="Trebuchet MS"/>
                <a:cs typeface="Trebuchet MS"/>
              </a:rPr>
              <a:t>the</a:t>
            </a:r>
            <a:r>
              <a:rPr sz="2471" spc="-194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115" dirty="0">
                <a:solidFill>
                  <a:srgbClr val="006600"/>
                </a:solidFill>
                <a:latin typeface="Trebuchet MS"/>
                <a:cs typeface="Trebuchet MS"/>
              </a:rPr>
              <a:t>task</a:t>
            </a:r>
            <a:r>
              <a:rPr sz="2471" spc="-18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66" dirty="0">
                <a:solidFill>
                  <a:srgbClr val="006600"/>
                </a:solidFill>
                <a:latin typeface="Trebuchet MS"/>
                <a:cs typeface="Trebuchet MS"/>
              </a:rPr>
              <a:t>or</a:t>
            </a:r>
            <a:r>
              <a:rPr sz="2471" spc="-18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106" dirty="0">
                <a:solidFill>
                  <a:srgbClr val="006600"/>
                </a:solidFill>
                <a:latin typeface="Trebuchet MS"/>
                <a:cs typeface="Trebuchet MS"/>
              </a:rPr>
              <a:t>tasks</a:t>
            </a:r>
            <a:r>
              <a:rPr sz="2471" spc="-18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101" dirty="0">
                <a:solidFill>
                  <a:srgbClr val="006600"/>
                </a:solidFill>
                <a:latin typeface="Trebuchet MS"/>
                <a:cs typeface="Trebuchet MS"/>
              </a:rPr>
              <a:t>d</a:t>
            </a:r>
            <a:r>
              <a:rPr sz="2471" u="heavy" spc="-101" dirty="0">
                <a:solidFill>
                  <a:srgbClr val="00660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rawn</a:t>
            </a:r>
            <a:r>
              <a:rPr sz="2471" u="heavy" spc="-185" dirty="0">
                <a:solidFill>
                  <a:srgbClr val="00660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71" u="heavy" spc="-106" dirty="0">
                <a:solidFill>
                  <a:srgbClr val="00660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from</a:t>
            </a:r>
            <a:r>
              <a:rPr sz="2471" u="heavy" spc="-185" dirty="0">
                <a:solidFill>
                  <a:srgbClr val="00660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71" u="heavy" spc="-110" dirty="0">
                <a:solidFill>
                  <a:srgbClr val="00660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</a:t>
            </a:r>
            <a:r>
              <a:rPr sz="2471" u="heavy" spc="-194" dirty="0">
                <a:solidFill>
                  <a:srgbClr val="00660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71" u="heavy" spc="-88" dirty="0">
                <a:solidFill>
                  <a:srgbClr val="00660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same</a:t>
            </a:r>
            <a:r>
              <a:rPr sz="2471" u="heavy" spc="-194" dirty="0">
                <a:solidFill>
                  <a:srgbClr val="00660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71" u="heavy" spc="-93" dirty="0">
                <a:solidFill>
                  <a:srgbClr val="00660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population </a:t>
            </a:r>
            <a:r>
              <a:rPr sz="2471" spc="-93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88" dirty="0">
                <a:solidFill>
                  <a:srgbClr val="006600"/>
                </a:solidFill>
                <a:latin typeface="Trebuchet MS"/>
                <a:cs typeface="Trebuchet MS"/>
              </a:rPr>
              <a:t>more</a:t>
            </a:r>
            <a:r>
              <a:rPr sz="2471" spc="-194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146" dirty="0">
                <a:solidFill>
                  <a:srgbClr val="006600"/>
                </a:solidFill>
                <a:latin typeface="Trebuchet MS"/>
                <a:cs typeface="Trebuchet MS"/>
              </a:rPr>
              <a:t>efficiently</a:t>
            </a:r>
            <a:r>
              <a:rPr sz="2471" spc="-19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84" dirty="0">
                <a:solidFill>
                  <a:srgbClr val="006600"/>
                </a:solidFill>
                <a:latin typeface="Trebuchet MS"/>
                <a:cs typeface="Trebuchet MS"/>
              </a:rPr>
              <a:t>and</a:t>
            </a:r>
            <a:r>
              <a:rPr sz="2471" spc="-18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88" dirty="0">
                <a:solidFill>
                  <a:srgbClr val="006600"/>
                </a:solidFill>
                <a:latin typeface="Trebuchet MS"/>
                <a:cs typeface="Trebuchet MS"/>
              </a:rPr>
              <a:t>more</a:t>
            </a:r>
            <a:r>
              <a:rPr sz="2471" spc="-194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154" dirty="0">
                <a:solidFill>
                  <a:srgbClr val="006600"/>
                </a:solidFill>
                <a:latin typeface="Trebuchet MS"/>
                <a:cs typeface="Trebuchet MS"/>
              </a:rPr>
              <a:t>effectively</a:t>
            </a:r>
            <a:r>
              <a:rPr sz="2471" spc="-19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106" dirty="0">
                <a:solidFill>
                  <a:srgbClr val="006600"/>
                </a:solidFill>
                <a:latin typeface="Trebuchet MS"/>
                <a:cs typeface="Trebuchet MS"/>
              </a:rPr>
              <a:t>the</a:t>
            </a:r>
            <a:r>
              <a:rPr sz="2471" spc="-19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132" dirty="0">
                <a:solidFill>
                  <a:srgbClr val="006600"/>
                </a:solidFill>
                <a:latin typeface="Trebuchet MS"/>
                <a:cs typeface="Trebuchet MS"/>
              </a:rPr>
              <a:t>next</a:t>
            </a:r>
            <a:r>
              <a:rPr sz="2471" spc="-18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471" spc="-238" dirty="0">
                <a:solidFill>
                  <a:srgbClr val="006600"/>
                </a:solidFill>
                <a:latin typeface="Trebuchet MS"/>
                <a:cs typeface="Trebuchet MS"/>
              </a:rPr>
              <a:t>time.”</a:t>
            </a:r>
            <a:endParaRPr sz="2471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5837" y="6190409"/>
            <a:ext cx="159684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22" dirty="0">
                <a:solidFill>
                  <a:srgbClr val="898989"/>
                </a:solidFill>
                <a:latin typeface="Trebuchet MS"/>
                <a:cs typeface="Trebuchet MS"/>
              </a:rPr>
              <a:t>10</a:t>
            </a:r>
            <a:endParaRPr sz="105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37284" y="4574834"/>
            <a:ext cx="6157632" cy="751609"/>
          </a:xfrm>
          <a:prstGeom prst="rect">
            <a:avLst/>
          </a:prstGeom>
        </p:spPr>
        <p:txBody>
          <a:bodyPr vert="horz" wrap="square" lIns="0" tIns="6724" rIns="0" bIns="0" rtlCol="0">
            <a:spAutoFit/>
          </a:bodyPr>
          <a:lstStyle/>
          <a:p>
            <a:pPr marL="222449" marR="4483" indent="-211802">
              <a:lnSpc>
                <a:spcPct val="101200"/>
              </a:lnSpc>
              <a:spcBef>
                <a:spcPts val="53"/>
              </a:spcBef>
            </a:pPr>
            <a:r>
              <a:rPr sz="2471" spc="-137" dirty="0">
                <a:solidFill>
                  <a:srgbClr val="3333FF"/>
                </a:solidFill>
                <a:latin typeface="Trebuchet MS"/>
                <a:cs typeface="Trebuchet MS"/>
              </a:rPr>
              <a:t>The</a:t>
            </a:r>
            <a:r>
              <a:rPr sz="2471" spc="-199" dirty="0">
                <a:solidFill>
                  <a:srgbClr val="3333FF"/>
                </a:solidFill>
                <a:latin typeface="Trebuchet MS"/>
                <a:cs typeface="Trebuchet MS"/>
              </a:rPr>
              <a:t> </a:t>
            </a:r>
            <a:r>
              <a:rPr sz="2471" spc="-132" dirty="0">
                <a:solidFill>
                  <a:srgbClr val="3333FF"/>
                </a:solidFill>
                <a:latin typeface="Trebuchet MS"/>
                <a:cs typeface="Trebuchet MS"/>
              </a:rPr>
              <a:t>ability</a:t>
            </a:r>
            <a:r>
              <a:rPr sz="2471" spc="-194" dirty="0">
                <a:solidFill>
                  <a:srgbClr val="3333FF"/>
                </a:solidFill>
                <a:latin typeface="Trebuchet MS"/>
                <a:cs typeface="Trebuchet MS"/>
              </a:rPr>
              <a:t> </a:t>
            </a:r>
            <a:r>
              <a:rPr sz="2471" spc="-101" dirty="0">
                <a:solidFill>
                  <a:srgbClr val="3333FF"/>
                </a:solidFill>
                <a:latin typeface="Trebuchet MS"/>
                <a:cs typeface="Trebuchet MS"/>
              </a:rPr>
              <a:t>to</a:t>
            </a:r>
            <a:r>
              <a:rPr sz="2471" spc="-190" dirty="0">
                <a:solidFill>
                  <a:srgbClr val="3333FF"/>
                </a:solidFill>
                <a:latin typeface="Trebuchet MS"/>
                <a:cs typeface="Trebuchet MS"/>
              </a:rPr>
              <a:t> </a:t>
            </a:r>
            <a:r>
              <a:rPr sz="2471" spc="-106" dirty="0">
                <a:solidFill>
                  <a:srgbClr val="3333FF"/>
                </a:solidFill>
                <a:latin typeface="Trebuchet MS"/>
                <a:cs typeface="Trebuchet MS"/>
              </a:rPr>
              <a:t>perform</a:t>
            </a:r>
            <a:r>
              <a:rPr sz="2471" spc="-190" dirty="0">
                <a:solidFill>
                  <a:srgbClr val="3333FF"/>
                </a:solidFill>
                <a:latin typeface="Trebuchet MS"/>
                <a:cs typeface="Trebuchet MS"/>
              </a:rPr>
              <a:t> </a:t>
            </a:r>
            <a:r>
              <a:rPr sz="2471" spc="-115" dirty="0">
                <a:solidFill>
                  <a:srgbClr val="3333FF"/>
                </a:solidFill>
                <a:latin typeface="Trebuchet MS"/>
                <a:cs typeface="Trebuchet MS"/>
              </a:rPr>
              <a:t>a</a:t>
            </a:r>
            <a:r>
              <a:rPr sz="2471" spc="-194" dirty="0">
                <a:solidFill>
                  <a:srgbClr val="3333FF"/>
                </a:solidFill>
                <a:latin typeface="Trebuchet MS"/>
                <a:cs typeface="Trebuchet MS"/>
              </a:rPr>
              <a:t> </a:t>
            </a:r>
            <a:r>
              <a:rPr sz="2471" spc="-115" dirty="0">
                <a:solidFill>
                  <a:srgbClr val="3333FF"/>
                </a:solidFill>
                <a:latin typeface="Trebuchet MS"/>
                <a:cs typeface="Trebuchet MS"/>
              </a:rPr>
              <a:t>task</a:t>
            </a:r>
            <a:r>
              <a:rPr sz="2471" spc="-185" dirty="0">
                <a:solidFill>
                  <a:srgbClr val="3333FF"/>
                </a:solidFill>
                <a:latin typeface="Trebuchet MS"/>
                <a:cs typeface="Trebuchet MS"/>
              </a:rPr>
              <a:t> </a:t>
            </a:r>
            <a:r>
              <a:rPr sz="2471" spc="-101" dirty="0">
                <a:solidFill>
                  <a:srgbClr val="3333FF"/>
                </a:solidFill>
                <a:latin typeface="Trebuchet MS"/>
                <a:cs typeface="Trebuchet MS"/>
              </a:rPr>
              <a:t>in</a:t>
            </a:r>
            <a:r>
              <a:rPr sz="2471" spc="-185" dirty="0">
                <a:solidFill>
                  <a:srgbClr val="3333FF"/>
                </a:solidFill>
                <a:latin typeface="Trebuchet MS"/>
                <a:cs typeface="Trebuchet MS"/>
              </a:rPr>
              <a:t> </a:t>
            </a:r>
            <a:r>
              <a:rPr sz="2471" spc="-115" dirty="0">
                <a:solidFill>
                  <a:srgbClr val="3333FF"/>
                </a:solidFill>
                <a:latin typeface="Trebuchet MS"/>
                <a:cs typeface="Trebuchet MS"/>
              </a:rPr>
              <a:t>a</a:t>
            </a:r>
            <a:r>
              <a:rPr sz="2471" spc="-199" dirty="0">
                <a:solidFill>
                  <a:srgbClr val="3333FF"/>
                </a:solidFill>
                <a:latin typeface="Trebuchet MS"/>
                <a:cs typeface="Trebuchet MS"/>
              </a:rPr>
              <a:t> </a:t>
            </a:r>
            <a:r>
              <a:rPr sz="2471" spc="-101" dirty="0">
                <a:solidFill>
                  <a:srgbClr val="3333FF"/>
                </a:solidFill>
                <a:latin typeface="Trebuchet MS"/>
                <a:cs typeface="Trebuchet MS"/>
              </a:rPr>
              <a:t>situation</a:t>
            </a:r>
            <a:r>
              <a:rPr sz="2471" spc="-185" dirty="0">
                <a:solidFill>
                  <a:srgbClr val="3333FF"/>
                </a:solidFill>
                <a:latin typeface="Trebuchet MS"/>
                <a:cs typeface="Trebuchet MS"/>
              </a:rPr>
              <a:t> </a:t>
            </a:r>
            <a:r>
              <a:rPr sz="2471" spc="-101" dirty="0">
                <a:solidFill>
                  <a:srgbClr val="3333FF"/>
                </a:solidFill>
                <a:latin typeface="Trebuchet MS"/>
                <a:cs typeface="Trebuchet MS"/>
              </a:rPr>
              <a:t>which  </a:t>
            </a:r>
            <a:r>
              <a:rPr sz="2471" b="1" spc="-71" dirty="0">
                <a:solidFill>
                  <a:srgbClr val="FF0000"/>
                </a:solidFill>
                <a:latin typeface="Trebuchet MS"/>
                <a:cs typeface="Trebuchet MS"/>
              </a:rPr>
              <a:t>has </a:t>
            </a:r>
            <a:r>
              <a:rPr sz="2471" b="1" spc="-110" dirty="0">
                <a:solidFill>
                  <a:srgbClr val="FF0000"/>
                </a:solidFill>
                <a:latin typeface="Trebuchet MS"/>
                <a:cs typeface="Trebuchet MS"/>
              </a:rPr>
              <a:t>never </a:t>
            </a:r>
            <a:r>
              <a:rPr sz="2471" b="1" spc="-97" dirty="0">
                <a:solidFill>
                  <a:srgbClr val="FF0000"/>
                </a:solidFill>
                <a:latin typeface="Trebuchet MS"/>
                <a:cs typeface="Trebuchet MS"/>
              </a:rPr>
              <a:t>been </a:t>
            </a:r>
            <a:r>
              <a:rPr sz="2471" b="1" spc="-106" dirty="0">
                <a:solidFill>
                  <a:srgbClr val="FF0000"/>
                </a:solidFill>
                <a:latin typeface="Trebuchet MS"/>
                <a:cs typeface="Trebuchet MS"/>
              </a:rPr>
              <a:t>encountered</a:t>
            </a:r>
            <a:r>
              <a:rPr sz="2471" b="1" spc="-446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71" b="1" spc="-124" dirty="0">
                <a:solidFill>
                  <a:srgbClr val="FF0000"/>
                </a:solidFill>
                <a:latin typeface="Trebuchet MS"/>
                <a:cs typeface="Trebuchet MS"/>
              </a:rPr>
              <a:t>before</a:t>
            </a:r>
            <a:endParaRPr sz="2471" b="1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709221" cy="894080"/>
          </a:xfrm>
          <a:prstGeom prst="rect">
            <a:avLst/>
          </a:prstGeom>
        </p:spPr>
        <p:txBody>
          <a:bodyPr vert="horz" wrap="square" lIns="0" tIns="2913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516619" marR="4483" indent="-505973">
              <a:lnSpc>
                <a:spcPts val="3353"/>
              </a:lnSpc>
              <a:spcBef>
                <a:spcPts val="229"/>
              </a:spcBef>
            </a:pPr>
            <a:r>
              <a:rPr sz="2824" b="1" spc="-79" dirty="0"/>
              <a:t>Some</a:t>
            </a:r>
            <a:r>
              <a:rPr sz="2824" b="1" spc="-224" dirty="0"/>
              <a:t> </a:t>
            </a:r>
            <a:r>
              <a:rPr sz="2824" b="1" spc="-101" dirty="0"/>
              <a:t>more</a:t>
            </a:r>
            <a:r>
              <a:rPr sz="2824" b="1" spc="-221" dirty="0"/>
              <a:t> </a:t>
            </a:r>
            <a:r>
              <a:rPr sz="2824" b="1" spc="-137" dirty="0"/>
              <a:t>examples</a:t>
            </a:r>
            <a:r>
              <a:rPr sz="2824" b="1" spc="-216" dirty="0"/>
              <a:t> </a:t>
            </a:r>
            <a:r>
              <a:rPr sz="2824" b="1" spc="-110" dirty="0"/>
              <a:t>of</a:t>
            </a:r>
            <a:r>
              <a:rPr sz="2824" b="1" spc="-216" dirty="0"/>
              <a:t> </a:t>
            </a:r>
            <a:r>
              <a:rPr sz="2824" b="1" spc="-119" dirty="0"/>
              <a:t>tasks</a:t>
            </a:r>
            <a:r>
              <a:rPr sz="2824" b="1" spc="-216" dirty="0"/>
              <a:t> </a:t>
            </a:r>
            <a:r>
              <a:rPr sz="2824" b="1" spc="-141" dirty="0"/>
              <a:t>that</a:t>
            </a:r>
            <a:r>
              <a:rPr sz="2824" b="1" spc="-212" dirty="0"/>
              <a:t> </a:t>
            </a:r>
            <a:r>
              <a:rPr sz="2824" b="1" spc="-141" dirty="0"/>
              <a:t>are</a:t>
            </a:r>
            <a:r>
              <a:rPr sz="2824" b="1" spc="-221" dirty="0"/>
              <a:t> </a:t>
            </a:r>
            <a:r>
              <a:rPr sz="2824" b="1" spc="-124" dirty="0"/>
              <a:t>best  </a:t>
            </a:r>
            <a:r>
              <a:rPr sz="2824" b="1" spc="-106" dirty="0"/>
              <a:t>solved </a:t>
            </a:r>
            <a:r>
              <a:rPr sz="2824" b="1" spc="-110" dirty="0"/>
              <a:t>by </a:t>
            </a:r>
            <a:r>
              <a:rPr sz="2824" b="1" spc="-84" dirty="0"/>
              <a:t>using </a:t>
            </a:r>
            <a:r>
              <a:rPr sz="2824" b="1" spc="-132" dirty="0"/>
              <a:t>a </a:t>
            </a:r>
            <a:r>
              <a:rPr sz="2824" b="1" spc="-119" dirty="0"/>
              <a:t>learning</a:t>
            </a:r>
            <a:r>
              <a:rPr sz="2824" b="1" spc="-618" dirty="0"/>
              <a:t> </a:t>
            </a:r>
            <a:r>
              <a:rPr lang="en-US" sz="2824" b="1" spc="-618" dirty="0"/>
              <a:t>      </a:t>
            </a:r>
            <a:r>
              <a:rPr sz="2824" b="1" spc="-115" dirty="0"/>
              <a:t>algorithm</a:t>
            </a:r>
            <a:endParaRPr sz="2824" b="1" dirty="0"/>
          </a:p>
        </p:txBody>
      </p:sp>
      <p:sp>
        <p:nvSpPr>
          <p:cNvPr id="3" name="object 3"/>
          <p:cNvSpPr txBox="1"/>
          <p:nvPr/>
        </p:nvSpPr>
        <p:spPr>
          <a:xfrm>
            <a:off x="607359" y="1631950"/>
            <a:ext cx="7715250" cy="4833024"/>
          </a:xfrm>
          <a:prstGeom prst="rect">
            <a:avLst/>
          </a:prstGeom>
        </p:spPr>
        <p:txBody>
          <a:bodyPr vert="horz" wrap="square" lIns="0" tIns="55469" rIns="0" bIns="0" rtlCol="0">
            <a:spAutoFit/>
          </a:bodyPr>
          <a:lstStyle/>
          <a:p>
            <a:pPr marL="717215" indent="-302575">
              <a:spcBef>
                <a:spcPts val="437"/>
              </a:spcBef>
              <a:buFont typeface="Arial"/>
              <a:buChar char="•"/>
              <a:tabLst>
                <a:tab pos="716654" algn="l"/>
                <a:tab pos="717215" algn="l"/>
              </a:tabLst>
            </a:pPr>
            <a:r>
              <a:rPr sz="2471" spc="-115" dirty="0">
                <a:latin typeface="Trebuchet MS"/>
                <a:cs typeface="Trebuchet MS"/>
              </a:rPr>
              <a:t>Recognizing</a:t>
            </a:r>
            <a:r>
              <a:rPr sz="2471" spc="-194" dirty="0">
                <a:latin typeface="Trebuchet MS"/>
                <a:cs typeface="Trebuchet MS"/>
              </a:rPr>
              <a:t> </a:t>
            </a:r>
            <a:r>
              <a:rPr sz="2471" spc="-128" dirty="0">
                <a:latin typeface="Trebuchet MS"/>
                <a:cs typeface="Trebuchet MS"/>
              </a:rPr>
              <a:t>patterns:</a:t>
            </a:r>
            <a:endParaRPr sz="2471">
              <a:latin typeface="Trebuchet MS"/>
              <a:cs typeface="Trebuchet MS"/>
            </a:endParaRPr>
          </a:p>
          <a:p>
            <a:pPr marL="1070219" lvl="1" indent="-252146">
              <a:spcBef>
                <a:spcPts val="300"/>
              </a:spcBef>
              <a:buFont typeface="Arial"/>
              <a:buChar char="–"/>
              <a:tabLst>
                <a:tab pos="1070219" algn="l"/>
              </a:tabLst>
            </a:pPr>
            <a:r>
              <a:rPr sz="2118" spc="-137" dirty="0">
                <a:solidFill>
                  <a:srgbClr val="4F81BD"/>
                </a:solidFill>
                <a:latin typeface="Trebuchet MS"/>
                <a:cs typeface="Trebuchet MS"/>
              </a:rPr>
              <a:t>Facial </a:t>
            </a:r>
            <a:r>
              <a:rPr sz="2118" spc="-101" dirty="0">
                <a:solidFill>
                  <a:srgbClr val="4F81BD"/>
                </a:solidFill>
                <a:latin typeface="Trebuchet MS"/>
                <a:cs typeface="Trebuchet MS"/>
              </a:rPr>
              <a:t>identities </a:t>
            </a:r>
            <a:r>
              <a:rPr sz="2118" spc="-57" dirty="0">
                <a:solidFill>
                  <a:srgbClr val="4F81BD"/>
                </a:solidFill>
                <a:latin typeface="Trebuchet MS"/>
                <a:cs typeface="Trebuchet MS"/>
              </a:rPr>
              <a:t>or </a:t>
            </a:r>
            <a:r>
              <a:rPr sz="2118" spc="-132" dirty="0">
                <a:solidFill>
                  <a:srgbClr val="4F81BD"/>
                </a:solidFill>
                <a:latin typeface="Trebuchet MS"/>
                <a:cs typeface="Trebuchet MS"/>
              </a:rPr>
              <a:t>facial</a:t>
            </a:r>
            <a:r>
              <a:rPr sz="2118" spc="-375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79" dirty="0">
                <a:solidFill>
                  <a:srgbClr val="4F81BD"/>
                </a:solidFill>
                <a:latin typeface="Trebuchet MS"/>
                <a:cs typeface="Trebuchet MS"/>
              </a:rPr>
              <a:t>expressions</a:t>
            </a:r>
            <a:endParaRPr sz="2118">
              <a:latin typeface="Trebuchet MS"/>
              <a:cs typeface="Trebuchet MS"/>
            </a:endParaRPr>
          </a:p>
          <a:p>
            <a:pPr marL="1070219" lvl="1" indent="-252146">
              <a:spcBef>
                <a:spcPts val="194"/>
              </a:spcBef>
              <a:buFont typeface="Arial"/>
              <a:buChar char="–"/>
              <a:tabLst>
                <a:tab pos="1070219" algn="l"/>
              </a:tabLst>
            </a:pPr>
            <a:r>
              <a:rPr sz="2118" spc="-93" dirty="0">
                <a:solidFill>
                  <a:srgbClr val="4F81BD"/>
                </a:solidFill>
                <a:latin typeface="Trebuchet MS"/>
                <a:cs typeface="Trebuchet MS"/>
              </a:rPr>
              <a:t>Handwritten </a:t>
            </a:r>
            <a:r>
              <a:rPr sz="2118" spc="-57" dirty="0">
                <a:solidFill>
                  <a:srgbClr val="4F81BD"/>
                </a:solidFill>
                <a:latin typeface="Trebuchet MS"/>
                <a:cs typeface="Trebuchet MS"/>
              </a:rPr>
              <a:t>or </a:t>
            </a:r>
            <a:r>
              <a:rPr sz="2118" spc="-75" dirty="0">
                <a:solidFill>
                  <a:srgbClr val="4F81BD"/>
                </a:solidFill>
                <a:latin typeface="Trebuchet MS"/>
                <a:cs typeface="Trebuchet MS"/>
              </a:rPr>
              <a:t>spoken</a:t>
            </a:r>
            <a:r>
              <a:rPr sz="2118" spc="-344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66" dirty="0">
                <a:solidFill>
                  <a:srgbClr val="4F81BD"/>
                </a:solidFill>
                <a:latin typeface="Trebuchet MS"/>
                <a:cs typeface="Trebuchet MS"/>
              </a:rPr>
              <a:t>words</a:t>
            </a:r>
            <a:endParaRPr sz="2118">
              <a:latin typeface="Trebuchet MS"/>
              <a:cs typeface="Trebuchet MS"/>
            </a:endParaRPr>
          </a:p>
          <a:p>
            <a:pPr marL="1070219" lvl="1" indent="-252146">
              <a:spcBef>
                <a:spcPts val="282"/>
              </a:spcBef>
              <a:buFont typeface="Arial"/>
              <a:buChar char="–"/>
              <a:tabLst>
                <a:tab pos="1070219" algn="l"/>
              </a:tabLst>
            </a:pPr>
            <a:r>
              <a:rPr sz="2118" spc="-57" dirty="0">
                <a:solidFill>
                  <a:srgbClr val="4F81BD"/>
                </a:solidFill>
                <a:latin typeface="Trebuchet MS"/>
                <a:cs typeface="Trebuchet MS"/>
              </a:rPr>
              <a:t>Medical</a:t>
            </a:r>
            <a:r>
              <a:rPr sz="2118" spc="-172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88" dirty="0">
                <a:solidFill>
                  <a:srgbClr val="4F81BD"/>
                </a:solidFill>
                <a:latin typeface="Trebuchet MS"/>
                <a:cs typeface="Trebuchet MS"/>
              </a:rPr>
              <a:t>images</a:t>
            </a:r>
            <a:endParaRPr sz="2118">
              <a:latin typeface="Trebuchet MS"/>
              <a:cs typeface="Trebuchet MS"/>
            </a:endParaRPr>
          </a:p>
          <a:p>
            <a:pPr marL="717215" indent="-302575">
              <a:spcBef>
                <a:spcPts val="282"/>
              </a:spcBef>
              <a:buFont typeface="Arial"/>
              <a:buChar char="•"/>
              <a:tabLst>
                <a:tab pos="716654" algn="l"/>
                <a:tab pos="717215" algn="l"/>
              </a:tabLst>
            </a:pPr>
            <a:r>
              <a:rPr sz="2471" spc="-115" dirty="0">
                <a:latin typeface="Trebuchet MS"/>
                <a:cs typeface="Trebuchet MS"/>
              </a:rPr>
              <a:t>Generating</a:t>
            </a:r>
            <a:r>
              <a:rPr sz="2471" spc="-194" dirty="0">
                <a:latin typeface="Trebuchet MS"/>
                <a:cs typeface="Trebuchet MS"/>
              </a:rPr>
              <a:t> </a:t>
            </a:r>
            <a:r>
              <a:rPr sz="2471" spc="-128" dirty="0">
                <a:latin typeface="Trebuchet MS"/>
                <a:cs typeface="Trebuchet MS"/>
              </a:rPr>
              <a:t>patterns:</a:t>
            </a:r>
            <a:endParaRPr sz="2471">
              <a:latin typeface="Trebuchet MS"/>
              <a:cs typeface="Trebuchet MS"/>
            </a:endParaRPr>
          </a:p>
          <a:p>
            <a:pPr marL="1070219" lvl="1" indent="-252146">
              <a:spcBef>
                <a:spcPts val="300"/>
              </a:spcBef>
              <a:buFont typeface="Arial"/>
              <a:buChar char="–"/>
              <a:tabLst>
                <a:tab pos="1070219" algn="l"/>
              </a:tabLst>
            </a:pPr>
            <a:r>
              <a:rPr sz="2118" spc="-97" dirty="0">
                <a:solidFill>
                  <a:srgbClr val="4F81BD"/>
                </a:solidFill>
                <a:latin typeface="Trebuchet MS"/>
                <a:cs typeface="Trebuchet MS"/>
              </a:rPr>
              <a:t>Generating </a:t>
            </a:r>
            <a:r>
              <a:rPr sz="2118" spc="-88" dirty="0">
                <a:solidFill>
                  <a:srgbClr val="4F81BD"/>
                </a:solidFill>
                <a:latin typeface="Trebuchet MS"/>
                <a:cs typeface="Trebuchet MS"/>
              </a:rPr>
              <a:t>images </a:t>
            </a:r>
            <a:r>
              <a:rPr sz="2118" spc="-57" dirty="0">
                <a:solidFill>
                  <a:srgbClr val="4F81BD"/>
                </a:solidFill>
                <a:latin typeface="Trebuchet MS"/>
                <a:cs typeface="Trebuchet MS"/>
              </a:rPr>
              <a:t>or </a:t>
            </a:r>
            <a:r>
              <a:rPr sz="2118" spc="-71" dirty="0">
                <a:solidFill>
                  <a:srgbClr val="4F81BD"/>
                </a:solidFill>
                <a:latin typeface="Trebuchet MS"/>
                <a:cs typeface="Trebuchet MS"/>
              </a:rPr>
              <a:t>motion</a:t>
            </a:r>
            <a:r>
              <a:rPr sz="2118" spc="-427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79" dirty="0">
                <a:solidFill>
                  <a:srgbClr val="4F81BD"/>
                </a:solidFill>
                <a:latin typeface="Trebuchet MS"/>
                <a:cs typeface="Trebuchet MS"/>
              </a:rPr>
              <a:t>sequences</a:t>
            </a:r>
            <a:endParaRPr sz="2118">
              <a:latin typeface="Trebuchet MS"/>
              <a:cs typeface="Trebuchet MS"/>
            </a:endParaRPr>
          </a:p>
          <a:p>
            <a:pPr marL="717215" indent="-302575">
              <a:spcBef>
                <a:spcPts val="194"/>
              </a:spcBef>
              <a:buFont typeface="Arial"/>
              <a:buChar char="•"/>
              <a:tabLst>
                <a:tab pos="716654" algn="l"/>
                <a:tab pos="717215" algn="l"/>
              </a:tabLst>
            </a:pPr>
            <a:r>
              <a:rPr sz="2471" spc="-115" dirty="0">
                <a:latin typeface="Trebuchet MS"/>
                <a:cs typeface="Trebuchet MS"/>
              </a:rPr>
              <a:t>Recognizing</a:t>
            </a:r>
            <a:r>
              <a:rPr sz="2471" spc="-190" dirty="0">
                <a:latin typeface="Trebuchet MS"/>
                <a:cs typeface="Trebuchet MS"/>
              </a:rPr>
              <a:t> </a:t>
            </a:r>
            <a:r>
              <a:rPr sz="2471" spc="-115" dirty="0">
                <a:latin typeface="Trebuchet MS"/>
                <a:cs typeface="Trebuchet MS"/>
              </a:rPr>
              <a:t>anomalies:</a:t>
            </a:r>
            <a:endParaRPr sz="2471">
              <a:latin typeface="Trebuchet MS"/>
              <a:cs typeface="Trebuchet MS"/>
            </a:endParaRPr>
          </a:p>
          <a:p>
            <a:pPr marL="1070219" lvl="1" indent="-252146">
              <a:spcBef>
                <a:spcPts val="300"/>
              </a:spcBef>
              <a:buFont typeface="Arial"/>
              <a:buChar char="–"/>
              <a:tabLst>
                <a:tab pos="1070219" algn="l"/>
              </a:tabLst>
            </a:pPr>
            <a:r>
              <a:rPr sz="2118" spc="-62" dirty="0">
                <a:solidFill>
                  <a:srgbClr val="4F81BD"/>
                </a:solidFill>
                <a:latin typeface="Trebuchet MS"/>
                <a:cs typeface="Trebuchet MS"/>
              </a:rPr>
              <a:t>Unusual </a:t>
            </a:r>
            <a:r>
              <a:rPr sz="2118" spc="-119" dirty="0">
                <a:solidFill>
                  <a:srgbClr val="4F81BD"/>
                </a:solidFill>
                <a:latin typeface="Trebuchet MS"/>
                <a:cs typeface="Trebuchet MS"/>
              </a:rPr>
              <a:t>credit </a:t>
            </a:r>
            <a:r>
              <a:rPr sz="2118" spc="-115" dirty="0">
                <a:solidFill>
                  <a:srgbClr val="4F81BD"/>
                </a:solidFill>
                <a:latin typeface="Trebuchet MS"/>
                <a:cs typeface="Trebuchet MS"/>
              </a:rPr>
              <a:t>card</a:t>
            </a:r>
            <a:r>
              <a:rPr sz="2118" spc="-322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88" dirty="0">
                <a:solidFill>
                  <a:srgbClr val="4F81BD"/>
                </a:solidFill>
                <a:latin typeface="Trebuchet MS"/>
                <a:cs typeface="Trebuchet MS"/>
              </a:rPr>
              <a:t>transactions</a:t>
            </a:r>
            <a:endParaRPr sz="2118">
              <a:latin typeface="Trebuchet MS"/>
              <a:cs typeface="Trebuchet MS"/>
            </a:endParaRPr>
          </a:p>
          <a:p>
            <a:pPr marL="1070219" lvl="1" indent="-252146">
              <a:spcBef>
                <a:spcPts val="282"/>
              </a:spcBef>
              <a:buFont typeface="Arial"/>
              <a:buChar char="–"/>
              <a:tabLst>
                <a:tab pos="1070219" algn="l"/>
              </a:tabLst>
            </a:pPr>
            <a:r>
              <a:rPr sz="2118" spc="-62" dirty="0">
                <a:solidFill>
                  <a:srgbClr val="4F81BD"/>
                </a:solidFill>
                <a:latin typeface="Trebuchet MS"/>
                <a:cs typeface="Trebuchet MS"/>
              </a:rPr>
              <a:t>Unusual</a:t>
            </a:r>
            <a:r>
              <a:rPr sz="2118" spc="-172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97" dirty="0">
                <a:solidFill>
                  <a:srgbClr val="4F81BD"/>
                </a:solidFill>
                <a:latin typeface="Trebuchet MS"/>
                <a:cs typeface="Trebuchet MS"/>
              </a:rPr>
              <a:t>patterns</a:t>
            </a:r>
            <a:r>
              <a:rPr sz="2118" spc="-168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84" dirty="0">
                <a:solidFill>
                  <a:srgbClr val="4F81BD"/>
                </a:solidFill>
                <a:latin typeface="Trebuchet MS"/>
                <a:cs typeface="Trebuchet MS"/>
              </a:rPr>
              <a:t>of</a:t>
            </a:r>
            <a:r>
              <a:rPr sz="2118" spc="-163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53" dirty="0">
                <a:solidFill>
                  <a:srgbClr val="4F81BD"/>
                </a:solidFill>
                <a:latin typeface="Trebuchet MS"/>
                <a:cs typeface="Trebuchet MS"/>
              </a:rPr>
              <a:t>sensor</a:t>
            </a:r>
            <a:r>
              <a:rPr sz="2118" spc="-163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84" dirty="0">
                <a:solidFill>
                  <a:srgbClr val="4F81BD"/>
                </a:solidFill>
                <a:latin typeface="Trebuchet MS"/>
                <a:cs typeface="Trebuchet MS"/>
              </a:rPr>
              <a:t>readings</a:t>
            </a:r>
            <a:r>
              <a:rPr sz="2118" spc="-168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84" dirty="0">
                <a:solidFill>
                  <a:srgbClr val="4F81BD"/>
                </a:solidFill>
                <a:latin typeface="Trebuchet MS"/>
                <a:cs typeface="Trebuchet MS"/>
              </a:rPr>
              <a:t>in</a:t>
            </a:r>
            <a:r>
              <a:rPr sz="2118" spc="-168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101" dirty="0">
                <a:solidFill>
                  <a:srgbClr val="4F81BD"/>
                </a:solidFill>
                <a:latin typeface="Trebuchet MS"/>
                <a:cs typeface="Trebuchet MS"/>
              </a:rPr>
              <a:t>a</a:t>
            </a:r>
            <a:r>
              <a:rPr sz="2118" spc="-163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97" dirty="0">
                <a:solidFill>
                  <a:srgbClr val="4F81BD"/>
                </a:solidFill>
                <a:latin typeface="Trebuchet MS"/>
                <a:cs typeface="Trebuchet MS"/>
              </a:rPr>
              <a:t>nuclear</a:t>
            </a:r>
            <a:r>
              <a:rPr sz="2118" spc="-163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75" dirty="0">
                <a:solidFill>
                  <a:srgbClr val="4F81BD"/>
                </a:solidFill>
                <a:latin typeface="Trebuchet MS"/>
                <a:cs typeface="Trebuchet MS"/>
              </a:rPr>
              <a:t>power</a:t>
            </a:r>
            <a:r>
              <a:rPr sz="2118" spc="-168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101" dirty="0">
                <a:solidFill>
                  <a:srgbClr val="4F81BD"/>
                </a:solidFill>
                <a:latin typeface="Trebuchet MS"/>
                <a:cs typeface="Trebuchet MS"/>
              </a:rPr>
              <a:t>plant</a:t>
            </a:r>
            <a:endParaRPr sz="2118">
              <a:latin typeface="Trebuchet MS"/>
              <a:cs typeface="Trebuchet MS"/>
            </a:endParaRPr>
          </a:p>
          <a:p>
            <a:pPr marL="717215" indent="-302575">
              <a:spcBef>
                <a:spcPts val="282"/>
              </a:spcBef>
              <a:buFont typeface="Arial"/>
              <a:buChar char="•"/>
              <a:tabLst>
                <a:tab pos="716654" algn="l"/>
                <a:tab pos="717215" algn="l"/>
              </a:tabLst>
            </a:pPr>
            <a:r>
              <a:rPr sz="2471" spc="-128" dirty="0">
                <a:latin typeface="Trebuchet MS"/>
                <a:cs typeface="Trebuchet MS"/>
              </a:rPr>
              <a:t>Prediction:</a:t>
            </a:r>
            <a:endParaRPr sz="2471">
              <a:latin typeface="Trebuchet MS"/>
              <a:cs typeface="Trebuchet MS"/>
            </a:endParaRPr>
          </a:p>
          <a:p>
            <a:pPr marL="1070219" lvl="1" indent="-252146">
              <a:spcBef>
                <a:spcPts val="300"/>
              </a:spcBef>
              <a:buFont typeface="Arial"/>
              <a:buChar char="–"/>
              <a:tabLst>
                <a:tab pos="1070219" algn="l"/>
              </a:tabLst>
            </a:pPr>
            <a:r>
              <a:rPr sz="2118" spc="-101" dirty="0">
                <a:solidFill>
                  <a:srgbClr val="4F81BD"/>
                </a:solidFill>
                <a:latin typeface="Trebuchet MS"/>
                <a:cs typeface="Trebuchet MS"/>
              </a:rPr>
              <a:t>Future stock </a:t>
            </a:r>
            <a:r>
              <a:rPr sz="2118" spc="-93" dirty="0">
                <a:solidFill>
                  <a:srgbClr val="4F81BD"/>
                </a:solidFill>
                <a:latin typeface="Trebuchet MS"/>
                <a:cs typeface="Trebuchet MS"/>
              </a:rPr>
              <a:t>prices </a:t>
            </a:r>
            <a:r>
              <a:rPr sz="2118" spc="-57" dirty="0">
                <a:solidFill>
                  <a:srgbClr val="4F81BD"/>
                </a:solidFill>
                <a:latin typeface="Trebuchet MS"/>
                <a:cs typeface="Trebuchet MS"/>
              </a:rPr>
              <a:t>or</a:t>
            </a:r>
            <a:r>
              <a:rPr sz="2118" spc="-472" dirty="0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sz="2118" spc="-101" dirty="0">
                <a:solidFill>
                  <a:srgbClr val="4F81BD"/>
                </a:solidFill>
                <a:latin typeface="Trebuchet MS"/>
                <a:cs typeface="Trebuchet MS"/>
              </a:rPr>
              <a:t>currency </a:t>
            </a:r>
            <a:r>
              <a:rPr sz="2118" spc="-110" dirty="0">
                <a:solidFill>
                  <a:srgbClr val="4F81BD"/>
                </a:solidFill>
                <a:latin typeface="Trebuchet MS"/>
                <a:cs typeface="Trebuchet MS"/>
              </a:rPr>
              <a:t>exchange rates</a:t>
            </a:r>
            <a:endParaRPr sz="2118">
              <a:latin typeface="Trebuchet MS"/>
              <a:cs typeface="Trebuchet MS"/>
            </a:endParaRPr>
          </a:p>
          <a:p>
            <a:pPr marR="194432" algn="r">
              <a:lnSpc>
                <a:spcPts val="1152"/>
              </a:lnSpc>
              <a:spcBef>
                <a:spcPts val="2232"/>
              </a:spcBef>
            </a:pPr>
            <a:r>
              <a:rPr sz="1059" spc="-22" dirty="0">
                <a:solidFill>
                  <a:srgbClr val="898989"/>
                </a:solidFill>
                <a:latin typeface="Trebuchet MS"/>
                <a:cs typeface="Trebuchet MS"/>
              </a:rPr>
              <a:t>11</a:t>
            </a:r>
            <a:endParaRPr sz="1059">
              <a:latin typeface="Trebuchet MS"/>
              <a:cs typeface="Trebuchet MS"/>
            </a:endParaRPr>
          </a:p>
          <a:p>
            <a:pPr marL="11206">
              <a:lnSpc>
                <a:spcPts val="1363"/>
              </a:lnSpc>
            </a:pPr>
            <a:r>
              <a:rPr sz="1235" spc="-57" dirty="0">
                <a:latin typeface="Trebuchet MS"/>
                <a:cs typeface="Trebuchet MS"/>
              </a:rPr>
              <a:t>Slide </a:t>
            </a:r>
            <a:r>
              <a:rPr sz="1235" spc="-75" dirty="0">
                <a:latin typeface="Trebuchet MS"/>
                <a:cs typeface="Trebuchet MS"/>
              </a:rPr>
              <a:t>credit: </a:t>
            </a:r>
            <a:r>
              <a:rPr sz="1235" spc="-62" dirty="0">
                <a:latin typeface="Trebuchet MS"/>
                <a:cs typeface="Trebuchet MS"/>
              </a:rPr>
              <a:t>Geoffrey</a:t>
            </a:r>
            <a:r>
              <a:rPr sz="1235" spc="-163" dirty="0">
                <a:latin typeface="Trebuchet MS"/>
                <a:cs typeface="Trebuchet MS"/>
              </a:rPr>
              <a:t> </a:t>
            </a:r>
            <a:r>
              <a:rPr sz="1235" spc="-49" dirty="0">
                <a:latin typeface="Trebuchet MS"/>
                <a:cs typeface="Trebuchet MS"/>
              </a:rPr>
              <a:t>Hinton</a:t>
            </a:r>
            <a:endParaRPr sz="1235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Data </a:t>
            </a:r>
            <a:r>
              <a:rPr lang="en-US" b="1"/>
              <a:t>Mining Example</a:t>
            </a:r>
            <a:endParaRPr lang="en-US" b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458200" cy="1066800"/>
          </a:xfrm>
        </p:spPr>
        <p:txBody>
          <a:bodyPr/>
          <a:lstStyle/>
          <a:p>
            <a:pPr algn="just" eaLnBrk="1" hangingPunct="1"/>
            <a:r>
              <a:rPr lang="en-US" sz="1800" dirty="0"/>
              <a:t>Assume that we collect weight and height data of </a:t>
            </a:r>
            <a:r>
              <a:rPr lang="en-US" sz="1800" b="1" dirty="0">
                <a:solidFill>
                  <a:srgbClr val="00B0F0"/>
                </a:solidFill>
              </a:rPr>
              <a:t>male</a:t>
            </a:r>
            <a:r>
              <a:rPr lang="en-US" sz="1800" dirty="0"/>
              <a:t> and </a:t>
            </a:r>
            <a:r>
              <a:rPr lang="en-US" sz="1800" b="1" dirty="0">
                <a:solidFill>
                  <a:srgbClr val="CC9900"/>
                </a:solidFill>
              </a:rPr>
              <a:t>female</a:t>
            </a:r>
            <a:r>
              <a:rPr lang="en-US" sz="1800" dirty="0"/>
              <a:t> </a:t>
            </a:r>
            <a:r>
              <a:rPr lang="en-US" sz="1800" b="1" dirty="0"/>
              <a:t>subjects</a:t>
            </a:r>
            <a:r>
              <a:rPr lang="en-US" sz="1800" dirty="0"/>
              <a:t>. </a:t>
            </a:r>
          </a:p>
          <a:p>
            <a:pPr algn="just" eaLnBrk="1" hangingPunct="1"/>
            <a:r>
              <a:rPr lang="en-US" sz="1800" dirty="0"/>
              <a:t>We will use this data as training data to devise an approach to predict whether a subject is male or female given only their weight and height.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133600"/>
            <a:ext cx="3057525" cy="2845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762000" y="5055117"/>
            <a:ext cx="3048000" cy="0"/>
          </a:xfrm>
          <a:prstGeom prst="straightConnector1">
            <a:avLst/>
          </a:prstGeom>
          <a:ln w="254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85800" y="2159517"/>
            <a:ext cx="0" cy="2819400"/>
          </a:xfrm>
          <a:prstGeom prst="straightConnector1">
            <a:avLst/>
          </a:prstGeom>
          <a:ln w="254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5131317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12" name="TextBox 11"/>
          <p:cNvSpPr txBox="1"/>
          <p:nvPr/>
        </p:nvSpPr>
        <p:spPr>
          <a:xfrm rot="5400000">
            <a:off x="-36056" y="3391209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145263"/>
            <a:ext cx="3048000" cy="2833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Straight Arrow Connector 13"/>
          <p:cNvCxnSpPr/>
          <p:nvPr/>
        </p:nvCxnSpPr>
        <p:spPr>
          <a:xfrm>
            <a:off x="5257800" y="5055117"/>
            <a:ext cx="3048000" cy="0"/>
          </a:xfrm>
          <a:prstGeom prst="straightConnector1">
            <a:avLst/>
          </a:prstGeom>
          <a:ln w="254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5131317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16" name="TextBox 15"/>
          <p:cNvSpPr txBox="1"/>
          <p:nvPr/>
        </p:nvSpPr>
        <p:spPr>
          <a:xfrm rot="5400000">
            <a:off x="4535944" y="3430529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381000" y="5486400"/>
            <a:ext cx="8458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Two different approaches were used.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lang="en-US" kern="0" dirty="0">
                <a:latin typeface="+mn-lt"/>
              </a:rPr>
              <a:t>These provide a decision boundary (line) between males and females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Data Attributes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30725"/>
          </a:xfrm>
        </p:spPr>
        <p:txBody>
          <a:bodyPr/>
          <a:lstStyle/>
          <a:p>
            <a:pPr algn="just" eaLnBrk="1" hangingPunct="1"/>
            <a:r>
              <a:rPr lang="en-US" sz="2800" dirty="0"/>
              <a:t>Data objects are composed of </a:t>
            </a:r>
            <a:r>
              <a:rPr lang="en-US" sz="2800" b="1" dirty="0"/>
              <a:t>attributes </a:t>
            </a:r>
            <a:r>
              <a:rPr lang="en-US" sz="2800" dirty="0"/>
              <a:t>(for the previous example, the data objects were </a:t>
            </a:r>
            <a:r>
              <a:rPr lang="en-US" sz="2800" b="1" dirty="0">
                <a:solidFill>
                  <a:schemeClr val="bg2"/>
                </a:solidFill>
              </a:rPr>
              <a:t>people</a:t>
            </a:r>
            <a:r>
              <a:rPr lang="en-US" sz="2800" dirty="0"/>
              <a:t> and the attributes are </a:t>
            </a:r>
            <a:r>
              <a:rPr lang="en-US" sz="2800" b="1" dirty="0">
                <a:solidFill>
                  <a:schemeClr val="bg2"/>
                </a:solidFill>
              </a:rPr>
              <a:t>height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chemeClr val="bg2"/>
                </a:solidFill>
              </a:rPr>
              <a:t>weight</a:t>
            </a:r>
            <a:r>
              <a:rPr lang="en-US" sz="2800" dirty="0"/>
              <a:t>)</a:t>
            </a:r>
          </a:p>
          <a:p>
            <a:pPr algn="just" eaLnBrk="1" hangingPunct="1"/>
            <a:r>
              <a:rPr lang="en-US" sz="2800" dirty="0"/>
              <a:t>There are two basic types of attributes:</a:t>
            </a:r>
          </a:p>
          <a:p>
            <a:pPr lvl="1" algn="just" eaLnBrk="1" hangingPunct="1"/>
            <a:r>
              <a:rPr lang="en-US" sz="2000" b="1" dirty="0"/>
              <a:t>Qualitative</a:t>
            </a:r>
            <a:r>
              <a:rPr lang="en-US" sz="2000" dirty="0"/>
              <a:t> (</a:t>
            </a:r>
            <a:r>
              <a:rPr lang="en-US" sz="2000" dirty="0" err="1"/>
              <a:t>eg</a:t>
            </a:r>
            <a:r>
              <a:rPr lang="en-US" sz="2000" dirty="0"/>
              <a:t>. color, shape, ranking)</a:t>
            </a:r>
          </a:p>
          <a:p>
            <a:pPr lvl="1" algn="just" eaLnBrk="1" hangingPunct="1"/>
            <a:r>
              <a:rPr lang="en-US" sz="2000" b="1" dirty="0"/>
              <a:t>Quantitative</a:t>
            </a:r>
            <a:r>
              <a:rPr lang="en-US" sz="2000" dirty="0"/>
              <a:t> (</a:t>
            </a:r>
            <a:r>
              <a:rPr lang="en-US" sz="2000" dirty="0" err="1"/>
              <a:t>eg</a:t>
            </a:r>
            <a:r>
              <a:rPr lang="en-US" sz="2000" dirty="0"/>
              <a:t>. length in meters, temperature in Celsius)</a:t>
            </a:r>
          </a:p>
          <a:p>
            <a:pPr algn="just" eaLnBrk="1" hangingPunct="1"/>
            <a:r>
              <a:rPr lang="en-US" sz="2800" dirty="0"/>
              <a:t>There are </a:t>
            </a:r>
            <a:r>
              <a:rPr lang="en-US" sz="2800" b="1" dirty="0"/>
              <a:t>subtypes</a:t>
            </a:r>
            <a:r>
              <a:rPr lang="en-US" sz="2800" dirty="0"/>
              <a:t> of basic types that will be subsequently described</a:t>
            </a:r>
          </a:p>
          <a:p>
            <a:pPr algn="just" eaLnBrk="1" hangingPunct="1"/>
            <a:r>
              <a:rPr lang="en-US" sz="2800" dirty="0"/>
              <a:t>On many occasions the algorithm that you use to analyze the data will depend on the </a:t>
            </a:r>
            <a:r>
              <a:rPr lang="en-US" sz="2800" b="1" dirty="0"/>
              <a:t>attribute 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Qualitative Attribute Types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84275"/>
            <a:ext cx="8229600" cy="4530725"/>
          </a:xfrm>
        </p:spPr>
        <p:txBody>
          <a:bodyPr/>
          <a:lstStyle/>
          <a:p>
            <a:pPr eaLnBrk="1" hangingPunct="1"/>
            <a:r>
              <a:rPr lang="en-US" b="1" dirty="0"/>
              <a:t>Nominal</a:t>
            </a:r>
            <a:r>
              <a:rPr lang="en-US" dirty="0"/>
              <a:t> (existing by name):</a:t>
            </a:r>
          </a:p>
          <a:p>
            <a:pPr lvl="1" eaLnBrk="1" hangingPunct="1"/>
            <a:r>
              <a:rPr lang="en-US" b="1" dirty="0">
                <a:solidFill>
                  <a:schemeClr val="bg2"/>
                </a:solidFill>
              </a:rPr>
              <a:t>hair color </a:t>
            </a:r>
            <a:r>
              <a:rPr lang="en-US" b="1" dirty="0">
                <a:sym typeface="Symbol"/>
              </a:rPr>
              <a:t></a:t>
            </a:r>
            <a:r>
              <a:rPr lang="en-US" dirty="0"/>
              <a:t> {black, brown, blond, red, gray}</a:t>
            </a:r>
          </a:p>
          <a:p>
            <a:pPr lvl="1" eaLnBrk="1" hangingPunct="1"/>
            <a:r>
              <a:rPr lang="en-US" b="1" dirty="0">
                <a:solidFill>
                  <a:schemeClr val="bg2"/>
                </a:solidFill>
              </a:rPr>
              <a:t>marital status </a:t>
            </a:r>
            <a:r>
              <a:rPr lang="en-US" b="1" dirty="0">
                <a:sym typeface="Symbol"/>
              </a:rPr>
              <a:t></a:t>
            </a:r>
            <a:r>
              <a:rPr lang="en-US" dirty="0">
                <a:sym typeface="Symbol"/>
              </a:rPr>
              <a:t>{single, married, divorced}</a:t>
            </a:r>
          </a:p>
          <a:p>
            <a:pPr eaLnBrk="1" hangingPunct="1"/>
            <a:r>
              <a:rPr lang="en-US" b="1" dirty="0">
                <a:sym typeface="Symbol"/>
              </a:rPr>
              <a:t>Binary</a:t>
            </a:r>
            <a:r>
              <a:rPr lang="en-US" dirty="0">
                <a:sym typeface="Symbol"/>
              </a:rPr>
              <a:t>:</a:t>
            </a:r>
          </a:p>
          <a:p>
            <a:pPr lvl="1" eaLnBrk="1" hangingPunct="1"/>
            <a:r>
              <a:rPr lang="en-US" b="1" dirty="0">
                <a:solidFill>
                  <a:schemeClr val="bg2"/>
                </a:solidFill>
                <a:sym typeface="Symbol"/>
              </a:rPr>
              <a:t>smoker</a:t>
            </a:r>
            <a:r>
              <a:rPr lang="en-US" b="1" dirty="0">
                <a:sym typeface="Symbol"/>
              </a:rPr>
              <a:t>  </a:t>
            </a:r>
            <a:r>
              <a:rPr lang="en-US" dirty="0">
                <a:sym typeface="Symbol"/>
              </a:rPr>
              <a:t>{yes, no}</a:t>
            </a:r>
          </a:p>
          <a:p>
            <a:pPr lvl="1" eaLnBrk="1" hangingPunct="1"/>
            <a:r>
              <a:rPr lang="en-US" b="1" dirty="0">
                <a:solidFill>
                  <a:schemeClr val="bg2"/>
                </a:solidFill>
                <a:sym typeface="Symbol"/>
              </a:rPr>
              <a:t>medical test result </a:t>
            </a:r>
            <a:r>
              <a:rPr lang="en-US" b="1" dirty="0">
                <a:sym typeface="Symbol"/>
              </a:rPr>
              <a:t> </a:t>
            </a:r>
            <a:r>
              <a:rPr lang="en-US" dirty="0">
                <a:sym typeface="Symbol"/>
              </a:rPr>
              <a:t>{positive, negative}</a:t>
            </a:r>
          </a:p>
          <a:p>
            <a:pPr eaLnBrk="1" hangingPunct="1"/>
            <a:r>
              <a:rPr lang="en-US" b="1" dirty="0">
                <a:sym typeface="Symbol"/>
              </a:rPr>
              <a:t>Ordinal </a:t>
            </a:r>
            <a:r>
              <a:rPr lang="en-US" dirty="0">
                <a:sym typeface="Symbol"/>
              </a:rPr>
              <a:t>(ordered):</a:t>
            </a:r>
          </a:p>
          <a:p>
            <a:pPr lvl="1" eaLnBrk="1" hangingPunct="1"/>
            <a:r>
              <a:rPr lang="en-US" b="1" dirty="0">
                <a:solidFill>
                  <a:schemeClr val="bg2"/>
                </a:solidFill>
                <a:sym typeface="Symbol"/>
              </a:rPr>
              <a:t>drink size </a:t>
            </a:r>
            <a:r>
              <a:rPr lang="en-US" b="1" dirty="0">
                <a:sym typeface="Symbol"/>
              </a:rPr>
              <a:t> </a:t>
            </a:r>
            <a:r>
              <a:rPr lang="en-US" dirty="0">
                <a:sym typeface="Symbol"/>
              </a:rPr>
              <a:t>{small, medium, large}</a:t>
            </a:r>
          </a:p>
          <a:p>
            <a:pPr lvl="1" eaLnBrk="1" hangingPunct="1"/>
            <a:r>
              <a:rPr lang="en-US" b="1" dirty="0">
                <a:solidFill>
                  <a:schemeClr val="bg2"/>
                </a:solidFill>
                <a:sym typeface="Symbol"/>
              </a:rPr>
              <a:t>effectiveness of Instruction</a:t>
            </a:r>
            <a:r>
              <a:rPr lang="en-US" dirty="0">
                <a:sym typeface="Symbol"/>
              </a:rPr>
              <a:t> {0, 1, 2, 3, 4, 5}</a:t>
            </a:r>
          </a:p>
          <a:p>
            <a:pPr lvl="1" eaLnBrk="1" hangingPunct="1"/>
            <a:endParaRPr 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Quantitative Attribute Types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84275"/>
            <a:ext cx="8229600" cy="3159125"/>
          </a:xfrm>
        </p:spPr>
        <p:txBody>
          <a:bodyPr/>
          <a:lstStyle/>
          <a:p>
            <a:pPr eaLnBrk="1" hangingPunct="1"/>
            <a:r>
              <a:rPr lang="en-US" b="1" dirty="0"/>
              <a:t>Interval-scaled </a:t>
            </a:r>
            <a:r>
              <a:rPr lang="en-US" sz="2400" dirty="0"/>
              <a:t>(no zero (absence of quantity))</a:t>
            </a:r>
            <a:r>
              <a:rPr lang="en-US" dirty="0"/>
              <a:t>:</a:t>
            </a:r>
          </a:p>
          <a:p>
            <a:pPr lvl="1" eaLnBrk="1" hangingPunct="1"/>
            <a:r>
              <a:rPr lang="en-US" b="1" dirty="0">
                <a:solidFill>
                  <a:schemeClr val="bg2"/>
                </a:solidFill>
              </a:rPr>
              <a:t>temperature </a:t>
            </a:r>
            <a:r>
              <a:rPr lang="en-US" b="1" dirty="0">
                <a:sym typeface="Symbol"/>
              </a:rPr>
              <a:t> R</a:t>
            </a:r>
            <a:endParaRPr lang="en-US" dirty="0"/>
          </a:p>
          <a:p>
            <a:pPr lvl="1" eaLnBrk="1" hangingPunct="1"/>
            <a:r>
              <a:rPr lang="en-US" b="1" dirty="0">
                <a:solidFill>
                  <a:schemeClr val="bg2"/>
                </a:solidFill>
              </a:rPr>
              <a:t>latitude </a:t>
            </a:r>
            <a:r>
              <a:rPr lang="en-US" b="1" dirty="0">
                <a:sym typeface="Symbol"/>
              </a:rPr>
              <a:t></a:t>
            </a:r>
            <a:r>
              <a:rPr lang="en-US" dirty="0">
                <a:sym typeface="Symbol"/>
              </a:rPr>
              <a:t>{-90</a:t>
            </a:r>
            <a:r>
              <a:rPr lang="en-US" dirty="0">
                <a:latin typeface="Calibri"/>
                <a:sym typeface="Symbol"/>
              </a:rPr>
              <a:t>⁰</a:t>
            </a:r>
            <a:r>
              <a:rPr lang="en-US" dirty="0">
                <a:sym typeface="Symbol"/>
              </a:rPr>
              <a:t> </a:t>
            </a:r>
            <a:r>
              <a:rPr lang="en-US" dirty="0">
                <a:latin typeface="Arial"/>
                <a:cs typeface="Arial"/>
                <a:sym typeface="Symbol"/>
              </a:rPr>
              <a:t>≤</a:t>
            </a:r>
            <a:r>
              <a:rPr lang="en-US" dirty="0">
                <a:sym typeface="Symbol"/>
              </a:rPr>
              <a:t> latitude </a:t>
            </a:r>
            <a:r>
              <a:rPr lang="en-US" dirty="0">
                <a:latin typeface="Arial"/>
                <a:cs typeface="Arial"/>
                <a:sym typeface="Symbol"/>
              </a:rPr>
              <a:t>≤</a:t>
            </a:r>
            <a:r>
              <a:rPr lang="en-US" dirty="0">
                <a:sym typeface="Symbol"/>
              </a:rPr>
              <a:t> 90</a:t>
            </a:r>
            <a:r>
              <a:rPr lang="en-US" dirty="0">
                <a:latin typeface="Calibri"/>
                <a:sym typeface="Symbol"/>
              </a:rPr>
              <a:t>⁰</a:t>
            </a:r>
            <a:r>
              <a:rPr lang="en-US" dirty="0">
                <a:sym typeface="Symbol"/>
              </a:rPr>
              <a:t>}</a:t>
            </a:r>
          </a:p>
          <a:p>
            <a:pPr eaLnBrk="1" hangingPunct="1"/>
            <a:r>
              <a:rPr lang="en-US" b="1" dirty="0">
                <a:sym typeface="Symbol"/>
              </a:rPr>
              <a:t>Ratio-scaled</a:t>
            </a:r>
            <a:r>
              <a:rPr lang="en-US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(true zero point)</a:t>
            </a:r>
            <a:r>
              <a:rPr lang="en-US" dirty="0">
                <a:sym typeface="Symbol"/>
              </a:rPr>
              <a:t>:</a:t>
            </a:r>
          </a:p>
          <a:p>
            <a:pPr lvl="1" eaLnBrk="1" hangingPunct="1"/>
            <a:r>
              <a:rPr lang="en-US" b="1" dirty="0">
                <a:solidFill>
                  <a:schemeClr val="bg2"/>
                </a:solidFill>
                <a:sym typeface="Symbol"/>
              </a:rPr>
              <a:t>length</a:t>
            </a:r>
            <a:r>
              <a:rPr lang="en-US" b="1" dirty="0">
                <a:sym typeface="Symbol"/>
              </a:rPr>
              <a:t>  R</a:t>
            </a:r>
            <a:endParaRPr lang="en-US" dirty="0">
              <a:sym typeface="Symbol"/>
            </a:endParaRPr>
          </a:p>
          <a:p>
            <a:pPr lvl="1" eaLnBrk="1" hangingPunct="1"/>
            <a:r>
              <a:rPr lang="en-US" b="1" dirty="0">
                <a:solidFill>
                  <a:schemeClr val="bg2"/>
                </a:solidFill>
                <a:sym typeface="Symbol"/>
              </a:rPr>
              <a:t>weight </a:t>
            </a:r>
            <a:r>
              <a:rPr lang="en-US" b="1" dirty="0">
                <a:sym typeface="Symbol"/>
              </a:rPr>
              <a:t> R</a:t>
            </a:r>
            <a:endParaRPr lang="en-US" dirty="0">
              <a:sym typeface="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Representing Data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3581400"/>
          </a:xfrm>
        </p:spPr>
        <p:txBody>
          <a:bodyPr/>
          <a:lstStyle/>
          <a:p>
            <a:pPr algn="just" eaLnBrk="1" hangingPunct="1"/>
            <a:r>
              <a:rPr lang="en-US" sz="2800" dirty="0"/>
              <a:t>Data is commonly represented in the form of a </a:t>
            </a:r>
            <a:r>
              <a:rPr lang="en-US" sz="2800" b="1" dirty="0"/>
              <a:t>matrix</a:t>
            </a:r>
            <a:r>
              <a:rPr lang="en-US" sz="2800" dirty="0"/>
              <a:t>. </a:t>
            </a:r>
          </a:p>
          <a:p>
            <a:pPr algn="just" eaLnBrk="1" hangingPunct="1"/>
            <a:r>
              <a:rPr lang="en-US" sz="2800" dirty="0"/>
              <a:t>When mathematical operations and algorithms are performed on the data, they typically operate on this matrix. </a:t>
            </a:r>
          </a:p>
          <a:p>
            <a:pPr marL="0" indent="0" algn="just" eaLnBrk="1" hangingPunct="1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Data Matrix Example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458200" cy="990600"/>
          </a:xfrm>
        </p:spPr>
        <p:txBody>
          <a:bodyPr/>
          <a:lstStyle/>
          <a:p>
            <a:pPr algn="just" eaLnBrk="1" hangingPunct="1"/>
            <a:r>
              <a:rPr lang="en-US" sz="2400" dirty="0"/>
              <a:t>Consider the following data collected about some subjects:</a:t>
            </a:r>
          </a:p>
          <a:p>
            <a:pPr algn="just" eaLnBrk="1" hangingPunct="1"/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2133600"/>
          <a:ext cx="3200400" cy="242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Height</a:t>
                      </a:r>
                    </a:p>
                    <a:p>
                      <a:pPr algn="ctr"/>
                      <a:r>
                        <a:rPr lang="en-US" sz="1200" dirty="0"/>
                        <a:t>(in)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Weight</a:t>
                      </a:r>
                    </a:p>
                    <a:p>
                      <a:pPr algn="ctr"/>
                      <a:r>
                        <a:rPr lang="en-US" sz="1200" dirty="0"/>
                        <a:t>(lb)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Income</a:t>
                      </a:r>
                    </a:p>
                    <a:p>
                      <a:pPr algn="ctr"/>
                      <a:r>
                        <a:rPr lang="en-US" sz="1200" dirty="0"/>
                        <a:t>(000 $)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33800" y="1905000"/>
          <a:ext cx="4987518" cy="285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1143000" progId="Equation.DSMT4">
                  <p:embed/>
                </p:oleObj>
              </mc:Choice>
              <mc:Fallback>
                <p:oleObj name="Equation" r:id="rId2" imgW="1993680" imgH="11430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05000"/>
                        <a:ext cx="4987518" cy="2859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0" y="4876800"/>
            <a:ext cx="8458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provides a 5x5 matrix, with each data element being a row (with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5 dimensions (attributes))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3138-86DE-4DF3-B8D2-E3B43D95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Deep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35E5C-4DC7-4FDE-84B5-7B1443A09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3637"/>
            <a:ext cx="8229600" cy="4530725"/>
          </a:xfrm>
        </p:spPr>
        <p:txBody>
          <a:bodyPr/>
          <a:lstStyle/>
          <a:p>
            <a:r>
              <a:rPr lang="en-US" dirty="0"/>
              <a:t>Deep Learning is NOT an algorithm – it is a paradigm of hierarchical learning.</a:t>
            </a:r>
          </a:p>
          <a:p>
            <a:r>
              <a:rPr lang="en-US" dirty="0"/>
              <a:t>Generally, the paradigm is modeling information representations in the mammalian brain. </a:t>
            </a:r>
          </a:p>
          <a:p>
            <a:r>
              <a:rPr lang="en-US" dirty="0"/>
              <a:t>“</a:t>
            </a:r>
            <a:r>
              <a:rPr lang="en-US" sz="2000" dirty="0">
                <a:solidFill>
                  <a:srgbClr val="00B050"/>
                </a:solidFill>
              </a:rPr>
              <a:t>One of the key findings has been that the neocortex, which is associated with many cognitive abilities, does not explicitly pre-process sensory signals, but rather allows them to propagate through a </a:t>
            </a:r>
            <a:r>
              <a:rPr lang="en-US" sz="2000" b="1" dirty="0">
                <a:solidFill>
                  <a:srgbClr val="00B050"/>
                </a:solidFill>
              </a:rPr>
              <a:t>complex hierarchy of modules </a:t>
            </a:r>
            <a:r>
              <a:rPr lang="en-US" sz="2000" dirty="0">
                <a:solidFill>
                  <a:srgbClr val="00B050"/>
                </a:solidFill>
              </a:rPr>
              <a:t>that, over time, learn to represent observations based on the regularities they exhibit</a:t>
            </a:r>
            <a:r>
              <a:rPr lang="en-US" sz="20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936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F90D3-223A-4673-AD3A-27911F66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34400" cy="1139825"/>
          </a:xfrm>
        </p:spPr>
        <p:txBody>
          <a:bodyPr/>
          <a:lstStyle/>
          <a:p>
            <a:r>
              <a:rPr lang="en-US" b="1" dirty="0"/>
              <a:t>Example – the human visual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BDA8-E77F-48E6-B66D-788B99A03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66800"/>
            <a:ext cx="5486400" cy="4530725"/>
          </a:xfrm>
        </p:spPr>
        <p:txBody>
          <a:bodyPr/>
          <a:lstStyle/>
          <a:p>
            <a:r>
              <a:rPr lang="en-US" dirty="0"/>
              <a:t>Multi-layered</a:t>
            </a:r>
          </a:p>
          <a:p>
            <a:pPr lvl="1"/>
            <a:r>
              <a:rPr lang="en-US" sz="2000" dirty="0"/>
              <a:t>Primary visual cortex (v1) – spatial information -  spatial frequencies and orientations (also color), Secondary visual cortex (V2) – visual association</a:t>
            </a:r>
          </a:p>
          <a:p>
            <a:pPr lvl="1"/>
            <a:r>
              <a:rPr lang="en-US" sz="2000" dirty="0"/>
              <a:t>Visual area V3 – coherent motion of large patterns</a:t>
            </a:r>
          </a:p>
          <a:p>
            <a:pPr lvl="1"/>
            <a:r>
              <a:rPr lang="en-US" sz="2000" dirty="0"/>
              <a:t>Visual area V4 – tuned for object features of medium complexity</a:t>
            </a:r>
          </a:p>
          <a:p>
            <a:pPr lvl="1"/>
            <a:r>
              <a:rPr lang="en-US" sz="2000" dirty="0"/>
              <a:t>Middle temporal visual area (V5) – perception of motion</a:t>
            </a:r>
          </a:p>
          <a:p>
            <a:pPr lvl="1"/>
            <a:r>
              <a:rPr lang="en-US" sz="2000" dirty="0"/>
              <a:t>FFA (fusiform face area)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84879-3776-47F0-A5F6-780FDD066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287" y="1417638"/>
            <a:ext cx="3124200" cy="252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86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450850" y="276918"/>
            <a:ext cx="8458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dirty="0">
                <a:solidFill>
                  <a:schemeClr val="tx2"/>
                </a:solidFill>
                <a:latin typeface="+mj-lt"/>
              </a:rPr>
              <a:t>Typical Deep Learning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ACF48-4805-4F5C-BC39-8A564186D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51181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8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808080"/>
      </a:accent1>
      <a:accent2>
        <a:srgbClr val="999933"/>
      </a:accent2>
      <a:accent3>
        <a:srgbClr val="FFFFFF"/>
      </a:accent3>
      <a:accent4>
        <a:srgbClr val="000000"/>
      </a:accent4>
      <a:accent5>
        <a:srgbClr val="C0C0C0"/>
      </a:accent5>
      <a:accent6>
        <a:srgbClr val="8A8A2D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6293</TotalTime>
  <Words>1125</Words>
  <Application>Microsoft Office PowerPoint</Application>
  <PresentationFormat>On-screen Show (4:3)</PresentationFormat>
  <Paragraphs>174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Garamond</vt:lpstr>
      <vt:lpstr>Times New Roman</vt:lpstr>
      <vt:lpstr>Trebuchet MS</vt:lpstr>
      <vt:lpstr>Wingdings</vt:lpstr>
      <vt:lpstr>Edge</vt:lpstr>
      <vt:lpstr>Equation</vt:lpstr>
      <vt:lpstr>Introduction to  Machine Learning</vt:lpstr>
      <vt:lpstr>Machine Learning is Everywhere</vt:lpstr>
      <vt:lpstr>Applications: Spam Detection</vt:lpstr>
      <vt:lpstr>Applications: Object Recognition</vt:lpstr>
      <vt:lpstr>What is Machine Learning?</vt:lpstr>
      <vt:lpstr>Traditional Programming</vt:lpstr>
      <vt:lpstr>Why Study/Use Machine Learning?</vt:lpstr>
      <vt:lpstr>When Do We Use Machine Learning?</vt:lpstr>
      <vt:lpstr>A classic example of a task that requires machine learning:  It is very hard to say what makes a 2</vt:lpstr>
      <vt:lpstr>Learning = Generalization</vt:lpstr>
      <vt:lpstr>Some more examples of tasks that are best  solved by using a learning       algorithm</vt:lpstr>
      <vt:lpstr>Data Mining Example</vt:lpstr>
      <vt:lpstr>Data Attributes</vt:lpstr>
      <vt:lpstr>Qualitative Attribute Types</vt:lpstr>
      <vt:lpstr>Quantitative Attribute Types</vt:lpstr>
      <vt:lpstr>Representing Data</vt:lpstr>
      <vt:lpstr>Data Matrix Example</vt:lpstr>
      <vt:lpstr>What is Deep Learning?</vt:lpstr>
      <vt:lpstr>Example – the human visual system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Jeff Fortuna</dc:creator>
  <cp:lastModifiedBy>Jeff Fortuna</cp:lastModifiedBy>
  <cp:revision>215</cp:revision>
  <dcterms:created xsi:type="dcterms:W3CDTF">2006-12-27T20:16:36Z</dcterms:created>
  <dcterms:modified xsi:type="dcterms:W3CDTF">2023-09-06T18:20:06Z</dcterms:modified>
</cp:coreProperties>
</file>