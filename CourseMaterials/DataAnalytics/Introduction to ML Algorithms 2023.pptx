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1"/>
  </p:notesMasterIdLst>
  <p:sldIdLst>
    <p:sldId id="256" r:id="rId2"/>
    <p:sldId id="302" r:id="rId3"/>
    <p:sldId id="311" r:id="rId4"/>
    <p:sldId id="260" r:id="rId5"/>
    <p:sldId id="312" r:id="rId6"/>
    <p:sldId id="316" r:id="rId7"/>
    <p:sldId id="314" r:id="rId8"/>
    <p:sldId id="315" r:id="rId9"/>
    <p:sldId id="324" r:id="rId10"/>
    <p:sldId id="325" r:id="rId11"/>
    <p:sldId id="326" r:id="rId12"/>
    <p:sldId id="379" r:id="rId13"/>
    <p:sldId id="372" r:id="rId14"/>
    <p:sldId id="373" r:id="rId15"/>
    <p:sldId id="375" r:id="rId16"/>
    <p:sldId id="376" r:id="rId17"/>
    <p:sldId id="378" r:id="rId18"/>
    <p:sldId id="389" r:id="rId19"/>
    <p:sldId id="380" r:id="rId20"/>
    <p:sldId id="387" r:id="rId21"/>
    <p:sldId id="388" r:id="rId22"/>
    <p:sldId id="392" r:id="rId23"/>
    <p:sldId id="406" r:id="rId24"/>
    <p:sldId id="404" r:id="rId25"/>
    <p:sldId id="405" r:id="rId26"/>
    <p:sldId id="407" r:id="rId27"/>
    <p:sldId id="320" r:id="rId28"/>
    <p:sldId id="321" r:id="rId29"/>
    <p:sldId id="330" r:id="rId30"/>
    <p:sldId id="409" r:id="rId31"/>
    <p:sldId id="345" r:id="rId32"/>
    <p:sldId id="346" r:id="rId33"/>
    <p:sldId id="341" r:id="rId34"/>
    <p:sldId id="408" r:id="rId35"/>
    <p:sldId id="331" r:id="rId36"/>
    <p:sldId id="349" r:id="rId37"/>
    <p:sldId id="350" r:id="rId38"/>
    <p:sldId id="351" r:id="rId39"/>
    <p:sldId id="333"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675" autoAdjust="0"/>
  </p:normalViewPr>
  <p:slideViewPr>
    <p:cSldViewPr>
      <p:cViewPr varScale="1">
        <p:scale>
          <a:sx n="147" d="100"/>
          <a:sy n="147" d="100"/>
        </p:scale>
        <p:origin x="2004" y="84"/>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_rels/viewProps.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5E1DC-C4EF-4E25-A10E-874244272027}" type="datetimeFigureOut">
              <a:rPr lang="en-US" smtClean="0"/>
              <a:t>9/6/2023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B0663C-57BB-4A30-B444-50E3DD3863B3}" type="slidenum">
              <a:rPr lang="en-US" smtClean="0"/>
              <a:t>‹#›</a:t>
            </a:fld>
            <a:endParaRPr lang="en-US"/>
          </a:p>
        </p:txBody>
      </p:sp>
    </p:spTree>
    <p:extLst>
      <p:ext uri="{BB962C8B-B14F-4D97-AF65-F5344CB8AC3E}">
        <p14:creationId xmlns:p14="http://schemas.microsoft.com/office/powerpoint/2010/main" val="3354171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44C65-9649-4B3E-9FF7-329F3F28986B}" type="slidenum">
              <a:rPr lang="en-US"/>
              <a:pPr/>
              <a:t>6</a:t>
            </a:fld>
            <a:endParaRPr lang="en-US"/>
          </a:p>
        </p:txBody>
      </p:sp>
      <p:sp>
        <p:nvSpPr>
          <p:cNvPr id="16386" name="Rectangle 2"/>
          <p:cNvSpPr>
            <a:spLocks noGrp="1" noChangeArrowheads="1"/>
          </p:cNvSpPr>
          <p:nvPr>
            <p:ph type="body" idx="1"/>
          </p:nvPr>
        </p:nvSpPr>
        <p:spPr>
          <a:xfrm>
            <a:off x="914400" y="4343400"/>
            <a:ext cx="5029200" cy="4114800"/>
          </a:xfrm>
          <a:ln/>
        </p:spPr>
        <p:txBody>
          <a:bodyPr lIns="90488" tIns="44450" rIns="90488" bIns="44450"/>
          <a:lstStyle/>
          <a:p>
            <a:endParaRPr lang="en-US"/>
          </a:p>
        </p:txBody>
      </p:sp>
      <p:sp>
        <p:nvSpPr>
          <p:cNvPr id="16387"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4819A5-8FBA-438F-A6DB-E860FB28325A}" type="slidenum">
              <a:rPr lang="en-US"/>
              <a:pPr/>
              <a:t>7</a:t>
            </a:fld>
            <a:endParaRPr lang="en-US"/>
          </a:p>
        </p:txBody>
      </p:sp>
      <p:sp>
        <p:nvSpPr>
          <p:cNvPr id="18434" name="Rectangle 2"/>
          <p:cNvSpPr>
            <a:spLocks noGrp="1" noChangeArrowheads="1"/>
          </p:cNvSpPr>
          <p:nvPr>
            <p:ph type="body" idx="1"/>
          </p:nvPr>
        </p:nvSpPr>
        <p:spPr>
          <a:xfrm>
            <a:off x="914400" y="4343400"/>
            <a:ext cx="5029200" cy="4114800"/>
          </a:xfrm>
          <a:ln/>
        </p:spPr>
        <p:txBody>
          <a:bodyPr lIns="90488" tIns="44450" rIns="90488" bIns="44450"/>
          <a:lstStyle/>
          <a:p>
            <a:endParaRPr lang="en-US"/>
          </a:p>
        </p:txBody>
      </p:sp>
      <p:sp>
        <p:nvSpPr>
          <p:cNvPr id="18435"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44C65-9649-4B3E-9FF7-329F3F28986B}" type="slidenum">
              <a:rPr lang="en-US"/>
              <a:pPr/>
              <a:t>12</a:t>
            </a:fld>
            <a:endParaRPr lang="en-US"/>
          </a:p>
        </p:txBody>
      </p:sp>
      <p:sp>
        <p:nvSpPr>
          <p:cNvPr id="16386" name="Rectangle 2"/>
          <p:cNvSpPr>
            <a:spLocks noGrp="1" noChangeArrowheads="1"/>
          </p:cNvSpPr>
          <p:nvPr>
            <p:ph type="body" idx="1"/>
          </p:nvPr>
        </p:nvSpPr>
        <p:spPr>
          <a:xfrm>
            <a:off x="914400" y="4343400"/>
            <a:ext cx="5029200" cy="4114800"/>
          </a:xfrm>
          <a:ln/>
        </p:spPr>
        <p:txBody>
          <a:bodyPr lIns="90488" tIns="44450" rIns="90488" bIns="44450"/>
          <a:lstStyle/>
          <a:p>
            <a:endParaRPr lang="en-US"/>
          </a:p>
        </p:txBody>
      </p:sp>
      <p:sp>
        <p:nvSpPr>
          <p:cNvPr id="16387"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10C1AFBD-77A7-40C9-9704-50420308C157}" type="slidenum">
              <a:rPr lang="en-US"/>
              <a:pPr/>
              <a:t>14</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xfrm>
            <a:off x="914400" y="4343400"/>
            <a:ext cx="5029200" cy="4114800"/>
          </a:xfrm>
          <a:noFill/>
          <a:ln/>
        </p:spPr>
        <p:txBody>
          <a:bodyPr/>
          <a:lstStyle/>
          <a:p>
            <a:pPr eaLnBrk="1" hangingPunct="1"/>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48839E4-98ED-40A3-B018-799B98A3C572}" type="slidenum">
              <a:rPr lang="en-US" smtClean="0"/>
              <a:pPr/>
              <a:t>15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44C65-9649-4B3E-9FF7-329F3F28986B}" type="slidenum">
              <a:rPr lang="en-US"/>
              <a:pPr/>
              <a:t>18</a:t>
            </a:fld>
            <a:endParaRPr lang="en-US"/>
          </a:p>
        </p:txBody>
      </p:sp>
      <p:sp>
        <p:nvSpPr>
          <p:cNvPr id="16386" name="Rectangle 2"/>
          <p:cNvSpPr>
            <a:spLocks noGrp="1" noChangeArrowheads="1"/>
          </p:cNvSpPr>
          <p:nvPr>
            <p:ph type="body" idx="1"/>
          </p:nvPr>
        </p:nvSpPr>
        <p:spPr>
          <a:xfrm>
            <a:off x="914400" y="4343400"/>
            <a:ext cx="5029200" cy="4114800"/>
          </a:xfrm>
          <a:ln/>
        </p:spPr>
        <p:txBody>
          <a:bodyPr lIns="90488" tIns="44450" rIns="90488" bIns="44450"/>
          <a:lstStyle/>
          <a:p>
            <a:endParaRPr lang="en-US"/>
          </a:p>
        </p:txBody>
      </p:sp>
      <p:sp>
        <p:nvSpPr>
          <p:cNvPr id="16387"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91E073-0D25-4927-86D2-5F32ED8967E3}" type="slidenum">
              <a:rPr lang="zh-CN" altLang="en-US"/>
              <a:pPr/>
              <a:t>20</a:t>
            </a:fld>
            <a:endParaRPr lang="en-US" altLang="zh-CN"/>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r>
              <a:rPr lang="en-US" altLang="zh-CN"/>
              <a:t>The goal of boosting is to improve the accuracy of any given learning algorithm.</a:t>
            </a:r>
          </a:p>
          <a:p>
            <a:endParaRPr lang="en-US" altLang="zh-CN"/>
          </a:p>
          <a:p>
            <a:r>
              <a:rPr lang="en-US" altLang="zh-CN"/>
              <a:t>Consider creating three component classifiers for a two-category problem through boosting. </a:t>
            </a:r>
          </a:p>
          <a:p>
            <a:r>
              <a:rPr lang="en-US" altLang="zh-CN"/>
              <a:t>First, ……, call this set D1. Based on D1, train the first classifier, C1. </a:t>
            </a:r>
          </a:p>
          <a:p>
            <a:r>
              <a:rPr lang="en-US" altLang="zh-CN"/>
              <a:t>Now, we seek a second training set D2, half of the patterns in D2 should be correctly classified by C1, half incorrectly classified by C1. </a:t>
            </a:r>
          </a:p>
          <a:p>
            <a:r>
              <a:rPr lang="en-US" altLang="zh-CN"/>
              <a:t>Next, we seek a third data set D3,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F745EF-3485-447B-8029-F62A128AF39D}" type="slidenum">
              <a:rPr lang="en-US" altLang="zh-CN"/>
              <a:pPr/>
              <a:t>21</a:t>
            </a:fld>
            <a:endParaRPr lang="en-US" altLang="zh-CN"/>
          </a:p>
        </p:txBody>
      </p:sp>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71D517-D1E6-4CCF-9B9A-2F930C239B72}" type="slidenum">
              <a:rPr lang="en-US" altLang="zh-CN"/>
              <a:pPr/>
              <a:t>22</a:t>
            </a:fld>
            <a:endParaRPr lang="en-US" altLang="zh-CN"/>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44C65-9649-4B3E-9FF7-329F3F28986B}" type="slidenum">
              <a:rPr lang="en-US"/>
              <a:pPr/>
              <a:t>23</a:t>
            </a:fld>
            <a:endParaRPr lang="en-US"/>
          </a:p>
        </p:txBody>
      </p:sp>
      <p:sp>
        <p:nvSpPr>
          <p:cNvPr id="16386" name="Rectangle 2"/>
          <p:cNvSpPr>
            <a:spLocks noGrp="1" noChangeArrowheads="1"/>
          </p:cNvSpPr>
          <p:nvPr>
            <p:ph type="body" idx="1"/>
          </p:nvPr>
        </p:nvSpPr>
        <p:spPr>
          <a:xfrm>
            <a:off x="914400" y="4343400"/>
            <a:ext cx="5029200" cy="4114800"/>
          </a:xfrm>
          <a:ln/>
        </p:spPr>
        <p:txBody>
          <a:bodyPr lIns="90488" tIns="44450" rIns="90488" bIns="44450"/>
          <a:lstStyle/>
          <a:p>
            <a:endParaRPr lang="en-US"/>
          </a:p>
        </p:txBody>
      </p:sp>
      <p:sp>
        <p:nvSpPr>
          <p:cNvPr id="16387"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44C65-9649-4B3E-9FF7-329F3F28986B}" type="slidenum">
              <a:rPr lang="en-US"/>
              <a:pPr/>
              <a:t>26</a:t>
            </a:fld>
            <a:endParaRPr lang="en-US"/>
          </a:p>
        </p:txBody>
      </p:sp>
      <p:sp>
        <p:nvSpPr>
          <p:cNvPr id="16386" name="Rectangle 2"/>
          <p:cNvSpPr>
            <a:spLocks noGrp="1" noChangeArrowheads="1"/>
          </p:cNvSpPr>
          <p:nvPr>
            <p:ph type="body" idx="1"/>
          </p:nvPr>
        </p:nvSpPr>
        <p:spPr>
          <a:xfrm>
            <a:off x="914400" y="4343400"/>
            <a:ext cx="5029200" cy="4114800"/>
          </a:xfrm>
          <a:ln/>
        </p:spPr>
        <p:txBody>
          <a:bodyPr lIns="90488" tIns="44450" rIns="90488" bIns="44450"/>
          <a:lstStyle/>
          <a:p>
            <a:endParaRPr lang="en-US"/>
          </a:p>
        </p:txBody>
      </p:sp>
      <p:sp>
        <p:nvSpPr>
          <p:cNvPr id="16387"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CC18B4-D599-44FB-9DAB-C9054DA3DA17}" type="slidenum">
              <a:rPr lang="en-US" smtClean="0"/>
              <a:t>30</a:t>
            </a:fld>
            <a:endParaRPr lang="en-US"/>
          </a:p>
        </p:txBody>
      </p:sp>
    </p:spTree>
    <p:extLst>
      <p:ext uri="{BB962C8B-B14F-4D97-AF65-F5344CB8AC3E}">
        <p14:creationId xmlns:p14="http://schemas.microsoft.com/office/powerpoint/2010/main" val="755324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BC27C4BB-9701-F749-A197-56E2EBC9B4BE}" type="slidenum">
              <a:rPr lang="en-US">
                <a:latin typeface="Times New Roman" pitchFamily="1" charset="0"/>
              </a:rPr>
              <a:pPr/>
              <a:t>31</a:t>
            </a:fld>
            <a:endParaRPr lang="en-US">
              <a:latin typeface="Times New Roman" pitchFamily="1"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endParaRPr lang="en-US" dirty="0">
              <a:latin typeface="Times New Roman"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4248373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E52C0110-4CDE-6645-ABBE-2B0B8ADF43F7}" type="slidenum">
              <a:rPr lang="en-US">
                <a:latin typeface="Times New Roman" charset="0"/>
              </a:rPr>
              <a:pPr/>
              <a:t>32</a:t>
            </a:fld>
            <a:endParaRPr lang="en-US">
              <a:latin typeface="Times New Roman"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en-US" dirty="0">
              <a:latin typeface="Times New Roman" charset="0"/>
              <a:ea typeface="ＭＳ Ｐゴシック" charset="-128"/>
              <a:cs typeface="ＭＳ Ｐゴシック" charset="-128"/>
            </a:endParaRPr>
          </a:p>
        </p:txBody>
      </p:sp>
    </p:spTree>
    <p:extLst>
      <p:ext uri="{BB962C8B-B14F-4D97-AF65-F5344CB8AC3E}">
        <p14:creationId xmlns:p14="http://schemas.microsoft.com/office/powerpoint/2010/main" val="1931432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CC18B4-D599-44FB-9DAB-C9054DA3DA17}" type="slidenum">
              <a:rPr lang="en-US" smtClean="0"/>
              <a:t>34</a:t>
            </a:fld>
            <a:endParaRPr lang="en-US"/>
          </a:p>
        </p:txBody>
      </p:sp>
    </p:spTree>
    <p:extLst>
      <p:ext uri="{BB962C8B-B14F-4D97-AF65-F5344CB8AC3E}">
        <p14:creationId xmlns:p14="http://schemas.microsoft.com/office/powerpoint/2010/main" val="755324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xfrm>
            <a:off x="1152525" y="692150"/>
            <a:ext cx="4552950" cy="3414713"/>
          </a:xfrm>
          <a:ln cap="flat"/>
        </p:spPr>
      </p:sp>
      <p:sp>
        <p:nvSpPr>
          <p:cNvPr id="1536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519113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a:p>
        </p:txBody>
      </p:sp>
      <p:sp>
        <p:nvSpPr>
          <p:cNvPr id="8194"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819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a:lvl1pPr>
          </a:lstStyle>
          <a:p>
            <a:pPr>
              <a:defRPr/>
            </a:pPr>
            <a:fld id="{80C91BA9-DA72-493C-9CAF-B9DAB0BC4AE6}"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E7934D68-701E-4120-BE37-6B12802E2045}"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1CCD10B3-575B-4422-A3D0-6FC94134D5E5}"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1B775989-AF31-447B-90B2-0A05E480110B}"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C1B665F6-55E4-4747-8650-E714965F5E50}"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38D6A3DC-0A89-4FEC-9F6F-0BD29E7B7F7B}"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BAE356AF-6F91-46AF-8F07-C76DF88FE9FC}"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7873B78D-18D5-4987-905C-8A896F8A46A4}"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21A53DEC-37EC-496E-BE7F-EADDA828221C}"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CFAA9CFD-C5C2-46D1-8D49-D18039D347E3}"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CA776043-FAE8-4F83-BCF3-488C6EB4647E}"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E78DAD9-B174-4C1E-BF07-A33894D7934E}"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4E06-B3C2-4D93-BE38-D1F1138939D8}"/>
              </a:ext>
            </a:extLst>
          </p:cNvPr>
          <p:cNvSpPr>
            <a:spLocks noGrp="1"/>
          </p:cNvSpPr>
          <p:nvPr>
            <p:ph type="title" sz="quarter"/>
          </p:nvPr>
        </p:nvSpPr>
        <p:spPr>
          <a:xfrm>
            <a:off x="762000" y="533400"/>
            <a:ext cx="7696200" cy="11430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8379153-63E7-4666-B449-53D4D20F7050}"/>
              </a:ext>
            </a:extLst>
          </p:cNvPr>
          <p:cNvSpPr>
            <a:spLocks noGrp="1"/>
          </p:cNvSpPr>
          <p:nvPr>
            <p:ph sz="quarter" idx="1"/>
          </p:nvPr>
        </p:nvSpPr>
        <p:spPr>
          <a:xfrm>
            <a:off x="762000" y="1905000"/>
            <a:ext cx="3771900" cy="1943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5FB5C9-4CA4-47A4-901A-0FC8EAAC99A3}"/>
              </a:ext>
            </a:extLst>
          </p:cNvPr>
          <p:cNvSpPr>
            <a:spLocks noGrp="1"/>
          </p:cNvSpPr>
          <p:nvPr>
            <p:ph sz="quarter" idx="2"/>
          </p:nvPr>
        </p:nvSpPr>
        <p:spPr>
          <a:xfrm>
            <a:off x="4686300" y="1905000"/>
            <a:ext cx="3771900" cy="1943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4766BB27-274E-42BE-B440-69EB10A716D5}"/>
              </a:ext>
            </a:extLst>
          </p:cNvPr>
          <p:cNvSpPr>
            <a:spLocks noGrp="1"/>
          </p:cNvSpPr>
          <p:nvPr>
            <p:ph sz="quarter" idx="3"/>
          </p:nvPr>
        </p:nvSpPr>
        <p:spPr>
          <a:xfrm>
            <a:off x="762000" y="4000500"/>
            <a:ext cx="3771900" cy="1943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24972512-BBAE-42F8-8FCE-0FB4CC977781}"/>
              </a:ext>
            </a:extLst>
          </p:cNvPr>
          <p:cNvSpPr>
            <a:spLocks noGrp="1"/>
          </p:cNvSpPr>
          <p:nvPr>
            <p:ph sz="quarter" idx="4"/>
          </p:nvPr>
        </p:nvSpPr>
        <p:spPr>
          <a:xfrm>
            <a:off x="4686300" y="4000500"/>
            <a:ext cx="3771900" cy="1943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B34D5F-C60C-4740-B152-697536DD5429}"/>
              </a:ext>
            </a:extLst>
          </p:cNvPr>
          <p:cNvSpPr>
            <a:spLocks noGrp="1"/>
          </p:cNvSpPr>
          <p:nvPr>
            <p:ph type="dt" sz="half" idx="10"/>
          </p:nvPr>
        </p:nvSpPr>
        <p:spPr>
          <a:xfrm>
            <a:off x="762000" y="6391275"/>
            <a:ext cx="2057400" cy="457200"/>
          </a:xfrm>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8184339A-39AB-4C7D-9D4E-8E26FCE26617}"/>
              </a:ext>
            </a:extLst>
          </p:cNvPr>
          <p:cNvSpPr>
            <a:spLocks noGrp="1"/>
          </p:cNvSpPr>
          <p:nvPr>
            <p:ph type="ftr" sz="quarter" idx="11"/>
          </p:nvPr>
        </p:nvSpPr>
        <p:spPr>
          <a:xfrm>
            <a:off x="3352800" y="6403975"/>
            <a:ext cx="2895600" cy="457200"/>
          </a:xfrm>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5E16D938-318A-43C5-90E6-EACDC3A9C6F6}"/>
              </a:ext>
            </a:extLst>
          </p:cNvPr>
          <p:cNvSpPr>
            <a:spLocks noGrp="1"/>
          </p:cNvSpPr>
          <p:nvPr>
            <p:ph type="sldNum" sz="quarter" idx="12"/>
          </p:nvPr>
        </p:nvSpPr>
        <p:spPr>
          <a:xfrm>
            <a:off x="6858000" y="6400800"/>
            <a:ext cx="1600200" cy="457200"/>
          </a:xfrm>
        </p:spPr>
        <p:txBody>
          <a:bodyPr/>
          <a:lstStyle>
            <a:lvl1pPr>
              <a:defRPr/>
            </a:lvl1pPr>
          </a:lstStyle>
          <a:p>
            <a:fld id="{A73B424F-41CA-46D5-A800-79F6D8DA8E82}" type="slidenum">
              <a:rPr lang="en-US" altLang="en-US"/>
              <a:pPr/>
              <a:t>‹#›</a:t>
            </a:fld>
            <a:endParaRPr lang="en-US" altLang="en-US"/>
          </a:p>
        </p:txBody>
      </p:sp>
    </p:spTree>
    <p:extLst>
      <p:ext uri="{BB962C8B-B14F-4D97-AF65-F5344CB8AC3E}">
        <p14:creationId xmlns:p14="http://schemas.microsoft.com/office/powerpoint/2010/main" val="2449921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endParaRPr lang="en-US" altLang="en-US"/>
          </a:p>
        </p:txBody>
      </p:sp>
      <p:sp>
        <p:nvSpPr>
          <p:cNvPr id="717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defRPr>
            </a:lvl1pPr>
          </a:lstStyle>
          <a:p>
            <a:pPr>
              <a:defRPr/>
            </a:pPr>
            <a:endParaRPr lang="en-US" altLang="en-US"/>
          </a:p>
        </p:txBody>
      </p:sp>
      <p:sp>
        <p:nvSpPr>
          <p:cNvPr id="7174"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defRPr>
            </a:lvl1pPr>
          </a:lstStyle>
          <a:p>
            <a:pPr>
              <a:defRPr/>
            </a:pPr>
            <a:fld id="{FE295FA2-29F8-46BD-B850-055946D80E5B}" type="slidenum">
              <a:rPr lang="en-US" altLang="en-US"/>
              <a:pPr>
                <a:defRPr/>
              </a:pPr>
              <a:t>‹#›</a:t>
            </a:fld>
            <a:endParaRPr lang="en-US" altLang="en-US"/>
          </a:p>
        </p:txBody>
      </p:sp>
      <p:sp>
        <p:nvSpPr>
          <p:cNvPr id="7175"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7176"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817"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8" r:id="rId13"/>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9.bin"/><Relationship Id="rId4" Type="http://schemas.openxmlformats.org/officeDocument/2006/relationships/image" Target="../media/image12.emf"/></Relationships>
</file>

<file path=ppt/slides/_rels/slide33.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13.xml"/><Relationship Id="rId6" Type="http://schemas.openxmlformats.org/officeDocument/2006/relationships/oleObject" Target="../embeddings/oleObject12.bin"/><Relationship Id="rId5" Type="http://schemas.openxmlformats.org/officeDocument/2006/relationships/image" Target="../media/image15.wmf"/><Relationship Id="rId4"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wmf"/></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www.nature.com/articles/381607a0"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14400" y="1447800"/>
            <a:ext cx="7623175" cy="1752600"/>
          </a:xfrm>
        </p:spPr>
        <p:txBody>
          <a:bodyPr/>
          <a:lstStyle/>
          <a:p>
            <a:pPr algn="ctr" eaLnBrk="1" hangingPunct="1"/>
            <a:r>
              <a:rPr lang="en-US" sz="4600" b="1" dirty="0"/>
              <a:t>Introduction to </a:t>
            </a:r>
            <a:br>
              <a:rPr lang="en-US" sz="4600" b="1" dirty="0"/>
            </a:br>
            <a:r>
              <a:rPr lang="en-US" sz="4600" b="1" dirty="0"/>
              <a:t>Machine Learning Algorithms</a:t>
            </a:r>
          </a:p>
        </p:txBody>
      </p:sp>
      <p:sp>
        <p:nvSpPr>
          <p:cNvPr id="3075" name="Text Box 33"/>
          <p:cNvSpPr txBox="1">
            <a:spLocks noChangeArrowheads="1"/>
          </p:cNvSpPr>
          <p:nvPr/>
        </p:nvSpPr>
        <p:spPr bwMode="auto">
          <a:xfrm>
            <a:off x="609600" y="4191000"/>
            <a:ext cx="7864475" cy="1190625"/>
          </a:xfrm>
          <a:prstGeom prst="rect">
            <a:avLst/>
          </a:prstGeom>
          <a:noFill/>
          <a:ln w="9525">
            <a:noFill/>
            <a:miter lim="800000"/>
            <a:headEnd/>
            <a:tailEnd/>
          </a:ln>
        </p:spPr>
        <p:txBody>
          <a:bodyPr>
            <a:spAutoFit/>
          </a:bodyPr>
          <a:lstStyle/>
          <a:p>
            <a:r>
              <a:rPr lang="en-US"/>
              <a:t>Instructor: Dr. Jeff Fortuna, B. Eng, M. Eng, PhD, (Electrical Engineering), 			 McMaster University</a:t>
            </a:r>
          </a:p>
          <a:p>
            <a:endParaRPr lang="en-US"/>
          </a:p>
          <a:p>
            <a:pPr algn="ctr"/>
            <a:r>
              <a:rPr lang="en-US"/>
              <a:t>email: fortunjj@mcmaster.ca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14400" y="1447800"/>
            <a:ext cx="7623175" cy="1752600"/>
          </a:xfrm>
        </p:spPr>
        <p:txBody>
          <a:bodyPr/>
          <a:lstStyle/>
          <a:p>
            <a:pPr algn="ctr" eaLnBrk="1" hangingPunct="1"/>
            <a:r>
              <a:rPr lang="en-US" sz="4600" b="1" dirty="0"/>
              <a:t>K Nearest Neighbors Classification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b="1" dirty="0"/>
              <a:t>Motivation</a:t>
            </a:r>
          </a:p>
        </p:txBody>
      </p:sp>
      <p:sp>
        <p:nvSpPr>
          <p:cNvPr id="12291" name="Rectangle 3"/>
          <p:cNvSpPr>
            <a:spLocks noGrp="1" noChangeArrowheads="1"/>
          </p:cNvSpPr>
          <p:nvPr>
            <p:ph type="body" idx="1"/>
          </p:nvPr>
        </p:nvSpPr>
        <p:spPr>
          <a:xfrm>
            <a:off x="304800" y="1066800"/>
            <a:ext cx="8229600" cy="457200"/>
          </a:xfrm>
        </p:spPr>
        <p:txBody>
          <a:bodyPr/>
          <a:lstStyle/>
          <a:p>
            <a:pPr algn="just" eaLnBrk="1" hangingPunct="1"/>
            <a:r>
              <a:rPr lang="en-US" sz="2400" dirty="0"/>
              <a:t>Consider the following (partial) data from Assignment 1</a:t>
            </a:r>
          </a:p>
        </p:txBody>
      </p:sp>
      <p:graphicFrame>
        <p:nvGraphicFramePr>
          <p:cNvPr id="5" name="Table 4"/>
          <p:cNvGraphicFramePr>
            <a:graphicFrameLocks noGrp="1"/>
          </p:cNvGraphicFramePr>
          <p:nvPr/>
        </p:nvGraphicFramePr>
        <p:xfrm>
          <a:off x="381000" y="1905000"/>
          <a:ext cx="3962398" cy="3183382"/>
        </p:xfrm>
        <a:graphic>
          <a:graphicData uri="http://schemas.openxmlformats.org/drawingml/2006/table">
            <a:tbl>
              <a:tblPr/>
              <a:tblGrid>
                <a:gridCol w="617960">
                  <a:extLst>
                    <a:ext uri="{9D8B030D-6E8A-4147-A177-3AD203B41FA5}">
                      <a16:colId xmlns:a16="http://schemas.microsoft.com/office/drawing/2014/main" val="20000"/>
                    </a:ext>
                  </a:extLst>
                </a:gridCol>
                <a:gridCol w="1148971">
                  <a:extLst>
                    <a:ext uri="{9D8B030D-6E8A-4147-A177-3AD203B41FA5}">
                      <a16:colId xmlns:a16="http://schemas.microsoft.com/office/drawing/2014/main" val="20001"/>
                    </a:ext>
                  </a:extLst>
                </a:gridCol>
                <a:gridCol w="1133445">
                  <a:extLst>
                    <a:ext uri="{9D8B030D-6E8A-4147-A177-3AD203B41FA5}">
                      <a16:colId xmlns:a16="http://schemas.microsoft.com/office/drawing/2014/main" val="20002"/>
                    </a:ext>
                  </a:extLst>
                </a:gridCol>
                <a:gridCol w="1062022">
                  <a:extLst>
                    <a:ext uri="{9D8B030D-6E8A-4147-A177-3AD203B41FA5}">
                      <a16:colId xmlns:a16="http://schemas.microsoft.com/office/drawing/2014/main" val="20003"/>
                    </a:ext>
                  </a:extLst>
                </a:gridCol>
              </a:tblGrid>
              <a:tr h="431810">
                <a:tc>
                  <a:txBody>
                    <a:bodyPr/>
                    <a:lstStyle/>
                    <a:p>
                      <a:pPr marL="0" marR="0" algn="ctr">
                        <a:lnSpc>
                          <a:spcPct val="115000"/>
                        </a:lnSpc>
                        <a:spcBef>
                          <a:spcPts val="0"/>
                        </a:spcBef>
                        <a:spcAft>
                          <a:spcPts val="0"/>
                        </a:spcAft>
                      </a:pP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solidFill>
                            <a:srgbClr val="FFFFFF"/>
                          </a:solidFill>
                          <a:latin typeface="Calibri"/>
                          <a:ea typeface="Calibri"/>
                          <a:cs typeface="Times New Roman"/>
                        </a:rPr>
                        <a:t>Gender</a:t>
                      </a:r>
                      <a:endParaRPr lang="en-US" sz="1600" dirty="0">
                        <a:latin typeface="Calibri"/>
                        <a:ea typeface="Calibri"/>
                        <a:cs typeface="Times New Roman"/>
                      </a:endParaRPr>
                    </a:p>
                    <a:p>
                      <a:pPr marL="0" marR="0" algn="ctr">
                        <a:lnSpc>
                          <a:spcPct val="115000"/>
                        </a:lnSpc>
                        <a:spcBef>
                          <a:spcPts val="0"/>
                        </a:spcBef>
                        <a:spcAft>
                          <a:spcPts val="0"/>
                        </a:spcAft>
                      </a:pPr>
                      <a:r>
                        <a:rPr lang="en-US" sz="1600" b="1" dirty="0">
                          <a:solidFill>
                            <a:srgbClr val="FFFFFF"/>
                          </a:solidFill>
                          <a:latin typeface="Calibri"/>
                          <a:ea typeface="Calibri"/>
                          <a:cs typeface="Times New Roman"/>
                        </a:rPr>
                        <a:t>(M/F)</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L="0" marR="0" algn="ctr">
                        <a:lnSpc>
                          <a:spcPct val="115000"/>
                        </a:lnSpc>
                        <a:spcBef>
                          <a:spcPts val="0"/>
                        </a:spcBef>
                        <a:spcAft>
                          <a:spcPts val="0"/>
                        </a:spcAft>
                      </a:pPr>
                      <a:r>
                        <a:rPr lang="en-US" sz="1600" b="1">
                          <a:solidFill>
                            <a:srgbClr val="FFFFFF"/>
                          </a:solidFill>
                          <a:latin typeface="Calibri"/>
                          <a:ea typeface="Calibri"/>
                          <a:cs typeface="Times New Roman"/>
                        </a:rPr>
                        <a:t>Weight</a:t>
                      </a:r>
                      <a:endParaRPr lang="en-US" sz="1600">
                        <a:latin typeface="Calibri"/>
                        <a:ea typeface="Calibri"/>
                        <a:cs typeface="Times New Roman"/>
                      </a:endParaRPr>
                    </a:p>
                    <a:p>
                      <a:pPr marL="0" marR="0" algn="ctr">
                        <a:lnSpc>
                          <a:spcPct val="115000"/>
                        </a:lnSpc>
                        <a:spcBef>
                          <a:spcPts val="0"/>
                        </a:spcBef>
                        <a:spcAft>
                          <a:spcPts val="0"/>
                        </a:spcAft>
                      </a:pPr>
                      <a:r>
                        <a:rPr lang="en-US" sz="1600" b="1">
                          <a:solidFill>
                            <a:srgbClr val="FFFFFF"/>
                          </a:solidFill>
                          <a:latin typeface="Calibri"/>
                          <a:ea typeface="Calibri"/>
                          <a:cs typeface="Times New Roman"/>
                        </a:rPr>
                        <a:t>(lbs)</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L="0" marR="0" algn="ctr">
                        <a:lnSpc>
                          <a:spcPct val="115000"/>
                        </a:lnSpc>
                        <a:spcBef>
                          <a:spcPts val="0"/>
                        </a:spcBef>
                        <a:spcAft>
                          <a:spcPts val="0"/>
                        </a:spcAft>
                      </a:pPr>
                      <a:r>
                        <a:rPr lang="en-US" sz="1600" b="1">
                          <a:solidFill>
                            <a:srgbClr val="FFFFFF"/>
                          </a:solidFill>
                          <a:latin typeface="Calibri"/>
                          <a:ea typeface="Calibri"/>
                          <a:cs typeface="Times New Roman"/>
                        </a:rPr>
                        <a:t>Height</a:t>
                      </a:r>
                      <a:endParaRPr lang="en-US" sz="1600">
                        <a:latin typeface="Calibri"/>
                        <a:ea typeface="Calibri"/>
                        <a:cs typeface="Times New Roman"/>
                      </a:endParaRPr>
                    </a:p>
                    <a:p>
                      <a:pPr marL="0" marR="0" algn="ctr">
                        <a:lnSpc>
                          <a:spcPct val="115000"/>
                        </a:lnSpc>
                        <a:spcBef>
                          <a:spcPts val="0"/>
                        </a:spcBef>
                        <a:spcAft>
                          <a:spcPts val="0"/>
                        </a:spcAft>
                      </a:pPr>
                      <a:r>
                        <a:rPr lang="en-US" sz="1600" b="1">
                          <a:solidFill>
                            <a:srgbClr val="FFFFFF"/>
                          </a:solidFill>
                          <a:latin typeface="Calibri"/>
                          <a:ea typeface="Calibri"/>
                          <a:cs typeface="Times New Roman"/>
                        </a:rPr>
                        <a:t>(in)</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10000"/>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1</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dirty="0">
                          <a:latin typeface="Calibri"/>
                          <a:ea typeface="Calibri"/>
                          <a:cs typeface="Times New Roman"/>
                        </a:rPr>
                        <a:t>M</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68</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58</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2</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dirty="0">
                          <a:latin typeface="Calibri"/>
                          <a:ea typeface="Calibri"/>
                          <a:cs typeface="Times New Roman"/>
                        </a:rPr>
                        <a:t>M</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175</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73</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3</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dirty="0">
                          <a:latin typeface="Calibri"/>
                          <a:ea typeface="Calibri"/>
                          <a:cs typeface="Times New Roman"/>
                        </a:rPr>
                        <a:t>F</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156</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63</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4</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a:latin typeface="Calibri"/>
                          <a:ea typeface="Calibri"/>
                          <a:cs typeface="Times New Roman"/>
                        </a:rPr>
                        <a:t>M</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210</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75</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5</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a:latin typeface="Calibri"/>
                          <a:ea typeface="Calibri"/>
                          <a:cs typeface="Times New Roman"/>
                        </a:rPr>
                        <a:t>F</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145</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64</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6</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a:latin typeface="Calibri"/>
                          <a:ea typeface="Calibri"/>
                          <a:cs typeface="Times New Roman"/>
                        </a:rPr>
                        <a:t>F</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131</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66</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7</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a:latin typeface="Calibri"/>
                          <a:ea typeface="Calibri"/>
                          <a:cs typeface="Times New Roman"/>
                        </a:rPr>
                        <a:t>M</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182</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71</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8</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a:latin typeface="Calibri"/>
                          <a:ea typeface="Calibri"/>
                          <a:cs typeface="Times New Roman"/>
                        </a:rPr>
                        <a:t>F</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125</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60</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9</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a:latin typeface="Calibri"/>
                          <a:ea typeface="Calibri"/>
                          <a:cs typeface="Times New Roman"/>
                        </a:rPr>
                        <a:t>M</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219</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72</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23057">
                <a:tc>
                  <a:txBody>
                    <a:bodyPr/>
                    <a:lstStyle/>
                    <a:p>
                      <a:pPr marL="0" marR="0" algn="ctr">
                        <a:lnSpc>
                          <a:spcPct val="115000"/>
                        </a:lnSpc>
                        <a:spcBef>
                          <a:spcPts val="0"/>
                        </a:spcBef>
                        <a:spcAft>
                          <a:spcPts val="0"/>
                        </a:spcAft>
                      </a:pPr>
                      <a:r>
                        <a:rPr lang="en-US" sz="1600" b="1">
                          <a:latin typeface="Calibri"/>
                          <a:ea typeface="Calibri"/>
                          <a:cs typeface="Times New Roman"/>
                        </a:rPr>
                        <a:t>10</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600" b="1">
                          <a:latin typeface="Calibri"/>
                          <a:ea typeface="Calibri"/>
                          <a:cs typeface="Times New Roman"/>
                        </a:rPr>
                        <a:t>M</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Calibri"/>
                          <a:ea typeface="Calibri"/>
                          <a:cs typeface="Times New Roman"/>
                        </a:rPr>
                        <a:t>158</a:t>
                      </a:r>
                      <a:endParaRPr lang="en-US" sz="160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Calibri"/>
                          <a:ea typeface="Calibri"/>
                          <a:cs typeface="Times New Roman"/>
                        </a:rPr>
                        <a:t>68</a:t>
                      </a:r>
                      <a:endParaRPr lang="en-US" sz="1600" dirty="0">
                        <a:latin typeface="Calibri"/>
                        <a:ea typeface="Calibri"/>
                        <a:cs typeface="Times New Roman"/>
                      </a:endParaRPr>
                    </a:p>
                  </a:txBody>
                  <a:tcPr marL="65250" marR="652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Rectangle 3"/>
          <p:cNvSpPr txBox="1">
            <a:spLocks noChangeArrowheads="1"/>
          </p:cNvSpPr>
          <p:nvPr/>
        </p:nvSpPr>
        <p:spPr bwMode="auto">
          <a:xfrm>
            <a:off x="4495800" y="1752600"/>
            <a:ext cx="4343400" cy="3276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2400" kern="0" dirty="0">
                <a:latin typeface="+mn-lt"/>
              </a:rPr>
              <a:t>Note that we have a variable (Gender) that is </a:t>
            </a:r>
            <a:r>
              <a:rPr lang="en-US" sz="2400" b="1" kern="0" dirty="0">
                <a:solidFill>
                  <a:srgbClr val="00B050"/>
                </a:solidFill>
                <a:latin typeface="+mn-lt"/>
              </a:rPr>
              <a:t>categorical</a:t>
            </a:r>
            <a:r>
              <a:rPr lang="en-US" sz="2400" kern="0" dirty="0">
                <a:latin typeface="+mn-lt"/>
              </a:rPr>
              <a:t> (Nominal)</a:t>
            </a:r>
          </a:p>
          <a:p>
            <a:pPr marL="342900" marR="0" lvl="0" indent="-342900" algn="just"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This naturally</a:t>
            </a:r>
            <a:r>
              <a:rPr kumimoji="0" lang="en-US" sz="2400" b="0" i="0" u="none" strike="noStrike" kern="0" cap="none" spc="0" normalizeH="0" noProof="0" dirty="0">
                <a:ln>
                  <a:noFill/>
                </a:ln>
                <a:solidFill>
                  <a:schemeClr val="tx1"/>
                </a:solidFill>
                <a:effectLst/>
                <a:uLnTx/>
                <a:uFillTx/>
                <a:latin typeface="+mn-lt"/>
                <a:ea typeface="+mn-ea"/>
                <a:cs typeface="+mn-cs"/>
              </a:rPr>
              <a:t> divides the data into two classes (</a:t>
            </a:r>
            <a:r>
              <a:rPr kumimoji="0" lang="en-US" sz="2400" b="1" i="0" u="none" strike="noStrike" kern="0" cap="none" spc="0" normalizeH="0" noProof="0" dirty="0">
                <a:ln>
                  <a:noFill/>
                </a:ln>
                <a:solidFill>
                  <a:srgbClr val="00B050"/>
                </a:solidFill>
                <a:effectLst/>
                <a:uLnTx/>
                <a:uFillTx/>
                <a:latin typeface="+mn-lt"/>
                <a:ea typeface="+mn-ea"/>
                <a:cs typeface="+mn-cs"/>
              </a:rPr>
              <a:t>male</a:t>
            </a:r>
            <a:r>
              <a:rPr kumimoji="0" lang="en-US" sz="2400" b="0" i="0" u="none" strike="noStrike" kern="0" cap="none" spc="0" normalizeH="0" noProof="0" dirty="0">
                <a:ln>
                  <a:noFill/>
                </a:ln>
                <a:solidFill>
                  <a:schemeClr val="tx1"/>
                </a:solidFill>
                <a:effectLst/>
                <a:uLnTx/>
                <a:uFillTx/>
                <a:latin typeface="+mn-lt"/>
                <a:ea typeface="+mn-ea"/>
                <a:cs typeface="+mn-cs"/>
              </a:rPr>
              <a:t> and </a:t>
            </a:r>
            <a:r>
              <a:rPr kumimoji="0" lang="en-US" sz="2400" b="1" i="0" u="none" strike="noStrike" kern="0" cap="none" spc="0" normalizeH="0" noProof="0" dirty="0">
                <a:ln>
                  <a:noFill/>
                </a:ln>
                <a:solidFill>
                  <a:srgbClr val="00B050"/>
                </a:solidFill>
                <a:effectLst/>
                <a:uLnTx/>
                <a:uFillTx/>
                <a:latin typeface="+mn-lt"/>
                <a:ea typeface="+mn-ea"/>
                <a:cs typeface="+mn-cs"/>
              </a:rPr>
              <a:t>female</a:t>
            </a:r>
            <a:r>
              <a:rPr kumimoji="0" lang="en-US" sz="2400" b="0" i="0" u="none" strike="noStrike" kern="0" cap="none" spc="0" normalizeH="0" noProof="0" dirty="0">
                <a:ln>
                  <a:noFill/>
                </a:ln>
                <a:solidFill>
                  <a:schemeClr val="tx1"/>
                </a:solidFill>
                <a:effectLst/>
                <a:uLnTx/>
                <a:uFillTx/>
                <a:latin typeface="+mn-lt"/>
                <a:ea typeface="+mn-ea"/>
                <a:cs typeface="+mn-cs"/>
              </a:rPr>
              <a:t>)</a:t>
            </a:r>
          </a:p>
          <a:p>
            <a:pPr marL="342900" marR="0" lvl="0" indent="-342900" algn="just"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2400" kern="0" baseline="0" dirty="0">
                <a:latin typeface="+mn-lt"/>
              </a:rPr>
              <a:t>We can use this data as a </a:t>
            </a:r>
            <a:r>
              <a:rPr lang="en-US" sz="2400" b="1" kern="0" baseline="0" dirty="0">
                <a:solidFill>
                  <a:srgbClr val="00B050"/>
                </a:solidFill>
                <a:latin typeface="+mn-lt"/>
              </a:rPr>
              <a:t>training</a:t>
            </a:r>
            <a:r>
              <a:rPr lang="en-US" sz="2400" kern="0" baseline="0" dirty="0">
                <a:latin typeface="+mn-lt"/>
              </a:rPr>
              <a:t> set </a:t>
            </a:r>
          </a:p>
          <a:p>
            <a:pPr marL="342900" marR="0" lvl="0" indent="-342900" algn="just"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2400" kern="0" dirty="0">
                <a:latin typeface="+mn-lt"/>
              </a:rPr>
              <a:t>Let’s have a look at the data</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55575"/>
            <a:ext cx="8229600" cy="758825"/>
          </a:xfrm>
        </p:spPr>
        <p:txBody>
          <a:bodyPr/>
          <a:lstStyle/>
          <a:p>
            <a:pPr eaLnBrk="1" hangingPunct="1"/>
            <a:r>
              <a:rPr lang="en-US" b="1" dirty="0"/>
              <a:t>Nearest Neighbor Classifier</a:t>
            </a:r>
          </a:p>
        </p:txBody>
      </p:sp>
      <p:sp>
        <p:nvSpPr>
          <p:cNvPr id="5123" name="Rectangle 3"/>
          <p:cNvSpPr>
            <a:spLocks noGrp="1" noChangeArrowheads="1"/>
          </p:cNvSpPr>
          <p:nvPr>
            <p:ph type="body" idx="1"/>
          </p:nvPr>
        </p:nvSpPr>
        <p:spPr>
          <a:xfrm>
            <a:off x="533400" y="4495800"/>
            <a:ext cx="8229600" cy="1676400"/>
          </a:xfrm>
        </p:spPr>
        <p:txBody>
          <a:bodyPr/>
          <a:lstStyle/>
          <a:p>
            <a:pPr algn="just" eaLnBrk="1" hangingPunct="1"/>
            <a:r>
              <a:rPr lang="en-US" sz="1600" dirty="0"/>
              <a:t>From the plot it is quite clear that for subjects with a height between 50 and 80 inches, if the weight is bigger than about 165 pounds, the subject is </a:t>
            </a:r>
            <a:r>
              <a:rPr lang="en-US" sz="1600" b="1" dirty="0">
                <a:solidFill>
                  <a:srgbClr val="00B050"/>
                </a:solidFill>
              </a:rPr>
              <a:t>male</a:t>
            </a:r>
            <a:r>
              <a:rPr lang="en-US" sz="1600" dirty="0"/>
              <a:t>. </a:t>
            </a:r>
          </a:p>
          <a:p>
            <a:pPr algn="just" eaLnBrk="1" hangingPunct="1"/>
            <a:r>
              <a:rPr lang="en-US" sz="1600" dirty="0"/>
              <a:t>One very simple approach to classifying an </a:t>
            </a:r>
            <a:r>
              <a:rPr lang="en-US" sz="1600" b="1" dirty="0">
                <a:solidFill>
                  <a:srgbClr val="00B050"/>
                </a:solidFill>
              </a:rPr>
              <a:t>unknown sample</a:t>
            </a:r>
            <a:r>
              <a:rPr lang="en-US" sz="1600" dirty="0"/>
              <a:t> would be to examine the classes of </a:t>
            </a:r>
            <a:r>
              <a:rPr lang="en-US" sz="1600" b="1" dirty="0">
                <a:solidFill>
                  <a:srgbClr val="00B050"/>
                </a:solidFill>
              </a:rPr>
              <a:t>training samples</a:t>
            </a:r>
            <a:r>
              <a:rPr lang="en-US" sz="1600" dirty="0"/>
              <a:t> that are </a:t>
            </a:r>
            <a:r>
              <a:rPr lang="en-US" sz="1600" b="1" dirty="0">
                <a:solidFill>
                  <a:srgbClr val="00B050"/>
                </a:solidFill>
              </a:rPr>
              <a:t>nearest</a:t>
            </a:r>
            <a:r>
              <a:rPr lang="en-US" sz="1600" dirty="0"/>
              <a:t> to our unknown sample and determine the class of the unknown sample by a </a:t>
            </a:r>
            <a:r>
              <a:rPr lang="en-US" sz="1600" b="1" dirty="0">
                <a:solidFill>
                  <a:srgbClr val="00B050"/>
                </a:solidFill>
              </a:rPr>
              <a:t>majority vote</a:t>
            </a:r>
            <a:r>
              <a:rPr lang="en-US" sz="1600" dirty="0"/>
              <a:t>.</a:t>
            </a:r>
          </a:p>
          <a:p>
            <a:pPr algn="just" eaLnBrk="1" hangingPunct="1"/>
            <a:r>
              <a:rPr lang="en-US" sz="1600" dirty="0"/>
              <a:t>This approach is called a </a:t>
            </a:r>
            <a:r>
              <a:rPr lang="en-US" sz="1600" b="1" dirty="0">
                <a:solidFill>
                  <a:srgbClr val="00B050"/>
                </a:solidFill>
              </a:rPr>
              <a:t>nearest neighbor</a:t>
            </a:r>
            <a:r>
              <a:rPr lang="en-US" sz="1600" dirty="0"/>
              <a:t> classifier.</a:t>
            </a:r>
          </a:p>
        </p:txBody>
      </p:sp>
      <p:pic>
        <p:nvPicPr>
          <p:cNvPr id="4" name="Picture 3" descr="training data.png"/>
          <p:cNvPicPr>
            <a:picLocks noChangeAspect="1"/>
          </p:cNvPicPr>
          <p:nvPr/>
        </p:nvPicPr>
        <p:blipFill>
          <a:blip r:embed="rId2" cstate="print"/>
          <a:stretch>
            <a:fillRect/>
          </a:stretch>
        </p:blipFill>
        <p:spPr>
          <a:xfrm>
            <a:off x="1828800" y="838200"/>
            <a:ext cx="4724400" cy="3525584"/>
          </a:xfrm>
          <a:prstGeom prst="rect">
            <a:avLst/>
          </a:prstGeom>
        </p:spPr>
      </p:pic>
      <p:sp>
        <p:nvSpPr>
          <p:cNvPr id="5" name="TextBox 4"/>
          <p:cNvSpPr txBox="1"/>
          <p:nvPr/>
        </p:nvSpPr>
        <p:spPr>
          <a:xfrm>
            <a:off x="3663814" y="4191000"/>
            <a:ext cx="1136786" cy="307777"/>
          </a:xfrm>
          <a:prstGeom prst="rect">
            <a:avLst/>
          </a:prstGeom>
          <a:noFill/>
        </p:spPr>
        <p:txBody>
          <a:bodyPr wrap="none" rtlCol="0">
            <a:spAutoFit/>
          </a:bodyPr>
          <a:lstStyle/>
          <a:p>
            <a:r>
              <a:rPr lang="en-US" sz="1400" dirty="0"/>
              <a:t>Weight (lbs)</a:t>
            </a:r>
          </a:p>
        </p:txBody>
      </p:sp>
      <p:sp>
        <p:nvSpPr>
          <p:cNvPr id="6" name="TextBox 5"/>
          <p:cNvSpPr txBox="1"/>
          <p:nvPr/>
        </p:nvSpPr>
        <p:spPr>
          <a:xfrm rot="16200000">
            <a:off x="1553782" y="2408618"/>
            <a:ext cx="1010213" cy="307777"/>
          </a:xfrm>
          <a:prstGeom prst="rect">
            <a:avLst/>
          </a:prstGeom>
          <a:noFill/>
        </p:spPr>
        <p:txBody>
          <a:bodyPr wrap="none" rtlCol="0">
            <a:spAutoFit/>
          </a:bodyPr>
          <a:lstStyle/>
          <a:p>
            <a:r>
              <a:rPr lang="en-US" sz="1400" dirty="0"/>
              <a:t>Height (in)</a:t>
            </a:r>
          </a:p>
        </p:txBody>
      </p:sp>
      <p:sp>
        <p:nvSpPr>
          <p:cNvPr id="7" name="Oval 6"/>
          <p:cNvSpPr/>
          <p:nvPr/>
        </p:nvSpPr>
        <p:spPr>
          <a:xfrm>
            <a:off x="4495800" y="2209800"/>
            <a:ext cx="152400" cy="1524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114800" y="1828800"/>
            <a:ext cx="914400" cy="914400"/>
          </a:xfrm>
          <a:prstGeom prst="ellipse">
            <a:avLst/>
          </a:prstGeom>
          <a:solidFill>
            <a:schemeClr val="accent1">
              <a:alpha val="1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a:off x="5029200" y="1752600"/>
            <a:ext cx="1447800" cy="3048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629401" y="1600200"/>
            <a:ext cx="2209800" cy="1077218"/>
          </a:xfrm>
          <a:prstGeom prst="rect">
            <a:avLst/>
          </a:prstGeom>
          <a:noFill/>
          <a:ln>
            <a:solidFill>
              <a:schemeClr val="accent1">
                <a:shade val="95000"/>
                <a:satMod val="105000"/>
              </a:schemeClr>
            </a:solidFill>
          </a:ln>
        </p:spPr>
        <p:txBody>
          <a:bodyPr wrap="square" rtlCol="0">
            <a:spAutoFit/>
          </a:bodyPr>
          <a:lstStyle/>
          <a:p>
            <a:pPr marL="115888" indent="-115888">
              <a:buFont typeface="Arial" pitchFamily="34" charset="0"/>
              <a:buChar char="•"/>
            </a:pPr>
            <a:r>
              <a:rPr lang="en-US" sz="1600" dirty="0"/>
              <a:t>3 nearest neighbors</a:t>
            </a:r>
          </a:p>
          <a:p>
            <a:pPr marL="115888" indent="-115888">
              <a:buFont typeface="Arial" pitchFamily="34" charset="0"/>
              <a:buChar char="•"/>
            </a:pPr>
            <a:r>
              <a:rPr lang="en-US" sz="1600" dirty="0"/>
              <a:t>By majority vote, the unknown (</a:t>
            </a:r>
            <a:r>
              <a:rPr lang="en-US" sz="1600" b="1" dirty="0">
                <a:solidFill>
                  <a:srgbClr val="00B050"/>
                </a:solidFill>
              </a:rPr>
              <a:t>test</a:t>
            </a:r>
            <a:r>
              <a:rPr lang="en-US" sz="1600" dirty="0"/>
              <a:t>) sample is male</a:t>
            </a:r>
          </a:p>
        </p:txBody>
      </p:sp>
      <p:sp>
        <p:nvSpPr>
          <p:cNvPr id="13" name="Oval 12"/>
          <p:cNvSpPr/>
          <p:nvPr/>
        </p:nvSpPr>
        <p:spPr>
          <a:xfrm>
            <a:off x="2676525" y="1728788"/>
            <a:ext cx="76200" cy="76200"/>
          </a:xfrm>
          <a:prstGeom prst="ellipse">
            <a:avLst/>
          </a:prstGeom>
          <a:solidFill>
            <a:schemeClr val="tx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676525" y="1471613"/>
            <a:ext cx="76200" cy="76200"/>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2514600" y="1295400"/>
            <a:ext cx="1143000" cy="646331"/>
          </a:xfrm>
          <a:prstGeom prst="rect">
            <a:avLst/>
          </a:prstGeom>
          <a:noFill/>
          <a:ln>
            <a:solidFill>
              <a:schemeClr val="accent1">
                <a:shade val="95000"/>
                <a:satMod val="105000"/>
              </a:schemeClr>
            </a:solidFill>
          </a:ln>
        </p:spPr>
        <p:txBody>
          <a:bodyPr wrap="square" rtlCol="0">
            <a:spAutoFit/>
          </a:bodyPr>
          <a:lstStyle/>
          <a:p>
            <a:r>
              <a:rPr lang="en-US" dirty="0"/>
              <a:t>     </a:t>
            </a:r>
            <a:r>
              <a:rPr lang="en-US" sz="1400" dirty="0"/>
              <a:t>Male</a:t>
            </a:r>
          </a:p>
          <a:p>
            <a:r>
              <a:rPr lang="en-US" dirty="0"/>
              <a:t>     </a:t>
            </a:r>
            <a:r>
              <a:rPr lang="en-US" sz="1400" dirty="0"/>
              <a:t>Female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Nearest Neighbor Algorithm</a:t>
            </a:r>
          </a:p>
        </p:txBody>
      </p:sp>
      <p:sp>
        <p:nvSpPr>
          <p:cNvPr id="3" name="Content Placeholder 2"/>
          <p:cNvSpPr>
            <a:spLocks noGrp="1"/>
          </p:cNvSpPr>
          <p:nvPr>
            <p:ph idx="1"/>
          </p:nvPr>
        </p:nvSpPr>
        <p:spPr>
          <a:xfrm>
            <a:off x="304800" y="1143000"/>
            <a:ext cx="8534400" cy="4530725"/>
          </a:xfrm>
        </p:spPr>
        <p:txBody>
          <a:bodyPr/>
          <a:lstStyle/>
          <a:p>
            <a:r>
              <a:rPr lang="en-US" dirty="0"/>
              <a:t>For an unknown </a:t>
            </a:r>
            <a:r>
              <a:rPr lang="en-US" b="1" dirty="0">
                <a:solidFill>
                  <a:srgbClr val="00B050"/>
                </a:solidFill>
              </a:rPr>
              <a:t>test</a:t>
            </a:r>
            <a:r>
              <a:rPr lang="en-US" dirty="0"/>
              <a:t> sample </a:t>
            </a:r>
            <a:r>
              <a:rPr lang="en-US" b="1" i="1" dirty="0"/>
              <a:t>X</a:t>
            </a:r>
            <a:r>
              <a:rPr lang="en-US" dirty="0"/>
              <a:t>, a </a:t>
            </a:r>
            <a:r>
              <a:rPr lang="en-US" dirty="0" err="1"/>
              <a:t>pseudocode</a:t>
            </a:r>
            <a:r>
              <a:rPr lang="en-US" dirty="0"/>
              <a:t> description of the approach to classify </a:t>
            </a:r>
            <a:r>
              <a:rPr lang="en-US" b="1" dirty="0"/>
              <a:t>X</a:t>
            </a:r>
            <a:r>
              <a:rPr lang="en-US" dirty="0"/>
              <a:t> is:</a:t>
            </a:r>
          </a:p>
          <a:p>
            <a:pPr lvl="1"/>
            <a:r>
              <a:rPr lang="en-US" sz="2400" i="1" dirty="0"/>
              <a:t>For every point in our training dataset:</a:t>
            </a:r>
          </a:p>
          <a:p>
            <a:pPr lvl="2"/>
            <a:r>
              <a:rPr lang="en-US" sz="2000" b="1" i="1" dirty="0">
                <a:solidFill>
                  <a:srgbClr val="00B050"/>
                </a:solidFill>
              </a:rPr>
              <a:t>calculate the distance </a:t>
            </a:r>
            <a:r>
              <a:rPr lang="en-US" sz="2000" i="1" dirty="0"/>
              <a:t>between </a:t>
            </a:r>
            <a:r>
              <a:rPr lang="en-US" sz="2000" b="1" i="1" dirty="0"/>
              <a:t>X</a:t>
            </a:r>
            <a:r>
              <a:rPr lang="en-US" sz="2000" i="1" dirty="0"/>
              <a:t> and the current point</a:t>
            </a:r>
          </a:p>
          <a:p>
            <a:pPr lvl="2"/>
            <a:r>
              <a:rPr lang="en-US" sz="2000" b="1" i="1" dirty="0">
                <a:solidFill>
                  <a:srgbClr val="00B050"/>
                </a:solidFill>
              </a:rPr>
              <a:t>sort the distances </a:t>
            </a:r>
            <a:r>
              <a:rPr lang="en-US" sz="2000" i="1" dirty="0"/>
              <a:t>in increasing order</a:t>
            </a:r>
          </a:p>
          <a:p>
            <a:pPr lvl="2"/>
            <a:r>
              <a:rPr lang="en-US" sz="2000" b="1" i="1" dirty="0">
                <a:solidFill>
                  <a:srgbClr val="00B050"/>
                </a:solidFill>
              </a:rPr>
              <a:t>take k items </a:t>
            </a:r>
            <a:r>
              <a:rPr lang="en-US" sz="2000" i="1" dirty="0"/>
              <a:t>with lowest distances to </a:t>
            </a:r>
            <a:r>
              <a:rPr lang="en-US" sz="2000" b="1" i="1" dirty="0"/>
              <a:t>X</a:t>
            </a:r>
          </a:p>
          <a:p>
            <a:pPr lvl="2"/>
            <a:r>
              <a:rPr lang="en-US" sz="2000" b="1" i="1" dirty="0">
                <a:solidFill>
                  <a:srgbClr val="00B050"/>
                </a:solidFill>
              </a:rPr>
              <a:t>find the majority </a:t>
            </a:r>
            <a:r>
              <a:rPr lang="en-US" sz="2000" i="1" dirty="0"/>
              <a:t>class among these items</a:t>
            </a:r>
          </a:p>
          <a:p>
            <a:pPr lvl="2"/>
            <a:r>
              <a:rPr lang="en-US" sz="2000" b="1" i="1" dirty="0">
                <a:solidFill>
                  <a:srgbClr val="00B050"/>
                </a:solidFill>
              </a:rPr>
              <a:t>return the majority </a:t>
            </a:r>
            <a:r>
              <a:rPr lang="en-US" sz="2000" i="1" dirty="0"/>
              <a:t>class as our prediction for the class of </a:t>
            </a:r>
            <a:r>
              <a:rPr lang="en-US" sz="2000" b="1" i="1" dirty="0"/>
              <a:t>X</a:t>
            </a:r>
            <a:endParaRPr lang="en-US" sz="2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433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14340" name="Rectangle 4"/>
          <p:cNvSpPr>
            <a:spLocks noGrp="1" noChangeArrowheads="1"/>
          </p:cNvSpPr>
          <p:nvPr>
            <p:ph type="ctrTitle"/>
          </p:nvPr>
        </p:nvSpPr>
        <p:spPr/>
        <p:txBody>
          <a:bodyPr/>
          <a:lstStyle/>
          <a:p>
            <a:r>
              <a:rPr lang="en-US" b="1" dirty="0"/>
              <a:t>Decision Trees</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7411"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17412" name="Rectangle 4"/>
          <p:cNvSpPr>
            <a:spLocks noGrp="1" noChangeArrowheads="1"/>
          </p:cNvSpPr>
          <p:nvPr>
            <p:ph type="body" idx="1"/>
          </p:nvPr>
        </p:nvSpPr>
        <p:spPr>
          <a:noFill/>
          <a:ln/>
        </p:spPr>
        <p:txBody>
          <a:bodyPr lIns="90488" tIns="44450" rIns="90488" bIns="44450"/>
          <a:lstStyle/>
          <a:p>
            <a:pPr>
              <a:lnSpc>
                <a:spcPct val="80000"/>
              </a:lnSpc>
            </a:pPr>
            <a:r>
              <a:rPr lang="en-US" sz="2800"/>
              <a:t>An </a:t>
            </a:r>
            <a:r>
              <a:rPr lang="en-US" sz="2800" i="1"/>
              <a:t>inductive learning task</a:t>
            </a:r>
          </a:p>
          <a:p>
            <a:pPr lvl="1">
              <a:lnSpc>
                <a:spcPct val="80000"/>
              </a:lnSpc>
            </a:pPr>
            <a:r>
              <a:rPr lang="en-US" sz="2400"/>
              <a:t>Use particular facts to make more generalized conclusions</a:t>
            </a:r>
          </a:p>
          <a:p>
            <a:pPr>
              <a:lnSpc>
                <a:spcPct val="80000"/>
              </a:lnSpc>
            </a:pPr>
            <a:endParaRPr lang="en-US" sz="2800"/>
          </a:p>
          <a:p>
            <a:pPr>
              <a:lnSpc>
                <a:spcPct val="80000"/>
              </a:lnSpc>
            </a:pPr>
            <a:r>
              <a:rPr lang="en-US" sz="2800"/>
              <a:t>A predictive model based on a branching series of Boolean tests</a:t>
            </a:r>
          </a:p>
          <a:p>
            <a:pPr lvl="1">
              <a:lnSpc>
                <a:spcPct val="80000"/>
              </a:lnSpc>
            </a:pPr>
            <a:r>
              <a:rPr lang="en-US" sz="2400"/>
              <a:t>These smaller Boolean tests are less complex than a one-stage classifier</a:t>
            </a:r>
          </a:p>
          <a:p>
            <a:pPr>
              <a:lnSpc>
                <a:spcPct val="80000"/>
              </a:lnSpc>
            </a:pPr>
            <a:endParaRPr lang="en-US" sz="2800"/>
          </a:p>
          <a:p>
            <a:pPr>
              <a:lnSpc>
                <a:spcPct val="80000"/>
              </a:lnSpc>
            </a:pPr>
            <a:r>
              <a:rPr lang="en-US" sz="2800"/>
              <a:t>Let’s look at a sample decision tree…</a:t>
            </a:r>
          </a:p>
        </p:txBody>
      </p:sp>
      <p:sp>
        <p:nvSpPr>
          <p:cNvPr id="17413" name="Rectangle 5"/>
          <p:cNvSpPr>
            <a:spLocks noGrp="1" noChangeArrowheads="1"/>
          </p:cNvSpPr>
          <p:nvPr>
            <p:ph type="title"/>
          </p:nvPr>
        </p:nvSpPr>
        <p:spPr/>
        <p:txBody>
          <a:bodyPr/>
          <a:lstStyle/>
          <a:p>
            <a:r>
              <a:rPr lang="en-US" b="1" dirty="0"/>
              <a:t>What is a Decision Tree?</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b="1" dirty="0"/>
              <a:t>Predicting Commute Time</a:t>
            </a:r>
          </a:p>
        </p:txBody>
      </p:sp>
      <p:sp>
        <p:nvSpPr>
          <p:cNvPr id="19459" name="Rectangle 3"/>
          <p:cNvSpPr>
            <a:spLocks noChangeArrowheads="1"/>
          </p:cNvSpPr>
          <p:nvPr/>
        </p:nvSpPr>
        <p:spPr bwMode="auto">
          <a:xfrm>
            <a:off x="2286000" y="1905000"/>
            <a:ext cx="1760538" cy="533400"/>
          </a:xfrm>
          <a:prstGeom prst="rect">
            <a:avLst/>
          </a:prstGeom>
          <a:solidFill>
            <a:schemeClr val="accent1"/>
          </a:solidFill>
          <a:ln w="12700">
            <a:solidFill>
              <a:schemeClr val="tx1"/>
            </a:solidFill>
            <a:miter lim="800000"/>
            <a:headEnd/>
            <a:tailEnd/>
          </a:ln>
          <a:effectLst/>
        </p:spPr>
        <p:txBody>
          <a:bodyPr wrap="none" anchor="ctr"/>
          <a:lstStyle/>
          <a:p>
            <a:pPr algn="ctr"/>
            <a:r>
              <a:rPr lang="en-US" sz="2400">
                <a:solidFill>
                  <a:schemeClr val="bg1"/>
                </a:solidFill>
                <a:latin typeface="Times New Roman" pitchFamily="18" charset="0"/>
              </a:rPr>
              <a:t>Leave At</a:t>
            </a:r>
          </a:p>
        </p:txBody>
      </p:sp>
      <p:sp>
        <p:nvSpPr>
          <p:cNvPr id="19460" name="Rectangle 4"/>
          <p:cNvSpPr>
            <a:spLocks noChangeArrowheads="1"/>
          </p:cNvSpPr>
          <p:nvPr/>
        </p:nvSpPr>
        <p:spPr bwMode="auto">
          <a:xfrm>
            <a:off x="711200" y="3276600"/>
            <a:ext cx="1760538" cy="533400"/>
          </a:xfrm>
          <a:prstGeom prst="rect">
            <a:avLst/>
          </a:prstGeom>
          <a:solidFill>
            <a:schemeClr val="accent1"/>
          </a:solidFill>
          <a:ln w="12700">
            <a:solidFill>
              <a:schemeClr val="tx1"/>
            </a:solidFill>
            <a:miter lim="800000"/>
            <a:headEnd/>
            <a:tailEnd/>
          </a:ln>
          <a:effectLst/>
        </p:spPr>
        <p:txBody>
          <a:bodyPr wrap="none" anchor="ctr"/>
          <a:lstStyle/>
          <a:p>
            <a:pPr algn="ctr"/>
            <a:r>
              <a:rPr lang="en-US" sz="2400">
                <a:solidFill>
                  <a:schemeClr val="bg1"/>
                </a:solidFill>
                <a:latin typeface="Times New Roman" pitchFamily="18" charset="0"/>
              </a:rPr>
              <a:t>Stall?</a:t>
            </a:r>
          </a:p>
        </p:txBody>
      </p:sp>
      <p:sp>
        <p:nvSpPr>
          <p:cNvPr id="19461" name="Rectangle 5"/>
          <p:cNvSpPr>
            <a:spLocks noChangeArrowheads="1"/>
          </p:cNvSpPr>
          <p:nvPr/>
        </p:nvSpPr>
        <p:spPr bwMode="auto">
          <a:xfrm>
            <a:off x="3962400" y="3276600"/>
            <a:ext cx="1760538" cy="533400"/>
          </a:xfrm>
          <a:prstGeom prst="rect">
            <a:avLst/>
          </a:prstGeom>
          <a:solidFill>
            <a:schemeClr val="accent1"/>
          </a:solidFill>
          <a:ln w="12700">
            <a:solidFill>
              <a:schemeClr val="tx1"/>
            </a:solidFill>
            <a:miter lim="800000"/>
            <a:headEnd/>
            <a:tailEnd/>
          </a:ln>
          <a:effectLst/>
        </p:spPr>
        <p:txBody>
          <a:bodyPr wrap="none" anchor="ctr"/>
          <a:lstStyle/>
          <a:p>
            <a:pPr algn="ctr"/>
            <a:r>
              <a:rPr lang="en-US" sz="2400">
                <a:solidFill>
                  <a:schemeClr val="bg1"/>
                </a:solidFill>
                <a:latin typeface="Times New Roman" pitchFamily="18" charset="0"/>
              </a:rPr>
              <a:t>Accident?</a:t>
            </a:r>
          </a:p>
        </p:txBody>
      </p:sp>
      <p:sp>
        <p:nvSpPr>
          <p:cNvPr id="19462" name="Text Box 6"/>
          <p:cNvSpPr txBox="1">
            <a:spLocks noChangeArrowheads="1"/>
          </p:cNvSpPr>
          <p:nvPr/>
        </p:nvSpPr>
        <p:spPr bwMode="auto">
          <a:xfrm>
            <a:off x="838200" y="2514600"/>
            <a:ext cx="1092200" cy="457200"/>
          </a:xfrm>
          <a:prstGeom prst="rect">
            <a:avLst/>
          </a:prstGeom>
          <a:noFill/>
          <a:ln w="12700">
            <a:noFill/>
            <a:miter lim="800000"/>
            <a:headEnd/>
            <a:tailEnd/>
          </a:ln>
          <a:effectLst/>
        </p:spPr>
        <p:txBody>
          <a:bodyPr>
            <a:spAutoFit/>
          </a:bodyPr>
          <a:lstStyle/>
          <a:p>
            <a:pPr>
              <a:spcBef>
                <a:spcPct val="50000"/>
              </a:spcBef>
            </a:pPr>
            <a:r>
              <a:rPr lang="en-US" sz="2400">
                <a:latin typeface="Times New Roman" pitchFamily="18" charset="0"/>
              </a:rPr>
              <a:t>10 AM</a:t>
            </a:r>
          </a:p>
        </p:txBody>
      </p:sp>
      <p:sp>
        <p:nvSpPr>
          <p:cNvPr id="19463" name="Text Box 7"/>
          <p:cNvSpPr txBox="1">
            <a:spLocks noChangeArrowheads="1"/>
          </p:cNvSpPr>
          <p:nvPr/>
        </p:nvSpPr>
        <p:spPr bwMode="auto">
          <a:xfrm>
            <a:off x="4233863" y="2590800"/>
            <a:ext cx="947737" cy="457200"/>
          </a:xfrm>
          <a:prstGeom prst="rect">
            <a:avLst/>
          </a:prstGeom>
          <a:noFill/>
          <a:ln w="12700">
            <a:noFill/>
            <a:miter lim="800000"/>
            <a:headEnd/>
            <a:tailEnd/>
          </a:ln>
          <a:effectLst/>
        </p:spPr>
        <p:txBody>
          <a:bodyPr>
            <a:spAutoFit/>
          </a:bodyPr>
          <a:lstStyle/>
          <a:p>
            <a:pPr>
              <a:spcBef>
                <a:spcPct val="50000"/>
              </a:spcBef>
            </a:pPr>
            <a:r>
              <a:rPr lang="en-US" sz="2400">
                <a:latin typeface="Times New Roman" pitchFamily="18" charset="0"/>
              </a:rPr>
              <a:t>9 AM</a:t>
            </a:r>
          </a:p>
        </p:txBody>
      </p:sp>
      <p:cxnSp>
        <p:nvCxnSpPr>
          <p:cNvPr id="19464" name="AutoShape 8"/>
          <p:cNvCxnSpPr>
            <a:cxnSpLocks noChangeShapeType="1"/>
            <a:stCxn id="19459" idx="2"/>
            <a:endCxn id="19460" idx="0"/>
          </p:cNvCxnSpPr>
          <p:nvPr/>
        </p:nvCxnSpPr>
        <p:spPr bwMode="auto">
          <a:xfrm flipH="1">
            <a:off x="1592263" y="2438400"/>
            <a:ext cx="1574800" cy="838200"/>
          </a:xfrm>
          <a:prstGeom prst="straightConnector1">
            <a:avLst/>
          </a:prstGeom>
          <a:noFill/>
          <a:ln w="12700">
            <a:solidFill>
              <a:schemeClr val="tx1"/>
            </a:solidFill>
            <a:round/>
            <a:headEnd/>
            <a:tailEnd type="triangle" w="med" len="med"/>
          </a:ln>
          <a:effectLst/>
        </p:spPr>
      </p:cxnSp>
      <p:cxnSp>
        <p:nvCxnSpPr>
          <p:cNvPr id="19465" name="AutoShape 9"/>
          <p:cNvCxnSpPr>
            <a:cxnSpLocks noChangeShapeType="1"/>
            <a:stCxn id="19459" idx="2"/>
            <a:endCxn id="19461" idx="0"/>
          </p:cNvCxnSpPr>
          <p:nvPr/>
        </p:nvCxnSpPr>
        <p:spPr bwMode="auto">
          <a:xfrm>
            <a:off x="3167063" y="2438400"/>
            <a:ext cx="1676400" cy="838200"/>
          </a:xfrm>
          <a:prstGeom prst="straightConnector1">
            <a:avLst/>
          </a:prstGeom>
          <a:noFill/>
          <a:ln w="12700">
            <a:solidFill>
              <a:schemeClr val="tx1"/>
            </a:solidFill>
            <a:round/>
            <a:headEnd/>
            <a:tailEnd type="triangle" w="med" len="med"/>
          </a:ln>
          <a:effectLst/>
        </p:spPr>
      </p:cxnSp>
      <p:sp>
        <p:nvSpPr>
          <p:cNvPr id="19466" name="Text Box 10"/>
          <p:cNvSpPr txBox="1">
            <a:spLocks noChangeArrowheads="1"/>
          </p:cNvSpPr>
          <p:nvPr/>
        </p:nvSpPr>
        <p:spPr bwMode="auto">
          <a:xfrm>
            <a:off x="2895600" y="2819400"/>
            <a:ext cx="947738" cy="457200"/>
          </a:xfrm>
          <a:prstGeom prst="rect">
            <a:avLst/>
          </a:prstGeom>
          <a:noFill/>
          <a:ln w="12700">
            <a:noFill/>
            <a:miter lim="800000"/>
            <a:headEnd/>
            <a:tailEnd/>
          </a:ln>
          <a:effectLst/>
        </p:spPr>
        <p:txBody>
          <a:bodyPr>
            <a:spAutoFit/>
          </a:bodyPr>
          <a:lstStyle/>
          <a:p>
            <a:pPr>
              <a:spcBef>
                <a:spcPct val="50000"/>
              </a:spcBef>
            </a:pPr>
            <a:r>
              <a:rPr lang="en-US" sz="2400">
                <a:latin typeface="Times New Roman" pitchFamily="18" charset="0"/>
              </a:rPr>
              <a:t>8 AM</a:t>
            </a:r>
          </a:p>
        </p:txBody>
      </p:sp>
      <p:sp>
        <p:nvSpPr>
          <p:cNvPr id="19467" name="Text Box 11"/>
          <p:cNvSpPr txBox="1">
            <a:spLocks noChangeArrowheads="1"/>
          </p:cNvSpPr>
          <p:nvPr/>
        </p:nvSpPr>
        <p:spPr bwMode="auto">
          <a:xfrm>
            <a:off x="1752600" y="4800600"/>
            <a:ext cx="947738"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Long</a:t>
            </a:r>
          </a:p>
        </p:txBody>
      </p:sp>
      <p:sp>
        <p:nvSpPr>
          <p:cNvPr id="19468" name="Text Box 12"/>
          <p:cNvSpPr txBox="1">
            <a:spLocks noChangeArrowheads="1"/>
          </p:cNvSpPr>
          <p:nvPr/>
        </p:nvSpPr>
        <p:spPr bwMode="auto">
          <a:xfrm>
            <a:off x="2743200" y="3962400"/>
            <a:ext cx="947738"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Long</a:t>
            </a:r>
          </a:p>
        </p:txBody>
      </p:sp>
      <p:sp>
        <p:nvSpPr>
          <p:cNvPr id="19469" name="Text Box 13"/>
          <p:cNvSpPr txBox="1">
            <a:spLocks noChangeArrowheads="1"/>
          </p:cNvSpPr>
          <p:nvPr/>
        </p:nvSpPr>
        <p:spPr bwMode="auto">
          <a:xfrm>
            <a:off x="439738" y="4800600"/>
            <a:ext cx="949325"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Short</a:t>
            </a:r>
          </a:p>
        </p:txBody>
      </p:sp>
      <p:sp>
        <p:nvSpPr>
          <p:cNvPr id="19470" name="Text Box 14"/>
          <p:cNvSpPr txBox="1">
            <a:spLocks noChangeArrowheads="1"/>
          </p:cNvSpPr>
          <p:nvPr/>
        </p:nvSpPr>
        <p:spPr bwMode="auto">
          <a:xfrm>
            <a:off x="3505200" y="4800600"/>
            <a:ext cx="1414463"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Medium</a:t>
            </a:r>
          </a:p>
        </p:txBody>
      </p:sp>
      <p:sp>
        <p:nvSpPr>
          <p:cNvPr id="19471" name="Text Box 15"/>
          <p:cNvSpPr txBox="1">
            <a:spLocks noChangeArrowheads="1"/>
          </p:cNvSpPr>
          <p:nvPr/>
        </p:nvSpPr>
        <p:spPr bwMode="auto">
          <a:xfrm>
            <a:off x="5029200" y="4800600"/>
            <a:ext cx="947738"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Long</a:t>
            </a:r>
          </a:p>
        </p:txBody>
      </p:sp>
      <p:cxnSp>
        <p:nvCxnSpPr>
          <p:cNvPr id="19473" name="AutoShape 17"/>
          <p:cNvCxnSpPr>
            <a:cxnSpLocks noChangeShapeType="1"/>
            <a:stCxn id="19460" idx="2"/>
            <a:endCxn id="19467" idx="0"/>
          </p:cNvCxnSpPr>
          <p:nvPr/>
        </p:nvCxnSpPr>
        <p:spPr bwMode="auto">
          <a:xfrm>
            <a:off x="1592263" y="3810000"/>
            <a:ext cx="635000" cy="990600"/>
          </a:xfrm>
          <a:prstGeom prst="straightConnector1">
            <a:avLst/>
          </a:prstGeom>
          <a:noFill/>
          <a:ln w="12700">
            <a:solidFill>
              <a:schemeClr val="tx1"/>
            </a:solidFill>
            <a:round/>
            <a:headEnd/>
            <a:tailEnd type="triangle" w="med" len="med"/>
          </a:ln>
          <a:effectLst/>
        </p:spPr>
      </p:cxnSp>
      <p:sp>
        <p:nvSpPr>
          <p:cNvPr id="19474" name="Text Box 18"/>
          <p:cNvSpPr txBox="1">
            <a:spLocks noChangeArrowheads="1"/>
          </p:cNvSpPr>
          <p:nvPr/>
        </p:nvSpPr>
        <p:spPr bwMode="auto">
          <a:xfrm>
            <a:off x="373063" y="4038600"/>
            <a:ext cx="947737"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No</a:t>
            </a:r>
          </a:p>
        </p:txBody>
      </p:sp>
      <p:sp>
        <p:nvSpPr>
          <p:cNvPr id="19475" name="Text Box 19"/>
          <p:cNvSpPr txBox="1">
            <a:spLocks noChangeArrowheads="1"/>
          </p:cNvSpPr>
          <p:nvPr/>
        </p:nvSpPr>
        <p:spPr bwMode="auto">
          <a:xfrm>
            <a:off x="1828800" y="4038600"/>
            <a:ext cx="947738"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Yes</a:t>
            </a:r>
          </a:p>
        </p:txBody>
      </p:sp>
      <p:cxnSp>
        <p:nvCxnSpPr>
          <p:cNvPr id="19476" name="AutoShape 20"/>
          <p:cNvCxnSpPr>
            <a:cxnSpLocks noChangeShapeType="1"/>
            <a:stCxn id="19459" idx="2"/>
            <a:endCxn id="19468" idx="0"/>
          </p:cNvCxnSpPr>
          <p:nvPr/>
        </p:nvCxnSpPr>
        <p:spPr bwMode="auto">
          <a:xfrm>
            <a:off x="3167063" y="2438400"/>
            <a:ext cx="50800" cy="1524000"/>
          </a:xfrm>
          <a:prstGeom prst="straightConnector1">
            <a:avLst/>
          </a:prstGeom>
          <a:noFill/>
          <a:ln w="12700">
            <a:solidFill>
              <a:schemeClr val="tx1"/>
            </a:solidFill>
            <a:round/>
            <a:headEnd/>
            <a:tailEnd type="triangle" w="med" len="med"/>
          </a:ln>
          <a:effectLst/>
        </p:spPr>
      </p:cxnSp>
      <p:cxnSp>
        <p:nvCxnSpPr>
          <p:cNvPr id="19477" name="AutoShape 21"/>
          <p:cNvCxnSpPr>
            <a:cxnSpLocks noChangeShapeType="1"/>
            <a:stCxn id="19461" idx="2"/>
            <a:endCxn id="19470" idx="0"/>
          </p:cNvCxnSpPr>
          <p:nvPr/>
        </p:nvCxnSpPr>
        <p:spPr bwMode="auto">
          <a:xfrm flipH="1">
            <a:off x="4213225" y="3810000"/>
            <a:ext cx="630238" cy="990600"/>
          </a:xfrm>
          <a:prstGeom prst="straightConnector1">
            <a:avLst/>
          </a:prstGeom>
          <a:noFill/>
          <a:ln w="12700">
            <a:solidFill>
              <a:schemeClr val="tx1"/>
            </a:solidFill>
            <a:round/>
            <a:headEnd/>
            <a:tailEnd type="triangle" w="med" len="med"/>
          </a:ln>
          <a:effectLst/>
        </p:spPr>
      </p:cxnSp>
      <p:cxnSp>
        <p:nvCxnSpPr>
          <p:cNvPr id="19478" name="AutoShape 22"/>
          <p:cNvCxnSpPr>
            <a:cxnSpLocks noChangeShapeType="1"/>
            <a:stCxn id="19461" idx="2"/>
            <a:endCxn id="19471" idx="0"/>
          </p:cNvCxnSpPr>
          <p:nvPr/>
        </p:nvCxnSpPr>
        <p:spPr bwMode="auto">
          <a:xfrm>
            <a:off x="4843463" y="3810000"/>
            <a:ext cx="660400" cy="990600"/>
          </a:xfrm>
          <a:prstGeom prst="straightConnector1">
            <a:avLst/>
          </a:prstGeom>
          <a:noFill/>
          <a:ln w="12700">
            <a:solidFill>
              <a:schemeClr val="tx1"/>
            </a:solidFill>
            <a:round/>
            <a:headEnd/>
            <a:tailEnd type="triangle" w="med" len="med"/>
          </a:ln>
          <a:effectLst/>
        </p:spPr>
      </p:cxnSp>
      <p:sp>
        <p:nvSpPr>
          <p:cNvPr id="19479" name="Text Box 23"/>
          <p:cNvSpPr txBox="1">
            <a:spLocks noChangeArrowheads="1"/>
          </p:cNvSpPr>
          <p:nvPr/>
        </p:nvSpPr>
        <p:spPr bwMode="auto">
          <a:xfrm>
            <a:off x="3759200" y="4114800"/>
            <a:ext cx="947738"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No</a:t>
            </a:r>
          </a:p>
        </p:txBody>
      </p:sp>
      <p:sp>
        <p:nvSpPr>
          <p:cNvPr id="19480" name="Text Box 24"/>
          <p:cNvSpPr txBox="1">
            <a:spLocks noChangeArrowheads="1"/>
          </p:cNvSpPr>
          <p:nvPr/>
        </p:nvSpPr>
        <p:spPr bwMode="auto">
          <a:xfrm>
            <a:off x="5113338" y="4114800"/>
            <a:ext cx="949325" cy="457200"/>
          </a:xfrm>
          <a:prstGeom prst="rect">
            <a:avLst/>
          </a:prstGeom>
          <a:noFill/>
          <a:ln w="12700">
            <a:noFill/>
            <a:miter lim="800000"/>
            <a:headEnd/>
            <a:tailEnd/>
          </a:ln>
          <a:effectLst/>
        </p:spPr>
        <p:txBody>
          <a:bodyPr>
            <a:spAutoFit/>
          </a:bodyPr>
          <a:lstStyle/>
          <a:p>
            <a:pPr algn="ctr">
              <a:spcBef>
                <a:spcPct val="50000"/>
              </a:spcBef>
            </a:pPr>
            <a:r>
              <a:rPr lang="en-US" sz="2400">
                <a:latin typeface="Times New Roman" pitchFamily="18" charset="0"/>
              </a:rPr>
              <a:t>Yes</a:t>
            </a:r>
          </a:p>
        </p:txBody>
      </p:sp>
      <p:sp>
        <p:nvSpPr>
          <p:cNvPr id="19481" name="Text Box 25"/>
          <p:cNvSpPr txBox="1">
            <a:spLocks noChangeArrowheads="1"/>
          </p:cNvSpPr>
          <p:nvPr/>
        </p:nvSpPr>
        <p:spPr bwMode="auto">
          <a:xfrm>
            <a:off x="6197600" y="1905000"/>
            <a:ext cx="2844800" cy="3503613"/>
          </a:xfrm>
          <a:prstGeom prst="rect">
            <a:avLst/>
          </a:prstGeom>
          <a:noFill/>
          <a:ln w="12700">
            <a:noFill/>
            <a:miter lim="800000"/>
            <a:headEnd/>
            <a:tailEnd/>
          </a:ln>
          <a:effectLst/>
        </p:spPr>
        <p:txBody>
          <a:bodyPr>
            <a:spAutoFit/>
          </a:bodyPr>
          <a:lstStyle/>
          <a:p>
            <a:pPr>
              <a:spcBef>
                <a:spcPct val="50000"/>
              </a:spcBef>
            </a:pPr>
            <a:r>
              <a:rPr lang="en-US" sz="3200"/>
              <a:t>If we leave at 10 AM and there are no cars stalled on the road, what will our commute time be?</a:t>
            </a:r>
          </a:p>
        </p:txBody>
      </p:sp>
      <p:sp>
        <p:nvSpPr>
          <p:cNvPr id="19482" name="Oval 26"/>
          <p:cNvSpPr>
            <a:spLocks noChangeArrowheads="1"/>
          </p:cNvSpPr>
          <p:nvPr/>
        </p:nvSpPr>
        <p:spPr bwMode="auto">
          <a:xfrm>
            <a:off x="439738" y="4800600"/>
            <a:ext cx="949325" cy="457200"/>
          </a:xfrm>
          <a:prstGeom prst="ellipse">
            <a:avLst/>
          </a:prstGeom>
          <a:noFill/>
          <a:ln w="12700">
            <a:solidFill>
              <a:srgbClr val="FF0000"/>
            </a:solidFill>
            <a:round/>
            <a:headEnd/>
            <a:tailEnd/>
          </a:ln>
          <a:effectLst/>
        </p:spPr>
        <p:txBody>
          <a:bodyPr wrap="none" anchor="ctr"/>
          <a:lstStyle/>
          <a:p>
            <a:endParaRPr lang="en-US"/>
          </a:p>
        </p:txBody>
      </p:sp>
      <p:cxnSp>
        <p:nvCxnSpPr>
          <p:cNvPr id="19483" name="AutoShape 27"/>
          <p:cNvCxnSpPr>
            <a:cxnSpLocks noChangeShapeType="1"/>
            <a:stCxn id="19460" idx="2"/>
            <a:endCxn id="19482" idx="0"/>
          </p:cNvCxnSpPr>
          <p:nvPr/>
        </p:nvCxnSpPr>
        <p:spPr bwMode="auto">
          <a:xfrm flipH="1">
            <a:off x="914400" y="3810000"/>
            <a:ext cx="677863" cy="990600"/>
          </a:xfrm>
          <a:prstGeom prst="straightConnector1">
            <a:avLst/>
          </a:prstGeom>
          <a:noFill/>
          <a:ln w="9525">
            <a:solidFill>
              <a:schemeClr val="tx1"/>
            </a:solidFill>
            <a:round/>
            <a:headEnd/>
            <a:tailEnd type="triangl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1" nodeType="clickEffect">
                                  <p:stCondLst>
                                    <p:cond delay="0"/>
                                  </p:stCondLst>
                                  <p:childTnLst>
                                    <p:set>
                                      <p:cBhvr>
                                        <p:cTn id="10" dur="indefinite"/>
                                        <p:tgtEl>
                                          <p:spTgt spid="19464"/>
                                        </p:tgtEl>
                                        <p:attrNameLst>
                                          <p:attrName>stroke.color</p:attrName>
                                        </p:attrNameLst>
                                      </p:cBhvr>
                                      <p:to>
                                        <p:clrVal>
                                          <a:srgbClr val="FF0000"/>
                                        </p:clrVal>
                                      </p:to>
                                    </p:set>
                                    <p:set>
                                      <p:cBhvr>
                                        <p:cTn id="11" dur="indefinite"/>
                                        <p:tgtEl>
                                          <p:spTgt spid="19464"/>
                                        </p:tgtEl>
                                        <p:attrNameLst>
                                          <p:attrName>stroke.on</p:attrName>
                                        </p:attrNameLst>
                                      </p:cBhvr>
                                      <p:to>
                                        <p:strVal val="true"/>
                                      </p:to>
                                    </p:set>
                                  </p:childTnLst>
                                </p:cTn>
                              </p:par>
                              <p:par>
                                <p:cTn id="12" presetID="1" presetClass="entr" presetSubtype="0" fill="hold" grpId="0" nodeType="withEffect">
                                  <p:stCondLst>
                                    <p:cond delay="0"/>
                                  </p:stCondLst>
                                  <p:childTnLst>
                                    <p:set>
                                      <p:cBhvr>
                                        <p:cTn id="13" dur="1" fill="hold">
                                          <p:stCondLst>
                                            <p:cond delay="0"/>
                                          </p:stCondLst>
                                        </p:cTn>
                                        <p:tgtEl>
                                          <p:spTgt spid="19482"/>
                                        </p:tgtEl>
                                        <p:attrNameLst>
                                          <p:attrName>style.visibility</p:attrName>
                                        </p:attrNameLst>
                                      </p:cBhvr>
                                      <p:to>
                                        <p:strVal val="visible"/>
                                      </p:to>
                                    </p:set>
                                  </p:childTnLst>
                                </p:cTn>
                              </p:par>
                              <p:par>
                                <p:cTn id="14" presetID="7" presetClass="emph" presetSubtype="2" fill="hold" nodeType="withEffect">
                                  <p:stCondLst>
                                    <p:cond delay="0"/>
                                  </p:stCondLst>
                                  <p:childTnLst>
                                    <p:animClr clrSpc="rgb" dir="cw">
                                      <p:cBhvr>
                                        <p:cTn id="15" dur="500" fill="hold"/>
                                        <p:tgtEl>
                                          <p:spTgt spid="19483"/>
                                        </p:tgtEl>
                                        <p:attrNameLst>
                                          <p:attrName>stroke.color</p:attrName>
                                        </p:attrNameLst>
                                      </p:cBhvr>
                                      <p:to>
                                        <a:srgbClr val="FF0000"/>
                                      </p:to>
                                    </p:animClr>
                                    <p:set>
                                      <p:cBhvr>
                                        <p:cTn id="16" dur="500" fill="hold"/>
                                        <p:tgtEl>
                                          <p:spTgt spid="1948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1" grpId="0"/>
      <p:bldP spid="1948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b="1" dirty="0"/>
              <a:t>Decision Tree Algorithms</a:t>
            </a:r>
          </a:p>
        </p:txBody>
      </p:sp>
      <p:sp>
        <p:nvSpPr>
          <p:cNvPr id="28675" name="Rectangle 3"/>
          <p:cNvSpPr>
            <a:spLocks noGrp="1" noChangeArrowheads="1"/>
          </p:cNvSpPr>
          <p:nvPr>
            <p:ph type="body" idx="1"/>
          </p:nvPr>
        </p:nvSpPr>
        <p:spPr/>
        <p:txBody>
          <a:bodyPr/>
          <a:lstStyle/>
          <a:p>
            <a:r>
              <a:rPr lang="en-US" sz="2800" dirty="0"/>
              <a:t>The basic idea behind any decision tree algorithm is as follows:</a:t>
            </a:r>
          </a:p>
          <a:p>
            <a:pPr lvl="1"/>
            <a:r>
              <a:rPr lang="en-US" sz="2400" dirty="0"/>
              <a:t>Choose the </a:t>
            </a:r>
            <a:r>
              <a:rPr lang="en-US" sz="2400" b="1" i="1" dirty="0">
                <a:solidFill>
                  <a:srgbClr val="00B050"/>
                </a:solidFill>
              </a:rPr>
              <a:t>best</a:t>
            </a:r>
            <a:r>
              <a:rPr lang="en-US" sz="2400" dirty="0"/>
              <a:t> attribute(s) to split the remaining instances and make that attribute a decision node</a:t>
            </a:r>
          </a:p>
          <a:p>
            <a:pPr lvl="1"/>
            <a:r>
              <a:rPr lang="en-US" sz="2400" dirty="0"/>
              <a:t>Repeat this process for recursively for each child</a:t>
            </a:r>
          </a:p>
          <a:p>
            <a:pPr lvl="1"/>
            <a:r>
              <a:rPr lang="en-US" sz="2400" dirty="0"/>
              <a:t>Stop when:</a:t>
            </a:r>
          </a:p>
          <a:p>
            <a:pPr lvl="2"/>
            <a:r>
              <a:rPr lang="en-US" sz="2000" dirty="0"/>
              <a:t>All the instances have the same </a:t>
            </a:r>
            <a:r>
              <a:rPr lang="en-US" sz="2000" b="1" dirty="0">
                <a:solidFill>
                  <a:srgbClr val="00B050"/>
                </a:solidFill>
              </a:rPr>
              <a:t>target attribute value</a:t>
            </a:r>
          </a:p>
          <a:p>
            <a:pPr lvl="2"/>
            <a:r>
              <a:rPr lang="en-US" sz="2000" dirty="0"/>
              <a:t>There are no more attributes</a:t>
            </a:r>
          </a:p>
          <a:p>
            <a:pPr lvl="2"/>
            <a:r>
              <a:rPr lang="en-US" sz="2000" dirty="0"/>
              <a:t>There are no more instances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b="1" dirty="0"/>
              <a:t>Identifying the Best Attributes</a:t>
            </a:r>
          </a:p>
        </p:txBody>
      </p:sp>
      <p:sp>
        <p:nvSpPr>
          <p:cNvPr id="29699" name="Rectangle 3"/>
          <p:cNvSpPr>
            <a:spLocks noGrp="1" noChangeArrowheads="1"/>
          </p:cNvSpPr>
          <p:nvPr>
            <p:ph type="body" idx="1"/>
          </p:nvPr>
        </p:nvSpPr>
        <p:spPr>
          <a:xfrm>
            <a:off x="762000" y="1219200"/>
            <a:ext cx="7661275" cy="609600"/>
          </a:xfrm>
        </p:spPr>
        <p:txBody>
          <a:bodyPr/>
          <a:lstStyle/>
          <a:p>
            <a:r>
              <a:rPr lang="en-US" dirty="0"/>
              <a:t>Refer back to our original decision tree</a:t>
            </a:r>
          </a:p>
          <a:p>
            <a:endParaRPr lang="en-US" dirty="0"/>
          </a:p>
        </p:txBody>
      </p:sp>
      <p:sp>
        <p:nvSpPr>
          <p:cNvPr id="29700" name="Rectangle 4"/>
          <p:cNvSpPr>
            <a:spLocks noChangeArrowheads="1"/>
          </p:cNvSpPr>
          <p:nvPr/>
        </p:nvSpPr>
        <p:spPr bwMode="auto">
          <a:xfrm>
            <a:off x="3505200" y="1828800"/>
            <a:ext cx="1295400" cy="381000"/>
          </a:xfrm>
          <a:prstGeom prst="rect">
            <a:avLst/>
          </a:prstGeom>
          <a:solidFill>
            <a:schemeClr val="accent1"/>
          </a:solidFill>
          <a:ln w="12700">
            <a:solidFill>
              <a:schemeClr val="tx1"/>
            </a:solidFill>
            <a:miter lim="800000"/>
            <a:headEnd/>
            <a:tailEnd/>
          </a:ln>
          <a:effectLst/>
        </p:spPr>
        <p:txBody>
          <a:bodyPr wrap="none" anchor="ctr"/>
          <a:lstStyle/>
          <a:p>
            <a:pPr algn="ctr"/>
            <a:r>
              <a:rPr lang="en-US">
                <a:solidFill>
                  <a:schemeClr val="bg1"/>
                </a:solidFill>
                <a:latin typeface="Times New Roman" pitchFamily="18" charset="0"/>
              </a:rPr>
              <a:t>Leave At</a:t>
            </a:r>
          </a:p>
        </p:txBody>
      </p:sp>
      <p:sp>
        <p:nvSpPr>
          <p:cNvPr id="29701" name="Rectangle 5"/>
          <p:cNvSpPr>
            <a:spLocks noChangeArrowheads="1"/>
          </p:cNvSpPr>
          <p:nvPr/>
        </p:nvSpPr>
        <p:spPr bwMode="auto">
          <a:xfrm>
            <a:off x="2057400" y="2895600"/>
            <a:ext cx="1193800" cy="304800"/>
          </a:xfrm>
          <a:prstGeom prst="rect">
            <a:avLst/>
          </a:prstGeom>
          <a:solidFill>
            <a:schemeClr val="accent1"/>
          </a:solidFill>
          <a:ln w="12700">
            <a:solidFill>
              <a:schemeClr val="tx1"/>
            </a:solidFill>
            <a:miter lim="800000"/>
            <a:headEnd/>
            <a:tailEnd/>
          </a:ln>
          <a:effectLst/>
        </p:spPr>
        <p:txBody>
          <a:bodyPr wrap="none" anchor="ctr"/>
          <a:lstStyle/>
          <a:p>
            <a:pPr algn="ctr"/>
            <a:r>
              <a:rPr lang="en-US">
                <a:solidFill>
                  <a:schemeClr val="bg1"/>
                </a:solidFill>
                <a:latin typeface="Times New Roman" pitchFamily="18" charset="0"/>
              </a:rPr>
              <a:t>Stall?</a:t>
            </a:r>
          </a:p>
        </p:txBody>
      </p:sp>
      <p:sp>
        <p:nvSpPr>
          <p:cNvPr id="29702" name="Rectangle 6"/>
          <p:cNvSpPr>
            <a:spLocks noChangeArrowheads="1"/>
          </p:cNvSpPr>
          <p:nvPr/>
        </p:nvSpPr>
        <p:spPr bwMode="auto">
          <a:xfrm>
            <a:off x="4648200" y="2819400"/>
            <a:ext cx="1219200" cy="304800"/>
          </a:xfrm>
          <a:prstGeom prst="rect">
            <a:avLst/>
          </a:prstGeom>
          <a:solidFill>
            <a:schemeClr val="accent1"/>
          </a:solidFill>
          <a:ln w="12700">
            <a:solidFill>
              <a:schemeClr val="tx1"/>
            </a:solidFill>
            <a:miter lim="800000"/>
            <a:headEnd/>
            <a:tailEnd/>
          </a:ln>
          <a:effectLst/>
        </p:spPr>
        <p:txBody>
          <a:bodyPr wrap="none" anchor="ctr"/>
          <a:lstStyle/>
          <a:p>
            <a:pPr algn="ctr"/>
            <a:r>
              <a:rPr lang="en-US">
                <a:solidFill>
                  <a:schemeClr val="bg1"/>
                </a:solidFill>
                <a:latin typeface="Times New Roman" pitchFamily="18" charset="0"/>
              </a:rPr>
              <a:t>Accident?</a:t>
            </a:r>
          </a:p>
        </p:txBody>
      </p:sp>
      <p:sp>
        <p:nvSpPr>
          <p:cNvPr id="29703" name="Text Box 7"/>
          <p:cNvSpPr txBox="1">
            <a:spLocks noChangeArrowheads="1"/>
          </p:cNvSpPr>
          <p:nvPr/>
        </p:nvSpPr>
        <p:spPr bwMode="auto">
          <a:xfrm>
            <a:off x="2057400" y="2438400"/>
            <a:ext cx="1092200" cy="304800"/>
          </a:xfrm>
          <a:prstGeom prst="rect">
            <a:avLst/>
          </a:prstGeom>
          <a:noFill/>
          <a:ln w="12700">
            <a:noFill/>
            <a:miter lim="800000"/>
            <a:headEnd/>
            <a:tailEnd/>
          </a:ln>
          <a:effectLst/>
        </p:spPr>
        <p:txBody>
          <a:bodyPr>
            <a:spAutoFit/>
          </a:bodyPr>
          <a:lstStyle/>
          <a:p>
            <a:pPr>
              <a:spcBef>
                <a:spcPct val="50000"/>
              </a:spcBef>
            </a:pPr>
            <a:r>
              <a:rPr lang="en-US" sz="1400">
                <a:latin typeface="Times New Roman" pitchFamily="18" charset="0"/>
              </a:rPr>
              <a:t>10 AM</a:t>
            </a:r>
          </a:p>
        </p:txBody>
      </p:sp>
      <p:sp>
        <p:nvSpPr>
          <p:cNvPr id="29704" name="Text Box 8"/>
          <p:cNvSpPr txBox="1">
            <a:spLocks noChangeArrowheads="1"/>
          </p:cNvSpPr>
          <p:nvPr/>
        </p:nvSpPr>
        <p:spPr bwMode="auto">
          <a:xfrm>
            <a:off x="5029200" y="2362200"/>
            <a:ext cx="947738" cy="304800"/>
          </a:xfrm>
          <a:prstGeom prst="rect">
            <a:avLst/>
          </a:prstGeom>
          <a:noFill/>
          <a:ln w="12700">
            <a:noFill/>
            <a:miter lim="800000"/>
            <a:headEnd/>
            <a:tailEnd/>
          </a:ln>
          <a:effectLst/>
        </p:spPr>
        <p:txBody>
          <a:bodyPr>
            <a:spAutoFit/>
          </a:bodyPr>
          <a:lstStyle/>
          <a:p>
            <a:pPr>
              <a:spcBef>
                <a:spcPct val="50000"/>
              </a:spcBef>
            </a:pPr>
            <a:r>
              <a:rPr lang="en-US" sz="1400">
                <a:latin typeface="Times New Roman" pitchFamily="18" charset="0"/>
              </a:rPr>
              <a:t>9 AM</a:t>
            </a:r>
          </a:p>
        </p:txBody>
      </p:sp>
      <p:cxnSp>
        <p:nvCxnSpPr>
          <p:cNvPr id="29705" name="AutoShape 9"/>
          <p:cNvCxnSpPr>
            <a:cxnSpLocks noChangeShapeType="1"/>
            <a:stCxn id="29700" idx="2"/>
            <a:endCxn id="29701" idx="0"/>
          </p:cNvCxnSpPr>
          <p:nvPr/>
        </p:nvCxnSpPr>
        <p:spPr bwMode="auto">
          <a:xfrm flipH="1">
            <a:off x="2654300" y="2209800"/>
            <a:ext cx="1498600" cy="685800"/>
          </a:xfrm>
          <a:prstGeom prst="straightConnector1">
            <a:avLst/>
          </a:prstGeom>
          <a:noFill/>
          <a:ln w="12700">
            <a:solidFill>
              <a:schemeClr val="tx1"/>
            </a:solidFill>
            <a:round/>
            <a:headEnd/>
            <a:tailEnd type="triangle" w="med" len="med"/>
          </a:ln>
          <a:effectLst/>
        </p:spPr>
      </p:cxnSp>
      <p:cxnSp>
        <p:nvCxnSpPr>
          <p:cNvPr id="29706" name="AutoShape 10"/>
          <p:cNvCxnSpPr>
            <a:cxnSpLocks noChangeShapeType="1"/>
            <a:stCxn id="29700" idx="2"/>
            <a:endCxn id="29702" idx="0"/>
          </p:cNvCxnSpPr>
          <p:nvPr/>
        </p:nvCxnSpPr>
        <p:spPr bwMode="auto">
          <a:xfrm>
            <a:off x="4152900" y="2209800"/>
            <a:ext cx="1104900" cy="609600"/>
          </a:xfrm>
          <a:prstGeom prst="straightConnector1">
            <a:avLst/>
          </a:prstGeom>
          <a:noFill/>
          <a:ln w="12700">
            <a:solidFill>
              <a:schemeClr val="tx1"/>
            </a:solidFill>
            <a:round/>
            <a:headEnd/>
            <a:tailEnd type="triangle" w="med" len="med"/>
          </a:ln>
          <a:effectLst/>
        </p:spPr>
      </p:cxnSp>
      <p:sp>
        <p:nvSpPr>
          <p:cNvPr id="29707" name="Text Box 11"/>
          <p:cNvSpPr txBox="1">
            <a:spLocks noChangeArrowheads="1"/>
          </p:cNvSpPr>
          <p:nvPr/>
        </p:nvSpPr>
        <p:spPr bwMode="auto">
          <a:xfrm>
            <a:off x="3929063" y="2514600"/>
            <a:ext cx="947737" cy="304800"/>
          </a:xfrm>
          <a:prstGeom prst="rect">
            <a:avLst/>
          </a:prstGeom>
          <a:noFill/>
          <a:ln w="12700">
            <a:noFill/>
            <a:miter lim="800000"/>
            <a:headEnd/>
            <a:tailEnd/>
          </a:ln>
          <a:effectLst/>
        </p:spPr>
        <p:txBody>
          <a:bodyPr>
            <a:spAutoFit/>
          </a:bodyPr>
          <a:lstStyle/>
          <a:p>
            <a:pPr>
              <a:spcBef>
                <a:spcPct val="50000"/>
              </a:spcBef>
            </a:pPr>
            <a:r>
              <a:rPr lang="en-US" sz="1400">
                <a:latin typeface="Times New Roman" pitchFamily="18" charset="0"/>
              </a:rPr>
              <a:t>8 AM</a:t>
            </a:r>
          </a:p>
        </p:txBody>
      </p:sp>
      <p:sp>
        <p:nvSpPr>
          <p:cNvPr id="29708" name="Text Box 12"/>
          <p:cNvSpPr txBox="1">
            <a:spLocks noChangeArrowheads="1"/>
          </p:cNvSpPr>
          <p:nvPr/>
        </p:nvSpPr>
        <p:spPr bwMode="auto">
          <a:xfrm>
            <a:off x="2514600" y="3581400"/>
            <a:ext cx="947738"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Long</a:t>
            </a:r>
          </a:p>
        </p:txBody>
      </p:sp>
      <p:sp>
        <p:nvSpPr>
          <p:cNvPr id="29709" name="Text Box 13"/>
          <p:cNvSpPr txBox="1">
            <a:spLocks noChangeArrowheads="1"/>
          </p:cNvSpPr>
          <p:nvPr/>
        </p:nvSpPr>
        <p:spPr bwMode="auto">
          <a:xfrm>
            <a:off x="3657600" y="3048000"/>
            <a:ext cx="947738"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Long</a:t>
            </a:r>
          </a:p>
        </p:txBody>
      </p:sp>
      <p:sp>
        <p:nvSpPr>
          <p:cNvPr id="29710" name="Text Box 14"/>
          <p:cNvSpPr txBox="1">
            <a:spLocks noChangeArrowheads="1"/>
          </p:cNvSpPr>
          <p:nvPr/>
        </p:nvSpPr>
        <p:spPr bwMode="auto">
          <a:xfrm>
            <a:off x="1752600" y="3581400"/>
            <a:ext cx="949325"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Short</a:t>
            </a:r>
          </a:p>
        </p:txBody>
      </p:sp>
      <p:sp>
        <p:nvSpPr>
          <p:cNvPr id="29711" name="Text Box 15"/>
          <p:cNvSpPr txBox="1">
            <a:spLocks noChangeArrowheads="1"/>
          </p:cNvSpPr>
          <p:nvPr/>
        </p:nvSpPr>
        <p:spPr bwMode="auto">
          <a:xfrm>
            <a:off x="4343400" y="3581400"/>
            <a:ext cx="1414463"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Medium</a:t>
            </a:r>
          </a:p>
        </p:txBody>
      </p:sp>
      <p:cxnSp>
        <p:nvCxnSpPr>
          <p:cNvPr id="29712" name="AutoShape 16"/>
          <p:cNvCxnSpPr>
            <a:cxnSpLocks noChangeShapeType="1"/>
            <a:stCxn id="29701" idx="2"/>
            <a:endCxn id="29708" idx="0"/>
          </p:cNvCxnSpPr>
          <p:nvPr/>
        </p:nvCxnSpPr>
        <p:spPr bwMode="auto">
          <a:xfrm>
            <a:off x="2654300" y="3200400"/>
            <a:ext cx="334963" cy="381000"/>
          </a:xfrm>
          <a:prstGeom prst="straightConnector1">
            <a:avLst/>
          </a:prstGeom>
          <a:noFill/>
          <a:ln w="12700">
            <a:solidFill>
              <a:schemeClr val="tx1"/>
            </a:solidFill>
            <a:round/>
            <a:headEnd/>
            <a:tailEnd type="triangle" w="med" len="med"/>
          </a:ln>
          <a:effectLst/>
        </p:spPr>
      </p:cxnSp>
      <p:sp>
        <p:nvSpPr>
          <p:cNvPr id="29713" name="Text Box 17"/>
          <p:cNvSpPr txBox="1">
            <a:spLocks noChangeArrowheads="1"/>
          </p:cNvSpPr>
          <p:nvPr/>
        </p:nvSpPr>
        <p:spPr bwMode="auto">
          <a:xfrm>
            <a:off x="1295400" y="3352800"/>
            <a:ext cx="947738"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No</a:t>
            </a:r>
          </a:p>
        </p:txBody>
      </p:sp>
      <p:sp>
        <p:nvSpPr>
          <p:cNvPr id="29714" name="Text Box 18"/>
          <p:cNvSpPr txBox="1">
            <a:spLocks noChangeArrowheads="1"/>
          </p:cNvSpPr>
          <p:nvPr/>
        </p:nvSpPr>
        <p:spPr bwMode="auto">
          <a:xfrm>
            <a:off x="2819400" y="3276600"/>
            <a:ext cx="947738"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Yes</a:t>
            </a:r>
          </a:p>
        </p:txBody>
      </p:sp>
      <p:cxnSp>
        <p:nvCxnSpPr>
          <p:cNvPr id="29715" name="AutoShape 19"/>
          <p:cNvCxnSpPr>
            <a:cxnSpLocks noChangeShapeType="1"/>
            <a:stCxn id="29700" idx="2"/>
            <a:endCxn id="29709" idx="0"/>
          </p:cNvCxnSpPr>
          <p:nvPr/>
        </p:nvCxnSpPr>
        <p:spPr bwMode="auto">
          <a:xfrm flipH="1">
            <a:off x="4132263" y="2209800"/>
            <a:ext cx="20637" cy="838200"/>
          </a:xfrm>
          <a:prstGeom prst="straightConnector1">
            <a:avLst/>
          </a:prstGeom>
          <a:noFill/>
          <a:ln w="12700">
            <a:solidFill>
              <a:schemeClr val="tx1"/>
            </a:solidFill>
            <a:round/>
            <a:headEnd/>
            <a:tailEnd type="triangle" w="med" len="med"/>
          </a:ln>
          <a:effectLst/>
        </p:spPr>
      </p:cxnSp>
      <p:cxnSp>
        <p:nvCxnSpPr>
          <p:cNvPr id="29716" name="AutoShape 20"/>
          <p:cNvCxnSpPr>
            <a:cxnSpLocks noChangeShapeType="1"/>
            <a:stCxn id="29702" idx="2"/>
            <a:endCxn id="29711" idx="0"/>
          </p:cNvCxnSpPr>
          <p:nvPr/>
        </p:nvCxnSpPr>
        <p:spPr bwMode="auto">
          <a:xfrm flipH="1">
            <a:off x="5051425" y="3124200"/>
            <a:ext cx="206375" cy="457200"/>
          </a:xfrm>
          <a:prstGeom prst="straightConnector1">
            <a:avLst/>
          </a:prstGeom>
          <a:noFill/>
          <a:ln w="12700">
            <a:solidFill>
              <a:schemeClr val="tx1"/>
            </a:solidFill>
            <a:round/>
            <a:headEnd/>
            <a:tailEnd type="triangle" w="med" len="med"/>
          </a:ln>
          <a:effectLst/>
        </p:spPr>
      </p:cxnSp>
      <p:cxnSp>
        <p:nvCxnSpPr>
          <p:cNvPr id="29717" name="AutoShape 21"/>
          <p:cNvCxnSpPr>
            <a:cxnSpLocks noChangeShapeType="1"/>
            <a:stCxn id="29702" idx="2"/>
            <a:endCxn id="29722" idx="0"/>
          </p:cNvCxnSpPr>
          <p:nvPr/>
        </p:nvCxnSpPr>
        <p:spPr bwMode="auto">
          <a:xfrm>
            <a:off x="5257800" y="3124200"/>
            <a:ext cx="474663" cy="457200"/>
          </a:xfrm>
          <a:prstGeom prst="straightConnector1">
            <a:avLst/>
          </a:prstGeom>
          <a:noFill/>
          <a:ln w="12700">
            <a:solidFill>
              <a:schemeClr val="tx1"/>
            </a:solidFill>
            <a:round/>
            <a:headEnd/>
            <a:tailEnd type="triangle" w="med" len="med"/>
          </a:ln>
          <a:effectLst/>
        </p:spPr>
      </p:cxnSp>
      <p:sp>
        <p:nvSpPr>
          <p:cNvPr id="29718" name="Text Box 22"/>
          <p:cNvSpPr txBox="1">
            <a:spLocks noChangeArrowheads="1"/>
          </p:cNvSpPr>
          <p:nvPr/>
        </p:nvSpPr>
        <p:spPr bwMode="auto">
          <a:xfrm>
            <a:off x="4419600" y="3276600"/>
            <a:ext cx="947738"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No</a:t>
            </a:r>
          </a:p>
        </p:txBody>
      </p:sp>
      <p:cxnSp>
        <p:nvCxnSpPr>
          <p:cNvPr id="29720" name="AutoShape 24"/>
          <p:cNvCxnSpPr>
            <a:cxnSpLocks noChangeShapeType="1"/>
            <a:stCxn id="29701" idx="2"/>
            <a:endCxn id="29710" idx="0"/>
          </p:cNvCxnSpPr>
          <p:nvPr/>
        </p:nvCxnSpPr>
        <p:spPr bwMode="auto">
          <a:xfrm flipH="1">
            <a:off x="2227263" y="3200400"/>
            <a:ext cx="427037" cy="381000"/>
          </a:xfrm>
          <a:prstGeom prst="straightConnector1">
            <a:avLst/>
          </a:prstGeom>
          <a:noFill/>
          <a:ln w="9525">
            <a:solidFill>
              <a:schemeClr val="tx1"/>
            </a:solidFill>
            <a:round/>
            <a:headEnd/>
            <a:tailEnd type="triangle" w="med" len="med"/>
          </a:ln>
          <a:effectLst/>
        </p:spPr>
      </p:cxnSp>
      <p:sp>
        <p:nvSpPr>
          <p:cNvPr id="29721" name="Text Box 25"/>
          <p:cNvSpPr txBox="1">
            <a:spLocks noChangeArrowheads="1"/>
          </p:cNvSpPr>
          <p:nvPr/>
        </p:nvSpPr>
        <p:spPr bwMode="auto">
          <a:xfrm>
            <a:off x="5334000" y="3276600"/>
            <a:ext cx="947738"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Yes</a:t>
            </a:r>
          </a:p>
        </p:txBody>
      </p:sp>
      <p:sp>
        <p:nvSpPr>
          <p:cNvPr id="29722" name="Text Box 26"/>
          <p:cNvSpPr txBox="1">
            <a:spLocks noChangeArrowheads="1"/>
          </p:cNvSpPr>
          <p:nvPr/>
        </p:nvSpPr>
        <p:spPr bwMode="auto">
          <a:xfrm>
            <a:off x="5257800" y="3581400"/>
            <a:ext cx="947738" cy="304800"/>
          </a:xfrm>
          <a:prstGeom prst="rect">
            <a:avLst/>
          </a:prstGeom>
          <a:noFill/>
          <a:ln w="12700">
            <a:noFill/>
            <a:miter lim="800000"/>
            <a:headEnd/>
            <a:tailEnd/>
          </a:ln>
          <a:effectLst/>
        </p:spPr>
        <p:txBody>
          <a:bodyPr>
            <a:spAutoFit/>
          </a:bodyPr>
          <a:lstStyle/>
          <a:p>
            <a:pPr algn="ctr">
              <a:spcBef>
                <a:spcPct val="50000"/>
              </a:spcBef>
            </a:pPr>
            <a:r>
              <a:rPr lang="en-US" sz="1400">
                <a:latin typeface="Times New Roman" pitchFamily="18" charset="0"/>
              </a:rPr>
              <a:t>Long</a:t>
            </a:r>
          </a:p>
        </p:txBody>
      </p:sp>
      <p:sp>
        <p:nvSpPr>
          <p:cNvPr id="29723" name="Rectangle 27"/>
          <p:cNvSpPr>
            <a:spLocks noChangeArrowheads="1"/>
          </p:cNvSpPr>
          <p:nvPr/>
        </p:nvSpPr>
        <p:spPr bwMode="auto">
          <a:xfrm>
            <a:off x="457200" y="4267200"/>
            <a:ext cx="8153400" cy="1752600"/>
          </a:xfrm>
          <a:prstGeom prst="rect">
            <a:avLst/>
          </a:prstGeom>
          <a:noFill/>
          <a:ln w="9525">
            <a:noFill/>
            <a:miter lim="800000"/>
            <a:headEnd/>
            <a:tailEnd/>
          </a:ln>
          <a:effectLst/>
        </p:spPr>
        <p:txBody>
          <a:bodyPr/>
          <a:lstStyle/>
          <a:p>
            <a:pPr marL="447675" indent="-447675" eaLnBrk="1" hangingPunct="1">
              <a:spcBef>
                <a:spcPct val="20000"/>
              </a:spcBef>
              <a:buClr>
                <a:schemeClr val="accent1"/>
              </a:buClr>
              <a:buSzPct val="70000"/>
              <a:buFont typeface="Wingdings" pitchFamily="2" charset="2"/>
              <a:buChar char="n"/>
            </a:pPr>
            <a:r>
              <a:rPr lang="en-US" sz="3200" dirty="0"/>
              <a:t>How did we know to split on </a:t>
            </a:r>
            <a:r>
              <a:rPr lang="en-US" sz="3200" i="1" dirty="0"/>
              <a:t>leave at</a:t>
            </a:r>
            <a:r>
              <a:rPr lang="en-US" sz="3200" dirty="0"/>
              <a:t> and then on </a:t>
            </a:r>
            <a:r>
              <a:rPr lang="en-US" sz="3200" i="1" dirty="0"/>
              <a:t>stall </a:t>
            </a:r>
            <a:r>
              <a:rPr lang="en-US" sz="3200" dirty="0"/>
              <a:t>and </a:t>
            </a:r>
            <a:r>
              <a:rPr lang="en-US" sz="3200" i="1" dirty="0"/>
              <a:t>accident </a:t>
            </a:r>
            <a:r>
              <a:rPr lang="en-US" sz="3200" dirty="0"/>
              <a:t>and not weather?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b="1" dirty="0"/>
              <a:t>ID3 Heuristic</a:t>
            </a:r>
          </a:p>
        </p:txBody>
      </p:sp>
      <p:sp>
        <p:nvSpPr>
          <p:cNvPr id="30723" name="Rectangle 3"/>
          <p:cNvSpPr>
            <a:spLocks noGrp="1" noChangeArrowheads="1"/>
          </p:cNvSpPr>
          <p:nvPr>
            <p:ph type="body" idx="1"/>
          </p:nvPr>
        </p:nvSpPr>
        <p:spPr/>
        <p:txBody>
          <a:bodyPr/>
          <a:lstStyle/>
          <a:p>
            <a:r>
              <a:rPr lang="en-US"/>
              <a:t>To determine the best attribute, we look at the ID3 heuristic</a:t>
            </a:r>
          </a:p>
          <a:p>
            <a:r>
              <a:rPr lang="en-US"/>
              <a:t>ID3 splits attributes based on their </a:t>
            </a:r>
            <a:r>
              <a:rPr lang="en-US" i="1"/>
              <a:t>entropy</a:t>
            </a:r>
            <a:r>
              <a:rPr lang="en-US"/>
              <a:t>.</a:t>
            </a:r>
          </a:p>
          <a:p>
            <a:r>
              <a:rPr lang="en-US"/>
              <a:t>Entropy is the measure of disinformation…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433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14340" name="Rectangle 4"/>
          <p:cNvSpPr>
            <a:spLocks noGrp="1" noChangeArrowheads="1"/>
          </p:cNvSpPr>
          <p:nvPr>
            <p:ph type="ctrTitle"/>
          </p:nvPr>
        </p:nvSpPr>
        <p:spPr/>
        <p:txBody>
          <a:bodyPr/>
          <a:lstStyle/>
          <a:p>
            <a:r>
              <a:rPr lang="en-US" b="1" dirty="0"/>
              <a:t>Bayesian Classification</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676400" y="304800"/>
            <a:ext cx="6629400" cy="707886"/>
          </a:xfrm>
          <a:prstGeom prst="rect">
            <a:avLst/>
          </a:prstGeom>
          <a:noFill/>
          <a:ln w="9525">
            <a:noFill/>
            <a:miter lim="800000"/>
            <a:headEnd/>
            <a:tailEnd/>
          </a:ln>
        </p:spPr>
        <p:txBody>
          <a:bodyPr wrap="square">
            <a:spAutoFit/>
          </a:bodyPr>
          <a:lstStyle/>
          <a:p>
            <a:pPr>
              <a:spcBef>
                <a:spcPct val="50000"/>
              </a:spcBef>
            </a:pPr>
            <a:r>
              <a:rPr lang="en-US" sz="4000" b="1" dirty="0">
                <a:solidFill>
                  <a:srgbClr val="C00000"/>
                </a:solidFill>
                <a:latin typeface="+mj-lt"/>
              </a:rPr>
              <a:t>Use of </a:t>
            </a:r>
            <a:r>
              <a:rPr lang="en-US" sz="4000" b="1" dirty="0" err="1">
                <a:solidFill>
                  <a:srgbClr val="C00000"/>
                </a:solidFill>
                <a:latin typeface="+mj-lt"/>
              </a:rPr>
              <a:t>Bayes</a:t>
            </a:r>
            <a:r>
              <a:rPr lang="en-US" sz="4000" b="1" dirty="0">
                <a:solidFill>
                  <a:srgbClr val="C00000"/>
                </a:solidFill>
                <a:latin typeface="+mj-lt"/>
              </a:rPr>
              <a:t>’ Theorem</a:t>
            </a:r>
          </a:p>
        </p:txBody>
      </p:sp>
      <p:sp>
        <p:nvSpPr>
          <p:cNvPr id="4" name="Text Box 6"/>
          <p:cNvSpPr txBox="1">
            <a:spLocks noChangeArrowheads="1"/>
          </p:cNvSpPr>
          <p:nvPr/>
        </p:nvSpPr>
        <p:spPr bwMode="auto">
          <a:xfrm>
            <a:off x="228600" y="990600"/>
            <a:ext cx="8686800" cy="2846933"/>
          </a:xfrm>
          <a:prstGeom prst="rect">
            <a:avLst/>
          </a:prstGeom>
          <a:noFill/>
          <a:ln w="9525">
            <a:noFill/>
            <a:miter lim="800000"/>
            <a:headEnd/>
            <a:tailEnd/>
          </a:ln>
        </p:spPr>
        <p:txBody>
          <a:bodyPr wrap="square">
            <a:spAutoFit/>
          </a:bodyPr>
          <a:lstStyle/>
          <a:p>
            <a:pPr marL="288925" indent="-288925" algn="just">
              <a:spcBef>
                <a:spcPct val="50000"/>
              </a:spcBef>
              <a:buFont typeface="Wingdings" pitchFamily="2" charset="2"/>
              <a:buChar char="§"/>
            </a:pPr>
            <a:r>
              <a:rPr lang="en-US" sz="1600" dirty="0"/>
              <a:t>This theorem is commonly used in a scenario when you have the (a priori) probabilities of an </a:t>
            </a:r>
            <a:r>
              <a:rPr lang="en-US" sz="1600" b="1" dirty="0"/>
              <a:t>event B</a:t>
            </a:r>
            <a:r>
              <a:rPr lang="en-US" sz="1600" dirty="0"/>
              <a:t> occurring </a:t>
            </a:r>
            <a:r>
              <a:rPr lang="en-US" sz="1600" b="1" dirty="0"/>
              <a:t>given that a number of events A have occurred</a:t>
            </a:r>
            <a:r>
              <a:rPr lang="en-US" sz="1600" dirty="0"/>
              <a:t>. </a:t>
            </a:r>
          </a:p>
          <a:p>
            <a:pPr marL="288925" indent="-288925" algn="just">
              <a:spcBef>
                <a:spcPct val="50000"/>
              </a:spcBef>
              <a:buFont typeface="Wingdings" pitchFamily="2" charset="2"/>
              <a:buChar char="§"/>
            </a:pPr>
            <a:r>
              <a:rPr lang="en-US" sz="1600" dirty="0"/>
              <a:t>The question that you want to answer in this scenario is to work backwards – i.e. what is the probability that one of the </a:t>
            </a:r>
            <a:r>
              <a:rPr lang="en-US" sz="1600" b="1" dirty="0"/>
              <a:t>events A</a:t>
            </a:r>
            <a:r>
              <a:rPr lang="en-US" sz="1600" dirty="0"/>
              <a:t> occurred </a:t>
            </a:r>
            <a:r>
              <a:rPr lang="en-US" sz="1600" b="1" dirty="0"/>
              <a:t>given that B occurred</a:t>
            </a:r>
            <a:r>
              <a:rPr lang="en-US" sz="1600" dirty="0"/>
              <a:t>. </a:t>
            </a:r>
          </a:p>
          <a:p>
            <a:pPr marL="288925" indent="-288925" algn="just">
              <a:spcBef>
                <a:spcPct val="50000"/>
              </a:spcBef>
              <a:buFont typeface="Wingdings" pitchFamily="2" charset="2"/>
              <a:buChar char="§"/>
            </a:pPr>
            <a:r>
              <a:rPr lang="en-US" sz="1600" dirty="0"/>
              <a:t>This comes up frequently in data mining, where I have, for example, the event that data X</a:t>
            </a:r>
            <a:r>
              <a:rPr lang="en-US" sz="1600" baseline="-25000" dirty="0"/>
              <a:t>i</a:t>
            </a:r>
            <a:r>
              <a:rPr lang="en-US" sz="1600" dirty="0"/>
              <a:t> that occurred with probability P(X</a:t>
            </a:r>
            <a:r>
              <a:rPr lang="en-US" sz="1600" baseline="-25000" dirty="0"/>
              <a:t>i</a:t>
            </a:r>
            <a:r>
              <a:rPr lang="en-US" sz="1600" dirty="0"/>
              <a:t>) belonged to class C, i.e. </a:t>
            </a:r>
            <a:r>
              <a:rPr lang="en-US" sz="1600" b="1" dirty="0"/>
              <a:t>P(X|C)</a:t>
            </a:r>
          </a:p>
          <a:p>
            <a:pPr marL="288925" indent="-288925" algn="just">
              <a:spcBef>
                <a:spcPct val="50000"/>
              </a:spcBef>
              <a:buFont typeface="Wingdings" pitchFamily="2" charset="2"/>
              <a:buChar char="§"/>
            </a:pPr>
            <a:r>
              <a:rPr lang="en-US" sz="1600" dirty="0"/>
              <a:t>What I then want to answer is: “what is the probability of </a:t>
            </a:r>
            <a:r>
              <a:rPr lang="en-US" sz="1600" b="1" dirty="0"/>
              <a:t>class C</a:t>
            </a:r>
            <a:r>
              <a:rPr lang="en-US" sz="1600" dirty="0"/>
              <a:t> if I observe </a:t>
            </a:r>
            <a:r>
              <a:rPr lang="en-US" sz="1600" b="1" dirty="0"/>
              <a:t>data X</a:t>
            </a:r>
            <a:r>
              <a:rPr lang="en-US" sz="1600" dirty="0"/>
              <a:t>?”, i.e. </a:t>
            </a:r>
            <a:r>
              <a:rPr lang="en-US" sz="1600" b="1" dirty="0"/>
              <a:t>P(C|X)</a:t>
            </a:r>
            <a:r>
              <a:rPr lang="en-US" sz="1600" dirty="0"/>
              <a:t>.  Once I calculate this, I simply choose the class with the </a:t>
            </a:r>
            <a:r>
              <a:rPr lang="en-US" sz="1600" b="1" dirty="0"/>
              <a:t>largest probability</a:t>
            </a:r>
            <a:r>
              <a:rPr lang="en-US" sz="1600" dirty="0"/>
              <a:t>.</a:t>
            </a:r>
          </a:p>
          <a:p>
            <a:pPr marL="288925" indent="-288925" algn="just">
              <a:spcBef>
                <a:spcPct val="50000"/>
              </a:spcBef>
              <a:buFont typeface="Wingdings" pitchFamily="2" charset="2"/>
              <a:buChar char="§"/>
            </a:pPr>
            <a:endParaRPr lang="en-US" dirty="0"/>
          </a:p>
        </p:txBody>
      </p:sp>
      <p:sp>
        <p:nvSpPr>
          <p:cNvPr id="5" name="Rectangle 4"/>
          <p:cNvSpPr/>
          <p:nvPr/>
        </p:nvSpPr>
        <p:spPr>
          <a:xfrm>
            <a:off x="1981200" y="3581400"/>
            <a:ext cx="5562600" cy="2057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286000" y="3810000"/>
            <a:ext cx="5029200" cy="1600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3505200" y="3581400"/>
            <a:ext cx="0" cy="205740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209800" y="5791200"/>
            <a:ext cx="922047" cy="369332"/>
          </a:xfrm>
          <a:prstGeom prst="rect">
            <a:avLst/>
          </a:prstGeom>
          <a:noFill/>
        </p:spPr>
        <p:txBody>
          <a:bodyPr wrap="none" rtlCol="0">
            <a:spAutoFit/>
          </a:bodyPr>
          <a:lstStyle/>
          <a:p>
            <a:r>
              <a:rPr lang="en-US" b="1" dirty="0"/>
              <a:t>P(C=1)</a:t>
            </a:r>
          </a:p>
        </p:txBody>
      </p:sp>
      <p:sp>
        <p:nvSpPr>
          <p:cNvPr id="11" name="TextBox 10"/>
          <p:cNvSpPr txBox="1"/>
          <p:nvPr/>
        </p:nvSpPr>
        <p:spPr>
          <a:xfrm>
            <a:off x="4876800" y="5715000"/>
            <a:ext cx="922047" cy="369332"/>
          </a:xfrm>
          <a:prstGeom prst="rect">
            <a:avLst/>
          </a:prstGeom>
          <a:noFill/>
        </p:spPr>
        <p:txBody>
          <a:bodyPr wrap="none" rtlCol="0">
            <a:spAutoFit/>
          </a:bodyPr>
          <a:lstStyle/>
          <a:p>
            <a:r>
              <a:rPr lang="en-US" b="1" dirty="0"/>
              <a:t>P(C=2)</a:t>
            </a:r>
          </a:p>
        </p:txBody>
      </p:sp>
      <p:sp>
        <p:nvSpPr>
          <p:cNvPr id="12" name="TextBox 11"/>
          <p:cNvSpPr txBox="1"/>
          <p:nvPr/>
        </p:nvSpPr>
        <p:spPr>
          <a:xfrm>
            <a:off x="2362200" y="4343400"/>
            <a:ext cx="1135247" cy="369332"/>
          </a:xfrm>
          <a:prstGeom prst="rect">
            <a:avLst/>
          </a:prstGeom>
          <a:noFill/>
        </p:spPr>
        <p:txBody>
          <a:bodyPr wrap="none" rtlCol="0">
            <a:spAutoFit/>
          </a:bodyPr>
          <a:lstStyle/>
          <a:p>
            <a:r>
              <a:rPr lang="en-US" b="1" dirty="0"/>
              <a:t>P(X|C=1)</a:t>
            </a:r>
          </a:p>
        </p:txBody>
      </p:sp>
      <p:sp>
        <p:nvSpPr>
          <p:cNvPr id="13" name="TextBox 12"/>
          <p:cNvSpPr txBox="1"/>
          <p:nvPr/>
        </p:nvSpPr>
        <p:spPr>
          <a:xfrm>
            <a:off x="4876800" y="4343400"/>
            <a:ext cx="1135247" cy="369332"/>
          </a:xfrm>
          <a:prstGeom prst="rect">
            <a:avLst/>
          </a:prstGeom>
          <a:noFill/>
        </p:spPr>
        <p:txBody>
          <a:bodyPr wrap="none" rtlCol="0">
            <a:spAutoFit/>
          </a:bodyPr>
          <a:lstStyle/>
          <a:p>
            <a:r>
              <a:rPr lang="en-US" b="1" dirty="0"/>
              <a:t>P(X|C=2)</a:t>
            </a:r>
          </a:p>
        </p:txBody>
      </p:sp>
      <p:cxnSp>
        <p:nvCxnSpPr>
          <p:cNvPr id="15" name="Straight Arrow Connector 14"/>
          <p:cNvCxnSpPr>
            <a:endCxn id="6" idx="7"/>
          </p:cNvCxnSpPr>
          <p:nvPr/>
        </p:nvCxnSpPr>
        <p:spPr>
          <a:xfrm flipH="1">
            <a:off x="6578690" y="3733800"/>
            <a:ext cx="1346110" cy="3105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001000" y="3505200"/>
            <a:ext cx="646331" cy="369332"/>
          </a:xfrm>
          <a:prstGeom prst="rect">
            <a:avLst/>
          </a:prstGeom>
          <a:noFill/>
        </p:spPr>
        <p:txBody>
          <a:bodyPr wrap="none" rtlCol="0">
            <a:spAutoFit/>
          </a:bodyPr>
          <a:lstStyle/>
          <a:p>
            <a:r>
              <a:rPr lang="en-US" b="1" dirty="0"/>
              <a:t>P(X)</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ext Box 2"/>
          <p:cNvSpPr txBox="1">
            <a:spLocks noChangeArrowheads="1"/>
          </p:cNvSpPr>
          <p:nvPr/>
        </p:nvSpPr>
        <p:spPr bwMode="auto">
          <a:xfrm>
            <a:off x="457200" y="304800"/>
            <a:ext cx="6705600" cy="707886"/>
          </a:xfrm>
          <a:prstGeom prst="rect">
            <a:avLst/>
          </a:prstGeom>
          <a:noFill/>
          <a:ln w="9525">
            <a:noFill/>
            <a:miter lim="800000"/>
            <a:headEnd/>
            <a:tailEnd/>
          </a:ln>
        </p:spPr>
        <p:txBody>
          <a:bodyPr wrap="square">
            <a:spAutoFit/>
          </a:bodyPr>
          <a:lstStyle/>
          <a:p>
            <a:pPr>
              <a:spcBef>
                <a:spcPct val="50000"/>
              </a:spcBef>
            </a:pPr>
            <a:r>
              <a:rPr lang="en-US" sz="4000" b="1" dirty="0">
                <a:solidFill>
                  <a:srgbClr val="C00000"/>
                </a:solidFill>
                <a:latin typeface="+mj-lt"/>
              </a:rPr>
              <a:t>Classification Formulation</a:t>
            </a:r>
          </a:p>
        </p:txBody>
      </p:sp>
      <p:graphicFrame>
        <p:nvGraphicFramePr>
          <p:cNvPr id="16387" name="Object 3"/>
          <p:cNvGraphicFramePr>
            <a:graphicFrameLocks noChangeAspect="1"/>
          </p:cNvGraphicFramePr>
          <p:nvPr/>
        </p:nvGraphicFramePr>
        <p:xfrm>
          <a:off x="758825" y="1981200"/>
          <a:ext cx="6510338" cy="1519238"/>
        </p:xfrm>
        <a:graphic>
          <a:graphicData uri="http://schemas.openxmlformats.org/presentationml/2006/ole">
            <mc:AlternateContent xmlns:mc="http://schemas.openxmlformats.org/markup-compatibility/2006">
              <mc:Choice xmlns:v="urn:schemas-microsoft-com:vml" Requires="v">
                <p:oleObj name="Equation" r:id="rId3" imgW="3213000" imgH="749160" progId="Equation.DSMT4">
                  <p:embed/>
                </p:oleObj>
              </mc:Choice>
              <mc:Fallback>
                <p:oleObj name="Equation" r:id="rId3" imgW="3213000" imgH="749160" progId="Equation.DSMT4">
                  <p:embed/>
                  <p:pic>
                    <p:nvPicPr>
                      <p:cNvPr id="1638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25" y="1981200"/>
                        <a:ext cx="6510338" cy="1519238"/>
                      </a:xfrm>
                      <a:prstGeom prst="rect">
                        <a:avLst/>
                      </a:prstGeom>
                      <a:noFill/>
                      <a:ln w="15875">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Text Box 4"/>
          <p:cNvSpPr txBox="1">
            <a:spLocks noChangeArrowheads="1"/>
          </p:cNvSpPr>
          <p:nvPr/>
        </p:nvSpPr>
        <p:spPr bwMode="auto">
          <a:xfrm>
            <a:off x="533400" y="1066800"/>
            <a:ext cx="8153400" cy="707886"/>
          </a:xfrm>
          <a:prstGeom prst="rect">
            <a:avLst/>
          </a:prstGeom>
          <a:noFill/>
          <a:ln w="9525">
            <a:noFill/>
            <a:miter lim="800000"/>
            <a:headEnd/>
            <a:tailEnd/>
          </a:ln>
        </p:spPr>
        <p:txBody>
          <a:bodyPr>
            <a:spAutoFit/>
          </a:bodyPr>
          <a:lstStyle/>
          <a:p>
            <a:pPr>
              <a:spcBef>
                <a:spcPct val="50000"/>
              </a:spcBef>
            </a:pPr>
            <a:r>
              <a:rPr lang="en-US" sz="2000" dirty="0"/>
              <a:t>Let </a:t>
            </a:r>
            <a:r>
              <a:rPr lang="en-US" sz="2000" dirty="0" err="1"/>
              <a:t>C</a:t>
            </a:r>
            <a:r>
              <a:rPr lang="en-US" sz="2000" baseline="-25000" dirty="0" err="1"/>
              <a:t>j</a:t>
            </a:r>
            <a:r>
              <a:rPr lang="en-US" sz="2000" dirty="0"/>
              <a:t> be the mutually exclusive and exhaustive event that a data element X is observed to belong to class j. Now, using </a:t>
            </a:r>
            <a:r>
              <a:rPr lang="en-US" sz="2000" dirty="0" err="1"/>
              <a:t>Bayes</a:t>
            </a:r>
            <a:r>
              <a:rPr lang="en-US" sz="2000" dirty="0"/>
              <a:t>’ theorem</a:t>
            </a:r>
          </a:p>
        </p:txBody>
      </p:sp>
      <p:graphicFrame>
        <p:nvGraphicFramePr>
          <p:cNvPr id="16389" name="Object 5"/>
          <p:cNvGraphicFramePr>
            <a:graphicFrameLocks noChangeAspect="1"/>
          </p:cNvGraphicFramePr>
          <p:nvPr/>
        </p:nvGraphicFramePr>
        <p:xfrm>
          <a:off x="2971800" y="3581400"/>
          <a:ext cx="1752600" cy="498475"/>
        </p:xfrm>
        <a:graphic>
          <a:graphicData uri="http://schemas.openxmlformats.org/presentationml/2006/ole">
            <mc:AlternateContent xmlns:mc="http://schemas.openxmlformats.org/markup-compatibility/2006">
              <mc:Choice xmlns:v="urn:schemas-microsoft-com:vml" Requires="v">
                <p:oleObj name="Equation" r:id="rId5" imgW="711000" imgH="203040" progId="Equation.DSMT4">
                  <p:embed/>
                </p:oleObj>
              </mc:Choice>
              <mc:Fallback>
                <p:oleObj name="Equation" r:id="rId5" imgW="711000" imgH="203040" progId="Equation.DSMT4">
                  <p:embed/>
                  <p:pic>
                    <p:nvPicPr>
                      <p:cNvPr id="1638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3581400"/>
                        <a:ext cx="1752600"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533400" y="4191000"/>
            <a:ext cx="8153400" cy="1323439"/>
          </a:xfrm>
          <a:prstGeom prst="rect">
            <a:avLst/>
          </a:prstGeom>
          <a:noFill/>
          <a:ln w="9525">
            <a:noFill/>
            <a:miter lim="800000"/>
            <a:headEnd/>
            <a:tailEnd/>
          </a:ln>
        </p:spPr>
        <p:txBody>
          <a:bodyPr>
            <a:spAutoFit/>
          </a:bodyPr>
          <a:lstStyle/>
          <a:p>
            <a:pPr>
              <a:spcBef>
                <a:spcPct val="50000"/>
              </a:spcBef>
            </a:pPr>
            <a:r>
              <a:rPr lang="en-US" sz="2000" dirty="0"/>
              <a:t>Note: What this says is that if I observe data element X</a:t>
            </a:r>
            <a:r>
              <a:rPr lang="en-US" sz="2000" baseline="-25000" dirty="0"/>
              <a:t> </a:t>
            </a:r>
            <a:r>
              <a:rPr lang="en-US" sz="2000" dirty="0"/>
              <a:t> and its class C and I have some idea of the priori probability of the class </a:t>
            </a:r>
            <a:r>
              <a:rPr lang="en-US" sz="2000" dirty="0" err="1"/>
              <a:t>C</a:t>
            </a:r>
            <a:r>
              <a:rPr lang="en-US" sz="2000" baseline="-25000" dirty="0" err="1"/>
              <a:t>j</a:t>
            </a:r>
            <a:r>
              <a:rPr lang="en-US" sz="2000" dirty="0"/>
              <a:t>, I can determine the probability that when I have data element X, class </a:t>
            </a:r>
            <a:r>
              <a:rPr lang="en-US" sz="2000" dirty="0" err="1"/>
              <a:t>C</a:t>
            </a:r>
            <a:r>
              <a:rPr lang="en-US" sz="2000" baseline="-25000" dirty="0" err="1"/>
              <a:t>j</a:t>
            </a:r>
            <a:r>
              <a:rPr lang="en-US" sz="2000" dirty="0"/>
              <a:t> is associated with it. </a:t>
            </a:r>
            <a:endParaRPr lang="en-US" sz="2000" baseline="-25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0"/>
                                  </p:stCondLst>
                                  <p:childTnLst>
                                    <p:set>
                                      <p:cBhvr>
                                        <p:cTn id="11" dur="1" fill="hold">
                                          <p:stCondLst>
                                            <p:cond delay="0"/>
                                          </p:stCondLst>
                                        </p:cTn>
                                        <p:tgtEl>
                                          <p:spTgt spid="16389"/>
                                        </p:tgtEl>
                                        <p:attrNameLst>
                                          <p:attrName>style.visibility</p:attrName>
                                        </p:attrNameLst>
                                      </p:cBhvr>
                                      <p:to>
                                        <p:strVal val="visible"/>
                                      </p:to>
                                    </p:set>
                                    <p:anim calcmode="lin" valueType="num">
                                      <p:cBhvr additive="base">
                                        <p:cTn id="12" dur="500" fill="hold"/>
                                        <p:tgtEl>
                                          <p:spTgt spid="16389"/>
                                        </p:tgtEl>
                                        <p:attrNameLst>
                                          <p:attrName>ppt_x</p:attrName>
                                        </p:attrNameLst>
                                      </p:cBhvr>
                                      <p:tavLst>
                                        <p:tav tm="0">
                                          <p:val>
                                            <p:strVal val="#ppt_x"/>
                                          </p:val>
                                        </p:tav>
                                        <p:tav tm="100000">
                                          <p:val>
                                            <p:strVal val="#ppt_x"/>
                                          </p:val>
                                        </p:tav>
                                      </p:tavLst>
                                    </p:anim>
                                    <p:anim calcmode="lin" valueType="num">
                                      <p:cBhvr additive="base">
                                        <p:cTn id="13"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b="1" dirty="0"/>
              <a:t>Naïve </a:t>
            </a:r>
            <a:r>
              <a:rPr lang="en-US" b="1" dirty="0" err="1"/>
              <a:t>Bayes</a:t>
            </a:r>
            <a:r>
              <a:rPr lang="en-US" b="1" dirty="0"/>
              <a:t> Classifier (I)</a:t>
            </a:r>
          </a:p>
        </p:txBody>
      </p:sp>
      <p:sp>
        <p:nvSpPr>
          <p:cNvPr id="18435" name="Rectangle 3"/>
          <p:cNvSpPr>
            <a:spLocks noGrp="1" noChangeArrowheads="1"/>
          </p:cNvSpPr>
          <p:nvPr>
            <p:ph type="body" idx="1"/>
          </p:nvPr>
        </p:nvSpPr>
        <p:spPr>
          <a:xfrm>
            <a:off x="304800" y="1219200"/>
            <a:ext cx="8229600" cy="4530725"/>
          </a:xfrm>
        </p:spPr>
        <p:txBody>
          <a:bodyPr/>
          <a:lstStyle/>
          <a:p>
            <a:r>
              <a:rPr lang="en-US" dirty="0"/>
              <a:t>This allows us to use </a:t>
            </a:r>
            <a:r>
              <a:rPr lang="en-US" dirty="0" err="1"/>
              <a:t>Bayes</a:t>
            </a:r>
            <a:r>
              <a:rPr lang="en-US" dirty="0"/>
              <a:t>’ theorem as</a:t>
            </a:r>
          </a:p>
          <a:p>
            <a:endParaRPr lang="en-US" dirty="0"/>
          </a:p>
          <a:p>
            <a:endParaRPr lang="en-US" dirty="0"/>
          </a:p>
          <a:p>
            <a:endParaRPr lang="en-US" dirty="0"/>
          </a:p>
          <a:p>
            <a:r>
              <a:rPr lang="en-US" dirty="0"/>
              <a:t>We will also ignore the denominator in </a:t>
            </a:r>
            <a:r>
              <a:rPr lang="en-US" dirty="0" err="1"/>
              <a:t>Bayes</a:t>
            </a:r>
            <a:r>
              <a:rPr lang="en-US" dirty="0"/>
              <a:t>’ theorem, since it is summed over all </a:t>
            </a:r>
            <a:r>
              <a:rPr lang="en-US" i="1" dirty="0" err="1">
                <a:latin typeface="Times New Roman" pitchFamily="18" charset="0"/>
                <a:cs typeface="Times New Roman" pitchFamily="18" charset="0"/>
              </a:rPr>
              <a:t>C</a:t>
            </a:r>
            <a:r>
              <a:rPr lang="en-US" i="1" baseline="-25000" dirty="0" err="1">
                <a:latin typeface="Times New Roman" pitchFamily="18" charset="0"/>
                <a:cs typeface="Times New Roman" pitchFamily="18" charset="0"/>
              </a:rPr>
              <a:t>j</a:t>
            </a:r>
            <a:endParaRPr lang="en-US" i="1" baseline="-25000" dirty="0">
              <a:latin typeface="Times New Roman" pitchFamily="18" charset="0"/>
              <a:cs typeface="Times New Roman" pitchFamily="18" charset="0"/>
            </a:endParaRPr>
          </a:p>
          <a:p>
            <a:r>
              <a:rPr lang="en-US" dirty="0"/>
              <a:t>Now all we have to do is compute </a:t>
            </a:r>
            <a:r>
              <a:rPr lang="en-US" i="1" dirty="0">
                <a:latin typeface="Times New Roman" pitchFamily="18" charset="0"/>
                <a:cs typeface="Times New Roman" pitchFamily="18" charset="0"/>
              </a:rPr>
              <a:t>P(</a:t>
            </a:r>
            <a:r>
              <a:rPr lang="en-US" i="1" dirty="0" err="1">
                <a:latin typeface="Times New Roman" pitchFamily="18" charset="0"/>
                <a:cs typeface="Times New Roman" pitchFamily="18" charset="0"/>
              </a:rPr>
              <a:t>C</a:t>
            </a:r>
            <a:r>
              <a:rPr lang="en-US" i="1" baseline="-25000" dirty="0" err="1">
                <a:latin typeface="Times New Roman" pitchFamily="18" charset="0"/>
                <a:cs typeface="Times New Roman" pitchFamily="18" charset="0"/>
              </a:rPr>
              <a:t>j</a:t>
            </a:r>
            <a:r>
              <a:rPr lang="en-US" i="1" baseline="-25000" dirty="0">
                <a:latin typeface="Times New Roman" pitchFamily="18" charset="0"/>
                <a:cs typeface="Times New Roman" pitchFamily="18" charset="0"/>
              </a:rPr>
              <a:t> </a:t>
            </a:r>
            <a:r>
              <a:rPr lang="en-US" i="1" dirty="0">
                <a:latin typeface="Times New Roman" pitchFamily="18" charset="0"/>
                <a:cs typeface="Times New Roman" pitchFamily="18" charset="0"/>
              </a:rPr>
              <a:t>| </a:t>
            </a:r>
            <a:r>
              <a:rPr lang="en-US" b="1" dirty="0">
                <a:latin typeface="Times New Roman" pitchFamily="18" charset="0"/>
                <a:cs typeface="Times New Roman" pitchFamily="18" charset="0"/>
              </a:rPr>
              <a:t>X</a:t>
            </a:r>
            <a:r>
              <a:rPr lang="en-US" i="1" dirty="0">
                <a:latin typeface="Times New Roman" pitchFamily="18" charset="0"/>
                <a:cs typeface="Times New Roman" pitchFamily="18" charset="0"/>
              </a:rPr>
              <a:t>)</a:t>
            </a:r>
            <a:r>
              <a:rPr lang="en-US" dirty="0"/>
              <a:t> for an unknown data point </a:t>
            </a:r>
            <a:r>
              <a:rPr lang="en-US" b="1" dirty="0">
                <a:latin typeface="Times New Roman" pitchFamily="18" charset="0"/>
                <a:cs typeface="Times New Roman" pitchFamily="18" charset="0"/>
              </a:rPr>
              <a:t>X</a:t>
            </a:r>
            <a:r>
              <a:rPr lang="en-US" dirty="0"/>
              <a:t> and choose the class j with the largest probability.</a:t>
            </a:r>
          </a:p>
        </p:txBody>
      </p:sp>
      <p:graphicFrame>
        <p:nvGraphicFramePr>
          <p:cNvPr id="18436" name="Object 4"/>
          <p:cNvGraphicFramePr>
            <a:graphicFrameLocks/>
          </p:cNvGraphicFramePr>
          <p:nvPr/>
        </p:nvGraphicFramePr>
        <p:xfrm>
          <a:off x="2373313" y="2057400"/>
          <a:ext cx="3705225" cy="914400"/>
        </p:xfrm>
        <a:graphic>
          <a:graphicData uri="http://schemas.openxmlformats.org/presentationml/2006/ole">
            <mc:AlternateContent xmlns:mc="http://schemas.openxmlformats.org/markup-compatibility/2006">
              <mc:Choice xmlns:v="urn:schemas-microsoft-com:vml" Requires="v">
                <p:oleObj name="Equation" r:id="rId3" imgW="1955520" imgH="431640" progId="Equation.DSMT4">
                  <p:embed/>
                </p:oleObj>
              </mc:Choice>
              <mc:Fallback>
                <p:oleObj name="Equation" r:id="rId3" imgW="1955520" imgH="431640" progId="Equation.DSMT4">
                  <p:embed/>
                  <p:pic>
                    <p:nvPicPr>
                      <p:cNvPr id="1843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313" y="2057400"/>
                        <a:ext cx="37052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check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04800" y="152400"/>
            <a:ext cx="8839200" cy="1143000"/>
          </a:xfrm>
        </p:spPr>
        <p:txBody>
          <a:bodyPr/>
          <a:lstStyle/>
          <a:p>
            <a:r>
              <a:rPr lang="en-US" sz="3600" b="1" dirty="0"/>
              <a:t>Play-tennis example: estimating </a:t>
            </a:r>
            <a:r>
              <a:rPr lang="en-US" sz="3600" b="1" i="1" dirty="0">
                <a:latin typeface="Times New Roman" pitchFamily="18" charset="0"/>
                <a:cs typeface="Times New Roman" pitchFamily="18" charset="0"/>
              </a:rPr>
              <a:t>P(</a:t>
            </a:r>
            <a:r>
              <a:rPr lang="en-US" sz="3600" b="1" i="1" dirty="0" err="1">
                <a:latin typeface="Times New Roman" pitchFamily="18" charset="0"/>
                <a:cs typeface="Times New Roman" pitchFamily="18" charset="0"/>
              </a:rPr>
              <a:t>x</a:t>
            </a:r>
            <a:r>
              <a:rPr lang="en-US" sz="3600" b="1" i="1" baseline="-25000" dirty="0" err="1">
                <a:latin typeface="Times New Roman" pitchFamily="18" charset="0"/>
                <a:cs typeface="Times New Roman" pitchFamily="18" charset="0"/>
              </a:rPr>
              <a:t>i</a:t>
            </a:r>
            <a:r>
              <a:rPr lang="en-US" sz="3600" b="1" i="1" dirty="0" err="1">
                <a:latin typeface="Times New Roman" pitchFamily="18" charset="0"/>
                <a:cs typeface="Times New Roman" pitchFamily="18" charset="0"/>
              </a:rPr>
              <a:t>|C</a:t>
            </a:r>
            <a:r>
              <a:rPr lang="en-US" sz="3600" b="1" i="1" dirty="0">
                <a:latin typeface="Times New Roman" pitchFamily="18" charset="0"/>
                <a:cs typeface="Times New Roman" pitchFamily="18" charset="0"/>
              </a:rPr>
              <a:t>)</a:t>
            </a:r>
            <a:endParaRPr lang="it-IT" sz="3600" b="1" i="1" dirty="0">
              <a:latin typeface="Times New Roman" pitchFamily="18" charset="0"/>
              <a:cs typeface="Times New Roman" pitchFamily="18" charset="0"/>
            </a:endParaRPr>
          </a:p>
        </p:txBody>
      </p:sp>
      <p:graphicFrame>
        <p:nvGraphicFramePr>
          <p:cNvPr id="23555" name="Object 3"/>
          <p:cNvGraphicFramePr>
            <a:graphicFrameLocks/>
          </p:cNvGraphicFramePr>
          <p:nvPr/>
        </p:nvGraphicFramePr>
        <p:xfrm>
          <a:off x="228600" y="1524000"/>
          <a:ext cx="3505200" cy="2895600"/>
        </p:xfrm>
        <a:graphic>
          <a:graphicData uri="http://schemas.openxmlformats.org/presentationml/2006/ole">
            <mc:AlternateContent xmlns:mc="http://schemas.openxmlformats.org/markup-compatibility/2006">
              <mc:Choice xmlns:v="urn:schemas-microsoft-com:vml" Requires="v">
                <p:oleObj name="Worksheet" r:id="rId2" imgW="6783840" imgH="6108840" progId="Excel.Sheet.8">
                  <p:embed/>
                </p:oleObj>
              </mc:Choice>
              <mc:Fallback>
                <p:oleObj name="Worksheet" r:id="rId2" imgW="6783840" imgH="6108840" progId="Excel.Sheet.8">
                  <p:embed/>
                  <p:pic>
                    <p:nvPicPr>
                      <p:cNvPr id="23555"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4000"/>
                        <a:ext cx="3505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p:cNvGrpSpPr>
            <a:grpSpLocks/>
          </p:cNvGrpSpPr>
          <p:nvPr/>
        </p:nvGrpSpPr>
        <p:grpSpPr bwMode="auto">
          <a:xfrm>
            <a:off x="3886200" y="943708"/>
            <a:ext cx="5105400" cy="5614988"/>
            <a:chOff x="2304" y="576"/>
            <a:chExt cx="3216" cy="3537"/>
          </a:xfrm>
        </p:grpSpPr>
        <p:sp>
          <p:nvSpPr>
            <p:cNvPr id="23557" name="Rectangle 5"/>
            <p:cNvSpPr>
              <a:spLocks noChangeArrowheads="1"/>
            </p:cNvSpPr>
            <p:nvPr/>
          </p:nvSpPr>
          <p:spPr bwMode="auto">
            <a:xfrm>
              <a:off x="3912" y="3615"/>
              <a:ext cx="1608" cy="249"/>
            </a:xfrm>
            <a:prstGeom prst="rect">
              <a:avLst/>
            </a:prstGeom>
            <a:noFill/>
            <a:ln w="19050">
              <a:noFill/>
              <a:miter lim="800000"/>
              <a:headEnd/>
              <a:tailEnd/>
            </a:ln>
            <a:effectLst/>
          </p:spPr>
          <p:txBody>
            <a:bodyPr/>
            <a:lstStyle/>
            <a:p>
              <a:r>
                <a:rPr lang="en-US" sz="2000" b="1"/>
                <a:t>P(true|n) = 3/5</a:t>
              </a:r>
              <a:endParaRPr lang="it-IT" sz="2000" b="1"/>
            </a:p>
          </p:txBody>
        </p:sp>
        <p:sp>
          <p:nvSpPr>
            <p:cNvPr id="23558" name="Rectangle 6"/>
            <p:cNvSpPr>
              <a:spLocks noChangeArrowheads="1"/>
            </p:cNvSpPr>
            <p:nvPr/>
          </p:nvSpPr>
          <p:spPr bwMode="auto">
            <a:xfrm>
              <a:off x="2304" y="3615"/>
              <a:ext cx="1608" cy="249"/>
            </a:xfrm>
            <a:prstGeom prst="rect">
              <a:avLst/>
            </a:prstGeom>
            <a:noFill/>
            <a:ln w="19050">
              <a:noFill/>
              <a:miter lim="800000"/>
              <a:headEnd/>
              <a:tailEnd/>
            </a:ln>
            <a:effectLst/>
          </p:spPr>
          <p:txBody>
            <a:bodyPr/>
            <a:lstStyle/>
            <a:p>
              <a:r>
                <a:rPr lang="en-US" sz="2000" b="1"/>
                <a:t>P(true|p) = 3/9</a:t>
              </a:r>
              <a:endParaRPr lang="it-IT" sz="2000" b="1"/>
            </a:p>
          </p:txBody>
        </p:sp>
        <p:sp>
          <p:nvSpPr>
            <p:cNvPr id="23559" name="Rectangle 7"/>
            <p:cNvSpPr>
              <a:spLocks noChangeArrowheads="1"/>
            </p:cNvSpPr>
            <p:nvPr/>
          </p:nvSpPr>
          <p:spPr bwMode="auto">
            <a:xfrm>
              <a:off x="3912" y="3864"/>
              <a:ext cx="1608" cy="249"/>
            </a:xfrm>
            <a:prstGeom prst="rect">
              <a:avLst/>
            </a:prstGeom>
            <a:noFill/>
            <a:ln w="19050">
              <a:noFill/>
              <a:miter lim="800000"/>
              <a:headEnd/>
              <a:tailEnd/>
            </a:ln>
            <a:effectLst/>
          </p:spPr>
          <p:txBody>
            <a:bodyPr/>
            <a:lstStyle/>
            <a:p>
              <a:r>
                <a:rPr lang="en-US" sz="2000" b="1"/>
                <a:t>P(false|n) = 2/5</a:t>
              </a:r>
              <a:endParaRPr lang="it-IT" sz="2000" b="1"/>
            </a:p>
          </p:txBody>
        </p:sp>
        <p:sp>
          <p:nvSpPr>
            <p:cNvPr id="23560" name="Rectangle 8"/>
            <p:cNvSpPr>
              <a:spLocks noChangeArrowheads="1"/>
            </p:cNvSpPr>
            <p:nvPr/>
          </p:nvSpPr>
          <p:spPr bwMode="auto">
            <a:xfrm>
              <a:off x="2304" y="3864"/>
              <a:ext cx="1608" cy="249"/>
            </a:xfrm>
            <a:prstGeom prst="rect">
              <a:avLst/>
            </a:prstGeom>
            <a:noFill/>
            <a:ln w="19050">
              <a:noFill/>
              <a:miter lim="800000"/>
              <a:headEnd/>
              <a:tailEnd/>
            </a:ln>
            <a:effectLst/>
          </p:spPr>
          <p:txBody>
            <a:bodyPr/>
            <a:lstStyle/>
            <a:p>
              <a:r>
                <a:rPr lang="en-US" sz="2000" b="1" dirty="0"/>
                <a:t>P(</a:t>
              </a:r>
              <a:r>
                <a:rPr lang="en-US" sz="2000" b="1" dirty="0" err="1"/>
                <a:t>false|p</a:t>
              </a:r>
              <a:r>
                <a:rPr lang="en-US" sz="2000" b="1" dirty="0"/>
                <a:t>) = 6/9</a:t>
              </a:r>
              <a:endParaRPr lang="it-IT" sz="2000" b="1" dirty="0"/>
            </a:p>
          </p:txBody>
        </p:sp>
        <p:sp>
          <p:nvSpPr>
            <p:cNvPr id="23561" name="Rectangle 9"/>
            <p:cNvSpPr>
              <a:spLocks noChangeArrowheads="1"/>
            </p:cNvSpPr>
            <p:nvPr/>
          </p:nvSpPr>
          <p:spPr bwMode="auto">
            <a:xfrm>
              <a:off x="3912" y="2868"/>
              <a:ext cx="1608" cy="249"/>
            </a:xfrm>
            <a:prstGeom prst="rect">
              <a:avLst/>
            </a:prstGeom>
            <a:noFill/>
            <a:ln w="19050">
              <a:noFill/>
              <a:miter lim="800000"/>
              <a:headEnd/>
              <a:tailEnd/>
            </a:ln>
            <a:effectLst/>
          </p:spPr>
          <p:txBody>
            <a:bodyPr/>
            <a:lstStyle/>
            <a:p>
              <a:r>
                <a:rPr lang="en-US" sz="2000" b="1"/>
                <a:t>P(high|n) = 4/5</a:t>
              </a:r>
              <a:endParaRPr lang="it-IT" sz="2000" b="1"/>
            </a:p>
          </p:txBody>
        </p:sp>
        <p:sp>
          <p:nvSpPr>
            <p:cNvPr id="23562" name="Rectangle 10"/>
            <p:cNvSpPr>
              <a:spLocks noChangeArrowheads="1"/>
            </p:cNvSpPr>
            <p:nvPr/>
          </p:nvSpPr>
          <p:spPr bwMode="auto">
            <a:xfrm>
              <a:off x="2304" y="2868"/>
              <a:ext cx="1608" cy="249"/>
            </a:xfrm>
            <a:prstGeom prst="rect">
              <a:avLst/>
            </a:prstGeom>
            <a:noFill/>
            <a:ln w="19050">
              <a:noFill/>
              <a:miter lim="800000"/>
              <a:headEnd/>
              <a:tailEnd/>
            </a:ln>
            <a:effectLst/>
          </p:spPr>
          <p:txBody>
            <a:bodyPr/>
            <a:lstStyle/>
            <a:p>
              <a:r>
                <a:rPr lang="en-US" sz="2000" b="1"/>
                <a:t>P(high|p) = 3/9</a:t>
              </a:r>
              <a:endParaRPr lang="it-IT" sz="2000" b="1"/>
            </a:p>
          </p:txBody>
        </p:sp>
        <p:sp>
          <p:nvSpPr>
            <p:cNvPr id="23563" name="Rectangle 11"/>
            <p:cNvSpPr>
              <a:spLocks noChangeArrowheads="1"/>
            </p:cNvSpPr>
            <p:nvPr/>
          </p:nvSpPr>
          <p:spPr bwMode="auto">
            <a:xfrm>
              <a:off x="3912" y="3117"/>
              <a:ext cx="1608" cy="249"/>
            </a:xfrm>
            <a:prstGeom prst="rect">
              <a:avLst/>
            </a:prstGeom>
            <a:noFill/>
            <a:ln w="19050">
              <a:noFill/>
              <a:miter lim="800000"/>
              <a:headEnd/>
              <a:tailEnd/>
            </a:ln>
            <a:effectLst/>
          </p:spPr>
          <p:txBody>
            <a:bodyPr/>
            <a:lstStyle/>
            <a:p>
              <a:r>
                <a:rPr lang="en-US" sz="2000" b="1"/>
                <a:t>P(normal|n) = 2/5</a:t>
              </a:r>
              <a:endParaRPr lang="it-IT" sz="2000" b="1"/>
            </a:p>
          </p:txBody>
        </p:sp>
        <p:sp>
          <p:nvSpPr>
            <p:cNvPr id="23564" name="Rectangle 12"/>
            <p:cNvSpPr>
              <a:spLocks noChangeArrowheads="1"/>
            </p:cNvSpPr>
            <p:nvPr/>
          </p:nvSpPr>
          <p:spPr bwMode="auto">
            <a:xfrm>
              <a:off x="2304" y="3117"/>
              <a:ext cx="1608" cy="249"/>
            </a:xfrm>
            <a:prstGeom prst="rect">
              <a:avLst/>
            </a:prstGeom>
            <a:noFill/>
            <a:ln w="19050">
              <a:noFill/>
              <a:miter lim="800000"/>
              <a:headEnd/>
              <a:tailEnd/>
            </a:ln>
            <a:effectLst/>
          </p:spPr>
          <p:txBody>
            <a:bodyPr/>
            <a:lstStyle/>
            <a:p>
              <a:r>
                <a:rPr lang="en-US" sz="2000" b="1"/>
                <a:t>P(normal|p) = 6/9</a:t>
              </a:r>
              <a:endParaRPr lang="it-IT" sz="2000" b="1"/>
            </a:p>
          </p:txBody>
        </p:sp>
        <p:sp>
          <p:nvSpPr>
            <p:cNvPr id="23565" name="Rectangle 13"/>
            <p:cNvSpPr>
              <a:spLocks noChangeArrowheads="1"/>
            </p:cNvSpPr>
            <p:nvPr/>
          </p:nvSpPr>
          <p:spPr bwMode="auto">
            <a:xfrm>
              <a:off x="3912" y="1872"/>
              <a:ext cx="1608" cy="249"/>
            </a:xfrm>
            <a:prstGeom prst="rect">
              <a:avLst/>
            </a:prstGeom>
            <a:noFill/>
            <a:ln w="19050">
              <a:noFill/>
              <a:miter lim="800000"/>
              <a:headEnd/>
              <a:tailEnd/>
            </a:ln>
            <a:effectLst/>
          </p:spPr>
          <p:txBody>
            <a:bodyPr/>
            <a:lstStyle/>
            <a:p>
              <a:r>
                <a:rPr lang="en-US" sz="2000" b="1"/>
                <a:t>P(hot|n) = 2/5</a:t>
              </a:r>
              <a:endParaRPr lang="it-IT" sz="2000" b="1"/>
            </a:p>
          </p:txBody>
        </p:sp>
        <p:sp>
          <p:nvSpPr>
            <p:cNvPr id="23566" name="Rectangle 14"/>
            <p:cNvSpPr>
              <a:spLocks noChangeArrowheads="1"/>
            </p:cNvSpPr>
            <p:nvPr/>
          </p:nvSpPr>
          <p:spPr bwMode="auto">
            <a:xfrm>
              <a:off x="2304" y="1872"/>
              <a:ext cx="1608" cy="249"/>
            </a:xfrm>
            <a:prstGeom prst="rect">
              <a:avLst/>
            </a:prstGeom>
            <a:noFill/>
            <a:ln w="19050">
              <a:noFill/>
              <a:miter lim="800000"/>
              <a:headEnd/>
              <a:tailEnd/>
            </a:ln>
            <a:effectLst/>
          </p:spPr>
          <p:txBody>
            <a:bodyPr/>
            <a:lstStyle/>
            <a:p>
              <a:r>
                <a:rPr lang="en-US" sz="2000" b="1"/>
                <a:t>P(hot|p) = 2/9</a:t>
              </a:r>
              <a:endParaRPr lang="it-IT" sz="2000" b="1"/>
            </a:p>
          </p:txBody>
        </p:sp>
        <p:sp>
          <p:nvSpPr>
            <p:cNvPr id="23567" name="Rectangle 15"/>
            <p:cNvSpPr>
              <a:spLocks noChangeArrowheads="1"/>
            </p:cNvSpPr>
            <p:nvPr/>
          </p:nvSpPr>
          <p:spPr bwMode="auto">
            <a:xfrm>
              <a:off x="3912" y="2121"/>
              <a:ext cx="1608" cy="249"/>
            </a:xfrm>
            <a:prstGeom prst="rect">
              <a:avLst/>
            </a:prstGeom>
            <a:noFill/>
            <a:ln w="19050">
              <a:noFill/>
              <a:miter lim="800000"/>
              <a:headEnd/>
              <a:tailEnd/>
            </a:ln>
            <a:effectLst/>
          </p:spPr>
          <p:txBody>
            <a:bodyPr/>
            <a:lstStyle/>
            <a:p>
              <a:r>
                <a:rPr lang="en-US" sz="2000" b="1"/>
                <a:t>P(mild|n) = 2/5</a:t>
              </a:r>
              <a:endParaRPr lang="it-IT" sz="2000" b="1"/>
            </a:p>
          </p:txBody>
        </p:sp>
        <p:sp>
          <p:nvSpPr>
            <p:cNvPr id="23568" name="Rectangle 16"/>
            <p:cNvSpPr>
              <a:spLocks noChangeArrowheads="1"/>
            </p:cNvSpPr>
            <p:nvPr/>
          </p:nvSpPr>
          <p:spPr bwMode="auto">
            <a:xfrm>
              <a:off x="2304" y="2121"/>
              <a:ext cx="1608" cy="249"/>
            </a:xfrm>
            <a:prstGeom prst="rect">
              <a:avLst/>
            </a:prstGeom>
            <a:noFill/>
            <a:ln w="19050">
              <a:noFill/>
              <a:miter lim="800000"/>
              <a:headEnd/>
              <a:tailEnd/>
            </a:ln>
            <a:effectLst/>
          </p:spPr>
          <p:txBody>
            <a:bodyPr/>
            <a:lstStyle/>
            <a:p>
              <a:r>
                <a:rPr lang="en-US" sz="2000" b="1"/>
                <a:t>P(mild|p) = 4/9</a:t>
              </a:r>
              <a:endParaRPr lang="it-IT" sz="2000" b="1"/>
            </a:p>
          </p:txBody>
        </p:sp>
        <p:sp>
          <p:nvSpPr>
            <p:cNvPr id="23569" name="Rectangle 17"/>
            <p:cNvSpPr>
              <a:spLocks noChangeArrowheads="1"/>
            </p:cNvSpPr>
            <p:nvPr/>
          </p:nvSpPr>
          <p:spPr bwMode="auto">
            <a:xfrm>
              <a:off x="3912" y="2370"/>
              <a:ext cx="1608" cy="249"/>
            </a:xfrm>
            <a:prstGeom prst="rect">
              <a:avLst/>
            </a:prstGeom>
            <a:noFill/>
            <a:ln w="19050">
              <a:noFill/>
              <a:miter lim="800000"/>
              <a:headEnd/>
              <a:tailEnd/>
            </a:ln>
            <a:effectLst/>
          </p:spPr>
          <p:txBody>
            <a:bodyPr/>
            <a:lstStyle/>
            <a:p>
              <a:r>
                <a:rPr lang="en-US" sz="2000" b="1"/>
                <a:t>P(cool|n) = 1/5</a:t>
              </a:r>
              <a:endParaRPr lang="it-IT" sz="2000" b="1"/>
            </a:p>
          </p:txBody>
        </p:sp>
        <p:sp>
          <p:nvSpPr>
            <p:cNvPr id="23570" name="Rectangle 18"/>
            <p:cNvSpPr>
              <a:spLocks noChangeArrowheads="1"/>
            </p:cNvSpPr>
            <p:nvPr/>
          </p:nvSpPr>
          <p:spPr bwMode="auto">
            <a:xfrm>
              <a:off x="2304" y="2370"/>
              <a:ext cx="1608" cy="249"/>
            </a:xfrm>
            <a:prstGeom prst="rect">
              <a:avLst/>
            </a:prstGeom>
            <a:noFill/>
            <a:ln w="19050">
              <a:noFill/>
              <a:miter lim="800000"/>
              <a:headEnd/>
              <a:tailEnd/>
            </a:ln>
            <a:effectLst/>
          </p:spPr>
          <p:txBody>
            <a:bodyPr/>
            <a:lstStyle/>
            <a:p>
              <a:r>
                <a:rPr lang="en-US" sz="2000" b="1"/>
                <a:t>P(cool|p) = 3/9</a:t>
              </a:r>
              <a:endParaRPr lang="it-IT" sz="2000" b="1"/>
            </a:p>
          </p:txBody>
        </p:sp>
        <p:sp>
          <p:nvSpPr>
            <p:cNvPr id="23571" name="Rectangle 19"/>
            <p:cNvSpPr>
              <a:spLocks noChangeArrowheads="1"/>
            </p:cNvSpPr>
            <p:nvPr/>
          </p:nvSpPr>
          <p:spPr bwMode="auto">
            <a:xfrm>
              <a:off x="3912" y="1323"/>
              <a:ext cx="1608" cy="249"/>
            </a:xfrm>
            <a:prstGeom prst="rect">
              <a:avLst/>
            </a:prstGeom>
            <a:noFill/>
            <a:ln w="19050">
              <a:noFill/>
              <a:miter lim="800000"/>
              <a:headEnd/>
              <a:tailEnd/>
            </a:ln>
            <a:effectLst/>
          </p:spPr>
          <p:txBody>
            <a:bodyPr/>
            <a:lstStyle/>
            <a:p>
              <a:r>
                <a:rPr lang="en-US" sz="2000" b="1"/>
                <a:t>P(rain|n) = 2/5</a:t>
              </a:r>
              <a:endParaRPr lang="it-IT" sz="2000" b="1"/>
            </a:p>
          </p:txBody>
        </p:sp>
        <p:sp>
          <p:nvSpPr>
            <p:cNvPr id="23572" name="Rectangle 20"/>
            <p:cNvSpPr>
              <a:spLocks noChangeArrowheads="1"/>
            </p:cNvSpPr>
            <p:nvPr/>
          </p:nvSpPr>
          <p:spPr bwMode="auto">
            <a:xfrm>
              <a:off x="2304" y="1323"/>
              <a:ext cx="1608" cy="249"/>
            </a:xfrm>
            <a:prstGeom prst="rect">
              <a:avLst/>
            </a:prstGeom>
            <a:noFill/>
            <a:ln w="19050">
              <a:noFill/>
              <a:miter lim="800000"/>
              <a:headEnd/>
              <a:tailEnd/>
            </a:ln>
            <a:effectLst/>
          </p:spPr>
          <p:txBody>
            <a:bodyPr/>
            <a:lstStyle/>
            <a:p>
              <a:r>
                <a:rPr lang="en-US" sz="2000" b="1"/>
                <a:t>P(rain|p) = 3/9</a:t>
              </a:r>
              <a:endParaRPr lang="it-IT" sz="2000" b="1"/>
            </a:p>
          </p:txBody>
        </p:sp>
        <p:sp>
          <p:nvSpPr>
            <p:cNvPr id="23573" name="Rectangle 21"/>
            <p:cNvSpPr>
              <a:spLocks noChangeArrowheads="1"/>
            </p:cNvSpPr>
            <p:nvPr/>
          </p:nvSpPr>
          <p:spPr bwMode="auto">
            <a:xfrm>
              <a:off x="3912" y="1074"/>
              <a:ext cx="1608" cy="249"/>
            </a:xfrm>
            <a:prstGeom prst="rect">
              <a:avLst/>
            </a:prstGeom>
            <a:noFill/>
            <a:ln w="19050">
              <a:noFill/>
              <a:miter lim="800000"/>
              <a:headEnd/>
              <a:tailEnd/>
            </a:ln>
            <a:effectLst/>
          </p:spPr>
          <p:txBody>
            <a:bodyPr/>
            <a:lstStyle/>
            <a:p>
              <a:r>
                <a:rPr lang="en-US" sz="2000" b="1"/>
                <a:t>P(overcast|n) = 0</a:t>
              </a:r>
              <a:endParaRPr lang="it-IT" sz="2000" b="1"/>
            </a:p>
          </p:txBody>
        </p:sp>
        <p:sp>
          <p:nvSpPr>
            <p:cNvPr id="23574" name="Rectangle 22"/>
            <p:cNvSpPr>
              <a:spLocks noChangeArrowheads="1"/>
            </p:cNvSpPr>
            <p:nvPr/>
          </p:nvSpPr>
          <p:spPr bwMode="auto">
            <a:xfrm>
              <a:off x="2304" y="1074"/>
              <a:ext cx="1608" cy="249"/>
            </a:xfrm>
            <a:prstGeom prst="rect">
              <a:avLst/>
            </a:prstGeom>
            <a:noFill/>
            <a:ln w="19050">
              <a:noFill/>
              <a:miter lim="800000"/>
              <a:headEnd/>
              <a:tailEnd/>
            </a:ln>
            <a:effectLst/>
          </p:spPr>
          <p:txBody>
            <a:bodyPr/>
            <a:lstStyle/>
            <a:p>
              <a:r>
                <a:rPr lang="en-US" sz="2000" b="1"/>
                <a:t>P(overcast|p) = 4/9</a:t>
              </a:r>
              <a:endParaRPr lang="it-IT" sz="2000" b="1"/>
            </a:p>
          </p:txBody>
        </p:sp>
        <p:sp>
          <p:nvSpPr>
            <p:cNvPr id="23575" name="Rectangle 23"/>
            <p:cNvSpPr>
              <a:spLocks noChangeArrowheads="1"/>
            </p:cNvSpPr>
            <p:nvPr/>
          </p:nvSpPr>
          <p:spPr bwMode="auto">
            <a:xfrm>
              <a:off x="3912" y="825"/>
              <a:ext cx="1608" cy="249"/>
            </a:xfrm>
            <a:prstGeom prst="rect">
              <a:avLst/>
            </a:prstGeom>
            <a:noFill/>
            <a:ln w="19050">
              <a:noFill/>
              <a:miter lim="800000"/>
              <a:headEnd/>
              <a:tailEnd/>
            </a:ln>
            <a:effectLst/>
          </p:spPr>
          <p:txBody>
            <a:bodyPr/>
            <a:lstStyle/>
            <a:p>
              <a:r>
                <a:rPr lang="en-US" sz="2000" b="1"/>
                <a:t>P(sunny|n) = 3/5</a:t>
              </a:r>
              <a:endParaRPr lang="it-IT" sz="2000" b="1"/>
            </a:p>
          </p:txBody>
        </p:sp>
        <p:sp>
          <p:nvSpPr>
            <p:cNvPr id="23576" name="Rectangle 24"/>
            <p:cNvSpPr>
              <a:spLocks noChangeArrowheads="1"/>
            </p:cNvSpPr>
            <p:nvPr/>
          </p:nvSpPr>
          <p:spPr bwMode="auto">
            <a:xfrm>
              <a:off x="2304" y="825"/>
              <a:ext cx="1608" cy="249"/>
            </a:xfrm>
            <a:prstGeom prst="rect">
              <a:avLst/>
            </a:prstGeom>
            <a:noFill/>
            <a:ln w="19050">
              <a:noFill/>
              <a:miter lim="800000"/>
              <a:headEnd/>
              <a:tailEnd/>
            </a:ln>
            <a:effectLst/>
          </p:spPr>
          <p:txBody>
            <a:bodyPr/>
            <a:lstStyle/>
            <a:p>
              <a:r>
                <a:rPr lang="en-US" sz="2000" b="1"/>
                <a:t>P(sunny|p) = 2/9</a:t>
              </a:r>
              <a:endParaRPr lang="it-IT" sz="2000" b="1"/>
            </a:p>
          </p:txBody>
        </p:sp>
        <p:sp>
          <p:nvSpPr>
            <p:cNvPr id="23577" name="Rectangle 25"/>
            <p:cNvSpPr>
              <a:spLocks noChangeArrowheads="1"/>
            </p:cNvSpPr>
            <p:nvPr/>
          </p:nvSpPr>
          <p:spPr bwMode="auto">
            <a:xfrm>
              <a:off x="3912" y="3366"/>
              <a:ext cx="1608" cy="249"/>
            </a:xfrm>
            <a:prstGeom prst="rect">
              <a:avLst/>
            </a:prstGeom>
            <a:noFill/>
            <a:ln w="19050">
              <a:noFill/>
              <a:miter lim="800000"/>
              <a:headEnd/>
              <a:tailEnd/>
            </a:ln>
            <a:effectLst/>
          </p:spPr>
          <p:txBody>
            <a:bodyPr/>
            <a:lstStyle/>
            <a:p>
              <a:endParaRPr lang="en-US" sz="2000" b="1"/>
            </a:p>
          </p:txBody>
        </p:sp>
        <p:sp>
          <p:nvSpPr>
            <p:cNvPr id="23578" name="Rectangle 26"/>
            <p:cNvSpPr>
              <a:spLocks noChangeArrowheads="1"/>
            </p:cNvSpPr>
            <p:nvPr/>
          </p:nvSpPr>
          <p:spPr bwMode="auto">
            <a:xfrm>
              <a:off x="2304" y="3366"/>
              <a:ext cx="1608" cy="249"/>
            </a:xfrm>
            <a:prstGeom prst="rect">
              <a:avLst/>
            </a:prstGeom>
            <a:solidFill>
              <a:schemeClr val="accent2"/>
            </a:solidFill>
            <a:ln w="19050">
              <a:noFill/>
              <a:miter lim="800000"/>
              <a:headEnd/>
              <a:tailEnd/>
            </a:ln>
            <a:effectLst/>
          </p:spPr>
          <p:txBody>
            <a:bodyPr/>
            <a:lstStyle/>
            <a:p>
              <a:r>
                <a:rPr lang="en-US" sz="2000" b="1"/>
                <a:t>windy</a:t>
              </a:r>
              <a:endParaRPr lang="it-IT" sz="2000" b="1"/>
            </a:p>
          </p:txBody>
        </p:sp>
        <p:sp>
          <p:nvSpPr>
            <p:cNvPr id="23579" name="Rectangle 27"/>
            <p:cNvSpPr>
              <a:spLocks noChangeArrowheads="1"/>
            </p:cNvSpPr>
            <p:nvPr/>
          </p:nvSpPr>
          <p:spPr bwMode="auto">
            <a:xfrm>
              <a:off x="3912" y="2619"/>
              <a:ext cx="1608" cy="249"/>
            </a:xfrm>
            <a:prstGeom prst="rect">
              <a:avLst/>
            </a:prstGeom>
            <a:noFill/>
            <a:ln w="19050">
              <a:noFill/>
              <a:miter lim="800000"/>
              <a:headEnd/>
              <a:tailEnd/>
            </a:ln>
            <a:effectLst/>
          </p:spPr>
          <p:txBody>
            <a:bodyPr/>
            <a:lstStyle/>
            <a:p>
              <a:endParaRPr lang="en-US" sz="2000" b="1"/>
            </a:p>
          </p:txBody>
        </p:sp>
        <p:sp>
          <p:nvSpPr>
            <p:cNvPr id="23580" name="Rectangle 28"/>
            <p:cNvSpPr>
              <a:spLocks noChangeArrowheads="1"/>
            </p:cNvSpPr>
            <p:nvPr/>
          </p:nvSpPr>
          <p:spPr bwMode="auto">
            <a:xfrm>
              <a:off x="2304" y="2619"/>
              <a:ext cx="1608" cy="249"/>
            </a:xfrm>
            <a:prstGeom prst="rect">
              <a:avLst/>
            </a:prstGeom>
            <a:solidFill>
              <a:schemeClr val="accent2"/>
            </a:solidFill>
            <a:ln w="19050">
              <a:noFill/>
              <a:miter lim="800000"/>
              <a:headEnd/>
              <a:tailEnd/>
            </a:ln>
            <a:effectLst/>
          </p:spPr>
          <p:txBody>
            <a:bodyPr/>
            <a:lstStyle/>
            <a:p>
              <a:r>
                <a:rPr lang="en-US" sz="2000" b="1"/>
                <a:t>humidity</a:t>
              </a:r>
              <a:endParaRPr lang="it-IT" sz="2000" b="1"/>
            </a:p>
          </p:txBody>
        </p:sp>
        <p:sp>
          <p:nvSpPr>
            <p:cNvPr id="23581" name="Rectangle 29"/>
            <p:cNvSpPr>
              <a:spLocks noChangeArrowheads="1"/>
            </p:cNvSpPr>
            <p:nvPr/>
          </p:nvSpPr>
          <p:spPr bwMode="auto">
            <a:xfrm>
              <a:off x="3912" y="1572"/>
              <a:ext cx="1608" cy="300"/>
            </a:xfrm>
            <a:prstGeom prst="rect">
              <a:avLst/>
            </a:prstGeom>
            <a:noFill/>
            <a:ln w="19050">
              <a:noFill/>
              <a:miter lim="800000"/>
              <a:headEnd/>
              <a:tailEnd/>
            </a:ln>
            <a:effectLst/>
          </p:spPr>
          <p:txBody>
            <a:bodyPr/>
            <a:lstStyle/>
            <a:p>
              <a:endParaRPr lang="en-US" sz="2000" b="1"/>
            </a:p>
          </p:txBody>
        </p:sp>
        <p:sp>
          <p:nvSpPr>
            <p:cNvPr id="23582" name="Rectangle 30"/>
            <p:cNvSpPr>
              <a:spLocks noChangeArrowheads="1"/>
            </p:cNvSpPr>
            <p:nvPr/>
          </p:nvSpPr>
          <p:spPr bwMode="auto">
            <a:xfrm>
              <a:off x="2304" y="1572"/>
              <a:ext cx="1608" cy="300"/>
            </a:xfrm>
            <a:prstGeom prst="rect">
              <a:avLst/>
            </a:prstGeom>
            <a:solidFill>
              <a:schemeClr val="accent2"/>
            </a:solidFill>
            <a:ln w="19050">
              <a:noFill/>
              <a:miter lim="800000"/>
              <a:headEnd/>
              <a:tailEnd/>
            </a:ln>
            <a:effectLst/>
          </p:spPr>
          <p:txBody>
            <a:bodyPr/>
            <a:lstStyle/>
            <a:p>
              <a:r>
                <a:rPr lang="en-US" sz="2000" b="1"/>
                <a:t>temperature</a:t>
              </a:r>
              <a:endParaRPr lang="it-IT" sz="2000" b="1"/>
            </a:p>
          </p:txBody>
        </p:sp>
        <p:sp>
          <p:nvSpPr>
            <p:cNvPr id="23583" name="Rectangle 31"/>
            <p:cNvSpPr>
              <a:spLocks noChangeArrowheads="1"/>
            </p:cNvSpPr>
            <p:nvPr/>
          </p:nvSpPr>
          <p:spPr bwMode="auto">
            <a:xfrm>
              <a:off x="3912" y="576"/>
              <a:ext cx="1608" cy="249"/>
            </a:xfrm>
            <a:prstGeom prst="rect">
              <a:avLst/>
            </a:prstGeom>
            <a:noFill/>
            <a:ln w="19050">
              <a:noFill/>
              <a:miter lim="800000"/>
              <a:headEnd/>
              <a:tailEnd/>
            </a:ln>
            <a:effectLst/>
          </p:spPr>
          <p:txBody>
            <a:bodyPr/>
            <a:lstStyle/>
            <a:p>
              <a:endParaRPr lang="en-US" sz="2000" b="1"/>
            </a:p>
          </p:txBody>
        </p:sp>
        <p:sp>
          <p:nvSpPr>
            <p:cNvPr id="23584" name="Rectangle 32"/>
            <p:cNvSpPr>
              <a:spLocks noChangeArrowheads="1"/>
            </p:cNvSpPr>
            <p:nvPr/>
          </p:nvSpPr>
          <p:spPr bwMode="auto">
            <a:xfrm>
              <a:off x="2304" y="576"/>
              <a:ext cx="1608" cy="249"/>
            </a:xfrm>
            <a:prstGeom prst="rect">
              <a:avLst/>
            </a:prstGeom>
            <a:solidFill>
              <a:schemeClr val="accent2"/>
            </a:solidFill>
            <a:ln w="19050">
              <a:noFill/>
              <a:miter lim="800000"/>
              <a:headEnd/>
              <a:tailEnd/>
            </a:ln>
            <a:effectLst/>
          </p:spPr>
          <p:txBody>
            <a:bodyPr/>
            <a:lstStyle/>
            <a:p>
              <a:r>
                <a:rPr lang="en-US" sz="2000" b="1" dirty="0"/>
                <a:t>outlook</a:t>
              </a:r>
              <a:endParaRPr lang="it-IT" sz="2000" b="1" dirty="0"/>
            </a:p>
          </p:txBody>
        </p:sp>
        <p:sp>
          <p:nvSpPr>
            <p:cNvPr id="23585" name="Line 33"/>
            <p:cNvSpPr>
              <a:spLocks noChangeShapeType="1"/>
            </p:cNvSpPr>
            <p:nvPr/>
          </p:nvSpPr>
          <p:spPr bwMode="auto">
            <a:xfrm>
              <a:off x="2304" y="576"/>
              <a:ext cx="3216" cy="0"/>
            </a:xfrm>
            <a:prstGeom prst="line">
              <a:avLst/>
            </a:prstGeom>
            <a:noFill/>
            <a:ln w="28575" cap="sq">
              <a:solidFill>
                <a:schemeClr val="tx1"/>
              </a:solidFill>
              <a:round/>
              <a:headEnd/>
              <a:tailEnd/>
            </a:ln>
            <a:effectLst/>
          </p:spPr>
          <p:txBody>
            <a:bodyPr/>
            <a:lstStyle/>
            <a:p>
              <a:endParaRPr lang="en-US"/>
            </a:p>
          </p:txBody>
        </p:sp>
        <p:sp>
          <p:nvSpPr>
            <p:cNvPr id="23586" name="Line 34"/>
            <p:cNvSpPr>
              <a:spLocks noChangeShapeType="1"/>
            </p:cNvSpPr>
            <p:nvPr/>
          </p:nvSpPr>
          <p:spPr bwMode="auto">
            <a:xfrm>
              <a:off x="2304" y="825"/>
              <a:ext cx="3216" cy="0"/>
            </a:xfrm>
            <a:prstGeom prst="line">
              <a:avLst/>
            </a:prstGeom>
            <a:noFill/>
            <a:ln w="12700">
              <a:solidFill>
                <a:schemeClr val="tx1"/>
              </a:solidFill>
              <a:round/>
              <a:headEnd/>
              <a:tailEnd/>
            </a:ln>
            <a:effectLst/>
          </p:spPr>
          <p:txBody>
            <a:bodyPr/>
            <a:lstStyle/>
            <a:p>
              <a:endParaRPr lang="en-US"/>
            </a:p>
          </p:txBody>
        </p:sp>
        <p:sp>
          <p:nvSpPr>
            <p:cNvPr id="23587" name="Line 35"/>
            <p:cNvSpPr>
              <a:spLocks noChangeShapeType="1"/>
            </p:cNvSpPr>
            <p:nvPr/>
          </p:nvSpPr>
          <p:spPr bwMode="auto">
            <a:xfrm>
              <a:off x="2304" y="1872"/>
              <a:ext cx="3216" cy="0"/>
            </a:xfrm>
            <a:prstGeom prst="line">
              <a:avLst/>
            </a:prstGeom>
            <a:noFill/>
            <a:ln w="12700">
              <a:solidFill>
                <a:schemeClr val="tx1"/>
              </a:solidFill>
              <a:round/>
              <a:headEnd/>
              <a:tailEnd/>
            </a:ln>
            <a:effectLst/>
          </p:spPr>
          <p:txBody>
            <a:bodyPr/>
            <a:lstStyle/>
            <a:p>
              <a:endParaRPr lang="en-US"/>
            </a:p>
          </p:txBody>
        </p:sp>
        <p:sp>
          <p:nvSpPr>
            <p:cNvPr id="23588" name="Line 36"/>
            <p:cNvSpPr>
              <a:spLocks noChangeShapeType="1"/>
            </p:cNvSpPr>
            <p:nvPr/>
          </p:nvSpPr>
          <p:spPr bwMode="auto">
            <a:xfrm>
              <a:off x="2304" y="2868"/>
              <a:ext cx="3216" cy="0"/>
            </a:xfrm>
            <a:prstGeom prst="line">
              <a:avLst/>
            </a:prstGeom>
            <a:noFill/>
            <a:ln w="12700">
              <a:solidFill>
                <a:schemeClr val="tx1"/>
              </a:solidFill>
              <a:round/>
              <a:headEnd/>
              <a:tailEnd/>
            </a:ln>
            <a:effectLst/>
          </p:spPr>
          <p:txBody>
            <a:bodyPr/>
            <a:lstStyle/>
            <a:p>
              <a:endParaRPr lang="en-US"/>
            </a:p>
          </p:txBody>
        </p:sp>
        <p:sp>
          <p:nvSpPr>
            <p:cNvPr id="23589" name="Line 37"/>
            <p:cNvSpPr>
              <a:spLocks noChangeShapeType="1"/>
            </p:cNvSpPr>
            <p:nvPr/>
          </p:nvSpPr>
          <p:spPr bwMode="auto">
            <a:xfrm>
              <a:off x="2304" y="3615"/>
              <a:ext cx="3216" cy="0"/>
            </a:xfrm>
            <a:prstGeom prst="line">
              <a:avLst/>
            </a:prstGeom>
            <a:noFill/>
            <a:ln w="12700">
              <a:solidFill>
                <a:schemeClr val="tx1"/>
              </a:solidFill>
              <a:round/>
              <a:headEnd/>
              <a:tailEnd/>
            </a:ln>
            <a:effectLst/>
          </p:spPr>
          <p:txBody>
            <a:bodyPr/>
            <a:lstStyle/>
            <a:p>
              <a:endParaRPr lang="en-US"/>
            </a:p>
          </p:txBody>
        </p:sp>
        <p:sp>
          <p:nvSpPr>
            <p:cNvPr id="23590" name="Line 38"/>
            <p:cNvSpPr>
              <a:spLocks noChangeShapeType="1"/>
            </p:cNvSpPr>
            <p:nvPr/>
          </p:nvSpPr>
          <p:spPr bwMode="auto">
            <a:xfrm>
              <a:off x="2304" y="4113"/>
              <a:ext cx="3216" cy="0"/>
            </a:xfrm>
            <a:prstGeom prst="line">
              <a:avLst/>
            </a:prstGeom>
            <a:noFill/>
            <a:ln w="28575" cap="sq">
              <a:solidFill>
                <a:schemeClr val="tx1"/>
              </a:solidFill>
              <a:round/>
              <a:headEnd/>
              <a:tailEnd/>
            </a:ln>
            <a:effectLst/>
          </p:spPr>
          <p:txBody>
            <a:bodyPr/>
            <a:lstStyle/>
            <a:p>
              <a:endParaRPr lang="en-US"/>
            </a:p>
          </p:txBody>
        </p:sp>
        <p:sp>
          <p:nvSpPr>
            <p:cNvPr id="23591" name="Line 39"/>
            <p:cNvSpPr>
              <a:spLocks noChangeShapeType="1"/>
            </p:cNvSpPr>
            <p:nvPr/>
          </p:nvSpPr>
          <p:spPr bwMode="auto">
            <a:xfrm>
              <a:off x="2304" y="576"/>
              <a:ext cx="0" cy="3537"/>
            </a:xfrm>
            <a:prstGeom prst="line">
              <a:avLst/>
            </a:prstGeom>
            <a:noFill/>
            <a:ln w="28575" cap="sq">
              <a:solidFill>
                <a:schemeClr val="tx1"/>
              </a:solidFill>
              <a:round/>
              <a:headEnd/>
              <a:tailEnd/>
            </a:ln>
            <a:effectLst/>
          </p:spPr>
          <p:txBody>
            <a:bodyPr/>
            <a:lstStyle/>
            <a:p>
              <a:endParaRPr lang="en-US"/>
            </a:p>
          </p:txBody>
        </p:sp>
        <p:sp>
          <p:nvSpPr>
            <p:cNvPr id="23592" name="Line 40"/>
            <p:cNvSpPr>
              <a:spLocks noChangeShapeType="1"/>
            </p:cNvSpPr>
            <p:nvPr/>
          </p:nvSpPr>
          <p:spPr bwMode="auto">
            <a:xfrm>
              <a:off x="3912" y="576"/>
              <a:ext cx="0" cy="3537"/>
            </a:xfrm>
            <a:prstGeom prst="line">
              <a:avLst/>
            </a:prstGeom>
            <a:noFill/>
            <a:ln w="12700">
              <a:solidFill>
                <a:schemeClr val="tx1"/>
              </a:solidFill>
              <a:round/>
              <a:headEnd/>
              <a:tailEnd/>
            </a:ln>
            <a:effectLst/>
          </p:spPr>
          <p:txBody>
            <a:bodyPr/>
            <a:lstStyle/>
            <a:p>
              <a:endParaRPr lang="en-US"/>
            </a:p>
          </p:txBody>
        </p:sp>
        <p:sp>
          <p:nvSpPr>
            <p:cNvPr id="23593" name="Line 41"/>
            <p:cNvSpPr>
              <a:spLocks noChangeShapeType="1"/>
            </p:cNvSpPr>
            <p:nvPr/>
          </p:nvSpPr>
          <p:spPr bwMode="auto">
            <a:xfrm>
              <a:off x="5520" y="576"/>
              <a:ext cx="0" cy="3537"/>
            </a:xfrm>
            <a:prstGeom prst="line">
              <a:avLst/>
            </a:prstGeom>
            <a:noFill/>
            <a:ln w="28575" cap="sq">
              <a:solidFill>
                <a:schemeClr val="tx1"/>
              </a:solidFill>
              <a:round/>
              <a:headEnd/>
              <a:tailEnd/>
            </a:ln>
            <a:effectLst/>
          </p:spPr>
          <p:txBody>
            <a:bodyPr/>
            <a:lstStyle/>
            <a:p>
              <a:endParaRPr lang="en-US"/>
            </a:p>
          </p:txBody>
        </p:sp>
        <p:sp>
          <p:nvSpPr>
            <p:cNvPr id="23594" name="Line 42"/>
            <p:cNvSpPr>
              <a:spLocks noChangeShapeType="1"/>
            </p:cNvSpPr>
            <p:nvPr/>
          </p:nvSpPr>
          <p:spPr bwMode="auto">
            <a:xfrm>
              <a:off x="2304" y="1074"/>
              <a:ext cx="3216" cy="0"/>
            </a:xfrm>
            <a:prstGeom prst="line">
              <a:avLst/>
            </a:prstGeom>
            <a:noFill/>
            <a:ln w="12700">
              <a:solidFill>
                <a:schemeClr val="tx1"/>
              </a:solidFill>
              <a:round/>
              <a:headEnd/>
              <a:tailEnd/>
            </a:ln>
            <a:effectLst/>
          </p:spPr>
          <p:txBody>
            <a:bodyPr/>
            <a:lstStyle/>
            <a:p>
              <a:endParaRPr lang="en-US"/>
            </a:p>
          </p:txBody>
        </p:sp>
        <p:sp>
          <p:nvSpPr>
            <p:cNvPr id="23595" name="Line 43"/>
            <p:cNvSpPr>
              <a:spLocks noChangeShapeType="1"/>
            </p:cNvSpPr>
            <p:nvPr/>
          </p:nvSpPr>
          <p:spPr bwMode="auto">
            <a:xfrm>
              <a:off x="2304" y="1323"/>
              <a:ext cx="3216" cy="0"/>
            </a:xfrm>
            <a:prstGeom prst="line">
              <a:avLst/>
            </a:prstGeom>
            <a:noFill/>
            <a:ln w="12700">
              <a:solidFill>
                <a:schemeClr val="tx1"/>
              </a:solidFill>
              <a:round/>
              <a:headEnd/>
              <a:tailEnd/>
            </a:ln>
            <a:effectLst/>
          </p:spPr>
          <p:txBody>
            <a:bodyPr/>
            <a:lstStyle/>
            <a:p>
              <a:endParaRPr lang="en-US"/>
            </a:p>
          </p:txBody>
        </p:sp>
        <p:sp>
          <p:nvSpPr>
            <p:cNvPr id="23596" name="Line 44"/>
            <p:cNvSpPr>
              <a:spLocks noChangeShapeType="1"/>
            </p:cNvSpPr>
            <p:nvPr/>
          </p:nvSpPr>
          <p:spPr bwMode="auto">
            <a:xfrm>
              <a:off x="2304" y="1572"/>
              <a:ext cx="3216" cy="0"/>
            </a:xfrm>
            <a:prstGeom prst="line">
              <a:avLst/>
            </a:prstGeom>
            <a:noFill/>
            <a:ln w="12700">
              <a:solidFill>
                <a:schemeClr val="tx1"/>
              </a:solidFill>
              <a:round/>
              <a:headEnd/>
              <a:tailEnd/>
            </a:ln>
            <a:effectLst/>
          </p:spPr>
          <p:txBody>
            <a:bodyPr/>
            <a:lstStyle/>
            <a:p>
              <a:endParaRPr lang="en-US"/>
            </a:p>
          </p:txBody>
        </p:sp>
        <p:sp>
          <p:nvSpPr>
            <p:cNvPr id="23597" name="Line 45"/>
            <p:cNvSpPr>
              <a:spLocks noChangeShapeType="1"/>
            </p:cNvSpPr>
            <p:nvPr/>
          </p:nvSpPr>
          <p:spPr bwMode="auto">
            <a:xfrm>
              <a:off x="2304" y="2619"/>
              <a:ext cx="3216" cy="0"/>
            </a:xfrm>
            <a:prstGeom prst="line">
              <a:avLst/>
            </a:prstGeom>
            <a:noFill/>
            <a:ln w="12700">
              <a:solidFill>
                <a:schemeClr val="tx1"/>
              </a:solidFill>
              <a:round/>
              <a:headEnd/>
              <a:tailEnd/>
            </a:ln>
            <a:effectLst/>
          </p:spPr>
          <p:txBody>
            <a:bodyPr/>
            <a:lstStyle/>
            <a:p>
              <a:endParaRPr lang="en-US"/>
            </a:p>
          </p:txBody>
        </p:sp>
        <p:sp>
          <p:nvSpPr>
            <p:cNvPr id="23598" name="Line 46"/>
            <p:cNvSpPr>
              <a:spLocks noChangeShapeType="1"/>
            </p:cNvSpPr>
            <p:nvPr/>
          </p:nvSpPr>
          <p:spPr bwMode="auto">
            <a:xfrm>
              <a:off x="2304" y="2370"/>
              <a:ext cx="3216" cy="0"/>
            </a:xfrm>
            <a:prstGeom prst="line">
              <a:avLst/>
            </a:prstGeom>
            <a:noFill/>
            <a:ln w="12700">
              <a:solidFill>
                <a:schemeClr val="tx1"/>
              </a:solidFill>
              <a:round/>
              <a:headEnd/>
              <a:tailEnd/>
            </a:ln>
            <a:effectLst/>
          </p:spPr>
          <p:txBody>
            <a:bodyPr/>
            <a:lstStyle/>
            <a:p>
              <a:endParaRPr lang="en-US"/>
            </a:p>
          </p:txBody>
        </p:sp>
        <p:sp>
          <p:nvSpPr>
            <p:cNvPr id="23599" name="Line 47"/>
            <p:cNvSpPr>
              <a:spLocks noChangeShapeType="1"/>
            </p:cNvSpPr>
            <p:nvPr/>
          </p:nvSpPr>
          <p:spPr bwMode="auto">
            <a:xfrm>
              <a:off x="2304" y="2121"/>
              <a:ext cx="3216" cy="0"/>
            </a:xfrm>
            <a:prstGeom prst="line">
              <a:avLst/>
            </a:prstGeom>
            <a:noFill/>
            <a:ln w="12700">
              <a:solidFill>
                <a:schemeClr val="tx1"/>
              </a:solidFill>
              <a:round/>
              <a:headEnd/>
              <a:tailEnd/>
            </a:ln>
            <a:effectLst/>
          </p:spPr>
          <p:txBody>
            <a:bodyPr/>
            <a:lstStyle/>
            <a:p>
              <a:endParaRPr lang="en-US"/>
            </a:p>
          </p:txBody>
        </p:sp>
        <p:sp>
          <p:nvSpPr>
            <p:cNvPr id="23600" name="Line 48"/>
            <p:cNvSpPr>
              <a:spLocks noChangeShapeType="1"/>
            </p:cNvSpPr>
            <p:nvPr/>
          </p:nvSpPr>
          <p:spPr bwMode="auto">
            <a:xfrm>
              <a:off x="2304" y="3366"/>
              <a:ext cx="3216" cy="0"/>
            </a:xfrm>
            <a:prstGeom prst="line">
              <a:avLst/>
            </a:prstGeom>
            <a:noFill/>
            <a:ln w="12700">
              <a:solidFill>
                <a:schemeClr val="tx1"/>
              </a:solidFill>
              <a:round/>
              <a:headEnd/>
              <a:tailEnd/>
            </a:ln>
            <a:effectLst/>
          </p:spPr>
          <p:txBody>
            <a:bodyPr/>
            <a:lstStyle/>
            <a:p>
              <a:endParaRPr lang="en-US"/>
            </a:p>
          </p:txBody>
        </p:sp>
        <p:sp>
          <p:nvSpPr>
            <p:cNvPr id="23601" name="Line 49"/>
            <p:cNvSpPr>
              <a:spLocks noChangeShapeType="1"/>
            </p:cNvSpPr>
            <p:nvPr/>
          </p:nvSpPr>
          <p:spPr bwMode="auto">
            <a:xfrm>
              <a:off x="2304" y="3117"/>
              <a:ext cx="3216" cy="0"/>
            </a:xfrm>
            <a:prstGeom prst="line">
              <a:avLst/>
            </a:prstGeom>
            <a:noFill/>
            <a:ln w="12700">
              <a:solidFill>
                <a:schemeClr val="tx1"/>
              </a:solidFill>
              <a:round/>
              <a:headEnd/>
              <a:tailEnd/>
            </a:ln>
            <a:effectLst/>
          </p:spPr>
          <p:txBody>
            <a:bodyPr/>
            <a:lstStyle/>
            <a:p>
              <a:endParaRPr lang="en-US"/>
            </a:p>
          </p:txBody>
        </p:sp>
        <p:sp>
          <p:nvSpPr>
            <p:cNvPr id="23602" name="Line 50"/>
            <p:cNvSpPr>
              <a:spLocks noChangeShapeType="1"/>
            </p:cNvSpPr>
            <p:nvPr/>
          </p:nvSpPr>
          <p:spPr bwMode="auto">
            <a:xfrm>
              <a:off x="2304" y="3864"/>
              <a:ext cx="3216" cy="0"/>
            </a:xfrm>
            <a:prstGeom prst="line">
              <a:avLst/>
            </a:prstGeom>
            <a:noFill/>
            <a:ln w="12700">
              <a:solidFill>
                <a:schemeClr val="tx1"/>
              </a:solidFill>
              <a:round/>
              <a:headEnd/>
              <a:tailEnd/>
            </a:ln>
            <a:effectLst/>
          </p:spPr>
          <p:txBody>
            <a:bodyPr/>
            <a:lstStyle/>
            <a:p>
              <a:endParaRPr lang="en-US"/>
            </a:p>
          </p:txBody>
        </p:sp>
      </p:grpSp>
      <p:grpSp>
        <p:nvGrpSpPr>
          <p:cNvPr id="3" name="Group 51"/>
          <p:cNvGrpSpPr>
            <a:grpSpLocks/>
          </p:cNvGrpSpPr>
          <p:nvPr/>
        </p:nvGrpSpPr>
        <p:grpSpPr bwMode="auto">
          <a:xfrm>
            <a:off x="990600" y="4953000"/>
            <a:ext cx="1905000" cy="1041400"/>
            <a:chOff x="480" y="2688"/>
            <a:chExt cx="1200" cy="656"/>
          </a:xfrm>
        </p:grpSpPr>
        <p:sp>
          <p:nvSpPr>
            <p:cNvPr id="23604" name="Rectangle 52"/>
            <p:cNvSpPr>
              <a:spLocks noChangeArrowheads="1"/>
            </p:cNvSpPr>
            <p:nvPr/>
          </p:nvSpPr>
          <p:spPr bwMode="auto">
            <a:xfrm>
              <a:off x="480" y="3016"/>
              <a:ext cx="1200" cy="328"/>
            </a:xfrm>
            <a:prstGeom prst="rect">
              <a:avLst/>
            </a:prstGeom>
            <a:noFill/>
            <a:ln w="19050">
              <a:noFill/>
              <a:miter lim="800000"/>
              <a:headEnd/>
              <a:tailEnd/>
            </a:ln>
            <a:effectLst/>
          </p:spPr>
          <p:txBody>
            <a:bodyPr/>
            <a:lstStyle/>
            <a:p>
              <a:r>
                <a:rPr lang="en-US" sz="2000" b="1"/>
                <a:t>P(n) = 5/14</a:t>
              </a:r>
              <a:endParaRPr lang="it-IT" sz="2000" b="1"/>
            </a:p>
          </p:txBody>
        </p:sp>
        <p:sp>
          <p:nvSpPr>
            <p:cNvPr id="23605" name="Rectangle 53"/>
            <p:cNvSpPr>
              <a:spLocks noChangeArrowheads="1"/>
            </p:cNvSpPr>
            <p:nvPr/>
          </p:nvSpPr>
          <p:spPr bwMode="auto">
            <a:xfrm>
              <a:off x="480" y="2688"/>
              <a:ext cx="1200" cy="328"/>
            </a:xfrm>
            <a:prstGeom prst="rect">
              <a:avLst/>
            </a:prstGeom>
            <a:noFill/>
            <a:ln w="19050">
              <a:noFill/>
              <a:miter lim="800000"/>
              <a:headEnd/>
              <a:tailEnd/>
            </a:ln>
            <a:effectLst/>
          </p:spPr>
          <p:txBody>
            <a:bodyPr/>
            <a:lstStyle/>
            <a:p>
              <a:r>
                <a:rPr lang="en-US" sz="2000" b="1"/>
                <a:t>P(p) = 9/14</a:t>
              </a:r>
              <a:endParaRPr lang="it-IT" sz="2000" b="1"/>
            </a:p>
          </p:txBody>
        </p:sp>
        <p:sp>
          <p:nvSpPr>
            <p:cNvPr id="23606" name="Line 54"/>
            <p:cNvSpPr>
              <a:spLocks noChangeShapeType="1"/>
            </p:cNvSpPr>
            <p:nvPr/>
          </p:nvSpPr>
          <p:spPr bwMode="auto">
            <a:xfrm>
              <a:off x="480" y="2688"/>
              <a:ext cx="1200" cy="0"/>
            </a:xfrm>
            <a:prstGeom prst="line">
              <a:avLst/>
            </a:prstGeom>
            <a:noFill/>
            <a:ln w="28575" cap="sq">
              <a:solidFill>
                <a:schemeClr val="tx1"/>
              </a:solidFill>
              <a:round/>
              <a:headEnd/>
              <a:tailEnd/>
            </a:ln>
            <a:effectLst/>
          </p:spPr>
          <p:txBody>
            <a:bodyPr/>
            <a:lstStyle/>
            <a:p>
              <a:endParaRPr lang="en-US"/>
            </a:p>
          </p:txBody>
        </p:sp>
        <p:sp>
          <p:nvSpPr>
            <p:cNvPr id="23607" name="Line 55"/>
            <p:cNvSpPr>
              <a:spLocks noChangeShapeType="1"/>
            </p:cNvSpPr>
            <p:nvPr/>
          </p:nvSpPr>
          <p:spPr bwMode="auto">
            <a:xfrm>
              <a:off x="480" y="3016"/>
              <a:ext cx="1200" cy="0"/>
            </a:xfrm>
            <a:prstGeom prst="line">
              <a:avLst/>
            </a:prstGeom>
            <a:noFill/>
            <a:ln w="12700">
              <a:solidFill>
                <a:schemeClr val="tx1"/>
              </a:solidFill>
              <a:round/>
              <a:headEnd/>
              <a:tailEnd/>
            </a:ln>
            <a:effectLst/>
          </p:spPr>
          <p:txBody>
            <a:bodyPr/>
            <a:lstStyle/>
            <a:p>
              <a:endParaRPr lang="en-US"/>
            </a:p>
          </p:txBody>
        </p:sp>
        <p:sp>
          <p:nvSpPr>
            <p:cNvPr id="23608" name="Line 56"/>
            <p:cNvSpPr>
              <a:spLocks noChangeShapeType="1"/>
            </p:cNvSpPr>
            <p:nvPr/>
          </p:nvSpPr>
          <p:spPr bwMode="auto">
            <a:xfrm>
              <a:off x="480" y="3344"/>
              <a:ext cx="1200" cy="0"/>
            </a:xfrm>
            <a:prstGeom prst="line">
              <a:avLst/>
            </a:prstGeom>
            <a:noFill/>
            <a:ln w="28575" cap="sq">
              <a:solidFill>
                <a:schemeClr val="tx1"/>
              </a:solidFill>
              <a:round/>
              <a:headEnd/>
              <a:tailEnd/>
            </a:ln>
            <a:effectLst/>
          </p:spPr>
          <p:txBody>
            <a:bodyPr/>
            <a:lstStyle/>
            <a:p>
              <a:endParaRPr lang="en-US"/>
            </a:p>
          </p:txBody>
        </p:sp>
        <p:sp>
          <p:nvSpPr>
            <p:cNvPr id="23609" name="Line 57"/>
            <p:cNvSpPr>
              <a:spLocks noChangeShapeType="1"/>
            </p:cNvSpPr>
            <p:nvPr/>
          </p:nvSpPr>
          <p:spPr bwMode="auto">
            <a:xfrm>
              <a:off x="480" y="2688"/>
              <a:ext cx="0" cy="656"/>
            </a:xfrm>
            <a:prstGeom prst="line">
              <a:avLst/>
            </a:prstGeom>
            <a:noFill/>
            <a:ln w="28575" cap="sq">
              <a:solidFill>
                <a:schemeClr val="tx1"/>
              </a:solidFill>
              <a:round/>
              <a:headEnd/>
              <a:tailEnd/>
            </a:ln>
            <a:effectLst/>
          </p:spPr>
          <p:txBody>
            <a:bodyPr/>
            <a:lstStyle/>
            <a:p>
              <a:endParaRPr lang="en-US"/>
            </a:p>
          </p:txBody>
        </p:sp>
        <p:sp>
          <p:nvSpPr>
            <p:cNvPr id="23610" name="Line 58"/>
            <p:cNvSpPr>
              <a:spLocks noChangeShapeType="1"/>
            </p:cNvSpPr>
            <p:nvPr/>
          </p:nvSpPr>
          <p:spPr bwMode="auto">
            <a:xfrm>
              <a:off x="1680" y="2688"/>
              <a:ext cx="0" cy="656"/>
            </a:xfrm>
            <a:prstGeom prst="line">
              <a:avLst/>
            </a:prstGeom>
            <a:noFill/>
            <a:ln w="28575" cap="sq">
              <a:solidFill>
                <a:schemeClr val="tx1"/>
              </a:solidFill>
              <a:round/>
              <a:headEnd/>
              <a:tailEnd/>
            </a:ln>
            <a:effectLst/>
          </p:spPr>
          <p:txBody>
            <a:bodyPr/>
            <a:lstStyle/>
            <a:p>
              <a:endParaRPr lang="en-US"/>
            </a:p>
          </p:txBody>
        </p:sp>
      </p:grpSp>
    </p:spTree>
  </p:cSld>
  <p:clrMapOvr>
    <a:masterClrMapping/>
  </p:clrMapOvr>
  <p:transition>
    <p:check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33400" y="304800"/>
            <a:ext cx="8153400" cy="762000"/>
          </a:xfrm>
        </p:spPr>
        <p:txBody>
          <a:bodyPr/>
          <a:lstStyle/>
          <a:p>
            <a:r>
              <a:rPr lang="en-US" b="1" dirty="0"/>
              <a:t>Play-tennis example: classifying X</a:t>
            </a:r>
            <a:endParaRPr lang="it-IT" b="1" dirty="0"/>
          </a:p>
        </p:txBody>
      </p:sp>
      <p:sp>
        <p:nvSpPr>
          <p:cNvPr id="24579" name="Rectangle 3"/>
          <p:cNvSpPr>
            <a:spLocks noGrp="1" noChangeArrowheads="1"/>
          </p:cNvSpPr>
          <p:nvPr>
            <p:ph type="body" idx="1"/>
          </p:nvPr>
        </p:nvSpPr>
        <p:spPr>
          <a:xfrm>
            <a:off x="152400" y="1219200"/>
            <a:ext cx="8763000" cy="4724400"/>
          </a:xfrm>
        </p:spPr>
        <p:txBody>
          <a:bodyPr/>
          <a:lstStyle/>
          <a:p>
            <a:pPr>
              <a:lnSpc>
                <a:spcPct val="90000"/>
              </a:lnSpc>
            </a:pPr>
            <a:r>
              <a:rPr lang="en-US" sz="2400" dirty="0"/>
              <a:t>An unseen sample </a:t>
            </a:r>
            <a:r>
              <a:rPr lang="en-US" sz="2400" b="1" dirty="0">
                <a:latin typeface="Times New Roman" pitchFamily="18" charset="0"/>
                <a:cs typeface="Times New Roman" pitchFamily="18" charset="0"/>
              </a:rPr>
              <a:t>X</a:t>
            </a:r>
            <a:r>
              <a:rPr lang="en-US" sz="2400" dirty="0"/>
              <a:t> = &lt;</a:t>
            </a:r>
            <a:r>
              <a:rPr lang="en-US" sz="2400" i="1" dirty="0">
                <a:latin typeface="Times New Roman" pitchFamily="18" charset="0"/>
                <a:cs typeface="Times New Roman" pitchFamily="18" charset="0"/>
              </a:rPr>
              <a:t>rain</a:t>
            </a:r>
            <a:r>
              <a:rPr lang="en-US" sz="2400" dirty="0"/>
              <a:t>, </a:t>
            </a:r>
            <a:r>
              <a:rPr lang="en-US" sz="2400" i="1" dirty="0">
                <a:latin typeface="Times New Roman" pitchFamily="18" charset="0"/>
                <a:cs typeface="Times New Roman" pitchFamily="18" charset="0"/>
              </a:rPr>
              <a:t>hot</a:t>
            </a:r>
            <a:r>
              <a:rPr lang="en-US" sz="2400" dirty="0"/>
              <a:t>, </a:t>
            </a:r>
            <a:r>
              <a:rPr lang="en-US" sz="2400" i="1" dirty="0">
                <a:latin typeface="Times New Roman" pitchFamily="18" charset="0"/>
                <a:cs typeface="Times New Roman" pitchFamily="18" charset="0"/>
              </a:rPr>
              <a:t>high</a:t>
            </a:r>
            <a:r>
              <a:rPr lang="en-US" sz="2400" dirty="0"/>
              <a:t>, </a:t>
            </a:r>
            <a:r>
              <a:rPr lang="en-US" sz="2400" i="1" dirty="0">
                <a:latin typeface="Times New Roman" pitchFamily="18" charset="0"/>
                <a:cs typeface="Times New Roman" pitchFamily="18" charset="0"/>
              </a:rPr>
              <a:t>false</a:t>
            </a:r>
            <a:r>
              <a:rPr lang="en-US" sz="2400" dirty="0"/>
              <a:t>&gt;</a:t>
            </a:r>
          </a:p>
          <a:p>
            <a:pPr>
              <a:lnSpc>
                <a:spcPct val="90000"/>
              </a:lnSpc>
            </a:pPr>
            <a:r>
              <a:rPr lang="en-US" sz="2400" i="1" dirty="0">
                <a:latin typeface="Times New Roman" pitchFamily="18" charset="0"/>
                <a:cs typeface="Times New Roman" pitchFamily="18" charset="0"/>
              </a:rPr>
              <a:t>P(</a:t>
            </a:r>
            <a:r>
              <a:rPr lang="en-US" sz="2400" b="1" dirty="0" err="1">
                <a:latin typeface="Times New Roman" pitchFamily="18" charset="0"/>
                <a:cs typeface="Times New Roman" pitchFamily="18" charset="0"/>
              </a:rPr>
              <a:t>X</a:t>
            </a:r>
            <a:r>
              <a:rPr lang="en-US" sz="2400" i="1" dirty="0" err="1">
                <a:latin typeface="Times New Roman" pitchFamily="18" charset="0"/>
                <a:cs typeface="Times New Roman" pitchFamily="18" charset="0"/>
              </a:rPr>
              <a:t>|p</a:t>
            </a:r>
            <a:r>
              <a:rPr lang="en-US" sz="2400" i="1" dirty="0">
                <a:latin typeface="Times New Roman" pitchFamily="18" charset="0"/>
                <a:cs typeface="Times New Roman" pitchFamily="18" charset="0"/>
              </a:rPr>
              <a:t>)·P(p) = P(</a:t>
            </a:r>
            <a:r>
              <a:rPr lang="en-US" sz="2400" i="1" dirty="0" err="1">
                <a:latin typeface="Times New Roman" pitchFamily="18" charset="0"/>
                <a:cs typeface="Times New Roman" pitchFamily="18" charset="0"/>
              </a:rPr>
              <a:t>rain|p</a:t>
            </a:r>
            <a:r>
              <a:rPr lang="en-US" sz="2400" i="1" dirty="0">
                <a:latin typeface="Times New Roman" pitchFamily="18" charset="0"/>
                <a:cs typeface="Times New Roman" pitchFamily="18" charset="0"/>
              </a:rPr>
              <a:t>)·P(</a:t>
            </a:r>
            <a:r>
              <a:rPr lang="en-US" sz="2400" i="1" dirty="0" err="1">
                <a:latin typeface="Times New Roman" pitchFamily="18" charset="0"/>
                <a:cs typeface="Times New Roman" pitchFamily="18" charset="0"/>
              </a:rPr>
              <a:t>hot|p</a:t>
            </a:r>
            <a:r>
              <a:rPr lang="en-US" sz="2400" i="1" dirty="0">
                <a:latin typeface="Times New Roman" pitchFamily="18" charset="0"/>
                <a:cs typeface="Times New Roman" pitchFamily="18" charset="0"/>
              </a:rPr>
              <a:t>)·P(</a:t>
            </a:r>
            <a:r>
              <a:rPr lang="en-US" sz="2400" i="1" dirty="0" err="1">
                <a:latin typeface="Times New Roman" pitchFamily="18" charset="0"/>
                <a:cs typeface="Times New Roman" pitchFamily="18" charset="0"/>
              </a:rPr>
              <a:t>high|p</a:t>
            </a:r>
            <a:r>
              <a:rPr lang="en-US" sz="2400" i="1" dirty="0">
                <a:latin typeface="Times New Roman" pitchFamily="18" charset="0"/>
                <a:cs typeface="Times New Roman" pitchFamily="18" charset="0"/>
              </a:rPr>
              <a:t>)·P(</a:t>
            </a:r>
            <a:r>
              <a:rPr lang="en-US" sz="2400" i="1" dirty="0" err="1">
                <a:latin typeface="Times New Roman" pitchFamily="18" charset="0"/>
                <a:cs typeface="Times New Roman" pitchFamily="18" charset="0"/>
              </a:rPr>
              <a:t>false|p</a:t>
            </a:r>
            <a:r>
              <a:rPr lang="en-US" sz="2400" i="1" dirty="0">
                <a:latin typeface="Times New Roman" pitchFamily="18" charset="0"/>
                <a:cs typeface="Times New Roman" pitchFamily="18" charset="0"/>
              </a:rPr>
              <a:t>)·P(p)</a:t>
            </a:r>
            <a:r>
              <a:rPr lang="en-US" sz="2400" dirty="0"/>
              <a:t> </a:t>
            </a:r>
          </a:p>
          <a:p>
            <a:pPr>
              <a:lnSpc>
                <a:spcPct val="90000"/>
              </a:lnSpc>
              <a:buNone/>
            </a:pPr>
            <a:r>
              <a:rPr lang="en-US" sz="2400" dirty="0"/>
              <a:t>                       = (3/9)(2/9)(3/9)(6/9)(9/14) = </a:t>
            </a:r>
            <a:r>
              <a:rPr lang="it-IT" sz="2400" dirty="0">
                <a:cs typeface="Arial" charset="0"/>
              </a:rPr>
              <a:t>0.010582</a:t>
            </a:r>
            <a:endParaRPr lang="en-US" sz="2400" dirty="0">
              <a:cs typeface="Arial" charset="0"/>
            </a:endParaRPr>
          </a:p>
          <a:p>
            <a:pPr>
              <a:lnSpc>
                <a:spcPct val="90000"/>
              </a:lnSpc>
            </a:pPr>
            <a:endParaRPr lang="en-US" sz="2400" dirty="0"/>
          </a:p>
          <a:p>
            <a:pPr>
              <a:lnSpc>
                <a:spcPct val="90000"/>
              </a:lnSpc>
            </a:pPr>
            <a:r>
              <a:rPr lang="en-US" sz="2400" i="1" dirty="0">
                <a:latin typeface="Times New Roman" pitchFamily="18" charset="0"/>
                <a:cs typeface="Times New Roman" pitchFamily="18" charset="0"/>
              </a:rPr>
              <a:t>P(</a:t>
            </a:r>
            <a:r>
              <a:rPr lang="en-US" sz="2400" b="1" dirty="0" err="1">
                <a:latin typeface="Times New Roman" pitchFamily="18" charset="0"/>
                <a:cs typeface="Times New Roman" pitchFamily="18" charset="0"/>
              </a:rPr>
              <a:t>X</a:t>
            </a:r>
            <a:r>
              <a:rPr lang="en-US" sz="2400" i="1" dirty="0" err="1">
                <a:latin typeface="Times New Roman" pitchFamily="18" charset="0"/>
                <a:cs typeface="Times New Roman" pitchFamily="18" charset="0"/>
              </a:rPr>
              <a:t>|n</a:t>
            </a:r>
            <a:r>
              <a:rPr lang="en-US" sz="2400" i="1" dirty="0">
                <a:latin typeface="Times New Roman" pitchFamily="18" charset="0"/>
                <a:cs typeface="Times New Roman" pitchFamily="18" charset="0"/>
              </a:rPr>
              <a:t>)·P(n) = P(</a:t>
            </a:r>
            <a:r>
              <a:rPr lang="en-US" sz="2400" i="1" dirty="0" err="1">
                <a:latin typeface="Times New Roman" pitchFamily="18" charset="0"/>
                <a:cs typeface="Times New Roman" pitchFamily="18" charset="0"/>
              </a:rPr>
              <a:t>rain|n</a:t>
            </a:r>
            <a:r>
              <a:rPr lang="en-US" sz="2400" i="1" dirty="0">
                <a:latin typeface="Times New Roman" pitchFamily="18" charset="0"/>
                <a:cs typeface="Times New Roman" pitchFamily="18" charset="0"/>
              </a:rPr>
              <a:t>)·P(</a:t>
            </a:r>
            <a:r>
              <a:rPr lang="en-US" sz="2400" i="1" dirty="0" err="1">
                <a:latin typeface="Times New Roman" pitchFamily="18" charset="0"/>
                <a:cs typeface="Times New Roman" pitchFamily="18" charset="0"/>
              </a:rPr>
              <a:t>hot|n</a:t>
            </a:r>
            <a:r>
              <a:rPr lang="en-US" sz="2400" i="1" dirty="0">
                <a:latin typeface="Times New Roman" pitchFamily="18" charset="0"/>
                <a:cs typeface="Times New Roman" pitchFamily="18" charset="0"/>
              </a:rPr>
              <a:t>)·P(</a:t>
            </a:r>
            <a:r>
              <a:rPr lang="en-US" sz="2400" i="1" dirty="0" err="1">
                <a:latin typeface="Times New Roman" pitchFamily="18" charset="0"/>
                <a:cs typeface="Times New Roman" pitchFamily="18" charset="0"/>
              </a:rPr>
              <a:t>high|n</a:t>
            </a:r>
            <a:r>
              <a:rPr lang="en-US" sz="2400" i="1" dirty="0">
                <a:latin typeface="Times New Roman" pitchFamily="18" charset="0"/>
                <a:cs typeface="Times New Roman" pitchFamily="18" charset="0"/>
              </a:rPr>
              <a:t>)·P(</a:t>
            </a:r>
            <a:r>
              <a:rPr lang="en-US" sz="2400" i="1" dirty="0" err="1">
                <a:latin typeface="Times New Roman" pitchFamily="18" charset="0"/>
                <a:cs typeface="Times New Roman" pitchFamily="18" charset="0"/>
              </a:rPr>
              <a:t>false|n</a:t>
            </a:r>
            <a:r>
              <a:rPr lang="en-US" sz="2400" i="1" dirty="0">
                <a:latin typeface="Times New Roman" pitchFamily="18" charset="0"/>
                <a:cs typeface="Times New Roman" pitchFamily="18" charset="0"/>
              </a:rPr>
              <a:t>)·P(n)</a:t>
            </a:r>
            <a:r>
              <a:rPr lang="en-US" sz="2400" i="1" dirty="0"/>
              <a:t> </a:t>
            </a:r>
          </a:p>
          <a:p>
            <a:pPr>
              <a:lnSpc>
                <a:spcPct val="90000"/>
              </a:lnSpc>
              <a:buNone/>
            </a:pPr>
            <a:r>
              <a:rPr lang="en-US" sz="2400" dirty="0"/>
              <a:t>                       = (2/5)(2/5)(4/5)(2/5)(5/14) = </a:t>
            </a:r>
            <a:r>
              <a:rPr lang="it-IT" sz="2400" b="1" dirty="0">
                <a:solidFill>
                  <a:srgbClr val="C00000"/>
                </a:solidFill>
                <a:cs typeface="Arial" charset="0"/>
              </a:rPr>
              <a:t>0.018286</a:t>
            </a:r>
            <a:endParaRPr lang="en-US" sz="2400" b="1" dirty="0">
              <a:solidFill>
                <a:srgbClr val="C00000"/>
              </a:solidFill>
              <a:cs typeface="Arial" charset="0"/>
            </a:endParaRPr>
          </a:p>
          <a:p>
            <a:pPr>
              <a:lnSpc>
                <a:spcPct val="90000"/>
              </a:lnSpc>
            </a:pPr>
            <a:endParaRPr lang="en-US" sz="2400" dirty="0">
              <a:solidFill>
                <a:schemeClr val="hlink"/>
              </a:solidFill>
              <a:cs typeface="Arial" charset="0"/>
            </a:endParaRPr>
          </a:p>
          <a:p>
            <a:pPr>
              <a:lnSpc>
                <a:spcPct val="90000"/>
              </a:lnSpc>
            </a:pPr>
            <a:r>
              <a:rPr lang="en-US" sz="2400" dirty="0"/>
              <a:t>Sample </a:t>
            </a:r>
            <a:r>
              <a:rPr lang="en-US" sz="2400" b="1" dirty="0">
                <a:latin typeface="Times New Roman" pitchFamily="18" charset="0"/>
                <a:cs typeface="Times New Roman" pitchFamily="18" charset="0"/>
              </a:rPr>
              <a:t>X</a:t>
            </a:r>
            <a:r>
              <a:rPr lang="en-US" sz="2400" dirty="0">
                <a:solidFill>
                  <a:schemeClr val="hlink"/>
                </a:solidFill>
              </a:rPr>
              <a:t> </a:t>
            </a:r>
            <a:r>
              <a:rPr lang="en-US" sz="2400" dirty="0"/>
              <a:t>is classified in class </a:t>
            </a:r>
            <a:r>
              <a:rPr lang="en-US" sz="2400" b="1" dirty="0">
                <a:solidFill>
                  <a:srgbClr val="C00000"/>
                </a:solidFill>
              </a:rPr>
              <a:t>n</a:t>
            </a:r>
            <a:r>
              <a:rPr lang="en-US" sz="2400" dirty="0">
                <a:solidFill>
                  <a:schemeClr val="hlink"/>
                </a:solidFill>
              </a:rPr>
              <a:t> </a:t>
            </a:r>
            <a:r>
              <a:rPr lang="en-US" sz="2400" dirty="0"/>
              <a:t>(don’t play)</a:t>
            </a:r>
            <a:endParaRPr lang="it-IT" sz="2400" dirty="0"/>
          </a:p>
          <a:p>
            <a:pPr>
              <a:lnSpc>
                <a:spcPct val="90000"/>
              </a:lnSpc>
            </a:pPr>
            <a:endParaRPr lang="it-IT" sz="2400" dirty="0"/>
          </a:p>
        </p:txBody>
      </p:sp>
    </p:spTree>
  </p:cSld>
  <p:clrMapOvr>
    <a:masterClrMapping/>
  </p:clrMapOvr>
  <p:transition>
    <p:check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433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14340" name="Rectangle 4"/>
          <p:cNvSpPr>
            <a:spLocks noGrp="1" noChangeArrowheads="1"/>
          </p:cNvSpPr>
          <p:nvPr>
            <p:ph type="ctrTitle"/>
          </p:nvPr>
        </p:nvSpPr>
        <p:spPr/>
        <p:txBody>
          <a:bodyPr/>
          <a:lstStyle/>
          <a:p>
            <a:r>
              <a:rPr lang="en-US" b="1" dirty="0" err="1"/>
              <a:t>AdaBoost</a:t>
            </a:r>
            <a:br>
              <a:rPr lang="en-US" b="1" dirty="0"/>
            </a:br>
            <a:endParaRPr lang="en-US" b="1" dirty="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457200" y="304800"/>
            <a:ext cx="6629400" cy="707886"/>
          </a:xfrm>
          <a:prstGeom prst="rect">
            <a:avLst/>
          </a:prstGeom>
          <a:noFill/>
          <a:ln w="9525">
            <a:noFill/>
            <a:miter lim="800000"/>
            <a:headEnd/>
            <a:tailEnd/>
          </a:ln>
        </p:spPr>
        <p:txBody>
          <a:bodyPr wrap="square">
            <a:spAutoFit/>
          </a:bodyPr>
          <a:lstStyle/>
          <a:p>
            <a:pPr>
              <a:spcBef>
                <a:spcPct val="50000"/>
              </a:spcBef>
            </a:pPr>
            <a:r>
              <a:rPr lang="en-US" sz="4000" b="1" dirty="0">
                <a:solidFill>
                  <a:srgbClr val="C00000"/>
                </a:solidFill>
                <a:latin typeface="+mj-lt"/>
              </a:rPr>
              <a:t>Boosting</a:t>
            </a:r>
          </a:p>
        </p:txBody>
      </p:sp>
      <p:sp>
        <p:nvSpPr>
          <p:cNvPr id="4" name="Text Box 6"/>
          <p:cNvSpPr txBox="1">
            <a:spLocks noChangeArrowheads="1"/>
          </p:cNvSpPr>
          <p:nvPr/>
        </p:nvSpPr>
        <p:spPr bwMode="auto">
          <a:xfrm>
            <a:off x="228600" y="990600"/>
            <a:ext cx="8686800" cy="584775"/>
          </a:xfrm>
          <a:prstGeom prst="rect">
            <a:avLst/>
          </a:prstGeom>
          <a:noFill/>
          <a:ln w="9525">
            <a:noFill/>
            <a:miter lim="800000"/>
            <a:headEnd/>
            <a:tailEnd/>
          </a:ln>
        </p:spPr>
        <p:txBody>
          <a:bodyPr wrap="square">
            <a:spAutoFit/>
          </a:bodyPr>
          <a:lstStyle/>
          <a:p>
            <a:pPr marL="288925" indent="-288925" algn="just">
              <a:spcBef>
                <a:spcPct val="50000"/>
              </a:spcBef>
              <a:buFont typeface="Wingdings" pitchFamily="2" charset="2"/>
              <a:buChar char="§"/>
            </a:pPr>
            <a:endParaRPr lang="en-US" sz="3200" dirty="0"/>
          </a:p>
        </p:txBody>
      </p:sp>
      <p:sp>
        <p:nvSpPr>
          <p:cNvPr id="14" name="Rectangle 3"/>
          <p:cNvSpPr txBox="1">
            <a:spLocks noChangeArrowheads="1"/>
          </p:cNvSpPr>
          <p:nvPr/>
        </p:nvSpPr>
        <p:spPr>
          <a:xfrm>
            <a:off x="152400" y="1447800"/>
            <a:ext cx="8915400" cy="44196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en-US" altLang="zh-CN" sz="3200" b="0" i="0" u="none" strike="noStrike" kern="0" cap="none" spc="0" normalizeH="0" baseline="0" noProof="0" dirty="0">
                <a:ln>
                  <a:noFill/>
                </a:ln>
                <a:solidFill>
                  <a:schemeClr val="tx1"/>
                </a:solidFill>
                <a:effectLst/>
                <a:uLnTx/>
                <a:uFillTx/>
                <a:latin typeface="+mn-lt"/>
                <a:ea typeface="宋体" pitchFamily="2" charset="-122"/>
                <a:cs typeface="+mn-cs"/>
              </a:rPr>
              <a:t>In this approach, we are going to train</a:t>
            </a:r>
            <a:r>
              <a:rPr kumimoji="0" lang="en-US" altLang="zh-CN" sz="3200" b="0" i="0" u="none" strike="noStrike" kern="0" cap="none" spc="0" normalizeH="0" noProof="0" dirty="0">
                <a:ln>
                  <a:noFill/>
                </a:ln>
                <a:solidFill>
                  <a:schemeClr val="tx1"/>
                </a:solidFill>
                <a:effectLst/>
                <a:uLnTx/>
                <a:uFillTx/>
                <a:latin typeface="+mn-lt"/>
                <a:ea typeface="宋体" pitchFamily="2" charset="-122"/>
                <a:cs typeface="+mn-cs"/>
              </a:rPr>
              <a:t> each classifier </a:t>
            </a:r>
            <a:r>
              <a:rPr kumimoji="0" lang="en-US" altLang="zh-CN" sz="3200" b="1" i="0" u="none" strike="noStrike" kern="0" cap="none" spc="0" normalizeH="0" noProof="0" dirty="0">
                <a:ln>
                  <a:noFill/>
                </a:ln>
                <a:solidFill>
                  <a:schemeClr val="tx1"/>
                </a:solidFill>
                <a:effectLst/>
                <a:uLnTx/>
                <a:uFillTx/>
                <a:latin typeface="+mn-lt"/>
                <a:ea typeface="宋体" pitchFamily="2" charset="-122"/>
                <a:cs typeface="+mn-cs"/>
              </a:rPr>
              <a:t>sequentially</a:t>
            </a:r>
            <a:r>
              <a:rPr kumimoji="0" lang="en-US" altLang="zh-CN" sz="3200" b="0" i="0" u="none" strike="noStrike" kern="0" cap="none" spc="0" normalizeH="0" noProof="0" dirty="0">
                <a:ln>
                  <a:noFill/>
                </a:ln>
                <a:solidFill>
                  <a:schemeClr val="tx1"/>
                </a:solidFill>
                <a:effectLst/>
                <a:uLnTx/>
                <a:uFillTx/>
                <a:latin typeface="+mn-lt"/>
                <a:ea typeface="宋体" pitchFamily="2" charset="-122"/>
                <a:cs typeface="+mn-cs"/>
              </a:rPr>
              <a:t>. </a:t>
            </a: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lang="en-US" altLang="zh-CN" sz="3200" kern="0" noProof="0" dirty="0">
                <a:latin typeface="+mn-lt"/>
                <a:ea typeface="宋体" pitchFamily="2" charset="-122"/>
              </a:rPr>
              <a:t>Each classifier is trained based on the performance of those already trained</a:t>
            </a: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en-US" altLang="zh-CN" sz="3200" b="0" i="0" u="none" strike="noStrike" kern="0" cap="none" spc="0" normalizeH="0" dirty="0">
                <a:ln>
                  <a:noFill/>
                </a:ln>
                <a:solidFill>
                  <a:schemeClr val="tx1"/>
                </a:solidFill>
                <a:effectLst/>
                <a:uLnTx/>
                <a:uFillTx/>
                <a:latin typeface="+mn-lt"/>
                <a:ea typeface="宋体" pitchFamily="2" charset="-122"/>
              </a:rPr>
              <a:t>There are many ways of implementing boosting, but we are going to look at only one in detail – adaptive boosting or </a:t>
            </a:r>
            <a:r>
              <a:rPr kumimoji="0" lang="en-US" altLang="zh-CN" sz="3200" b="1" i="0" u="none" strike="noStrike" kern="0" cap="none" spc="0" normalizeH="0" dirty="0" err="1">
                <a:ln>
                  <a:noFill/>
                </a:ln>
                <a:solidFill>
                  <a:srgbClr val="FF0000"/>
                </a:solidFill>
                <a:effectLst/>
                <a:uLnTx/>
                <a:uFillTx/>
                <a:latin typeface="+mn-lt"/>
                <a:ea typeface="宋体" pitchFamily="2" charset="-122"/>
              </a:rPr>
              <a:t>AdaBoost</a:t>
            </a:r>
            <a:endParaRPr kumimoji="0" lang="en-US" altLang="zh-CN" sz="3200" b="1" i="0" u="none" strike="noStrike" kern="0" cap="none" spc="0" normalizeH="0" noProof="0" dirty="0">
              <a:ln>
                <a:noFill/>
              </a:ln>
              <a:solidFill>
                <a:srgbClr val="FF0000"/>
              </a:solidFill>
              <a:effectLst/>
              <a:uLnTx/>
              <a:uFillTx/>
              <a:latin typeface="+mn-lt"/>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4"/>
          <p:cNvSpPr>
            <a:spLocks noGrp="1"/>
          </p:cNvSpPr>
          <p:nvPr>
            <p:ph type="sldNum" sz="quarter" idx="11"/>
          </p:nvPr>
        </p:nvSpPr>
        <p:spPr/>
        <p:txBody>
          <a:bodyPr/>
          <a:lstStyle/>
          <a:p>
            <a:fld id="{50FEBB8B-B537-4F8B-8A43-F02E07471A40}" type="slidenum">
              <a:rPr lang="zh-CN" altLang="en-US"/>
              <a:pPr/>
              <a:t>20</a:t>
            </a:fld>
            <a:endParaRPr lang="en-US" altLang="zh-CN" dirty="0"/>
          </a:p>
        </p:txBody>
      </p:sp>
      <p:sp>
        <p:nvSpPr>
          <p:cNvPr id="19458" name="Rectangle 2"/>
          <p:cNvSpPr>
            <a:spLocks noGrp="1" noChangeArrowheads="1"/>
          </p:cNvSpPr>
          <p:nvPr>
            <p:ph type="title"/>
          </p:nvPr>
        </p:nvSpPr>
        <p:spPr>
          <a:xfrm>
            <a:off x="457200" y="152400"/>
            <a:ext cx="8229600" cy="1139825"/>
          </a:xfrm>
        </p:spPr>
        <p:txBody>
          <a:bodyPr/>
          <a:lstStyle/>
          <a:p>
            <a:r>
              <a:rPr lang="en-US" altLang="zh-CN" b="1" dirty="0">
                <a:ea typeface="宋体" pitchFamily="2" charset="-122"/>
              </a:rPr>
              <a:t>General Idea of </a:t>
            </a:r>
            <a:r>
              <a:rPr lang="en-US" altLang="zh-CN" b="1" dirty="0" err="1">
                <a:ea typeface="宋体" pitchFamily="2" charset="-122"/>
              </a:rPr>
              <a:t>AdaBoost</a:t>
            </a:r>
            <a:endParaRPr lang="en-US" altLang="zh-CN" b="1" dirty="0">
              <a:ea typeface="宋体" pitchFamily="2" charset="-122"/>
            </a:endParaRPr>
          </a:p>
        </p:txBody>
      </p:sp>
      <p:sp>
        <p:nvSpPr>
          <p:cNvPr id="19459" name="Rectangle 3"/>
          <p:cNvSpPr>
            <a:spLocks noGrp="1" noChangeArrowheads="1"/>
          </p:cNvSpPr>
          <p:nvPr>
            <p:ph type="body" idx="1"/>
          </p:nvPr>
        </p:nvSpPr>
        <p:spPr>
          <a:xfrm>
            <a:off x="228600" y="879475"/>
            <a:ext cx="8686800" cy="4530725"/>
          </a:xfrm>
        </p:spPr>
        <p:txBody>
          <a:bodyPr/>
          <a:lstStyle/>
          <a:p>
            <a:pPr>
              <a:lnSpc>
                <a:spcPct val="80000"/>
              </a:lnSpc>
            </a:pPr>
            <a:r>
              <a:rPr lang="en-US" altLang="zh-CN" sz="2400" dirty="0">
                <a:ea typeface="宋体" pitchFamily="2" charset="-122"/>
              </a:rPr>
              <a:t>A weight is applied to every example in the training data. Initially these weights are all equal</a:t>
            </a:r>
          </a:p>
          <a:p>
            <a:pPr>
              <a:lnSpc>
                <a:spcPct val="80000"/>
              </a:lnSpc>
              <a:buNone/>
            </a:pPr>
            <a:endParaRPr lang="en-US" altLang="zh-CN" sz="2400" dirty="0">
              <a:ea typeface="宋体" pitchFamily="2" charset="-122"/>
            </a:endParaRPr>
          </a:p>
          <a:p>
            <a:pPr>
              <a:lnSpc>
                <a:spcPct val="80000"/>
              </a:lnSpc>
            </a:pPr>
            <a:r>
              <a:rPr lang="en-US" altLang="zh-CN" sz="2400" dirty="0">
                <a:ea typeface="宋体" pitchFamily="2" charset="-122"/>
              </a:rPr>
              <a:t>Train a weak classifier on the training data</a:t>
            </a:r>
            <a:endParaRPr lang="en-US" altLang="zh-CN" sz="2000" i="1" baseline="-25000" dirty="0">
              <a:ea typeface="宋体" pitchFamily="2" charset="-122"/>
            </a:endParaRPr>
          </a:p>
          <a:p>
            <a:pPr lvl="1">
              <a:lnSpc>
                <a:spcPct val="80000"/>
              </a:lnSpc>
            </a:pPr>
            <a:endParaRPr lang="en-US" altLang="zh-CN" sz="2400" i="1" dirty="0">
              <a:ea typeface="宋体" pitchFamily="2" charset="-122"/>
            </a:endParaRPr>
          </a:p>
          <a:p>
            <a:pPr>
              <a:lnSpc>
                <a:spcPct val="80000"/>
              </a:lnSpc>
            </a:pPr>
            <a:r>
              <a:rPr lang="en-US" altLang="zh-CN" sz="2400" dirty="0">
                <a:ea typeface="宋体" pitchFamily="2" charset="-122"/>
              </a:rPr>
              <a:t>Errors from the weak classifier are calculated, and the weak classifier is trained a second time with the same dataset. </a:t>
            </a:r>
            <a:endParaRPr lang="en-US" altLang="zh-CN" sz="2000" i="1" baseline="-25000" dirty="0">
              <a:ea typeface="宋体" pitchFamily="2" charset="-122"/>
            </a:endParaRPr>
          </a:p>
          <a:p>
            <a:pPr lvl="1">
              <a:lnSpc>
                <a:spcPct val="80000"/>
              </a:lnSpc>
            </a:pPr>
            <a:endParaRPr lang="en-US" altLang="zh-CN" sz="2400" dirty="0">
              <a:ea typeface="宋体" pitchFamily="2" charset="-122"/>
            </a:endParaRPr>
          </a:p>
          <a:p>
            <a:pPr>
              <a:lnSpc>
                <a:spcPct val="80000"/>
              </a:lnSpc>
            </a:pPr>
            <a:r>
              <a:rPr lang="en-US" altLang="zh-CN" sz="2400" dirty="0">
                <a:ea typeface="宋体" pitchFamily="2" charset="-122"/>
              </a:rPr>
              <a:t>This second time the weak classifier is trained, the weights of the training set are adjusted so that the examples properly classified the first time are weighted less and the examples incorrectly classified in the first iteration are weighted more</a:t>
            </a:r>
            <a:endParaRPr lang="en-US" altLang="zh-CN" sz="2000" dirty="0">
              <a:ea typeface="宋体" pitchFamily="2" charset="-122"/>
            </a:endParaRPr>
          </a:p>
          <a:p>
            <a:pPr lvl="1">
              <a:lnSpc>
                <a:spcPct val="80000"/>
              </a:lnSpc>
            </a:pPr>
            <a:endParaRPr lang="en-US" altLang="zh-CN" sz="2400" dirty="0">
              <a:ea typeface="宋体" pitchFamily="2" charset="-122"/>
            </a:endParaRPr>
          </a:p>
          <a:p>
            <a:pPr>
              <a:lnSpc>
                <a:spcPct val="80000"/>
              </a:lnSpc>
            </a:pPr>
            <a:r>
              <a:rPr lang="en-US" altLang="zh-CN" sz="2400" dirty="0">
                <a:ea typeface="宋体" pitchFamily="2" charset="-122"/>
              </a:rPr>
              <a:t>Final classifier is the weighted sum of weak learners</a:t>
            </a:r>
            <a:endParaRPr lang="en-US" altLang="zh-CN" sz="2400" i="1" dirty="0">
              <a:ea typeface="宋体"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b="1" dirty="0"/>
              <a:t>A toy example</a:t>
            </a:r>
          </a:p>
        </p:txBody>
      </p:sp>
      <p:pic>
        <p:nvPicPr>
          <p:cNvPr id="8195" name="Picture 3"/>
          <p:cNvPicPr>
            <a:picLocks noGrp="1" noChangeAspect="1" noChangeArrowheads="1"/>
          </p:cNvPicPr>
          <p:nvPr>
            <p:ph type="body" idx="1"/>
          </p:nvPr>
        </p:nvPicPr>
        <p:blipFill>
          <a:blip r:embed="rId3" cstate="print"/>
          <a:srcRect/>
          <a:stretch>
            <a:fillRect/>
          </a:stretch>
        </p:blipFill>
        <p:spPr>
          <a:xfrm>
            <a:off x="1143000" y="1600200"/>
            <a:ext cx="3395663" cy="3433763"/>
          </a:xfrm>
          <a:noFill/>
          <a:ln/>
        </p:spPr>
      </p:pic>
      <p:sp>
        <p:nvSpPr>
          <p:cNvPr id="8196" name="Rectangle 4"/>
          <p:cNvSpPr>
            <a:spLocks noChangeArrowheads="1"/>
          </p:cNvSpPr>
          <p:nvPr/>
        </p:nvSpPr>
        <p:spPr bwMode="auto">
          <a:xfrm>
            <a:off x="4419600" y="1981200"/>
            <a:ext cx="3200400" cy="2133600"/>
          </a:xfrm>
          <a:prstGeom prst="rect">
            <a:avLst/>
          </a:prstGeom>
          <a:noFill/>
          <a:ln w="9525">
            <a:noFill/>
            <a:miter lim="800000"/>
            <a:headEnd/>
            <a:tailEnd/>
          </a:ln>
          <a:effectLst/>
        </p:spPr>
        <p:txBody>
          <a:bodyPr anchor="ctr" anchorCtr="1"/>
          <a:lstStyle/>
          <a:p>
            <a:r>
              <a:rPr lang="en-US" altLang="zh-CN" sz="1700">
                <a:solidFill>
                  <a:schemeClr val="tx2"/>
                </a:solidFill>
              </a:rPr>
              <a:t>Training set: 10 points </a:t>
            </a:r>
            <a:r>
              <a:rPr lang="en-US" altLang="zh-CN" sz="1300">
                <a:solidFill>
                  <a:schemeClr val="tx2"/>
                </a:solidFill>
              </a:rPr>
              <a:t>(represented by plus or minus)</a:t>
            </a:r>
            <a:br>
              <a:rPr lang="en-US" altLang="zh-CN" sz="1300">
                <a:solidFill>
                  <a:schemeClr val="tx2"/>
                </a:solidFill>
              </a:rPr>
            </a:br>
            <a:r>
              <a:rPr lang="en-US" altLang="zh-CN" sz="1700">
                <a:solidFill>
                  <a:schemeClr val="tx2"/>
                </a:solidFill>
              </a:rPr>
              <a:t>Original Status: Equal Weights for all training samples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b="1" dirty="0"/>
              <a:t>A toy example(cont’d)</a:t>
            </a:r>
          </a:p>
        </p:txBody>
      </p:sp>
      <p:sp>
        <p:nvSpPr>
          <p:cNvPr id="16387" name="Rectangle 3"/>
          <p:cNvSpPr>
            <a:spLocks noChangeArrowheads="1"/>
          </p:cNvSpPr>
          <p:nvPr/>
        </p:nvSpPr>
        <p:spPr bwMode="auto">
          <a:xfrm>
            <a:off x="990600" y="5181600"/>
            <a:ext cx="7010400" cy="1219200"/>
          </a:xfrm>
          <a:prstGeom prst="rect">
            <a:avLst/>
          </a:prstGeom>
          <a:noFill/>
          <a:ln w="9525">
            <a:noFill/>
            <a:miter lim="800000"/>
            <a:headEnd/>
            <a:tailEnd/>
          </a:ln>
          <a:effectLst/>
        </p:spPr>
        <p:txBody>
          <a:bodyPr anchor="ctr" anchorCtr="1"/>
          <a:lstStyle/>
          <a:p>
            <a:r>
              <a:rPr lang="en-US" altLang="zh-CN" sz="1700">
                <a:solidFill>
                  <a:schemeClr val="tx2"/>
                </a:solidFill>
              </a:rPr>
              <a:t>Final Classifier: integrate the three “weak” classifiers and obtain a final strong classifier.</a:t>
            </a:r>
          </a:p>
        </p:txBody>
      </p:sp>
      <p:pic>
        <p:nvPicPr>
          <p:cNvPr id="16388" name="Picture 4"/>
          <p:cNvPicPr>
            <a:picLocks noChangeAspect="1" noChangeArrowheads="1"/>
          </p:cNvPicPr>
          <p:nvPr/>
        </p:nvPicPr>
        <p:blipFill>
          <a:blip r:embed="rId3" cstate="print"/>
          <a:srcRect/>
          <a:stretch>
            <a:fillRect/>
          </a:stretch>
        </p:blipFill>
        <p:spPr bwMode="auto">
          <a:xfrm>
            <a:off x="838200" y="1143000"/>
            <a:ext cx="7413625" cy="4117975"/>
          </a:xfrm>
          <a:prstGeom prst="rect">
            <a:avLst/>
          </a:prstGeom>
          <a:noFill/>
          <a:ln w="9525">
            <a:noFill/>
            <a:miter lim="800000"/>
            <a:headEnd/>
            <a:tailEnd/>
          </a:ln>
          <a:effec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433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14340" name="Rectangle 4"/>
          <p:cNvSpPr>
            <a:spLocks noGrp="1" noChangeArrowheads="1"/>
          </p:cNvSpPr>
          <p:nvPr>
            <p:ph type="ctrTitle"/>
          </p:nvPr>
        </p:nvSpPr>
        <p:spPr/>
        <p:txBody>
          <a:bodyPr/>
          <a:lstStyle/>
          <a:p>
            <a:r>
              <a:rPr lang="en-US" b="1" dirty="0"/>
              <a:t>Logistic Regression Classification</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686800" cy="1139825"/>
          </a:xfrm>
        </p:spPr>
        <p:txBody>
          <a:bodyPr/>
          <a:lstStyle/>
          <a:p>
            <a:r>
              <a:rPr lang="en-US" sz="4000" b="1" dirty="0"/>
              <a:t>Turning Regression Into Classification</a:t>
            </a:r>
          </a:p>
        </p:txBody>
      </p:sp>
      <p:sp>
        <p:nvSpPr>
          <p:cNvPr id="3" name="Content Placeholder 2"/>
          <p:cNvSpPr>
            <a:spLocks noGrp="1"/>
          </p:cNvSpPr>
          <p:nvPr>
            <p:ph idx="1"/>
          </p:nvPr>
        </p:nvSpPr>
        <p:spPr>
          <a:xfrm>
            <a:off x="457200" y="1143000"/>
            <a:ext cx="8229600" cy="4530725"/>
          </a:xfrm>
        </p:spPr>
        <p:txBody>
          <a:bodyPr/>
          <a:lstStyle/>
          <a:p>
            <a:r>
              <a:rPr lang="en-US" dirty="0"/>
              <a:t>Try a simple idea: </a:t>
            </a:r>
          </a:p>
          <a:p>
            <a:pPr lvl="1"/>
            <a:r>
              <a:rPr lang="en-US" dirty="0"/>
              <a:t>Assume that the output variable Y is discrete and takes on </a:t>
            </a:r>
            <a:r>
              <a:rPr lang="en-US" b="1" dirty="0"/>
              <a:t>one of two values </a:t>
            </a:r>
            <a:r>
              <a:rPr lang="en-US" dirty="0"/>
              <a:t>– representing the class of the input variable.</a:t>
            </a:r>
          </a:p>
          <a:p>
            <a:r>
              <a:rPr lang="en-US" dirty="0"/>
              <a:t>To do this, we will change the model so that the standard regression model is mapped through a function with an output that tends towards one of two values.</a:t>
            </a:r>
          </a:p>
          <a:p>
            <a:r>
              <a:rPr lang="en-US" dirty="0"/>
              <a:t>This function is called the </a:t>
            </a:r>
            <a:r>
              <a:rPr lang="en-US" b="1" dirty="0"/>
              <a:t>logistic function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Logistic Function</a:t>
            </a:r>
          </a:p>
        </p:txBody>
      </p:sp>
      <p:pic>
        <p:nvPicPr>
          <p:cNvPr id="4" name="Content Placeholder 3" descr="Logistic Function.bmp"/>
          <p:cNvPicPr>
            <a:picLocks noGrp="1" noChangeAspect="1"/>
          </p:cNvPicPr>
          <p:nvPr>
            <p:ph idx="1"/>
          </p:nvPr>
        </p:nvPicPr>
        <p:blipFill>
          <a:blip r:embed="rId2" cstate="print"/>
          <a:stretch>
            <a:fillRect/>
          </a:stretch>
        </p:blipFill>
        <p:spPr>
          <a:xfrm>
            <a:off x="762000" y="1486528"/>
            <a:ext cx="3200400" cy="4533272"/>
          </a:xfrm>
        </p:spPr>
      </p:pic>
      <p:sp>
        <p:nvSpPr>
          <p:cNvPr id="5" name="TextBox 4"/>
          <p:cNvSpPr txBox="1"/>
          <p:nvPr/>
        </p:nvSpPr>
        <p:spPr>
          <a:xfrm rot="16200000">
            <a:off x="222232" y="4864453"/>
            <a:ext cx="1555234" cy="261610"/>
          </a:xfrm>
          <a:prstGeom prst="rect">
            <a:avLst/>
          </a:prstGeom>
          <a:noFill/>
        </p:spPr>
        <p:txBody>
          <a:bodyPr wrap="none" rtlCol="0">
            <a:spAutoFit/>
          </a:bodyPr>
          <a:lstStyle/>
          <a:p>
            <a:r>
              <a:rPr lang="en-US" sz="1100" b="1" dirty="0">
                <a:solidFill>
                  <a:schemeClr val="tx1">
                    <a:lumMod val="50000"/>
                    <a:lumOff val="50000"/>
                  </a:schemeClr>
                </a:solidFill>
                <a:latin typeface="+mn-lt"/>
              </a:rPr>
              <a:t>Observed Class of Y</a:t>
            </a:r>
          </a:p>
        </p:txBody>
      </p:sp>
      <p:sp>
        <p:nvSpPr>
          <p:cNvPr id="6" name="TextBox 5"/>
          <p:cNvSpPr txBox="1"/>
          <p:nvPr/>
        </p:nvSpPr>
        <p:spPr>
          <a:xfrm>
            <a:off x="1371600" y="1524000"/>
            <a:ext cx="2056973" cy="369332"/>
          </a:xfrm>
          <a:prstGeom prst="rect">
            <a:avLst/>
          </a:prstGeom>
          <a:noFill/>
        </p:spPr>
        <p:txBody>
          <a:bodyPr wrap="none" rtlCol="0">
            <a:spAutoFit/>
          </a:bodyPr>
          <a:lstStyle/>
          <a:p>
            <a:r>
              <a:rPr lang="en-US" dirty="0"/>
              <a:t>Linear Regression</a:t>
            </a:r>
          </a:p>
        </p:txBody>
      </p:sp>
      <p:sp>
        <p:nvSpPr>
          <p:cNvPr id="7" name="TextBox 6"/>
          <p:cNvSpPr txBox="1"/>
          <p:nvPr/>
        </p:nvSpPr>
        <p:spPr>
          <a:xfrm>
            <a:off x="1371600" y="3962400"/>
            <a:ext cx="2198038" cy="369332"/>
          </a:xfrm>
          <a:prstGeom prst="rect">
            <a:avLst/>
          </a:prstGeom>
          <a:noFill/>
        </p:spPr>
        <p:txBody>
          <a:bodyPr wrap="none" rtlCol="0">
            <a:spAutoFit/>
          </a:bodyPr>
          <a:lstStyle/>
          <a:p>
            <a:r>
              <a:rPr lang="en-US" dirty="0"/>
              <a:t>Logistic Regression</a:t>
            </a:r>
          </a:p>
        </p:txBody>
      </p:sp>
      <p:graphicFrame>
        <p:nvGraphicFramePr>
          <p:cNvPr id="121858" name="Object 2"/>
          <p:cNvGraphicFramePr>
            <a:graphicFrameLocks noChangeAspect="1"/>
          </p:cNvGraphicFramePr>
          <p:nvPr/>
        </p:nvGraphicFramePr>
        <p:xfrm>
          <a:off x="3962400" y="4572000"/>
          <a:ext cx="4679950" cy="1011934"/>
        </p:xfrm>
        <a:graphic>
          <a:graphicData uri="http://schemas.openxmlformats.org/presentationml/2006/ole">
            <mc:AlternateContent xmlns:mc="http://schemas.openxmlformats.org/markup-compatibility/2006">
              <mc:Choice xmlns:v="urn:schemas-microsoft-com:vml" Requires="v">
                <p:oleObj name="Equation" r:id="rId3" imgW="3466800" imgH="888840" progId="Equation.DSMT4">
                  <p:embed/>
                </p:oleObj>
              </mc:Choice>
              <mc:Fallback>
                <p:oleObj name="Equation" r:id="rId3" imgW="3466800" imgH="888840" progId="Equation.DSMT4">
                  <p:embed/>
                  <p:pic>
                    <p:nvPicPr>
                      <p:cNvPr id="12185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4572000"/>
                        <a:ext cx="4679950" cy="10119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59" name="Object 3"/>
          <p:cNvGraphicFramePr>
            <a:graphicFrameLocks noChangeAspect="1"/>
          </p:cNvGraphicFramePr>
          <p:nvPr/>
        </p:nvGraphicFramePr>
        <p:xfrm>
          <a:off x="3962399" y="2438400"/>
          <a:ext cx="4860959" cy="533400"/>
        </p:xfrm>
        <a:graphic>
          <a:graphicData uri="http://schemas.openxmlformats.org/presentationml/2006/ole">
            <mc:AlternateContent xmlns:mc="http://schemas.openxmlformats.org/markup-compatibility/2006">
              <mc:Choice xmlns:v="urn:schemas-microsoft-com:vml" Requires="v">
                <p:oleObj name="Equation" r:id="rId5" imgW="3504960" imgH="457200" progId="Equation.DSMT4">
                  <p:embed/>
                </p:oleObj>
              </mc:Choice>
              <mc:Fallback>
                <p:oleObj name="Equation" r:id="rId5" imgW="3504960" imgH="457200" progId="Equation.DSMT4">
                  <p:embed/>
                  <p:pic>
                    <p:nvPicPr>
                      <p:cNvPr id="12185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399" y="2438400"/>
                        <a:ext cx="4860959"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685800" y="6248400"/>
            <a:ext cx="1905000" cy="457200"/>
          </a:xfrm>
          <a:prstGeom prst="rect">
            <a:avLst/>
          </a:prstGeom>
          <a:noFill/>
          <a:ln w="12700">
            <a:noFill/>
            <a:miter lim="800000"/>
            <a:headEnd/>
            <a:tailEnd/>
          </a:ln>
          <a:effectLst/>
        </p:spPr>
        <p:txBody>
          <a:bodyPr wrap="none" anchor="ctr"/>
          <a:lstStyle/>
          <a:p>
            <a:endParaRPr lang="en-US"/>
          </a:p>
        </p:txBody>
      </p:sp>
      <p:sp>
        <p:nvSpPr>
          <p:cNvPr id="14339" name="Rectangle 3"/>
          <p:cNvSpPr>
            <a:spLocks noChangeArrowheads="1"/>
          </p:cNvSpPr>
          <p:nvPr/>
        </p:nvSpPr>
        <p:spPr bwMode="auto">
          <a:xfrm>
            <a:off x="3124200" y="6248400"/>
            <a:ext cx="2895600" cy="457200"/>
          </a:xfrm>
          <a:prstGeom prst="rect">
            <a:avLst/>
          </a:prstGeom>
          <a:noFill/>
          <a:ln w="12700">
            <a:noFill/>
            <a:miter lim="800000"/>
            <a:headEnd/>
            <a:tailEnd/>
          </a:ln>
          <a:effectLst/>
        </p:spPr>
        <p:txBody>
          <a:bodyPr wrap="none" anchor="ctr"/>
          <a:lstStyle/>
          <a:p>
            <a:endParaRPr lang="en-US"/>
          </a:p>
        </p:txBody>
      </p:sp>
      <p:sp>
        <p:nvSpPr>
          <p:cNvPr id="14340" name="Rectangle 4"/>
          <p:cNvSpPr>
            <a:spLocks noGrp="1" noChangeArrowheads="1"/>
          </p:cNvSpPr>
          <p:nvPr>
            <p:ph type="ctrTitle"/>
          </p:nvPr>
        </p:nvSpPr>
        <p:spPr/>
        <p:txBody>
          <a:bodyPr/>
          <a:lstStyle/>
          <a:p>
            <a:r>
              <a:rPr lang="en-US" b="1" dirty="0"/>
              <a:t>Support Vector Machine Classification</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5" name="Rectangle 7"/>
          <p:cNvSpPr>
            <a:spLocks noChangeArrowheads="1"/>
          </p:cNvSpPr>
          <p:nvPr/>
        </p:nvSpPr>
        <p:spPr bwMode="auto">
          <a:xfrm>
            <a:off x="457200" y="304800"/>
            <a:ext cx="4648200" cy="685800"/>
          </a:xfrm>
          <a:prstGeom prst="rect">
            <a:avLst/>
          </a:prstGeom>
          <a:noFill/>
          <a:ln w="9525">
            <a:noFill/>
            <a:miter lim="800000"/>
            <a:headEnd/>
            <a:tailEnd/>
          </a:ln>
          <a:effectLst/>
        </p:spPr>
        <p:txBody>
          <a:bodyPr anchor="b"/>
          <a:lstStyle/>
          <a:p>
            <a:pPr algn="l"/>
            <a:r>
              <a:rPr lang="en-US" altLang="zh-CN" sz="4200" b="1" dirty="0">
                <a:solidFill>
                  <a:schemeClr val="tx2"/>
                </a:solidFill>
                <a:latin typeface="Garamond" pitchFamily="18" charset="0"/>
              </a:rPr>
              <a:t>Classifier Margin</a:t>
            </a:r>
          </a:p>
        </p:txBody>
      </p:sp>
      <p:sp>
        <p:nvSpPr>
          <p:cNvPr id="242696" name="Rectangle 8"/>
          <p:cNvSpPr>
            <a:spLocks noChangeArrowheads="1"/>
          </p:cNvSpPr>
          <p:nvPr/>
        </p:nvSpPr>
        <p:spPr bwMode="auto">
          <a:xfrm>
            <a:off x="5486400" y="928688"/>
            <a:ext cx="1600200" cy="654050"/>
          </a:xfrm>
          <a:prstGeom prst="rect">
            <a:avLst/>
          </a:prstGeom>
          <a:solidFill>
            <a:srgbClr val="FFCCFF"/>
          </a:solidFill>
          <a:ln w="12700">
            <a:solidFill>
              <a:schemeClr val="tx1"/>
            </a:solidFill>
            <a:miter lim="800000"/>
            <a:headEnd/>
            <a:tailEnd/>
          </a:ln>
          <a:effectLst/>
        </p:spPr>
        <p:txBody>
          <a:bodyPr anchor="ctr">
            <a:spAutoFit/>
          </a:bodyPr>
          <a:lstStyle/>
          <a:p>
            <a:pPr>
              <a:spcBef>
                <a:spcPct val="50000"/>
              </a:spcBef>
              <a:buClr>
                <a:schemeClr val="tx1"/>
              </a:buClr>
            </a:pPr>
            <a:r>
              <a:rPr lang="en-US" altLang="zh-CN" sz="3600" i="1">
                <a:latin typeface="Tahoma" pitchFamily="34" charset="0"/>
              </a:rPr>
              <a:t>f </a:t>
            </a:r>
            <a:r>
              <a:rPr lang="en-US" altLang="zh-CN" sz="2000">
                <a:latin typeface="Tahoma" pitchFamily="34" charset="0"/>
              </a:rPr>
              <a:t>        </a:t>
            </a:r>
          </a:p>
        </p:txBody>
      </p:sp>
      <p:sp>
        <p:nvSpPr>
          <p:cNvPr id="242697" name="Line 9"/>
          <p:cNvSpPr>
            <a:spLocks noChangeShapeType="1"/>
          </p:cNvSpPr>
          <p:nvPr/>
        </p:nvSpPr>
        <p:spPr bwMode="auto">
          <a:xfrm>
            <a:off x="4114800" y="1219200"/>
            <a:ext cx="1371600" cy="0"/>
          </a:xfrm>
          <a:prstGeom prst="line">
            <a:avLst/>
          </a:prstGeom>
          <a:noFill/>
          <a:ln w="12700">
            <a:solidFill>
              <a:schemeClr val="tx1"/>
            </a:solidFill>
            <a:round/>
            <a:headEnd/>
            <a:tailEnd type="triangle" w="med" len="med"/>
          </a:ln>
          <a:effectLst/>
        </p:spPr>
        <p:txBody>
          <a:bodyPr wrap="none" anchor="ctr">
            <a:spAutoFit/>
          </a:bodyPr>
          <a:lstStyle/>
          <a:p>
            <a:endParaRPr lang="en-US"/>
          </a:p>
        </p:txBody>
      </p:sp>
      <p:sp>
        <p:nvSpPr>
          <p:cNvPr id="242698" name="Text Box 10"/>
          <p:cNvSpPr txBox="1">
            <a:spLocks noChangeArrowheads="1"/>
          </p:cNvSpPr>
          <p:nvPr/>
        </p:nvSpPr>
        <p:spPr bwMode="auto">
          <a:xfrm>
            <a:off x="3657600" y="914400"/>
            <a:ext cx="609600" cy="519113"/>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800" b="1" i="1">
                <a:latin typeface="Tahoma" pitchFamily="34" charset="0"/>
              </a:rPr>
              <a:t>x</a:t>
            </a:r>
          </a:p>
        </p:txBody>
      </p:sp>
      <p:sp>
        <p:nvSpPr>
          <p:cNvPr id="242701" name="Line 13"/>
          <p:cNvSpPr>
            <a:spLocks noChangeShapeType="1"/>
          </p:cNvSpPr>
          <p:nvPr/>
        </p:nvSpPr>
        <p:spPr bwMode="auto">
          <a:xfrm>
            <a:off x="7086600" y="1219200"/>
            <a:ext cx="1371600" cy="0"/>
          </a:xfrm>
          <a:prstGeom prst="line">
            <a:avLst/>
          </a:prstGeom>
          <a:noFill/>
          <a:ln w="12700">
            <a:solidFill>
              <a:schemeClr val="tx1"/>
            </a:solidFill>
            <a:round/>
            <a:headEnd/>
            <a:tailEnd type="triangle" w="med" len="med"/>
          </a:ln>
          <a:effectLst/>
        </p:spPr>
        <p:txBody>
          <a:bodyPr wrap="none" anchor="ctr">
            <a:spAutoFit/>
          </a:bodyPr>
          <a:lstStyle/>
          <a:p>
            <a:endParaRPr lang="en-US"/>
          </a:p>
        </p:txBody>
      </p:sp>
      <p:sp>
        <p:nvSpPr>
          <p:cNvPr id="242702" name="Text Box 14"/>
          <p:cNvSpPr txBox="1">
            <a:spLocks noChangeArrowheads="1"/>
          </p:cNvSpPr>
          <p:nvPr/>
        </p:nvSpPr>
        <p:spPr bwMode="auto">
          <a:xfrm>
            <a:off x="8458200" y="990600"/>
            <a:ext cx="838200" cy="579438"/>
          </a:xfrm>
          <a:prstGeom prst="rect">
            <a:avLst/>
          </a:prstGeom>
          <a:noFill/>
          <a:ln w="12700">
            <a:noFill/>
            <a:miter lim="800000"/>
            <a:headEnd/>
            <a:tailEnd/>
          </a:ln>
          <a:effectLst/>
        </p:spPr>
        <p:txBody>
          <a:bodyPr>
            <a:spAutoFit/>
          </a:bodyPr>
          <a:lstStyle/>
          <a:p>
            <a:pPr algn="l">
              <a:spcBef>
                <a:spcPct val="20000"/>
              </a:spcBef>
              <a:buClr>
                <a:schemeClr val="tx1"/>
              </a:buClr>
            </a:pPr>
            <a:r>
              <a:rPr lang="en-US" altLang="zh-CN" sz="3200">
                <a:latin typeface="Tahoma" pitchFamily="34" charset="0"/>
              </a:rPr>
              <a:t>y</a:t>
            </a:r>
            <a:r>
              <a:rPr lang="en-US" altLang="zh-CN" sz="3200" baseline="30000">
                <a:latin typeface="Tahoma" pitchFamily="34" charset="0"/>
              </a:rPr>
              <a:t>est</a:t>
            </a:r>
          </a:p>
        </p:txBody>
      </p:sp>
      <p:sp>
        <p:nvSpPr>
          <p:cNvPr id="242703" name="Text Box 15"/>
          <p:cNvSpPr txBox="1">
            <a:spLocks noChangeArrowheads="1"/>
          </p:cNvSpPr>
          <p:nvPr/>
        </p:nvSpPr>
        <p:spPr bwMode="auto">
          <a:xfrm>
            <a:off x="990600" y="2057400"/>
            <a:ext cx="1905000" cy="854075"/>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000">
                <a:latin typeface="Tahoma" pitchFamily="34" charset="0"/>
              </a:rPr>
              <a:t>denotes +1</a:t>
            </a:r>
          </a:p>
          <a:p>
            <a:pPr>
              <a:spcBef>
                <a:spcPct val="50000"/>
              </a:spcBef>
              <a:buClr>
                <a:schemeClr val="tx1"/>
              </a:buClr>
            </a:pPr>
            <a:r>
              <a:rPr lang="en-US" altLang="zh-CN" sz="2000">
                <a:latin typeface="Tahoma" pitchFamily="34" charset="0"/>
              </a:rPr>
              <a:t>denotes -1</a:t>
            </a:r>
          </a:p>
        </p:txBody>
      </p:sp>
      <p:sp>
        <p:nvSpPr>
          <p:cNvPr id="242706" name="Line 18"/>
          <p:cNvSpPr>
            <a:spLocks noChangeShapeType="1"/>
          </p:cNvSpPr>
          <p:nvPr/>
        </p:nvSpPr>
        <p:spPr bwMode="auto">
          <a:xfrm>
            <a:off x="2743200" y="2362200"/>
            <a:ext cx="0" cy="3505200"/>
          </a:xfrm>
          <a:prstGeom prst="line">
            <a:avLst/>
          </a:prstGeom>
          <a:noFill/>
          <a:ln w="38100">
            <a:solidFill>
              <a:schemeClr val="hlink"/>
            </a:solidFill>
            <a:round/>
            <a:headEnd/>
            <a:tailEnd/>
          </a:ln>
          <a:effectLst/>
        </p:spPr>
        <p:txBody>
          <a:bodyPr wrap="none" anchor="ctr">
            <a:spAutoFit/>
          </a:bodyPr>
          <a:lstStyle/>
          <a:p>
            <a:endParaRPr lang="en-US"/>
          </a:p>
        </p:txBody>
      </p:sp>
      <p:sp>
        <p:nvSpPr>
          <p:cNvPr id="242707" name="Line 19"/>
          <p:cNvSpPr>
            <a:spLocks noChangeShapeType="1"/>
          </p:cNvSpPr>
          <p:nvPr/>
        </p:nvSpPr>
        <p:spPr bwMode="auto">
          <a:xfrm flipV="1">
            <a:off x="2590800" y="5715000"/>
            <a:ext cx="3657600" cy="0"/>
          </a:xfrm>
          <a:prstGeom prst="line">
            <a:avLst/>
          </a:prstGeom>
          <a:noFill/>
          <a:ln w="38100">
            <a:noFill/>
            <a:round/>
            <a:headEnd/>
            <a:tailEnd/>
          </a:ln>
          <a:effectLst/>
        </p:spPr>
        <p:txBody>
          <a:bodyPr anchor="ctr">
            <a:spAutoFit/>
          </a:bodyPr>
          <a:lstStyle/>
          <a:p>
            <a:endParaRPr lang="en-US"/>
          </a:p>
        </p:txBody>
      </p:sp>
      <p:sp>
        <p:nvSpPr>
          <p:cNvPr id="242708" name="Oval 20"/>
          <p:cNvSpPr>
            <a:spLocks noChangeAspect="1" noChangeArrowheads="1"/>
          </p:cNvSpPr>
          <p:nvPr/>
        </p:nvSpPr>
        <p:spPr bwMode="auto">
          <a:xfrm>
            <a:off x="3870325" y="5184775"/>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09" name="Oval 21"/>
          <p:cNvSpPr>
            <a:spLocks noChangeAspect="1" noChangeArrowheads="1"/>
          </p:cNvSpPr>
          <p:nvPr/>
        </p:nvSpPr>
        <p:spPr bwMode="auto">
          <a:xfrm>
            <a:off x="2638425" y="4056063"/>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10" name="Oval 22"/>
          <p:cNvSpPr>
            <a:spLocks noChangeAspect="1" noChangeArrowheads="1"/>
          </p:cNvSpPr>
          <p:nvPr/>
        </p:nvSpPr>
        <p:spPr bwMode="auto">
          <a:xfrm>
            <a:off x="4492625" y="2967038"/>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11" name="Oval 23"/>
          <p:cNvSpPr>
            <a:spLocks noChangeAspect="1" noChangeArrowheads="1"/>
          </p:cNvSpPr>
          <p:nvPr/>
        </p:nvSpPr>
        <p:spPr bwMode="auto">
          <a:xfrm>
            <a:off x="4556125" y="3787775"/>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12" name="Oval 24"/>
          <p:cNvSpPr>
            <a:spLocks noChangeAspect="1" noChangeArrowheads="1"/>
          </p:cNvSpPr>
          <p:nvPr/>
        </p:nvSpPr>
        <p:spPr bwMode="auto">
          <a:xfrm>
            <a:off x="3562350" y="2816225"/>
            <a:ext cx="60325" cy="50800"/>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13" name="Oval 25"/>
          <p:cNvSpPr>
            <a:spLocks noChangeAspect="1" noChangeArrowheads="1"/>
          </p:cNvSpPr>
          <p:nvPr/>
        </p:nvSpPr>
        <p:spPr bwMode="auto">
          <a:xfrm>
            <a:off x="4038600" y="3886200"/>
            <a:ext cx="5397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14" name="Oval 26"/>
          <p:cNvSpPr>
            <a:spLocks noChangeAspect="1" noChangeArrowheads="1"/>
          </p:cNvSpPr>
          <p:nvPr/>
        </p:nvSpPr>
        <p:spPr bwMode="auto">
          <a:xfrm>
            <a:off x="3200400" y="3276600"/>
            <a:ext cx="60325" cy="58738"/>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15" name="Oval 27"/>
          <p:cNvSpPr>
            <a:spLocks noChangeAspect="1" noChangeArrowheads="1"/>
          </p:cNvSpPr>
          <p:nvPr/>
        </p:nvSpPr>
        <p:spPr bwMode="auto">
          <a:xfrm>
            <a:off x="5257800" y="4267200"/>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16" name="Oval 28"/>
          <p:cNvSpPr>
            <a:spLocks noChangeAspect="1" noChangeArrowheads="1"/>
          </p:cNvSpPr>
          <p:nvPr/>
        </p:nvSpPr>
        <p:spPr bwMode="auto">
          <a:xfrm rot="-1118274">
            <a:off x="4040188" y="4595813"/>
            <a:ext cx="5397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17" name="Oval 29"/>
          <p:cNvSpPr>
            <a:spLocks noChangeAspect="1" noChangeArrowheads="1"/>
          </p:cNvSpPr>
          <p:nvPr/>
        </p:nvSpPr>
        <p:spPr bwMode="auto">
          <a:xfrm rot="-1118274">
            <a:off x="6156325" y="3381375"/>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18" name="Oval 30"/>
          <p:cNvSpPr>
            <a:spLocks noChangeAspect="1" noChangeArrowheads="1"/>
          </p:cNvSpPr>
          <p:nvPr/>
        </p:nvSpPr>
        <p:spPr bwMode="auto">
          <a:xfrm rot="-1118274">
            <a:off x="5448300" y="4697413"/>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19" name="Oval 31"/>
          <p:cNvSpPr>
            <a:spLocks noChangeAspect="1" noChangeArrowheads="1"/>
          </p:cNvSpPr>
          <p:nvPr/>
        </p:nvSpPr>
        <p:spPr bwMode="auto">
          <a:xfrm rot="-1118274">
            <a:off x="3276600" y="2819400"/>
            <a:ext cx="60325" cy="50800"/>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20" name="Oval 32"/>
          <p:cNvSpPr>
            <a:spLocks noChangeAspect="1" noChangeArrowheads="1"/>
          </p:cNvSpPr>
          <p:nvPr/>
        </p:nvSpPr>
        <p:spPr bwMode="auto">
          <a:xfrm rot="-1118274">
            <a:off x="4864100" y="3736975"/>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21" name="Oval 33"/>
          <p:cNvSpPr>
            <a:spLocks noChangeAspect="1" noChangeArrowheads="1"/>
          </p:cNvSpPr>
          <p:nvPr/>
        </p:nvSpPr>
        <p:spPr bwMode="auto">
          <a:xfrm rot="-1118274">
            <a:off x="6019800" y="4648200"/>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22" name="Oval 34"/>
          <p:cNvSpPr>
            <a:spLocks noChangeAspect="1" noChangeArrowheads="1"/>
          </p:cNvSpPr>
          <p:nvPr/>
        </p:nvSpPr>
        <p:spPr bwMode="auto">
          <a:xfrm rot="-1118274">
            <a:off x="3267075" y="3792538"/>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23" name="Oval 35"/>
          <p:cNvSpPr>
            <a:spLocks noChangeAspect="1" noChangeArrowheads="1"/>
          </p:cNvSpPr>
          <p:nvPr/>
        </p:nvSpPr>
        <p:spPr bwMode="auto">
          <a:xfrm rot="5895381">
            <a:off x="4019550" y="3209925"/>
            <a:ext cx="47625"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24" name="Oval 36"/>
          <p:cNvSpPr>
            <a:spLocks noChangeAspect="1" noChangeArrowheads="1"/>
          </p:cNvSpPr>
          <p:nvPr/>
        </p:nvSpPr>
        <p:spPr bwMode="auto">
          <a:xfrm rot="5895381">
            <a:off x="4288631" y="5395119"/>
            <a:ext cx="55563"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25" name="Oval 37"/>
          <p:cNvSpPr>
            <a:spLocks noChangeAspect="1" noChangeArrowheads="1"/>
          </p:cNvSpPr>
          <p:nvPr/>
        </p:nvSpPr>
        <p:spPr bwMode="auto">
          <a:xfrm rot="5895381">
            <a:off x="3267075" y="4251325"/>
            <a:ext cx="47625"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26" name="Oval 38"/>
          <p:cNvSpPr>
            <a:spLocks noChangeAspect="1" noChangeArrowheads="1"/>
          </p:cNvSpPr>
          <p:nvPr/>
        </p:nvSpPr>
        <p:spPr bwMode="auto">
          <a:xfrm rot="5895381">
            <a:off x="4495800" y="2546350"/>
            <a:ext cx="47625"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27" name="Oval 39"/>
          <p:cNvSpPr>
            <a:spLocks noChangeAspect="1" noChangeArrowheads="1"/>
          </p:cNvSpPr>
          <p:nvPr/>
        </p:nvSpPr>
        <p:spPr bwMode="auto">
          <a:xfrm rot="5895381">
            <a:off x="5457032" y="4296569"/>
            <a:ext cx="58737"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28" name="Oval 40"/>
          <p:cNvSpPr>
            <a:spLocks noChangeAspect="1" noChangeArrowheads="1"/>
          </p:cNvSpPr>
          <p:nvPr/>
        </p:nvSpPr>
        <p:spPr bwMode="auto">
          <a:xfrm rot="5895381">
            <a:off x="4522788" y="423227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29" name="Oval 41"/>
          <p:cNvSpPr>
            <a:spLocks noChangeAspect="1" noChangeArrowheads="1"/>
          </p:cNvSpPr>
          <p:nvPr/>
        </p:nvSpPr>
        <p:spPr bwMode="auto">
          <a:xfrm rot="5895381">
            <a:off x="5772150" y="3517900"/>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30" name="Oval 42"/>
          <p:cNvSpPr>
            <a:spLocks noChangeAspect="1" noChangeArrowheads="1"/>
          </p:cNvSpPr>
          <p:nvPr/>
        </p:nvSpPr>
        <p:spPr bwMode="auto">
          <a:xfrm rot="5895381">
            <a:off x="3240088" y="2498725"/>
            <a:ext cx="47625"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31" name="Oval 43"/>
          <p:cNvSpPr>
            <a:spLocks noChangeAspect="1" noChangeArrowheads="1"/>
          </p:cNvSpPr>
          <p:nvPr/>
        </p:nvSpPr>
        <p:spPr bwMode="auto">
          <a:xfrm rot="5895381">
            <a:off x="5413375" y="34258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32" name="Oval 44"/>
          <p:cNvSpPr>
            <a:spLocks noChangeAspect="1" noChangeArrowheads="1"/>
          </p:cNvSpPr>
          <p:nvPr/>
        </p:nvSpPr>
        <p:spPr bwMode="auto">
          <a:xfrm rot="5895381">
            <a:off x="5269707" y="4871244"/>
            <a:ext cx="58737"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33" name="Oval 45"/>
          <p:cNvSpPr>
            <a:spLocks noChangeAspect="1" noChangeArrowheads="1"/>
          </p:cNvSpPr>
          <p:nvPr/>
        </p:nvSpPr>
        <p:spPr bwMode="auto">
          <a:xfrm rot="4777107">
            <a:off x="3650457" y="3686969"/>
            <a:ext cx="58737"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34" name="Oval 46"/>
          <p:cNvSpPr>
            <a:spLocks noChangeAspect="1" noChangeArrowheads="1"/>
          </p:cNvSpPr>
          <p:nvPr/>
        </p:nvSpPr>
        <p:spPr bwMode="auto">
          <a:xfrm rot="4777107">
            <a:off x="4803775" y="54070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35" name="Oval 47"/>
          <p:cNvSpPr>
            <a:spLocks noChangeAspect="1" noChangeArrowheads="1"/>
          </p:cNvSpPr>
          <p:nvPr/>
        </p:nvSpPr>
        <p:spPr bwMode="auto">
          <a:xfrm rot="4777107">
            <a:off x="4498975" y="50260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36" name="Oval 48"/>
          <p:cNvSpPr>
            <a:spLocks noChangeAspect="1" noChangeArrowheads="1"/>
          </p:cNvSpPr>
          <p:nvPr/>
        </p:nvSpPr>
        <p:spPr bwMode="auto">
          <a:xfrm rot="4777107">
            <a:off x="2969419" y="3888581"/>
            <a:ext cx="58738"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37" name="Oval 49"/>
          <p:cNvSpPr>
            <a:spLocks noChangeAspect="1" noChangeArrowheads="1"/>
          </p:cNvSpPr>
          <p:nvPr/>
        </p:nvSpPr>
        <p:spPr bwMode="auto">
          <a:xfrm rot="4777107">
            <a:off x="3865563" y="2928937"/>
            <a:ext cx="50800"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38" name="Oval 50"/>
          <p:cNvSpPr>
            <a:spLocks noChangeAspect="1" noChangeArrowheads="1"/>
          </p:cNvSpPr>
          <p:nvPr/>
        </p:nvSpPr>
        <p:spPr bwMode="auto">
          <a:xfrm rot="4777107">
            <a:off x="4508501" y="4516437"/>
            <a:ext cx="50800"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39" name="Oval 51"/>
          <p:cNvSpPr>
            <a:spLocks noChangeAspect="1" noChangeArrowheads="1"/>
          </p:cNvSpPr>
          <p:nvPr/>
        </p:nvSpPr>
        <p:spPr bwMode="auto">
          <a:xfrm rot="4777107">
            <a:off x="2656682" y="3234531"/>
            <a:ext cx="58738"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40" name="Oval 52"/>
          <p:cNvSpPr>
            <a:spLocks noChangeAspect="1" noChangeArrowheads="1"/>
          </p:cNvSpPr>
          <p:nvPr/>
        </p:nvSpPr>
        <p:spPr bwMode="auto">
          <a:xfrm rot="4777107">
            <a:off x="4090194" y="5201444"/>
            <a:ext cx="55563"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41" name="Oval 53"/>
          <p:cNvSpPr>
            <a:spLocks noChangeAspect="1" noChangeArrowheads="1"/>
          </p:cNvSpPr>
          <p:nvPr/>
        </p:nvSpPr>
        <p:spPr bwMode="auto">
          <a:xfrm rot="4777107">
            <a:off x="5456238" y="4908550"/>
            <a:ext cx="50800"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42" name="Text Box 54"/>
          <p:cNvSpPr txBox="1">
            <a:spLocks noChangeArrowheads="1"/>
          </p:cNvSpPr>
          <p:nvPr/>
        </p:nvSpPr>
        <p:spPr bwMode="auto">
          <a:xfrm>
            <a:off x="5638800" y="1828800"/>
            <a:ext cx="3200400" cy="396875"/>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000" b="1" i="1">
                <a:latin typeface="Tahoma" pitchFamily="34" charset="0"/>
              </a:rPr>
              <a:t>f</a:t>
            </a:r>
            <a:r>
              <a:rPr lang="en-US" altLang="zh-CN" sz="2000" i="1">
                <a:latin typeface="Tahoma" pitchFamily="34" charset="0"/>
              </a:rPr>
              <a:t>(</a:t>
            </a:r>
            <a:r>
              <a:rPr lang="en-US" altLang="zh-CN" sz="2000" b="1" i="1">
                <a:latin typeface="Tahoma" pitchFamily="34" charset="0"/>
              </a:rPr>
              <a:t>x</a:t>
            </a:r>
            <a:r>
              <a:rPr lang="en-US" altLang="zh-CN" sz="2000" i="1">
                <a:latin typeface="Tahoma" pitchFamily="34" charset="0"/>
              </a:rPr>
              <a:t>,</a:t>
            </a:r>
            <a:r>
              <a:rPr lang="en-US" altLang="zh-CN" sz="2000" b="1" i="1">
                <a:solidFill>
                  <a:srgbClr val="00CC00"/>
                </a:solidFill>
                <a:latin typeface="Tahoma" pitchFamily="34" charset="0"/>
              </a:rPr>
              <a:t>w</a:t>
            </a:r>
            <a:r>
              <a:rPr lang="en-US" altLang="zh-CN" sz="2000" i="1">
                <a:solidFill>
                  <a:srgbClr val="00CC00"/>
                </a:solidFill>
                <a:latin typeface="Tahoma" pitchFamily="34" charset="0"/>
              </a:rPr>
              <a:t>,b</a:t>
            </a:r>
            <a:r>
              <a:rPr lang="en-US" altLang="zh-CN" sz="2000" i="1">
                <a:latin typeface="Tahoma" pitchFamily="34" charset="0"/>
              </a:rPr>
              <a:t>) = sign(</a:t>
            </a:r>
            <a:r>
              <a:rPr lang="en-US" altLang="zh-CN" sz="2000" b="1" i="1">
                <a:solidFill>
                  <a:srgbClr val="00CC00"/>
                </a:solidFill>
                <a:latin typeface="Tahoma" pitchFamily="34" charset="0"/>
              </a:rPr>
              <a:t>w</a:t>
            </a:r>
            <a:r>
              <a:rPr lang="en-US" altLang="zh-CN" sz="2000" b="1" i="1">
                <a:latin typeface="Tahoma" pitchFamily="34" charset="0"/>
              </a:rPr>
              <a:t> x</a:t>
            </a:r>
            <a:r>
              <a:rPr lang="en-US" altLang="zh-CN" sz="2000" i="1">
                <a:solidFill>
                  <a:srgbClr val="00CC00"/>
                </a:solidFill>
                <a:latin typeface="Tahoma" pitchFamily="34" charset="0"/>
              </a:rPr>
              <a:t> +</a:t>
            </a:r>
            <a:r>
              <a:rPr lang="en-US" altLang="zh-CN" sz="2000" i="1">
                <a:latin typeface="Tahoma" pitchFamily="34" charset="0"/>
              </a:rPr>
              <a:t> </a:t>
            </a:r>
            <a:r>
              <a:rPr lang="en-US" altLang="zh-CN" sz="2000" i="1">
                <a:solidFill>
                  <a:srgbClr val="00CC00"/>
                </a:solidFill>
                <a:latin typeface="Tahoma" pitchFamily="34" charset="0"/>
              </a:rPr>
              <a:t>b</a:t>
            </a:r>
            <a:r>
              <a:rPr lang="en-US" altLang="zh-CN" sz="2000" i="1">
                <a:latin typeface="Tahoma" pitchFamily="34" charset="0"/>
              </a:rPr>
              <a:t>)</a:t>
            </a:r>
          </a:p>
        </p:txBody>
      </p:sp>
      <p:sp>
        <p:nvSpPr>
          <p:cNvPr id="242743" name="Text Box 55"/>
          <p:cNvSpPr txBox="1">
            <a:spLocks noChangeArrowheads="1"/>
          </p:cNvSpPr>
          <p:nvPr/>
        </p:nvSpPr>
        <p:spPr bwMode="auto">
          <a:xfrm>
            <a:off x="6400800" y="3352800"/>
            <a:ext cx="2438400" cy="396875"/>
          </a:xfrm>
          <a:prstGeom prst="rect">
            <a:avLst/>
          </a:prstGeom>
          <a:noFill/>
          <a:ln w="12700">
            <a:noFill/>
            <a:miter lim="800000"/>
            <a:headEnd/>
            <a:tailEnd/>
          </a:ln>
          <a:effectLst/>
        </p:spPr>
        <p:txBody>
          <a:bodyPr>
            <a:spAutoFit/>
          </a:bodyPr>
          <a:lstStyle/>
          <a:p>
            <a:pPr algn="l">
              <a:spcBef>
                <a:spcPct val="50000"/>
              </a:spcBef>
              <a:buClr>
                <a:schemeClr val="tx1"/>
              </a:buClr>
            </a:pPr>
            <a:endParaRPr lang="en-US" sz="2000">
              <a:latin typeface="Tahoma" pitchFamily="34" charset="0"/>
            </a:endParaRPr>
          </a:p>
        </p:txBody>
      </p:sp>
      <p:sp>
        <p:nvSpPr>
          <p:cNvPr id="242744" name="Text Box 56"/>
          <p:cNvSpPr txBox="1">
            <a:spLocks noChangeArrowheads="1"/>
          </p:cNvSpPr>
          <p:nvPr/>
        </p:nvSpPr>
        <p:spPr bwMode="auto">
          <a:xfrm>
            <a:off x="6553200" y="2438400"/>
            <a:ext cx="2743200" cy="3013075"/>
          </a:xfrm>
          <a:prstGeom prst="rect">
            <a:avLst/>
          </a:prstGeom>
          <a:noFill/>
          <a:ln w="12700">
            <a:noFill/>
            <a:miter lim="800000"/>
            <a:headEnd/>
            <a:tailEnd/>
          </a:ln>
          <a:effectLst/>
        </p:spPr>
        <p:txBody>
          <a:bodyPr>
            <a:spAutoFit/>
          </a:bodyPr>
          <a:lstStyle/>
          <a:p>
            <a:pPr algn="l">
              <a:spcBef>
                <a:spcPct val="50000"/>
              </a:spcBef>
              <a:buClr>
                <a:schemeClr val="tx1"/>
              </a:buClr>
            </a:pPr>
            <a:r>
              <a:rPr lang="en-US" altLang="zh-CN" sz="2400">
                <a:latin typeface="Tahoma" pitchFamily="34" charset="0"/>
              </a:rPr>
              <a:t>Define the </a:t>
            </a:r>
            <a:r>
              <a:rPr lang="en-US" altLang="zh-CN" sz="2400">
                <a:solidFill>
                  <a:schemeClr val="hlink"/>
                </a:solidFill>
                <a:latin typeface="Tahoma" pitchFamily="34" charset="0"/>
              </a:rPr>
              <a:t>margin</a:t>
            </a:r>
            <a:r>
              <a:rPr lang="en-US" altLang="zh-CN" sz="2400">
                <a:latin typeface="Tahoma" pitchFamily="34" charset="0"/>
              </a:rPr>
              <a:t> of a linear classifier as the width that the boundary could be increased by before hitting a datapoint.</a:t>
            </a:r>
          </a:p>
        </p:txBody>
      </p:sp>
      <p:grpSp>
        <p:nvGrpSpPr>
          <p:cNvPr id="2" name="Group 57"/>
          <p:cNvGrpSpPr>
            <a:grpSpLocks/>
          </p:cNvGrpSpPr>
          <p:nvPr/>
        </p:nvGrpSpPr>
        <p:grpSpPr bwMode="auto">
          <a:xfrm rot="-4217956">
            <a:off x="1358107" y="4228306"/>
            <a:ext cx="5562600" cy="1587"/>
            <a:chOff x="960" y="3888"/>
            <a:chExt cx="3504" cy="0"/>
          </a:xfrm>
        </p:grpSpPr>
        <p:sp>
          <p:nvSpPr>
            <p:cNvPr id="242746" name="Line 58"/>
            <p:cNvSpPr>
              <a:spLocks noChangeShapeType="1"/>
            </p:cNvSpPr>
            <p:nvPr/>
          </p:nvSpPr>
          <p:spPr bwMode="auto">
            <a:xfrm>
              <a:off x="1008" y="3888"/>
              <a:ext cx="3408" cy="0"/>
            </a:xfrm>
            <a:prstGeom prst="line">
              <a:avLst/>
            </a:prstGeom>
            <a:noFill/>
            <a:ln w="104775">
              <a:solidFill>
                <a:schemeClr val="accent2"/>
              </a:solidFill>
              <a:round/>
              <a:headEnd/>
              <a:tailEnd/>
            </a:ln>
            <a:effectLst/>
          </p:spPr>
          <p:txBody>
            <a:bodyPr>
              <a:spAutoFit/>
            </a:bodyPr>
            <a:lstStyle/>
            <a:p>
              <a:endParaRPr lang="en-US"/>
            </a:p>
          </p:txBody>
        </p:sp>
        <p:sp>
          <p:nvSpPr>
            <p:cNvPr id="242747" name="Line 59"/>
            <p:cNvSpPr>
              <a:spLocks noChangeShapeType="1"/>
            </p:cNvSpPr>
            <p:nvPr/>
          </p:nvSpPr>
          <p:spPr bwMode="auto">
            <a:xfrm>
              <a:off x="960" y="3888"/>
              <a:ext cx="3504" cy="0"/>
            </a:xfrm>
            <a:prstGeom prst="line">
              <a:avLst/>
            </a:prstGeom>
            <a:noFill/>
            <a:ln w="12700">
              <a:solidFill>
                <a:schemeClr val="tx1"/>
              </a:solidFill>
              <a:round/>
              <a:headEnd/>
              <a:tailEnd/>
            </a:ln>
            <a:effectLst/>
          </p:spPr>
          <p:txBody>
            <a:bodyPr>
              <a:spAutoFit/>
            </a:bodyPr>
            <a:lstStyle/>
            <a:p>
              <a:endParaRPr lang="en-US"/>
            </a:p>
          </p:txBody>
        </p:sp>
      </p:grpSp>
      <p:sp>
        <p:nvSpPr>
          <p:cNvPr id="242749" name="Rectangle 61"/>
          <p:cNvSpPr>
            <a:spLocks noChangeArrowheads="1"/>
          </p:cNvSpPr>
          <p:nvPr/>
        </p:nvSpPr>
        <p:spPr bwMode="auto">
          <a:xfrm>
            <a:off x="5486400" y="928688"/>
            <a:ext cx="1600200" cy="654050"/>
          </a:xfrm>
          <a:prstGeom prst="rect">
            <a:avLst/>
          </a:prstGeom>
          <a:solidFill>
            <a:srgbClr val="FFCCFF"/>
          </a:solidFill>
          <a:ln w="12700">
            <a:solidFill>
              <a:schemeClr val="tx1"/>
            </a:solidFill>
            <a:miter lim="800000"/>
            <a:headEnd/>
            <a:tailEnd/>
          </a:ln>
          <a:effectLst/>
        </p:spPr>
        <p:txBody>
          <a:bodyPr anchor="ctr">
            <a:spAutoFit/>
          </a:bodyPr>
          <a:lstStyle/>
          <a:p>
            <a:pPr>
              <a:spcBef>
                <a:spcPct val="50000"/>
              </a:spcBef>
              <a:buClr>
                <a:schemeClr val="tx1"/>
              </a:buClr>
            </a:pPr>
            <a:r>
              <a:rPr lang="en-US" altLang="zh-CN" sz="3600" i="1">
                <a:latin typeface="Tahoma" pitchFamily="34" charset="0"/>
              </a:rPr>
              <a:t>f </a:t>
            </a:r>
            <a:r>
              <a:rPr lang="en-US" altLang="zh-CN" sz="2000">
                <a:latin typeface="Tahoma" pitchFamily="34" charset="0"/>
              </a:rPr>
              <a:t>        </a:t>
            </a:r>
          </a:p>
        </p:txBody>
      </p:sp>
      <p:sp>
        <p:nvSpPr>
          <p:cNvPr id="242750" name="Line 62"/>
          <p:cNvSpPr>
            <a:spLocks noChangeShapeType="1"/>
          </p:cNvSpPr>
          <p:nvPr/>
        </p:nvSpPr>
        <p:spPr bwMode="auto">
          <a:xfrm>
            <a:off x="4114800" y="1219200"/>
            <a:ext cx="1371600" cy="0"/>
          </a:xfrm>
          <a:prstGeom prst="line">
            <a:avLst/>
          </a:prstGeom>
          <a:noFill/>
          <a:ln w="12700">
            <a:solidFill>
              <a:schemeClr val="tx1"/>
            </a:solidFill>
            <a:round/>
            <a:headEnd/>
            <a:tailEnd type="triangle" w="med" len="med"/>
          </a:ln>
          <a:effectLst/>
        </p:spPr>
        <p:txBody>
          <a:bodyPr wrap="none" anchor="ctr">
            <a:spAutoFit/>
          </a:bodyPr>
          <a:lstStyle/>
          <a:p>
            <a:endParaRPr lang="en-US"/>
          </a:p>
        </p:txBody>
      </p:sp>
      <p:sp>
        <p:nvSpPr>
          <p:cNvPr id="242751" name="Text Box 63"/>
          <p:cNvSpPr txBox="1">
            <a:spLocks noChangeArrowheads="1"/>
          </p:cNvSpPr>
          <p:nvPr/>
        </p:nvSpPr>
        <p:spPr bwMode="auto">
          <a:xfrm>
            <a:off x="3657600" y="914400"/>
            <a:ext cx="609600" cy="519113"/>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800" b="1" i="1">
                <a:latin typeface="Tahoma" pitchFamily="34" charset="0"/>
              </a:rPr>
              <a:t>x</a:t>
            </a:r>
          </a:p>
        </p:txBody>
      </p:sp>
      <p:sp>
        <p:nvSpPr>
          <p:cNvPr id="242754" name="Line 66"/>
          <p:cNvSpPr>
            <a:spLocks noChangeShapeType="1"/>
          </p:cNvSpPr>
          <p:nvPr/>
        </p:nvSpPr>
        <p:spPr bwMode="auto">
          <a:xfrm>
            <a:off x="7086600" y="1219200"/>
            <a:ext cx="1371600" cy="0"/>
          </a:xfrm>
          <a:prstGeom prst="line">
            <a:avLst/>
          </a:prstGeom>
          <a:noFill/>
          <a:ln w="12700">
            <a:solidFill>
              <a:schemeClr val="tx1"/>
            </a:solidFill>
            <a:round/>
            <a:headEnd/>
            <a:tailEnd type="triangle" w="med" len="med"/>
          </a:ln>
          <a:effectLst/>
        </p:spPr>
        <p:txBody>
          <a:bodyPr wrap="none" anchor="ctr">
            <a:spAutoFit/>
          </a:bodyPr>
          <a:lstStyle/>
          <a:p>
            <a:endParaRPr lang="en-US"/>
          </a:p>
        </p:txBody>
      </p:sp>
      <p:sp>
        <p:nvSpPr>
          <p:cNvPr id="242755" name="Text Box 67"/>
          <p:cNvSpPr txBox="1">
            <a:spLocks noChangeArrowheads="1"/>
          </p:cNvSpPr>
          <p:nvPr/>
        </p:nvSpPr>
        <p:spPr bwMode="auto">
          <a:xfrm>
            <a:off x="8458200" y="990600"/>
            <a:ext cx="838200" cy="579438"/>
          </a:xfrm>
          <a:prstGeom prst="rect">
            <a:avLst/>
          </a:prstGeom>
          <a:noFill/>
          <a:ln w="12700">
            <a:noFill/>
            <a:miter lim="800000"/>
            <a:headEnd/>
            <a:tailEnd/>
          </a:ln>
          <a:effectLst/>
        </p:spPr>
        <p:txBody>
          <a:bodyPr>
            <a:spAutoFit/>
          </a:bodyPr>
          <a:lstStyle/>
          <a:p>
            <a:pPr algn="l">
              <a:spcBef>
                <a:spcPct val="20000"/>
              </a:spcBef>
              <a:buClr>
                <a:schemeClr val="tx1"/>
              </a:buClr>
            </a:pPr>
            <a:r>
              <a:rPr lang="en-US" altLang="zh-CN" sz="3200">
                <a:latin typeface="Tahoma" pitchFamily="34" charset="0"/>
              </a:rPr>
              <a:t>y</a:t>
            </a:r>
            <a:r>
              <a:rPr lang="en-US" altLang="zh-CN" sz="3200" baseline="30000">
                <a:latin typeface="Tahoma" pitchFamily="34" charset="0"/>
              </a:rPr>
              <a:t>est</a:t>
            </a:r>
          </a:p>
        </p:txBody>
      </p:sp>
      <p:sp>
        <p:nvSpPr>
          <p:cNvPr id="242756" name="Text Box 68"/>
          <p:cNvSpPr txBox="1">
            <a:spLocks noChangeArrowheads="1"/>
          </p:cNvSpPr>
          <p:nvPr/>
        </p:nvSpPr>
        <p:spPr bwMode="auto">
          <a:xfrm>
            <a:off x="990600" y="2057400"/>
            <a:ext cx="1905000" cy="854075"/>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000" dirty="0">
                <a:latin typeface="Tahoma" pitchFamily="34" charset="0"/>
              </a:rPr>
              <a:t>denotes +1</a:t>
            </a:r>
          </a:p>
          <a:p>
            <a:pPr>
              <a:spcBef>
                <a:spcPct val="50000"/>
              </a:spcBef>
              <a:buClr>
                <a:schemeClr val="tx1"/>
              </a:buClr>
            </a:pPr>
            <a:r>
              <a:rPr lang="en-US" altLang="zh-CN" sz="2000" dirty="0">
                <a:latin typeface="Tahoma" pitchFamily="34" charset="0"/>
              </a:rPr>
              <a:t>denotes -1</a:t>
            </a:r>
          </a:p>
        </p:txBody>
      </p:sp>
      <p:sp>
        <p:nvSpPr>
          <p:cNvPr id="242757" name="Oval 69"/>
          <p:cNvSpPr>
            <a:spLocks noChangeAspect="1" noChangeArrowheads="1"/>
          </p:cNvSpPr>
          <p:nvPr/>
        </p:nvSpPr>
        <p:spPr bwMode="auto">
          <a:xfrm rot="4777107">
            <a:off x="919993" y="2209006"/>
            <a:ext cx="58738"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58" name="Oval 70"/>
          <p:cNvSpPr>
            <a:spLocks noChangeAspect="1" noChangeArrowheads="1"/>
          </p:cNvSpPr>
          <p:nvPr/>
        </p:nvSpPr>
        <p:spPr bwMode="auto">
          <a:xfrm rot="5895381">
            <a:off x="919356" y="2665412"/>
            <a:ext cx="50800"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59" name="Line 71"/>
          <p:cNvSpPr>
            <a:spLocks noChangeShapeType="1"/>
          </p:cNvSpPr>
          <p:nvPr/>
        </p:nvSpPr>
        <p:spPr bwMode="auto">
          <a:xfrm>
            <a:off x="2743200" y="2362200"/>
            <a:ext cx="0" cy="3505200"/>
          </a:xfrm>
          <a:prstGeom prst="line">
            <a:avLst/>
          </a:prstGeom>
          <a:noFill/>
          <a:ln w="38100">
            <a:solidFill>
              <a:schemeClr val="hlink"/>
            </a:solidFill>
            <a:round/>
            <a:headEnd/>
            <a:tailEnd/>
          </a:ln>
          <a:effectLst/>
        </p:spPr>
        <p:txBody>
          <a:bodyPr wrap="none" anchor="ctr">
            <a:spAutoFit/>
          </a:bodyPr>
          <a:lstStyle/>
          <a:p>
            <a:endParaRPr lang="en-US"/>
          </a:p>
        </p:txBody>
      </p:sp>
      <p:sp>
        <p:nvSpPr>
          <p:cNvPr id="242760" name="Line 72"/>
          <p:cNvSpPr>
            <a:spLocks noChangeShapeType="1"/>
          </p:cNvSpPr>
          <p:nvPr/>
        </p:nvSpPr>
        <p:spPr bwMode="auto">
          <a:xfrm flipV="1">
            <a:off x="2590800" y="5715000"/>
            <a:ext cx="3657600" cy="0"/>
          </a:xfrm>
          <a:prstGeom prst="line">
            <a:avLst/>
          </a:prstGeom>
          <a:noFill/>
          <a:ln w="38100">
            <a:solidFill>
              <a:schemeClr val="hlink"/>
            </a:solidFill>
            <a:round/>
            <a:headEnd/>
            <a:tailEnd/>
          </a:ln>
          <a:effectLst/>
        </p:spPr>
        <p:txBody>
          <a:bodyPr anchor="ctr">
            <a:spAutoFit/>
          </a:bodyPr>
          <a:lstStyle/>
          <a:p>
            <a:endParaRPr lang="en-US"/>
          </a:p>
        </p:txBody>
      </p:sp>
      <p:sp>
        <p:nvSpPr>
          <p:cNvPr id="242761" name="Oval 73"/>
          <p:cNvSpPr>
            <a:spLocks noChangeAspect="1" noChangeArrowheads="1"/>
          </p:cNvSpPr>
          <p:nvPr/>
        </p:nvSpPr>
        <p:spPr bwMode="auto">
          <a:xfrm>
            <a:off x="3870325" y="5184775"/>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62" name="Oval 74"/>
          <p:cNvSpPr>
            <a:spLocks noChangeAspect="1" noChangeArrowheads="1"/>
          </p:cNvSpPr>
          <p:nvPr/>
        </p:nvSpPr>
        <p:spPr bwMode="auto">
          <a:xfrm>
            <a:off x="2638425" y="4056063"/>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63" name="Oval 75"/>
          <p:cNvSpPr>
            <a:spLocks noChangeAspect="1" noChangeArrowheads="1"/>
          </p:cNvSpPr>
          <p:nvPr/>
        </p:nvSpPr>
        <p:spPr bwMode="auto">
          <a:xfrm>
            <a:off x="4492625" y="2967038"/>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64" name="Oval 76"/>
          <p:cNvSpPr>
            <a:spLocks noChangeAspect="1" noChangeArrowheads="1"/>
          </p:cNvSpPr>
          <p:nvPr/>
        </p:nvSpPr>
        <p:spPr bwMode="auto">
          <a:xfrm>
            <a:off x="4556125" y="3787775"/>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65" name="Oval 77"/>
          <p:cNvSpPr>
            <a:spLocks noChangeAspect="1" noChangeArrowheads="1"/>
          </p:cNvSpPr>
          <p:nvPr/>
        </p:nvSpPr>
        <p:spPr bwMode="auto">
          <a:xfrm>
            <a:off x="3562350" y="2816225"/>
            <a:ext cx="60325" cy="50800"/>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66" name="Oval 78"/>
          <p:cNvSpPr>
            <a:spLocks noChangeAspect="1" noChangeArrowheads="1"/>
          </p:cNvSpPr>
          <p:nvPr/>
        </p:nvSpPr>
        <p:spPr bwMode="auto">
          <a:xfrm>
            <a:off x="4038600" y="3886200"/>
            <a:ext cx="5397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67" name="Oval 79"/>
          <p:cNvSpPr>
            <a:spLocks noChangeAspect="1" noChangeArrowheads="1"/>
          </p:cNvSpPr>
          <p:nvPr/>
        </p:nvSpPr>
        <p:spPr bwMode="auto">
          <a:xfrm>
            <a:off x="3200400" y="3276600"/>
            <a:ext cx="60325" cy="58738"/>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68" name="Oval 80"/>
          <p:cNvSpPr>
            <a:spLocks noChangeAspect="1" noChangeArrowheads="1"/>
          </p:cNvSpPr>
          <p:nvPr/>
        </p:nvSpPr>
        <p:spPr bwMode="auto">
          <a:xfrm>
            <a:off x="5257800" y="4267200"/>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69" name="Oval 81"/>
          <p:cNvSpPr>
            <a:spLocks noChangeAspect="1" noChangeArrowheads="1"/>
          </p:cNvSpPr>
          <p:nvPr/>
        </p:nvSpPr>
        <p:spPr bwMode="auto">
          <a:xfrm rot="-1118274">
            <a:off x="4040188" y="4595813"/>
            <a:ext cx="5397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70" name="Oval 82"/>
          <p:cNvSpPr>
            <a:spLocks noChangeAspect="1" noChangeArrowheads="1"/>
          </p:cNvSpPr>
          <p:nvPr/>
        </p:nvSpPr>
        <p:spPr bwMode="auto">
          <a:xfrm rot="-1118274">
            <a:off x="6156325" y="3381375"/>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71" name="Oval 83"/>
          <p:cNvSpPr>
            <a:spLocks noChangeAspect="1" noChangeArrowheads="1"/>
          </p:cNvSpPr>
          <p:nvPr/>
        </p:nvSpPr>
        <p:spPr bwMode="auto">
          <a:xfrm rot="-1118274">
            <a:off x="5448300" y="4697413"/>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72" name="Oval 84"/>
          <p:cNvSpPr>
            <a:spLocks noChangeAspect="1" noChangeArrowheads="1"/>
          </p:cNvSpPr>
          <p:nvPr/>
        </p:nvSpPr>
        <p:spPr bwMode="auto">
          <a:xfrm rot="-1118274">
            <a:off x="3276600" y="2819400"/>
            <a:ext cx="60325" cy="50800"/>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73" name="Oval 85"/>
          <p:cNvSpPr>
            <a:spLocks noChangeAspect="1" noChangeArrowheads="1"/>
          </p:cNvSpPr>
          <p:nvPr/>
        </p:nvSpPr>
        <p:spPr bwMode="auto">
          <a:xfrm rot="-1118274">
            <a:off x="4864100" y="3736975"/>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74" name="Oval 86"/>
          <p:cNvSpPr>
            <a:spLocks noChangeAspect="1" noChangeArrowheads="1"/>
          </p:cNvSpPr>
          <p:nvPr/>
        </p:nvSpPr>
        <p:spPr bwMode="auto">
          <a:xfrm rot="-1118274">
            <a:off x="6019800" y="4648200"/>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75" name="Oval 87"/>
          <p:cNvSpPr>
            <a:spLocks noChangeAspect="1" noChangeArrowheads="1"/>
          </p:cNvSpPr>
          <p:nvPr/>
        </p:nvSpPr>
        <p:spPr bwMode="auto">
          <a:xfrm rot="-1118274">
            <a:off x="3267075" y="3792538"/>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76" name="Oval 88"/>
          <p:cNvSpPr>
            <a:spLocks noChangeAspect="1" noChangeArrowheads="1"/>
          </p:cNvSpPr>
          <p:nvPr/>
        </p:nvSpPr>
        <p:spPr bwMode="auto">
          <a:xfrm rot="5895381">
            <a:off x="4019550" y="3209925"/>
            <a:ext cx="47625"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77" name="Oval 89"/>
          <p:cNvSpPr>
            <a:spLocks noChangeAspect="1" noChangeArrowheads="1"/>
          </p:cNvSpPr>
          <p:nvPr/>
        </p:nvSpPr>
        <p:spPr bwMode="auto">
          <a:xfrm rot="5895381">
            <a:off x="4288631" y="5395119"/>
            <a:ext cx="55563"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78" name="Oval 90"/>
          <p:cNvSpPr>
            <a:spLocks noChangeAspect="1" noChangeArrowheads="1"/>
          </p:cNvSpPr>
          <p:nvPr/>
        </p:nvSpPr>
        <p:spPr bwMode="auto">
          <a:xfrm rot="5895381">
            <a:off x="3267075" y="4251325"/>
            <a:ext cx="47625"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79" name="Oval 91"/>
          <p:cNvSpPr>
            <a:spLocks noChangeAspect="1" noChangeArrowheads="1"/>
          </p:cNvSpPr>
          <p:nvPr/>
        </p:nvSpPr>
        <p:spPr bwMode="auto">
          <a:xfrm rot="5895381">
            <a:off x="4495800" y="2546350"/>
            <a:ext cx="47625"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80" name="Oval 92"/>
          <p:cNvSpPr>
            <a:spLocks noChangeAspect="1" noChangeArrowheads="1"/>
          </p:cNvSpPr>
          <p:nvPr/>
        </p:nvSpPr>
        <p:spPr bwMode="auto">
          <a:xfrm rot="5895381">
            <a:off x="5457032" y="4296569"/>
            <a:ext cx="58737"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81" name="Oval 93"/>
          <p:cNvSpPr>
            <a:spLocks noChangeAspect="1" noChangeArrowheads="1"/>
          </p:cNvSpPr>
          <p:nvPr/>
        </p:nvSpPr>
        <p:spPr bwMode="auto">
          <a:xfrm rot="5895381">
            <a:off x="4522788" y="423227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82" name="Oval 94"/>
          <p:cNvSpPr>
            <a:spLocks noChangeAspect="1" noChangeArrowheads="1"/>
          </p:cNvSpPr>
          <p:nvPr/>
        </p:nvSpPr>
        <p:spPr bwMode="auto">
          <a:xfrm rot="5895381">
            <a:off x="5772150" y="3517900"/>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83" name="Oval 95"/>
          <p:cNvSpPr>
            <a:spLocks noChangeAspect="1" noChangeArrowheads="1"/>
          </p:cNvSpPr>
          <p:nvPr/>
        </p:nvSpPr>
        <p:spPr bwMode="auto">
          <a:xfrm rot="5895381">
            <a:off x="3240088" y="2498725"/>
            <a:ext cx="47625"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84" name="Oval 96"/>
          <p:cNvSpPr>
            <a:spLocks noChangeAspect="1" noChangeArrowheads="1"/>
          </p:cNvSpPr>
          <p:nvPr/>
        </p:nvSpPr>
        <p:spPr bwMode="auto">
          <a:xfrm rot="5895381">
            <a:off x="5413375" y="34258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85" name="Oval 97"/>
          <p:cNvSpPr>
            <a:spLocks noChangeAspect="1" noChangeArrowheads="1"/>
          </p:cNvSpPr>
          <p:nvPr/>
        </p:nvSpPr>
        <p:spPr bwMode="auto">
          <a:xfrm rot="5895381">
            <a:off x="5269707" y="4871244"/>
            <a:ext cx="58737"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86" name="Oval 98"/>
          <p:cNvSpPr>
            <a:spLocks noChangeAspect="1" noChangeArrowheads="1"/>
          </p:cNvSpPr>
          <p:nvPr/>
        </p:nvSpPr>
        <p:spPr bwMode="auto">
          <a:xfrm rot="4777107">
            <a:off x="3650457" y="3686969"/>
            <a:ext cx="58737"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87" name="Oval 99"/>
          <p:cNvSpPr>
            <a:spLocks noChangeAspect="1" noChangeArrowheads="1"/>
          </p:cNvSpPr>
          <p:nvPr/>
        </p:nvSpPr>
        <p:spPr bwMode="auto">
          <a:xfrm rot="4777107">
            <a:off x="4803775" y="54070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88" name="Oval 100"/>
          <p:cNvSpPr>
            <a:spLocks noChangeAspect="1" noChangeArrowheads="1"/>
          </p:cNvSpPr>
          <p:nvPr/>
        </p:nvSpPr>
        <p:spPr bwMode="auto">
          <a:xfrm rot="4777107">
            <a:off x="4498975" y="50260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89" name="Oval 101"/>
          <p:cNvSpPr>
            <a:spLocks noChangeAspect="1" noChangeArrowheads="1"/>
          </p:cNvSpPr>
          <p:nvPr/>
        </p:nvSpPr>
        <p:spPr bwMode="auto">
          <a:xfrm rot="4777107">
            <a:off x="2969419" y="3888581"/>
            <a:ext cx="58738"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90" name="Oval 102"/>
          <p:cNvSpPr>
            <a:spLocks noChangeAspect="1" noChangeArrowheads="1"/>
          </p:cNvSpPr>
          <p:nvPr/>
        </p:nvSpPr>
        <p:spPr bwMode="auto">
          <a:xfrm rot="4777107">
            <a:off x="3865563" y="2928937"/>
            <a:ext cx="50800"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91" name="Oval 103"/>
          <p:cNvSpPr>
            <a:spLocks noChangeAspect="1" noChangeArrowheads="1"/>
          </p:cNvSpPr>
          <p:nvPr/>
        </p:nvSpPr>
        <p:spPr bwMode="auto">
          <a:xfrm rot="4777107">
            <a:off x="4508501" y="4516437"/>
            <a:ext cx="50800"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92" name="Oval 104"/>
          <p:cNvSpPr>
            <a:spLocks noChangeAspect="1" noChangeArrowheads="1"/>
          </p:cNvSpPr>
          <p:nvPr/>
        </p:nvSpPr>
        <p:spPr bwMode="auto">
          <a:xfrm rot="4777107">
            <a:off x="2656682" y="3234531"/>
            <a:ext cx="58738"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2793" name="Oval 105"/>
          <p:cNvSpPr>
            <a:spLocks noChangeAspect="1" noChangeArrowheads="1"/>
          </p:cNvSpPr>
          <p:nvPr/>
        </p:nvSpPr>
        <p:spPr bwMode="auto">
          <a:xfrm rot="4777107">
            <a:off x="4090194" y="5201444"/>
            <a:ext cx="55563"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94" name="Oval 106"/>
          <p:cNvSpPr>
            <a:spLocks noChangeAspect="1" noChangeArrowheads="1"/>
          </p:cNvSpPr>
          <p:nvPr/>
        </p:nvSpPr>
        <p:spPr bwMode="auto">
          <a:xfrm rot="4777107">
            <a:off x="5456238" y="4908550"/>
            <a:ext cx="50800"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2795" name="Text Box 107"/>
          <p:cNvSpPr txBox="1">
            <a:spLocks noChangeArrowheads="1"/>
          </p:cNvSpPr>
          <p:nvPr/>
        </p:nvSpPr>
        <p:spPr bwMode="auto">
          <a:xfrm>
            <a:off x="5638800" y="1828800"/>
            <a:ext cx="3200400" cy="396875"/>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000" b="1" i="1">
                <a:latin typeface="Tahoma" pitchFamily="34" charset="0"/>
              </a:rPr>
              <a:t>f</a:t>
            </a:r>
            <a:r>
              <a:rPr lang="en-US" altLang="zh-CN" sz="2000" i="1">
                <a:latin typeface="Tahoma" pitchFamily="34" charset="0"/>
              </a:rPr>
              <a:t>(</a:t>
            </a:r>
            <a:r>
              <a:rPr lang="en-US" altLang="zh-CN" sz="2000" b="1" i="1">
                <a:latin typeface="Tahoma" pitchFamily="34" charset="0"/>
              </a:rPr>
              <a:t>x</a:t>
            </a:r>
            <a:r>
              <a:rPr lang="en-US" altLang="zh-CN" sz="2000" i="1">
                <a:latin typeface="Tahoma" pitchFamily="34" charset="0"/>
              </a:rPr>
              <a:t>,</a:t>
            </a:r>
            <a:r>
              <a:rPr lang="en-US" altLang="zh-CN" sz="2000" b="1" i="1">
                <a:solidFill>
                  <a:srgbClr val="00CC00"/>
                </a:solidFill>
                <a:latin typeface="Tahoma" pitchFamily="34" charset="0"/>
              </a:rPr>
              <a:t>w</a:t>
            </a:r>
            <a:r>
              <a:rPr lang="en-US" altLang="zh-CN" sz="2000" i="1">
                <a:solidFill>
                  <a:srgbClr val="00CC00"/>
                </a:solidFill>
                <a:latin typeface="Tahoma" pitchFamily="34" charset="0"/>
              </a:rPr>
              <a:t>,b</a:t>
            </a:r>
            <a:r>
              <a:rPr lang="en-US" altLang="zh-CN" sz="2000" i="1">
                <a:latin typeface="Tahoma" pitchFamily="34" charset="0"/>
              </a:rPr>
              <a:t>) = sign(</a:t>
            </a:r>
            <a:r>
              <a:rPr lang="en-US" altLang="zh-CN" sz="2000" b="1" i="1">
                <a:solidFill>
                  <a:srgbClr val="00CC00"/>
                </a:solidFill>
                <a:latin typeface="Tahoma" pitchFamily="34" charset="0"/>
              </a:rPr>
              <a:t>w</a:t>
            </a:r>
            <a:r>
              <a:rPr lang="en-US" altLang="zh-CN" sz="2000" b="1" i="1">
                <a:latin typeface="Tahoma" pitchFamily="34" charset="0"/>
              </a:rPr>
              <a:t> x</a:t>
            </a:r>
            <a:r>
              <a:rPr lang="en-US" altLang="zh-CN" sz="2000" i="1">
                <a:solidFill>
                  <a:srgbClr val="00CC00"/>
                </a:solidFill>
                <a:latin typeface="Tahoma" pitchFamily="34" charset="0"/>
              </a:rPr>
              <a:t> +</a:t>
            </a:r>
            <a:r>
              <a:rPr lang="en-US" altLang="zh-CN" sz="2000" i="1">
                <a:latin typeface="Tahoma" pitchFamily="34" charset="0"/>
              </a:rPr>
              <a:t> </a:t>
            </a:r>
            <a:r>
              <a:rPr lang="en-US" altLang="zh-CN" sz="2000" i="1">
                <a:solidFill>
                  <a:srgbClr val="00CC00"/>
                </a:solidFill>
                <a:latin typeface="Tahoma" pitchFamily="34" charset="0"/>
              </a:rPr>
              <a:t>b</a:t>
            </a:r>
            <a:r>
              <a:rPr lang="en-US" altLang="zh-CN" sz="2000" i="1">
                <a:latin typeface="Tahoma" pitchFamily="34" charset="0"/>
              </a:rPr>
              <a:t>)</a:t>
            </a:r>
          </a:p>
        </p:txBody>
      </p:sp>
      <p:sp>
        <p:nvSpPr>
          <p:cNvPr id="242796" name="Text Box 108"/>
          <p:cNvSpPr txBox="1">
            <a:spLocks noChangeArrowheads="1"/>
          </p:cNvSpPr>
          <p:nvPr/>
        </p:nvSpPr>
        <p:spPr bwMode="auto">
          <a:xfrm>
            <a:off x="6400800" y="3352800"/>
            <a:ext cx="2438400" cy="396875"/>
          </a:xfrm>
          <a:prstGeom prst="rect">
            <a:avLst/>
          </a:prstGeom>
          <a:noFill/>
          <a:ln w="12700">
            <a:noFill/>
            <a:miter lim="800000"/>
            <a:headEnd/>
            <a:tailEnd/>
          </a:ln>
          <a:effectLst/>
        </p:spPr>
        <p:txBody>
          <a:bodyPr>
            <a:spAutoFit/>
          </a:bodyPr>
          <a:lstStyle/>
          <a:p>
            <a:pPr algn="l">
              <a:spcBef>
                <a:spcPct val="50000"/>
              </a:spcBef>
              <a:buClr>
                <a:schemeClr val="tx1"/>
              </a:buClr>
            </a:pPr>
            <a:endParaRPr lang="en-US" sz="2000">
              <a:latin typeface="Tahoma" pitchFamily="34" charset="0"/>
            </a:endParaRPr>
          </a:p>
        </p:txBody>
      </p:sp>
      <p:sp>
        <p:nvSpPr>
          <p:cNvPr id="242797" name="Text Box 109"/>
          <p:cNvSpPr txBox="1">
            <a:spLocks noChangeArrowheads="1"/>
          </p:cNvSpPr>
          <p:nvPr/>
        </p:nvSpPr>
        <p:spPr bwMode="auto">
          <a:xfrm>
            <a:off x="6553200" y="2438400"/>
            <a:ext cx="2743200" cy="3013075"/>
          </a:xfrm>
          <a:prstGeom prst="rect">
            <a:avLst/>
          </a:prstGeom>
          <a:noFill/>
          <a:ln w="12700">
            <a:noFill/>
            <a:miter lim="800000"/>
            <a:headEnd/>
            <a:tailEnd/>
          </a:ln>
          <a:effectLst/>
        </p:spPr>
        <p:txBody>
          <a:bodyPr>
            <a:spAutoFit/>
          </a:bodyPr>
          <a:lstStyle/>
          <a:p>
            <a:pPr algn="l">
              <a:spcBef>
                <a:spcPct val="50000"/>
              </a:spcBef>
              <a:buClr>
                <a:schemeClr val="tx1"/>
              </a:buClr>
            </a:pPr>
            <a:r>
              <a:rPr lang="en-US" altLang="zh-CN" sz="2400">
                <a:latin typeface="Tahoma" pitchFamily="34" charset="0"/>
              </a:rPr>
              <a:t>Define the </a:t>
            </a:r>
            <a:r>
              <a:rPr lang="en-US" altLang="zh-CN" sz="2400">
                <a:solidFill>
                  <a:schemeClr val="accent2"/>
                </a:solidFill>
                <a:latin typeface="Tahoma" pitchFamily="34" charset="0"/>
              </a:rPr>
              <a:t>margin</a:t>
            </a:r>
            <a:r>
              <a:rPr lang="en-US" altLang="zh-CN" sz="2400">
                <a:latin typeface="Tahoma" pitchFamily="34" charset="0"/>
              </a:rPr>
              <a:t> of a linear classifier as the width that the boundary could be increased by before hitting a datapoint.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6" name="Line 4"/>
          <p:cNvSpPr>
            <a:spLocks noChangeShapeType="1"/>
          </p:cNvSpPr>
          <p:nvPr/>
        </p:nvSpPr>
        <p:spPr bwMode="auto">
          <a:xfrm rot="-3472419">
            <a:off x="1239838" y="4076700"/>
            <a:ext cx="5410200" cy="0"/>
          </a:xfrm>
          <a:prstGeom prst="line">
            <a:avLst/>
          </a:prstGeom>
          <a:noFill/>
          <a:ln w="361950">
            <a:solidFill>
              <a:schemeClr val="accent1"/>
            </a:solidFill>
            <a:round/>
            <a:headEnd/>
            <a:tailEnd/>
          </a:ln>
          <a:effectLst/>
        </p:spPr>
        <p:txBody>
          <a:bodyPr>
            <a:spAutoFit/>
          </a:bodyPr>
          <a:lstStyle/>
          <a:p>
            <a:endParaRPr lang="en-US"/>
          </a:p>
        </p:txBody>
      </p:sp>
      <p:sp>
        <p:nvSpPr>
          <p:cNvPr id="243717" name="Line 5"/>
          <p:cNvSpPr>
            <a:spLocks noChangeShapeType="1"/>
          </p:cNvSpPr>
          <p:nvPr/>
        </p:nvSpPr>
        <p:spPr bwMode="auto">
          <a:xfrm rot="-3472419">
            <a:off x="1163638" y="4076700"/>
            <a:ext cx="5562600" cy="0"/>
          </a:xfrm>
          <a:prstGeom prst="line">
            <a:avLst/>
          </a:prstGeom>
          <a:noFill/>
          <a:ln w="12700">
            <a:solidFill>
              <a:schemeClr val="tx1"/>
            </a:solidFill>
            <a:round/>
            <a:headEnd/>
            <a:tailEnd/>
          </a:ln>
          <a:effectLst/>
        </p:spPr>
        <p:txBody>
          <a:bodyPr>
            <a:spAutoFit/>
          </a:bodyPr>
          <a:lstStyle/>
          <a:p>
            <a:endParaRPr lang="en-US"/>
          </a:p>
        </p:txBody>
      </p:sp>
      <p:sp>
        <p:nvSpPr>
          <p:cNvPr id="243718" name="Rectangle 6"/>
          <p:cNvSpPr>
            <a:spLocks noChangeArrowheads="1"/>
          </p:cNvSpPr>
          <p:nvPr/>
        </p:nvSpPr>
        <p:spPr bwMode="auto">
          <a:xfrm>
            <a:off x="381000" y="152400"/>
            <a:ext cx="4648200" cy="685800"/>
          </a:xfrm>
          <a:prstGeom prst="rect">
            <a:avLst/>
          </a:prstGeom>
          <a:noFill/>
          <a:ln w="9525">
            <a:noFill/>
            <a:miter lim="800000"/>
            <a:headEnd/>
            <a:tailEnd/>
          </a:ln>
          <a:effectLst/>
        </p:spPr>
        <p:txBody>
          <a:bodyPr anchor="b"/>
          <a:lstStyle/>
          <a:p>
            <a:pPr algn="l"/>
            <a:r>
              <a:rPr lang="en-US" altLang="zh-CN" sz="3600" b="1" dirty="0">
                <a:solidFill>
                  <a:schemeClr val="tx2"/>
                </a:solidFill>
                <a:latin typeface="Garamond" pitchFamily="18" charset="0"/>
              </a:rPr>
              <a:t>Maximum Margin</a:t>
            </a:r>
          </a:p>
        </p:txBody>
      </p:sp>
      <p:sp>
        <p:nvSpPr>
          <p:cNvPr id="243726" name="Text Box 14"/>
          <p:cNvSpPr txBox="1">
            <a:spLocks noChangeArrowheads="1"/>
          </p:cNvSpPr>
          <p:nvPr/>
        </p:nvSpPr>
        <p:spPr bwMode="auto">
          <a:xfrm>
            <a:off x="838200" y="1905000"/>
            <a:ext cx="1905000" cy="854075"/>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000">
                <a:latin typeface="Tahoma" pitchFamily="34" charset="0"/>
              </a:rPr>
              <a:t>denotes +1</a:t>
            </a:r>
          </a:p>
          <a:p>
            <a:pPr>
              <a:spcBef>
                <a:spcPct val="50000"/>
              </a:spcBef>
              <a:buClr>
                <a:schemeClr val="tx1"/>
              </a:buClr>
            </a:pPr>
            <a:r>
              <a:rPr lang="en-US" altLang="zh-CN" sz="2000">
                <a:latin typeface="Tahoma" pitchFamily="34" charset="0"/>
              </a:rPr>
              <a:t>denotes -1</a:t>
            </a:r>
          </a:p>
        </p:txBody>
      </p:sp>
      <p:sp>
        <p:nvSpPr>
          <p:cNvPr id="243727" name="Oval 15"/>
          <p:cNvSpPr>
            <a:spLocks noChangeAspect="1" noChangeArrowheads="1"/>
          </p:cNvSpPr>
          <p:nvPr/>
        </p:nvSpPr>
        <p:spPr bwMode="auto">
          <a:xfrm rot="4777107">
            <a:off x="767593" y="2056606"/>
            <a:ext cx="58738"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28" name="Oval 16"/>
          <p:cNvSpPr>
            <a:spLocks noChangeAspect="1" noChangeArrowheads="1"/>
          </p:cNvSpPr>
          <p:nvPr/>
        </p:nvSpPr>
        <p:spPr bwMode="auto">
          <a:xfrm rot="5895381">
            <a:off x="766956" y="2513012"/>
            <a:ext cx="50800"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29" name="Line 17"/>
          <p:cNvSpPr>
            <a:spLocks noChangeShapeType="1"/>
          </p:cNvSpPr>
          <p:nvPr/>
        </p:nvSpPr>
        <p:spPr bwMode="auto">
          <a:xfrm>
            <a:off x="2590800" y="2209800"/>
            <a:ext cx="0" cy="3505200"/>
          </a:xfrm>
          <a:prstGeom prst="line">
            <a:avLst/>
          </a:prstGeom>
          <a:noFill/>
          <a:ln w="38100">
            <a:solidFill>
              <a:srgbClr val="CC0000"/>
            </a:solidFill>
            <a:round/>
            <a:headEnd/>
            <a:tailEnd/>
          </a:ln>
          <a:effectLst/>
        </p:spPr>
        <p:txBody>
          <a:bodyPr anchor="ctr">
            <a:spAutoFit/>
          </a:bodyPr>
          <a:lstStyle/>
          <a:p>
            <a:endParaRPr lang="en-US"/>
          </a:p>
        </p:txBody>
      </p:sp>
      <p:sp>
        <p:nvSpPr>
          <p:cNvPr id="243730" name="Line 18"/>
          <p:cNvSpPr>
            <a:spLocks noChangeShapeType="1"/>
          </p:cNvSpPr>
          <p:nvPr/>
        </p:nvSpPr>
        <p:spPr bwMode="auto">
          <a:xfrm flipV="1">
            <a:off x="2438400" y="5562600"/>
            <a:ext cx="3657600" cy="0"/>
          </a:xfrm>
          <a:prstGeom prst="line">
            <a:avLst/>
          </a:prstGeom>
          <a:noFill/>
          <a:ln w="38100">
            <a:solidFill>
              <a:srgbClr val="CC0000"/>
            </a:solidFill>
            <a:round/>
            <a:headEnd/>
            <a:tailEnd/>
          </a:ln>
          <a:effectLst/>
        </p:spPr>
        <p:txBody>
          <a:bodyPr anchor="ctr">
            <a:spAutoFit/>
          </a:bodyPr>
          <a:lstStyle/>
          <a:p>
            <a:endParaRPr lang="en-US"/>
          </a:p>
        </p:txBody>
      </p:sp>
      <p:sp>
        <p:nvSpPr>
          <p:cNvPr id="243731" name="Oval 19"/>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32" name="Oval 20"/>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33" name="Oval 21"/>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34" name="Oval 22"/>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35" name="Oval 23"/>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36" name="Oval 24"/>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37" name="Oval 25"/>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38" name="Oval 26"/>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39" name="Oval 27"/>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40" name="Oval 28"/>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41" name="Oval 29"/>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42" name="Oval 30"/>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43" name="Oval 31"/>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44" name="Oval 32"/>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45" name="Oval 33"/>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46" name="Oval 34"/>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47" name="Oval 35"/>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48" name="Oval 36"/>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49" name="Oval 37"/>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50" name="Oval 38"/>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51" name="Oval 39"/>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52" name="Oval 40"/>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53" name="Oval 41"/>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54" name="Oval 42"/>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55" name="Oval 43"/>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56" name="Oval 44"/>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57" name="Oval 45"/>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58" name="Oval 46"/>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59" name="Oval 47"/>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60" name="Oval 48"/>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61" name="Oval 49"/>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62" name="Oval 50"/>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p:spPr>
        <p:txBody>
          <a:bodyPr wrap="none" anchor="ctr"/>
          <a:lstStyle/>
          <a:p>
            <a:endParaRPr lang="en-US"/>
          </a:p>
        </p:txBody>
      </p:sp>
      <p:sp>
        <p:nvSpPr>
          <p:cNvPr id="243763" name="Oval 51"/>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64" name="Oval 52"/>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43765" name="Text Box 53"/>
          <p:cNvSpPr txBox="1">
            <a:spLocks noChangeArrowheads="1"/>
          </p:cNvSpPr>
          <p:nvPr/>
        </p:nvSpPr>
        <p:spPr bwMode="auto">
          <a:xfrm>
            <a:off x="5486400" y="1676400"/>
            <a:ext cx="3200400" cy="396875"/>
          </a:xfrm>
          <a:prstGeom prst="rect">
            <a:avLst/>
          </a:prstGeom>
          <a:noFill/>
          <a:ln w="12700">
            <a:noFill/>
            <a:miter lim="800000"/>
            <a:headEnd/>
            <a:tailEnd/>
          </a:ln>
          <a:effectLst/>
        </p:spPr>
        <p:txBody>
          <a:bodyPr>
            <a:spAutoFit/>
          </a:bodyPr>
          <a:lstStyle/>
          <a:p>
            <a:pPr>
              <a:spcBef>
                <a:spcPct val="50000"/>
              </a:spcBef>
              <a:buClr>
                <a:schemeClr val="tx1"/>
              </a:buClr>
            </a:pPr>
            <a:r>
              <a:rPr lang="en-US" altLang="zh-CN" sz="2000" b="1" i="1">
                <a:latin typeface="Tahoma" pitchFamily="34" charset="0"/>
              </a:rPr>
              <a:t>f</a:t>
            </a:r>
            <a:r>
              <a:rPr lang="en-US" altLang="zh-CN" sz="2000" i="1">
                <a:latin typeface="Tahoma" pitchFamily="34" charset="0"/>
              </a:rPr>
              <a:t>(</a:t>
            </a:r>
            <a:r>
              <a:rPr lang="en-US" altLang="zh-CN" sz="2000" b="1" i="1">
                <a:latin typeface="Tahoma" pitchFamily="34" charset="0"/>
              </a:rPr>
              <a:t>x</a:t>
            </a:r>
            <a:r>
              <a:rPr lang="en-US" altLang="zh-CN" sz="2000" i="1">
                <a:latin typeface="Tahoma" pitchFamily="34" charset="0"/>
              </a:rPr>
              <a:t>,</a:t>
            </a:r>
            <a:r>
              <a:rPr lang="en-US" altLang="zh-CN" sz="2000" b="1" i="1">
                <a:solidFill>
                  <a:srgbClr val="00CC00"/>
                </a:solidFill>
                <a:latin typeface="Tahoma" pitchFamily="34" charset="0"/>
              </a:rPr>
              <a:t>w</a:t>
            </a:r>
            <a:r>
              <a:rPr lang="en-US" altLang="zh-CN" sz="2000" i="1">
                <a:solidFill>
                  <a:srgbClr val="00CC00"/>
                </a:solidFill>
                <a:latin typeface="Tahoma" pitchFamily="34" charset="0"/>
              </a:rPr>
              <a:t>,b</a:t>
            </a:r>
            <a:r>
              <a:rPr lang="en-US" altLang="zh-CN" sz="2000" i="1">
                <a:latin typeface="Tahoma" pitchFamily="34" charset="0"/>
              </a:rPr>
              <a:t>) = sign(</a:t>
            </a:r>
            <a:r>
              <a:rPr lang="en-US" altLang="zh-CN" sz="2000" b="1" i="1">
                <a:solidFill>
                  <a:srgbClr val="00CC00"/>
                </a:solidFill>
                <a:latin typeface="Tahoma" pitchFamily="34" charset="0"/>
              </a:rPr>
              <a:t>w</a:t>
            </a:r>
            <a:r>
              <a:rPr lang="en-US" altLang="zh-CN" sz="2000" b="1" i="1">
                <a:latin typeface="Tahoma" pitchFamily="34" charset="0"/>
              </a:rPr>
              <a:t> x</a:t>
            </a:r>
            <a:r>
              <a:rPr lang="en-US" altLang="zh-CN" sz="2000" i="1">
                <a:solidFill>
                  <a:srgbClr val="00CC00"/>
                </a:solidFill>
                <a:latin typeface="Tahoma" pitchFamily="34" charset="0"/>
              </a:rPr>
              <a:t> </a:t>
            </a:r>
            <a:r>
              <a:rPr lang="en-US" altLang="zh-CN" sz="2000" i="1">
                <a:latin typeface="Tahoma" pitchFamily="34" charset="0"/>
              </a:rPr>
              <a:t>+ </a:t>
            </a:r>
            <a:r>
              <a:rPr lang="en-US" altLang="zh-CN" sz="2000" i="1">
                <a:solidFill>
                  <a:srgbClr val="00CC00"/>
                </a:solidFill>
                <a:latin typeface="Tahoma" pitchFamily="34" charset="0"/>
              </a:rPr>
              <a:t>b</a:t>
            </a:r>
            <a:r>
              <a:rPr lang="en-US" altLang="zh-CN" sz="2000" i="1">
                <a:latin typeface="Tahoma" pitchFamily="34" charset="0"/>
              </a:rPr>
              <a:t>)</a:t>
            </a:r>
          </a:p>
        </p:txBody>
      </p:sp>
      <p:sp>
        <p:nvSpPr>
          <p:cNvPr id="243766" name="Text Box 54"/>
          <p:cNvSpPr txBox="1">
            <a:spLocks noChangeArrowheads="1"/>
          </p:cNvSpPr>
          <p:nvPr/>
        </p:nvSpPr>
        <p:spPr bwMode="auto">
          <a:xfrm>
            <a:off x="6248400" y="3200400"/>
            <a:ext cx="2438400" cy="396875"/>
          </a:xfrm>
          <a:prstGeom prst="rect">
            <a:avLst/>
          </a:prstGeom>
          <a:noFill/>
          <a:ln w="12700">
            <a:noFill/>
            <a:miter lim="800000"/>
            <a:headEnd/>
            <a:tailEnd/>
          </a:ln>
          <a:effectLst/>
        </p:spPr>
        <p:txBody>
          <a:bodyPr>
            <a:spAutoFit/>
          </a:bodyPr>
          <a:lstStyle/>
          <a:p>
            <a:pPr algn="l">
              <a:spcBef>
                <a:spcPct val="50000"/>
              </a:spcBef>
              <a:buClr>
                <a:schemeClr val="tx1"/>
              </a:buClr>
            </a:pPr>
            <a:endParaRPr lang="en-US" sz="2000">
              <a:latin typeface="Tahoma" pitchFamily="34" charset="0"/>
            </a:endParaRPr>
          </a:p>
        </p:txBody>
      </p:sp>
      <p:sp>
        <p:nvSpPr>
          <p:cNvPr id="243767" name="Text Box 55"/>
          <p:cNvSpPr txBox="1">
            <a:spLocks noChangeArrowheads="1"/>
          </p:cNvSpPr>
          <p:nvPr/>
        </p:nvSpPr>
        <p:spPr bwMode="auto">
          <a:xfrm>
            <a:off x="6400800" y="2286000"/>
            <a:ext cx="2743200" cy="3925888"/>
          </a:xfrm>
          <a:prstGeom prst="rect">
            <a:avLst/>
          </a:prstGeom>
          <a:noFill/>
          <a:ln w="12700">
            <a:noFill/>
            <a:miter lim="800000"/>
            <a:headEnd/>
            <a:tailEnd/>
          </a:ln>
          <a:effectLst/>
        </p:spPr>
        <p:txBody>
          <a:bodyPr>
            <a:spAutoFit/>
          </a:bodyPr>
          <a:lstStyle/>
          <a:p>
            <a:pPr algn="l">
              <a:spcBef>
                <a:spcPct val="50000"/>
              </a:spcBef>
              <a:buClr>
                <a:schemeClr val="tx1"/>
              </a:buClr>
            </a:pPr>
            <a:r>
              <a:rPr lang="en-US" altLang="zh-CN" sz="2400">
                <a:latin typeface="Tahoma" pitchFamily="34" charset="0"/>
              </a:rPr>
              <a:t>The </a:t>
            </a:r>
            <a:r>
              <a:rPr lang="en-US" altLang="zh-CN" sz="2400">
                <a:solidFill>
                  <a:srgbClr val="CC0000"/>
                </a:solidFill>
                <a:latin typeface="Tahoma" pitchFamily="34" charset="0"/>
              </a:rPr>
              <a:t>maximum margin linear classifier</a:t>
            </a:r>
            <a:r>
              <a:rPr lang="en-US" altLang="zh-CN" sz="2400">
                <a:latin typeface="Tahoma" pitchFamily="34" charset="0"/>
              </a:rPr>
              <a:t> is the linear classifier with the, um, maximum margin.</a:t>
            </a:r>
          </a:p>
          <a:p>
            <a:pPr algn="l">
              <a:spcBef>
                <a:spcPct val="50000"/>
              </a:spcBef>
              <a:buClr>
                <a:schemeClr val="tx1"/>
              </a:buClr>
            </a:pPr>
            <a:r>
              <a:rPr lang="en-US" altLang="zh-CN" sz="2400">
                <a:latin typeface="Tahoma" pitchFamily="34" charset="0"/>
              </a:rPr>
              <a:t>This is the simplest kind of SVM (Called an LSVM)</a:t>
            </a:r>
          </a:p>
        </p:txBody>
      </p:sp>
      <p:sp>
        <p:nvSpPr>
          <p:cNvPr id="243768" name="AutoShape 56"/>
          <p:cNvSpPr>
            <a:spLocks noChangeArrowheads="1"/>
          </p:cNvSpPr>
          <p:nvPr/>
        </p:nvSpPr>
        <p:spPr bwMode="auto">
          <a:xfrm>
            <a:off x="4441825" y="6097588"/>
            <a:ext cx="1758950" cy="381000"/>
          </a:xfrm>
          <a:prstGeom prst="wedgeRectCallout">
            <a:avLst>
              <a:gd name="adj1" fmla="val 64713"/>
              <a:gd name="adj2" fmla="val -86250"/>
            </a:avLst>
          </a:prstGeom>
          <a:solidFill>
            <a:srgbClr val="CCFFCC"/>
          </a:solidFill>
          <a:ln w="12700">
            <a:solidFill>
              <a:schemeClr val="tx1"/>
            </a:solidFill>
            <a:miter lim="800000"/>
            <a:headEnd/>
            <a:tailEnd/>
          </a:ln>
          <a:effectLst/>
        </p:spPr>
        <p:txBody>
          <a:bodyPr/>
          <a:lstStyle/>
          <a:p>
            <a:pPr>
              <a:spcBef>
                <a:spcPct val="50000"/>
              </a:spcBef>
              <a:buClr>
                <a:schemeClr val="tx1"/>
              </a:buClr>
            </a:pPr>
            <a:r>
              <a:rPr lang="en-US" altLang="zh-CN" sz="2000">
                <a:latin typeface="Tahoma" pitchFamily="34" charset="0"/>
              </a:rPr>
              <a:t>Linear SVM</a:t>
            </a:r>
          </a:p>
        </p:txBody>
      </p:sp>
      <p:sp>
        <p:nvSpPr>
          <p:cNvPr id="243769" name="Text Box 57"/>
          <p:cNvSpPr txBox="1">
            <a:spLocks noChangeArrowheads="1"/>
          </p:cNvSpPr>
          <p:nvPr/>
        </p:nvSpPr>
        <p:spPr bwMode="auto">
          <a:xfrm>
            <a:off x="0" y="3675063"/>
            <a:ext cx="2293938" cy="1631216"/>
          </a:xfrm>
          <a:prstGeom prst="rect">
            <a:avLst/>
          </a:prstGeom>
          <a:noFill/>
          <a:ln w="12700">
            <a:noFill/>
            <a:miter lim="800000"/>
            <a:headEnd/>
            <a:tailEnd/>
          </a:ln>
          <a:effectLst/>
        </p:spPr>
        <p:txBody>
          <a:bodyPr wrap="square">
            <a:spAutoFit/>
          </a:bodyPr>
          <a:lstStyle/>
          <a:p>
            <a:pPr algn="l">
              <a:spcBef>
                <a:spcPct val="50000"/>
              </a:spcBef>
              <a:buClr>
                <a:schemeClr val="tx1"/>
              </a:buClr>
            </a:pPr>
            <a:r>
              <a:rPr lang="en-US" altLang="zh-CN" sz="2000" b="1" dirty="0">
                <a:solidFill>
                  <a:srgbClr val="00CC00"/>
                </a:solidFill>
                <a:latin typeface="Tahoma" pitchFamily="34" charset="0"/>
              </a:rPr>
              <a:t>Support Vectors </a:t>
            </a:r>
            <a:r>
              <a:rPr lang="en-US" altLang="zh-CN" sz="2000" dirty="0">
                <a:latin typeface="Tahoma" pitchFamily="34" charset="0"/>
              </a:rPr>
              <a:t>are those </a:t>
            </a:r>
            <a:r>
              <a:rPr lang="en-US" altLang="zh-CN" sz="2000" dirty="0" err="1">
                <a:latin typeface="Tahoma" pitchFamily="34" charset="0"/>
              </a:rPr>
              <a:t>datapoints</a:t>
            </a:r>
            <a:r>
              <a:rPr lang="en-US" altLang="zh-CN" sz="2000" dirty="0">
                <a:latin typeface="Tahoma" pitchFamily="34" charset="0"/>
              </a:rPr>
              <a:t> that the margin pushes up against</a:t>
            </a:r>
          </a:p>
        </p:txBody>
      </p:sp>
      <p:sp>
        <p:nvSpPr>
          <p:cNvPr id="243770" name="Freeform 58"/>
          <p:cNvSpPr>
            <a:spLocks/>
          </p:cNvSpPr>
          <p:nvPr/>
        </p:nvSpPr>
        <p:spPr bwMode="auto">
          <a:xfrm>
            <a:off x="2112963" y="3725863"/>
            <a:ext cx="1708150" cy="155575"/>
          </a:xfrm>
          <a:custGeom>
            <a:avLst/>
            <a:gdLst/>
            <a:ahLst/>
            <a:cxnLst>
              <a:cxn ang="0">
                <a:pos x="0" y="98"/>
              </a:cxn>
              <a:cxn ang="0">
                <a:pos x="104" y="39"/>
              </a:cxn>
              <a:cxn ang="0">
                <a:pos x="212" y="0"/>
              </a:cxn>
              <a:cxn ang="0">
                <a:pos x="326" y="11"/>
              </a:cxn>
              <a:cxn ang="0">
                <a:pos x="386" y="39"/>
              </a:cxn>
              <a:cxn ang="0">
                <a:pos x="386" y="39"/>
              </a:cxn>
              <a:cxn ang="0">
                <a:pos x="511" y="82"/>
              </a:cxn>
              <a:cxn ang="0">
                <a:pos x="989" y="55"/>
              </a:cxn>
              <a:cxn ang="0">
                <a:pos x="1076" y="44"/>
              </a:cxn>
            </a:cxnLst>
            <a:rect l="0" t="0" r="r" b="b"/>
            <a:pathLst>
              <a:path w="1076" h="98">
                <a:moveTo>
                  <a:pt x="0" y="98"/>
                </a:moveTo>
                <a:cubicBezTo>
                  <a:pt x="38" y="87"/>
                  <a:pt x="66" y="53"/>
                  <a:pt x="104" y="39"/>
                </a:cubicBezTo>
                <a:cubicBezTo>
                  <a:pt x="132" y="9"/>
                  <a:pt x="172" y="6"/>
                  <a:pt x="212" y="0"/>
                </a:cubicBezTo>
                <a:cubicBezTo>
                  <a:pt x="262" y="3"/>
                  <a:pt x="286" y="0"/>
                  <a:pt x="326" y="11"/>
                </a:cubicBezTo>
                <a:lnTo>
                  <a:pt x="386" y="39"/>
                </a:lnTo>
                <a:cubicBezTo>
                  <a:pt x="386" y="39"/>
                  <a:pt x="386" y="39"/>
                  <a:pt x="386" y="39"/>
                </a:cubicBezTo>
                <a:cubicBezTo>
                  <a:pt x="428" y="52"/>
                  <a:pt x="469" y="69"/>
                  <a:pt x="511" y="82"/>
                </a:cubicBezTo>
                <a:cubicBezTo>
                  <a:pt x="670" y="74"/>
                  <a:pt x="829" y="60"/>
                  <a:pt x="989" y="55"/>
                </a:cubicBezTo>
                <a:cubicBezTo>
                  <a:pt x="1017" y="51"/>
                  <a:pt x="1048" y="44"/>
                  <a:pt x="1076" y="44"/>
                </a:cubicBezTo>
              </a:path>
            </a:pathLst>
          </a:custGeom>
          <a:noFill/>
          <a:ln w="38100" cap="flat" cmpd="sng">
            <a:solidFill>
              <a:srgbClr val="33CC33"/>
            </a:solidFill>
            <a:prstDash val="solid"/>
            <a:round/>
            <a:headEnd type="none" w="med" len="med"/>
            <a:tailEnd type="triangle" w="med" len="med"/>
          </a:ln>
          <a:effectLst/>
        </p:spPr>
        <p:txBody>
          <a:bodyPr>
            <a:spAutoFit/>
          </a:bodyPr>
          <a:lstStyle/>
          <a:p>
            <a:endParaRPr lang="en-US"/>
          </a:p>
        </p:txBody>
      </p:sp>
      <p:sp>
        <p:nvSpPr>
          <p:cNvPr id="243771" name="Freeform 59"/>
          <p:cNvSpPr>
            <a:spLocks/>
          </p:cNvSpPr>
          <p:nvPr/>
        </p:nvSpPr>
        <p:spPr bwMode="auto">
          <a:xfrm>
            <a:off x="2079625" y="3317875"/>
            <a:ext cx="2293938" cy="485775"/>
          </a:xfrm>
          <a:custGeom>
            <a:avLst/>
            <a:gdLst/>
            <a:ahLst/>
            <a:cxnLst>
              <a:cxn ang="0">
                <a:pos x="0" y="306"/>
              </a:cxn>
              <a:cxn ang="0">
                <a:pos x="16" y="301"/>
              </a:cxn>
              <a:cxn ang="0">
                <a:pos x="27" y="268"/>
              </a:cxn>
              <a:cxn ang="0">
                <a:pos x="48" y="236"/>
              </a:cxn>
              <a:cxn ang="0">
                <a:pos x="125" y="171"/>
              </a:cxn>
              <a:cxn ang="0">
                <a:pos x="228" y="105"/>
              </a:cxn>
              <a:cxn ang="0">
                <a:pos x="298" y="73"/>
              </a:cxn>
              <a:cxn ang="0">
                <a:pos x="635" y="2"/>
              </a:cxn>
              <a:cxn ang="0">
                <a:pos x="1043" y="18"/>
              </a:cxn>
              <a:cxn ang="0">
                <a:pos x="1119" y="40"/>
              </a:cxn>
              <a:cxn ang="0">
                <a:pos x="1217" y="84"/>
              </a:cxn>
              <a:cxn ang="0">
                <a:pos x="1336" y="132"/>
              </a:cxn>
              <a:cxn ang="0">
                <a:pos x="1445" y="165"/>
              </a:cxn>
            </a:cxnLst>
            <a:rect l="0" t="0" r="r" b="b"/>
            <a:pathLst>
              <a:path w="1445" h="306">
                <a:moveTo>
                  <a:pt x="0" y="306"/>
                </a:moveTo>
                <a:cubicBezTo>
                  <a:pt x="5" y="304"/>
                  <a:pt x="12" y="305"/>
                  <a:pt x="16" y="301"/>
                </a:cubicBezTo>
                <a:cubicBezTo>
                  <a:pt x="24" y="293"/>
                  <a:pt x="21" y="278"/>
                  <a:pt x="27" y="268"/>
                </a:cubicBezTo>
                <a:cubicBezTo>
                  <a:pt x="33" y="257"/>
                  <a:pt x="41" y="247"/>
                  <a:pt x="48" y="236"/>
                </a:cubicBezTo>
                <a:cubicBezTo>
                  <a:pt x="58" y="221"/>
                  <a:pt x="117" y="177"/>
                  <a:pt x="125" y="171"/>
                </a:cubicBezTo>
                <a:cubicBezTo>
                  <a:pt x="159" y="146"/>
                  <a:pt x="186" y="117"/>
                  <a:pt x="228" y="105"/>
                </a:cubicBezTo>
                <a:cubicBezTo>
                  <a:pt x="249" y="91"/>
                  <a:pt x="273" y="79"/>
                  <a:pt x="298" y="73"/>
                </a:cubicBezTo>
                <a:cubicBezTo>
                  <a:pt x="394" y="11"/>
                  <a:pt x="526" y="10"/>
                  <a:pt x="635" y="2"/>
                </a:cubicBezTo>
                <a:cubicBezTo>
                  <a:pt x="773" y="5"/>
                  <a:pt x="907" y="0"/>
                  <a:pt x="1043" y="18"/>
                </a:cubicBezTo>
                <a:cubicBezTo>
                  <a:pt x="1068" y="27"/>
                  <a:pt x="1093" y="34"/>
                  <a:pt x="1119" y="40"/>
                </a:cubicBezTo>
                <a:cubicBezTo>
                  <a:pt x="1150" y="63"/>
                  <a:pt x="1183" y="68"/>
                  <a:pt x="1217" y="84"/>
                </a:cubicBezTo>
                <a:cubicBezTo>
                  <a:pt x="1257" y="104"/>
                  <a:pt x="1293" y="119"/>
                  <a:pt x="1336" y="132"/>
                </a:cubicBezTo>
                <a:cubicBezTo>
                  <a:pt x="1370" y="142"/>
                  <a:pt x="1410" y="165"/>
                  <a:pt x="1445" y="165"/>
                </a:cubicBezTo>
              </a:path>
            </a:pathLst>
          </a:custGeom>
          <a:noFill/>
          <a:ln w="38100" cap="flat" cmpd="sng">
            <a:solidFill>
              <a:srgbClr val="33CC33"/>
            </a:solidFill>
            <a:prstDash val="solid"/>
            <a:round/>
            <a:headEnd type="none" w="med" len="med"/>
            <a:tailEnd type="triangle" w="med" len="med"/>
          </a:ln>
          <a:effectLst/>
        </p:spPr>
        <p:txBody>
          <a:bodyPr>
            <a:spAutoFit/>
          </a:bodyPr>
          <a:lstStyle/>
          <a:p>
            <a:endParaRPr lang="en-US"/>
          </a:p>
        </p:txBody>
      </p:sp>
      <p:sp>
        <p:nvSpPr>
          <p:cNvPr id="243772" name="Freeform 60"/>
          <p:cNvSpPr>
            <a:spLocks/>
          </p:cNvSpPr>
          <p:nvPr/>
        </p:nvSpPr>
        <p:spPr bwMode="auto">
          <a:xfrm>
            <a:off x="2105025" y="3994150"/>
            <a:ext cx="1733550" cy="449263"/>
          </a:xfrm>
          <a:custGeom>
            <a:avLst/>
            <a:gdLst/>
            <a:ahLst/>
            <a:cxnLst>
              <a:cxn ang="0">
                <a:pos x="0" y="0"/>
              </a:cxn>
              <a:cxn ang="0">
                <a:pos x="130" y="54"/>
              </a:cxn>
              <a:cxn ang="0">
                <a:pos x="326" y="147"/>
              </a:cxn>
              <a:cxn ang="0">
                <a:pos x="397" y="174"/>
              </a:cxn>
              <a:cxn ang="0">
                <a:pos x="527" y="217"/>
              </a:cxn>
              <a:cxn ang="0">
                <a:pos x="1092" y="272"/>
              </a:cxn>
            </a:cxnLst>
            <a:rect l="0" t="0" r="r" b="b"/>
            <a:pathLst>
              <a:path w="1092" h="283">
                <a:moveTo>
                  <a:pt x="0" y="0"/>
                </a:moveTo>
                <a:cubicBezTo>
                  <a:pt x="47" y="9"/>
                  <a:pt x="84" y="40"/>
                  <a:pt x="130" y="54"/>
                </a:cubicBezTo>
                <a:cubicBezTo>
                  <a:pt x="184" y="96"/>
                  <a:pt x="261" y="129"/>
                  <a:pt x="326" y="147"/>
                </a:cubicBezTo>
                <a:cubicBezTo>
                  <a:pt x="348" y="162"/>
                  <a:pt x="373" y="163"/>
                  <a:pt x="397" y="174"/>
                </a:cubicBezTo>
                <a:cubicBezTo>
                  <a:pt x="439" y="193"/>
                  <a:pt x="481" y="209"/>
                  <a:pt x="527" y="217"/>
                </a:cubicBezTo>
                <a:cubicBezTo>
                  <a:pt x="704" y="283"/>
                  <a:pt x="907" y="272"/>
                  <a:pt x="1092" y="272"/>
                </a:cubicBezTo>
              </a:path>
            </a:pathLst>
          </a:custGeom>
          <a:noFill/>
          <a:ln w="38100" cap="flat" cmpd="sng">
            <a:solidFill>
              <a:srgbClr val="33CC33"/>
            </a:solidFill>
            <a:prstDash val="solid"/>
            <a:round/>
            <a:headEnd type="none" w="med" len="med"/>
            <a:tailEnd type="triangle" w="med" len="med"/>
          </a:ln>
          <a:effectLst/>
        </p:spPr>
        <p:txBody>
          <a:bodyPr>
            <a:spAutoFit/>
          </a:bodyPr>
          <a:lstStyle/>
          <a:p>
            <a:endParaRPr lang="en-US"/>
          </a:p>
        </p:txBody>
      </p:sp>
      <p:sp>
        <p:nvSpPr>
          <p:cNvPr id="243775" name="Oval 63"/>
          <p:cNvSpPr>
            <a:spLocks noChangeArrowheads="1"/>
          </p:cNvSpPr>
          <p:nvPr/>
        </p:nvSpPr>
        <p:spPr bwMode="auto">
          <a:xfrm>
            <a:off x="4341813" y="3579813"/>
            <a:ext cx="152400" cy="152400"/>
          </a:xfrm>
          <a:prstGeom prst="ellipse">
            <a:avLst/>
          </a:prstGeom>
          <a:noFill/>
          <a:ln w="38100">
            <a:solidFill>
              <a:srgbClr val="33CC33"/>
            </a:solidFill>
            <a:prstDash val="dash"/>
            <a:round/>
            <a:headEnd/>
            <a:tailEnd/>
          </a:ln>
          <a:effectLst/>
        </p:spPr>
        <p:txBody>
          <a:bodyPr wrap="none" anchor="ctr">
            <a:spAutoFit/>
          </a:bodyPr>
          <a:lstStyle/>
          <a:p>
            <a:endParaRPr lang="en-US"/>
          </a:p>
        </p:txBody>
      </p:sp>
      <p:sp>
        <p:nvSpPr>
          <p:cNvPr id="243776" name="Oval 64"/>
          <p:cNvSpPr>
            <a:spLocks noChangeArrowheads="1"/>
          </p:cNvSpPr>
          <p:nvPr/>
        </p:nvSpPr>
        <p:spPr bwMode="auto">
          <a:xfrm>
            <a:off x="3844925" y="3689350"/>
            <a:ext cx="152400" cy="152400"/>
          </a:xfrm>
          <a:prstGeom prst="ellipse">
            <a:avLst/>
          </a:prstGeom>
          <a:noFill/>
          <a:ln w="38100">
            <a:solidFill>
              <a:srgbClr val="33CC33"/>
            </a:solidFill>
            <a:prstDash val="dash"/>
            <a:round/>
            <a:headEnd/>
            <a:tailEnd/>
          </a:ln>
          <a:effectLst/>
        </p:spPr>
        <p:txBody>
          <a:bodyPr wrap="none" anchor="ctr">
            <a:spAutoFit/>
          </a:bodyPr>
          <a:lstStyle/>
          <a:p>
            <a:endParaRPr lang="en-US"/>
          </a:p>
        </p:txBody>
      </p:sp>
      <p:sp>
        <p:nvSpPr>
          <p:cNvPr id="243777" name="Oval 65"/>
          <p:cNvSpPr>
            <a:spLocks noChangeArrowheads="1"/>
          </p:cNvSpPr>
          <p:nvPr/>
        </p:nvSpPr>
        <p:spPr bwMode="auto">
          <a:xfrm>
            <a:off x="3833813" y="4384675"/>
            <a:ext cx="152400" cy="152400"/>
          </a:xfrm>
          <a:prstGeom prst="ellipse">
            <a:avLst/>
          </a:prstGeom>
          <a:noFill/>
          <a:ln w="38100">
            <a:solidFill>
              <a:srgbClr val="33CC33"/>
            </a:solidFill>
            <a:prstDash val="dash"/>
            <a:round/>
            <a:headEnd/>
            <a:tailEnd/>
          </a:ln>
          <a:effectLst/>
        </p:spPr>
        <p:txBody>
          <a:bodyPr wrap="none" anchor="ctr">
            <a:spAutoFit/>
          </a:bodyPr>
          <a:lstStyle/>
          <a:p>
            <a:endParaRPr lang="en-US"/>
          </a:p>
        </p:txBody>
      </p:sp>
      <p:sp>
        <p:nvSpPr>
          <p:cNvPr id="243778" name="Text Box 66"/>
          <p:cNvSpPr txBox="1">
            <a:spLocks noChangeArrowheads="1"/>
          </p:cNvSpPr>
          <p:nvPr/>
        </p:nvSpPr>
        <p:spPr bwMode="auto">
          <a:xfrm>
            <a:off x="4114800" y="228600"/>
            <a:ext cx="5029200" cy="1320361"/>
          </a:xfrm>
          <a:prstGeom prst="rect">
            <a:avLst/>
          </a:prstGeom>
          <a:solidFill>
            <a:srgbClr val="CCFFCC"/>
          </a:solidFill>
          <a:ln w="28575">
            <a:solidFill>
              <a:schemeClr val="tx1"/>
            </a:solidFill>
            <a:miter lim="800000"/>
            <a:headEnd/>
            <a:tailEnd/>
          </a:ln>
          <a:effectLst/>
        </p:spPr>
        <p:txBody>
          <a:bodyPr wrap="square">
            <a:spAutoFit/>
          </a:bodyPr>
          <a:lstStyle/>
          <a:p>
            <a:pPr marL="457200" indent="-457200" algn="l">
              <a:spcBef>
                <a:spcPct val="20000"/>
              </a:spcBef>
              <a:buFontTx/>
              <a:buAutoNum type="arabicPeriod"/>
            </a:pPr>
            <a:r>
              <a:rPr lang="en-US" altLang="zh-CN" sz="1400" dirty="0">
                <a:latin typeface="Tahoma" pitchFamily="34" charset="0"/>
              </a:rPr>
              <a:t>Maximizing the margin is good according to intuition theory </a:t>
            </a:r>
          </a:p>
          <a:p>
            <a:pPr marL="457200" indent="-457200" algn="l">
              <a:spcBef>
                <a:spcPct val="20000"/>
              </a:spcBef>
              <a:buFontTx/>
              <a:buAutoNum type="arabicPeriod"/>
            </a:pPr>
            <a:r>
              <a:rPr lang="en-US" altLang="zh-CN" sz="1400" dirty="0">
                <a:latin typeface="Tahoma" pitchFamily="34" charset="0"/>
              </a:rPr>
              <a:t>Implies that only support vectors are important; other training examples are ignorable.</a:t>
            </a:r>
          </a:p>
          <a:p>
            <a:pPr marL="457200" indent="-457200" algn="l">
              <a:spcBef>
                <a:spcPct val="50000"/>
              </a:spcBef>
              <a:buClr>
                <a:schemeClr val="tx1"/>
              </a:buClr>
              <a:buFontTx/>
              <a:buAutoNum type="arabicPeriod"/>
            </a:pPr>
            <a:r>
              <a:rPr lang="en-US" altLang="zh-CN" sz="1400" dirty="0">
                <a:latin typeface="Tahoma" pitchFamily="34" charset="0"/>
              </a:rPr>
              <a:t>This approach is called </a:t>
            </a:r>
            <a:r>
              <a:rPr lang="en-US" altLang="zh-CN" sz="1400" b="1" dirty="0">
                <a:latin typeface="Tahoma" pitchFamily="34" charset="0"/>
              </a:rPr>
              <a:t>structural risk minimization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3769"/>
                                        </p:tgtEl>
                                        <p:attrNameLst>
                                          <p:attrName>style.visibility</p:attrName>
                                        </p:attrNameLst>
                                      </p:cBhvr>
                                      <p:to>
                                        <p:strVal val="visible"/>
                                      </p:to>
                                    </p:set>
                                    <p:anim calcmode="lin" valueType="num">
                                      <p:cBhvr additive="base">
                                        <p:cTn id="7" dur="500" fill="hold"/>
                                        <p:tgtEl>
                                          <p:spTgt spid="243769"/>
                                        </p:tgtEl>
                                        <p:attrNameLst>
                                          <p:attrName>ppt_x</p:attrName>
                                        </p:attrNameLst>
                                      </p:cBhvr>
                                      <p:tavLst>
                                        <p:tav tm="0">
                                          <p:val>
                                            <p:strVal val="#ppt_x"/>
                                          </p:val>
                                        </p:tav>
                                        <p:tav tm="100000">
                                          <p:val>
                                            <p:strVal val="#ppt_x"/>
                                          </p:val>
                                        </p:tav>
                                      </p:tavLst>
                                    </p:anim>
                                    <p:anim calcmode="lin" valueType="num">
                                      <p:cBhvr additive="base">
                                        <p:cTn id="8" dur="500" fill="hold"/>
                                        <p:tgtEl>
                                          <p:spTgt spid="24376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3771"/>
                                        </p:tgtEl>
                                        <p:attrNameLst>
                                          <p:attrName>style.visibility</p:attrName>
                                        </p:attrNameLst>
                                      </p:cBhvr>
                                      <p:to>
                                        <p:strVal val="visible"/>
                                      </p:to>
                                    </p:set>
                                    <p:anim calcmode="lin" valueType="num">
                                      <p:cBhvr additive="base">
                                        <p:cTn id="11" dur="500" fill="hold"/>
                                        <p:tgtEl>
                                          <p:spTgt spid="243771"/>
                                        </p:tgtEl>
                                        <p:attrNameLst>
                                          <p:attrName>ppt_x</p:attrName>
                                        </p:attrNameLst>
                                      </p:cBhvr>
                                      <p:tavLst>
                                        <p:tav tm="0">
                                          <p:val>
                                            <p:strVal val="#ppt_x"/>
                                          </p:val>
                                        </p:tav>
                                        <p:tav tm="100000">
                                          <p:val>
                                            <p:strVal val="#ppt_x"/>
                                          </p:val>
                                        </p:tav>
                                      </p:tavLst>
                                    </p:anim>
                                    <p:anim calcmode="lin" valueType="num">
                                      <p:cBhvr additive="base">
                                        <p:cTn id="12" dur="500" fill="hold"/>
                                        <p:tgtEl>
                                          <p:spTgt spid="24377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3770"/>
                                        </p:tgtEl>
                                        <p:attrNameLst>
                                          <p:attrName>style.visibility</p:attrName>
                                        </p:attrNameLst>
                                      </p:cBhvr>
                                      <p:to>
                                        <p:strVal val="visible"/>
                                      </p:to>
                                    </p:set>
                                    <p:anim calcmode="lin" valueType="num">
                                      <p:cBhvr additive="base">
                                        <p:cTn id="15" dur="500" fill="hold"/>
                                        <p:tgtEl>
                                          <p:spTgt spid="243770"/>
                                        </p:tgtEl>
                                        <p:attrNameLst>
                                          <p:attrName>ppt_x</p:attrName>
                                        </p:attrNameLst>
                                      </p:cBhvr>
                                      <p:tavLst>
                                        <p:tav tm="0">
                                          <p:val>
                                            <p:strVal val="#ppt_x"/>
                                          </p:val>
                                        </p:tav>
                                        <p:tav tm="100000">
                                          <p:val>
                                            <p:strVal val="#ppt_x"/>
                                          </p:val>
                                        </p:tav>
                                      </p:tavLst>
                                    </p:anim>
                                    <p:anim calcmode="lin" valueType="num">
                                      <p:cBhvr additive="base">
                                        <p:cTn id="16" dur="500" fill="hold"/>
                                        <p:tgtEl>
                                          <p:spTgt spid="24377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43772"/>
                                        </p:tgtEl>
                                        <p:attrNameLst>
                                          <p:attrName>style.visibility</p:attrName>
                                        </p:attrNameLst>
                                      </p:cBhvr>
                                      <p:to>
                                        <p:strVal val="visible"/>
                                      </p:to>
                                    </p:set>
                                    <p:anim calcmode="lin" valueType="num">
                                      <p:cBhvr additive="base">
                                        <p:cTn id="19" dur="500" fill="hold"/>
                                        <p:tgtEl>
                                          <p:spTgt spid="243772"/>
                                        </p:tgtEl>
                                        <p:attrNameLst>
                                          <p:attrName>ppt_x</p:attrName>
                                        </p:attrNameLst>
                                      </p:cBhvr>
                                      <p:tavLst>
                                        <p:tav tm="0">
                                          <p:val>
                                            <p:strVal val="#ppt_x"/>
                                          </p:val>
                                        </p:tav>
                                        <p:tav tm="100000">
                                          <p:val>
                                            <p:strVal val="#ppt_x"/>
                                          </p:val>
                                        </p:tav>
                                      </p:tavLst>
                                    </p:anim>
                                    <p:anim calcmode="lin" valueType="num">
                                      <p:cBhvr additive="base">
                                        <p:cTn id="20" dur="500" fill="hold"/>
                                        <p:tgtEl>
                                          <p:spTgt spid="24377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37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69" grpId="0"/>
      <p:bldP spid="243770" grpId="0" animBg="1"/>
      <p:bldP spid="243771" grpId="0" animBg="1"/>
      <p:bldP spid="243772" grpId="0" animBg="1"/>
      <p:bldP spid="24377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300" name="Rectangle 4"/>
          <p:cNvSpPr>
            <a:spLocks noChangeArrowheads="1"/>
          </p:cNvSpPr>
          <p:nvPr/>
        </p:nvSpPr>
        <p:spPr bwMode="auto">
          <a:xfrm>
            <a:off x="381000" y="228600"/>
            <a:ext cx="4800600" cy="762000"/>
          </a:xfrm>
          <a:prstGeom prst="rect">
            <a:avLst/>
          </a:prstGeom>
          <a:noFill/>
          <a:ln w="9525">
            <a:noFill/>
            <a:miter lim="800000"/>
            <a:headEnd/>
            <a:tailEnd/>
          </a:ln>
          <a:effectLst/>
        </p:spPr>
        <p:txBody>
          <a:bodyPr anchor="ctr"/>
          <a:lstStyle/>
          <a:p>
            <a:pPr algn="l"/>
            <a:r>
              <a:rPr lang="en-US" altLang="zh-CN" sz="4200" b="1" dirty="0">
                <a:solidFill>
                  <a:schemeClr val="tx2"/>
                </a:solidFill>
                <a:latin typeface="Garamond" pitchFamily="18" charset="0"/>
              </a:rPr>
              <a:t>Non-linear SVMs</a:t>
            </a:r>
          </a:p>
        </p:txBody>
      </p:sp>
      <p:sp>
        <p:nvSpPr>
          <p:cNvPr id="311301" name="Rectangle 5"/>
          <p:cNvSpPr>
            <a:spLocks noChangeArrowheads="1"/>
          </p:cNvSpPr>
          <p:nvPr/>
        </p:nvSpPr>
        <p:spPr bwMode="auto">
          <a:xfrm>
            <a:off x="381000" y="1066800"/>
            <a:ext cx="8229600" cy="5029200"/>
          </a:xfrm>
          <a:prstGeom prst="rect">
            <a:avLst/>
          </a:prstGeom>
          <a:noFill/>
          <a:ln w="9525">
            <a:noFill/>
            <a:miter lim="800000"/>
            <a:headEnd/>
            <a:tailEnd/>
          </a:ln>
          <a:effectLst/>
        </p:spPr>
        <p:txBody>
          <a:bodyPr/>
          <a:lstStyle/>
          <a:p>
            <a:pPr marL="342900" indent="-342900" algn="l">
              <a:spcBef>
                <a:spcPct val="20000"/>
              </a:spcBef>
              <a:buClr>
                <a:schemeClr val="accent1"/>
              </a:buClr>
              <a:buSzPct val="65000"/>
              <a:buFont typeface="Wingdings" pitchFamily="2" charset="2"/>
              <a:buChar char="n"/>
            </a:pPr>
            <a:r>
              <a:rPr lang="en-US" altLang="zh-CN" sz="2400"/>
              <a:t>Datasets that are linearly separable with some noise work out great:</a:t>
            </a:r>
          </a:p>
          <a:p>
            <a:pPr marL="342900" indent="-342900" algn="l">
              <a:spcBef>
                <a:spcPct val="20000"/>
              </a:spcBef>
              <a:buClr>
                <a:schemeClr val="accent1"/>
              </a:buClr>
              <a:buSzPct val="65000"/>
              <a:buFont typeface="Wingdings" pitchFamily="2" charset="2"/>
              <a:buChar char="n"/>
            </a:pPr>
            <a:endParaRPr lang="en-US" altLang="zh-CN" sz="2400"/>
          </a:p>
          <a:p>
            <a:pPr marL="342900" indent="-342900" algn="l">
              <a:spcBef>
                <a:spcPct val="20000"/>
              </a:spcBef>
              <a:buClr>
                <a:schemeClr val="accent1"/>
              </a:buClr>
              <a:buSzPct val="65000"/>
              <a:buFont typeface="Wingdings" pitchFamily="2" charset="2"/>
              <a:buChar char="n"/>
            </a:pPr>
            <a:r>
              <a:rPr lang="en-US" altLang="zh-CN" sz="2400"/>
              <a:t>But what are we going to do if the dataset is just too hard? </a:t>
            </a:r>
          </a:p>
          <a:p>
            <a:pPr marL="342900" indent="-342900" algn="l">
              <a:spcBef>
                <a:spcPct val="20000"/>
              </a:spcBef>
              <a:buClr>
                <a:schemeClr val="accent1"/>
              </a:buClr>
              <a:buSzPct val="65000"/>
              <a:buFont typeface="Wingdings" pitchFamily="2" charset="2"/>
              <a:buChar char="n"/>
            </a:pPr>
            <a:endParaRPr lang="en-US" altLang="zh-CN" sz="2400"/>
          </a:p>
          <a:p>
            <a:pPr marL="342900" indent="-342900" algn="l">
              <a:spcBef>
                <a:spcPct val="20000"/>
              </a:spcBef>
              <a:buClr>
                <a:schemeClr val="accent1"/>
              </a:buClr>
              <a:buSzPct val="65000"/>
              <a:buFont typeface="Wingdings" pitchFamily="2" charset="2"/>
              <a:buChar char="n"/>
            </a:pPr>
            <a:r>
              <a:rPr lang="en-US" altLang="zh-CN" sz="2400"/>
              <a:t>How about</a:t>
            </a:r>
            <a:r>
              <a:rPr lang="en-US" altLang="zh-CN" sz="2400">
                <a:latin typeface="Times New Roman"/>
              </a:rPr>
              <a:t>…</a:t>
            </a:r>
            <a:r>
              <a:rPr lang="en-US" altLang="zh-CN" sz="2400"/>
              <a:t> mapping data to a higher-dimensional space:</a:t>
            </a:r>
          </a:p>
        </p:txBody>
      </p:sp>
      <p:sp>
        <p:nvSpPr>
          <p:cNvPr id="311305" name="Text Box 9"/>
          <p:cNvSpPr txBox="1">
            <a:spLocks noChangeArrowheads="1"/>
          </p:cNvSpPr>
          <p:nvPr/>
        </p:nvSpPr>
        <p:spPr bwMode="auto">
          <a:xfrm>
            <a:off x="3581400" y="5638800"/>
            <a:ext cx="342900" cy="366713"/>
          </a:xfrm>
          <a:prstGeom prst="rect">
            <a:avLst/>
          </a:prstGeom>
          <a:noFill/>
          <a:ln w="9525" algn="ctr">
            <a:noFill/>
            <a:miter lim="800000"/>
            <a:headEnd/>
            <a:tailEnd/>
          </a:ln>
          <a:effectLst/>
        </p:spPr>
        <p:txBody>
          <a:bodyPr>
            <a:spAutoFit/>
          </a:bodyPr>
          <a:lstStyle/>
          <a:p>
            <a:pPr algn="l">
              <a:spcBef>
                <a:spcPct val="50000"/>
              </a:spcBef>
            </a:pPr>
            <a:r>
              <a:rPr lang="en-US" altLang="zh-CN">
                <a:latin typeface="Times New Roman" pitchFamily="18" charset="0"/>
              </a:rPr>
              <a:t>0</a:t>
            </a:r>
          </a:p>
        </p:txBody>
      </p:sp>
      <p:sp>
        <p:nvSpPr>
          <p:cNvPr id="311317" name="Text Box 21"/>
          <p:cNvSpPr txBox="1">
            <a:spLocks noChangeArrowheads="1"/>
          </p:cNvSpPr>
          <p:nvPr/>
        </p:nvSpPr>
        <p:spPr bwMode="auto">
          <a:xfrm>
            <a:off x="5638800" y="5715000"/>
            <a:ext cx="457200" cy="366713"/>
          </a:xfrm>
          <a:prstGeom prst="rect">
            <a:avLst/>
          </a:prstGeom>
          <a:noFill/>
          <a:ln w="9525" algn="ctr">
            <a:noFill/>
            <a:miter lim="800000"/>
            <a:headEnd/>
            <a:tailEnd/>
          </a:ln>
          <a:effectLst/>
        </p:spPr>
        <p:txBody>
          <a:bodyPr>
            <a:spAutoFit/>
          </a:bodyPr>
          <a:lstStyle/>
          <a:p>
            <a:pPr algn="l">
              <a:spcBef>
                <a:spcPct val="50000"/>
              </a:spcBef>
            </a:pPr>
            <a:r>
              <a:rPr lang="en-US" altLang="zh-CN" i="1">
                <a:latin typeface="Times New Roman" pitchFamily="18" charset="0"/>
              </a:rPr>
              <a:t>x</a:t>
            </a:r>
            <a:endParaRPr lang="en-US" altLang="zh-CN" i="1" baseline="30000">
              <a:latin typeface="Times New Roman" pitchFamily="18" charset="0"/>
            </a:endParaRPr>
          </a:p>
        </p:txBody>
      </p:sp>
      <p:grpSp>
        <p:nvGrpSpPr>
          <p:cNvPr id="2" name="Group 22"/>
          <p:cNvGrpSpPr>
            <a:grpSpLocks/>
          </p:cNvGrpSpPr>
          <p:nvPr/>
        </p:nvGrpSpPr>
        <p:grpSpPr bwMode="auto">
          <a:xfrm>
            <a:off x="1905000" y="2895600"/>
            <a:ext cx="4286250" cy="423863"/>
            <a:chOff x="1056" y="2322"/>
            <a:chExt cx="2700" cy="267"/>
          </a:xfrm>
        </p:grpSpPr>
        <p:sp>
          <p:nvSpPr>
            <p:cNvPr id="311319" name="Line 23"/>
            <p:cNvSpPr>
              <a:spLocks noChangeShapeType="1"/>
            </p:cNvSpPr>
            <p:nvPr/>
          </p:nvSpPr>
          <p:spPr bwMode="auto">
            <a:xfrm>
              <a:off x="1056" y="2358"/>
              <a:ext cx="2496" cy="0"/>
            </a:xfrm>
            <a:prstGeom prst="line">
              <a:avLst/>
            </a:prstGeom>
            <a:noFill/>
            <a:ln w="25400">
              <a:solidFill>
                <a:schemeClr val="tx2"/>
              </a:solidFill>
              <a:round/>
              <a:headEnd/>
              <a:tailEnd type="triangle" w="med" len="med"/>
            </a:ln>
            <a:effectLst/>
          </p:spPr>
          <p:txBody>
            <a:bodyPr/>
            <a:lstStyle/>
            <a:p>
              <a:endParaRPr lang="en-US"/>
            </a:p>
          </p:txBody>
        </p:sp>
        <p:sp>
          <p:nvSpPr>
            <p:cNvPr id="311320" name="AutoShape 24"/>
            <p:cNvSpPr>
              <a:spLocks noChangeArrowheads="1"/>
            </p:cNvSpPr>
            <p:nvPr/>
          </p:nvSpPr>
          <p:spPr bwMode="auto">
            <a:xfrm>
              <a:off x="1335" y="23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21" name="Line 25"/>
            <p:cNvSpPr>
              <a:spLocks noChangeShapeType="1"/>
            </p:cNvSpPr>
            <p:nvPr/>
          </p:nvSpPr>
          <p:spPr bwMode="auto">
            <a:xfrm>
              <a:off x="2196" y="2322"/>
              <a:ext cx="0" cy="72"/>
            </a:xfrm>
            <a:prstGeom prst="line">
              <a:avLst/>
            </a:prstGeom>
            <a:noFill/>
            <a:ln w="9525">
              <a:solidFill>
                <a:schemeClr val="tx2"/>
              </a:solidFill>
              <a:round/>
              <a:headEnd/>
              <a:tailEnd/>
            </a:ln>
            <a:effectLst/>
          </p:spPr>
          <p:txBody>
            <a:bodyPr/>
            <a:lstStyle/>
            <a:p>
              <a:endParaRPr lang="en-US"/>
            </a:p>
          </p:txBody>
        </p:sp>
        <p:sp>
          <p:nvSpPr>
            <p:cNvPr id="311322" name="Text Box 26"/>
            <p:cNvSpPr txBox="1">
              <a:spLocks noChangeArrowheads="1"/>
            </p:cNvSpPr>
            <p:nvPr/>
          </p:nvSpPr>
          <p:spPr bwMode="auto">
            <a:xfrm>
              <a:off x="2106" y="2358"/>
              <a:ext cx="216" cy="231"/>
            </a:xfrm>
            <a:prstGeom prst="rect">
              <a:avLst/>
            </a:prstGeom>
            <a:noFill/>
            <a:ln w="9525" algn="ctr">
              <a:noFill/>
              <a:miter lim="800000"/>
              <a:headEnd/>
              <a:tailEnd/>
            </a:ln>
            <a:effectLst/>
          </p:spPr>
          <p:txBody>
            <a:bodyPr>
              <a:spAutoFit/>
            </a:bodyPr>
            <a:lstStyle/>
            <a:p>
              <a:pPr algn="l">
                <a:spcBef>
                  <a:spcPct val="50000"/>
                </a:spcBef>
              </a:pPr>
              <a:r>
                <a:rPr lang="en-US" altLang="zh-CN">
                  <a:latin typeface="Times New Roman" pitchFamily="18" charset="0"/>
                </a:rPr>
                <a:t>0</a:t>
              </a:r>
            </a:p>
          </p:txBody>
        </p:sp>
        <p:sp>
          <p:nvSpPr>
            <p:cNvPr id="311323" name="AutoShape 27"/>
            <p:cNvSpPr>
              <a:spLocks noChangeArrowheads="1"/>
            </p:cNvSpPr>
            <p:nvPr/>
          </p:nvSpPr>
          <p:spPr bwMode="auto">
            <a:xfrm>
              <a:off x="1563" y="2327"/>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24" name="AutoShape 28"/>
            <p:cNvSpPr>
              <a:spLocks noChangeArrowheads="1"/>
            </p:cNvSpPr>
            <p:nvPr/>
          </p:nvSpPr>
          <p:spPr bwMode="auto">
            <a:xfrm>
              <a:off x="1863" y="23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25" name="AutoShape 29"/>
            <p:cNvSpPr>
              <a:spLocks noChangeArrowheads="1"/>
            </p:cNvSpPr>
            <p:nvPr/>
          </p:nvSpPr>
          <p:spPr bwMode="auto">
            <a:xfrm>
              <a:off x="1995" y="23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26" name="AutoShape 30"/>
            <p:cNvSpPr>
              <a:spLocks noChangeArrowheads="1"/>
            </p:cNvSpPr>
            <p:nvPr/>
          </p:nvSpPr>
          <p:spPr bwMode="auto">
            <a:xfrm>
              <a:off x="2535" y="2333"/>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27" name="AutoShape 31"/>
            <p:cNvSpPr>
              <a:spLocks noChangeArrowheads="1"/>
            </p:cNvSpPr>
            <p:nvPr/>
          </p:nvSpPr>
          <p:spPr bwMode="auto">
            <a:xfrm>
              <a:off x="2679" y="2333"/>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28" name="AutoShape 32"/>
            <p:cNvSpPr>
              <a:spLocks noChangeArrowheads="1"/>
            </p:cNvSpPr>
            <p:nvPr/>
          </p:nvSpPr>
          <p:spPr bwMode="auto">
            <a:xfrm>
              <a:off x="2451" y="2333"/>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29" name="AutoShape 33"/>
            <p:cNvSpPr>
              <a:spLocks noChangeArrowheads="1"/>
            </p:cNvSpPr>
            <p:nvPr/>
          </p:nvSpPr>
          <p:spPr bwMode="auto">
            <a:xfrm>
              <a:off x="2919" y="23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30" name="AutoShape 34"/>
            <p:cNvSpPr>
              <a:spLocks noChangeArrowheads="1"/>
            </p:cNvSpPr>
            <p:nvPr/>
          </p:nvSpPr>
          <p:spPr bwMode="auto">
            <a:xfrm>
              <a:off x="3063" y="23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31" name="AutoShape 35"/>
            <p:cNvSpPr>
              <a:spLocks noChangeArrowheads="1"/>
            </p:cNvSpPr>
            <p:nvPr/>
          </p:nvSpPr>
          <p:spPr bwMode="auto">
            <a:xfrm>
              <a:off x="3375" y="2327"/>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32" name="Text Box 36"/>
            <p:cNvSpPr txBox="1">
              <a:spLocks noChangeArrowheads="1"/>
            </p:cNvSpPr>
            <p:nvPr/>
          </p:nvSpPr>
          <p:spPr bwMode="auto">
            <a:xfrm>
              <a:off x="3468" y="2322"/>
              <a:ext cx="288" cy="231"/>
            </a:xfrm>
            <a:prstGeom prst="rect">
              <a:avLst/>
            </a:prstGeom>
            <a:noFill/>
            <a:ln w="9525" algn="ctr">
              <a:noFill/>
              <a:miter lim="800000"/>
              <a:headEnd/>
              <a:tailEnd/>
            </a:ln>
            <a:effectLst/>
          </p:spPr>
          <p:txBody>
            <a:bodyPr>
              <a:spAutoFit/>
            </a:bodyPr>
            <a:lstStyle/>
            <a:p>
              <a:pPr algn="l">
                <a:spcBef>
                  <a:spcPct val="50000"/>
                </a:spcBef>
              </a:pPr>
              <a:r>
                <a:rPr lang="en-US" altLang="zh-CN" i="1">
                  <a:latin typeface="Times New Roman" pitchFamily="18" charset="0"/>
                </a:rPr>
                <a:t>x</a:t>
              </a:r>
              <a:endParaRPr lang="en-US" altLang="zh-CN" i="1" baseline="30000">
                <a:latin typeface="Times New Roman" pitchFamily="18" charset="0"/>
              </a:endParaRPr>
            </a:p>
          </p:txBody>
        </p:sp>
      </p:grpSp>
      <p:grpSp>
        <p:nvGrpSpPr>
          <p:cNvPr id="3" name="Group 37"/>
          <p:cNvGrpSpPr>
            <a:grpSpLocks/>
          </p:cNvGrpSpPr>
          <p:nvPr/>
        </p:nvGrpSpPr>
        <p:grpSpPr bwMode="auto">
          <a:xfrm>
            <a:off x="3352800" y="1600200"/>
            <a:ext cx="4324350" cy="642938"/>
            <a:chOff x="1056" y="1284"/>
            <a:chExt cx="2724" cy="405"/>
          </a:xfrm>
        </p:grpSpPr>
        <p:sp>
          <p:nvSpPr>
            <p:cNvPr id="311334" name="Line 38"/>
            <p:cNvSpPr>
              <a:spLocks noChangeShapeType="1"/>
            </p:cNvSpPr>
            <p:nvPr/>
          </p:nvSpPr>
          <p:spPr bwMode="auto">
            <a:xfrm>
              <a:off x="1056" y="1458"/>
              <a:ext cx="2496" cy="0"/>
            </a:xfrm>
            <a:prstGeom prst="line">
              <a:avLst/>
            </a:prstGeom>
            <a:noFill/>
            <a:ln w="25400">
              <a:solidFill>
                <a:schemeClr val="tx2"/>
              </a:solidFill>
              <a:round/>
              <a:headEnd/>
              <a:tailEnd type="triangle" w="med" len="med"/>
            </a:ln>
            <a:effectLst/>
          </p:spPr>
          <p:txBody>
            <a:bodyPr/>
            <a:lstStyle/>
            <a:p>
              <a:endParaRPr lang="en-US"/>
            </a:p>
          </p:txBody>
        </p:sp>
        <p:sp>
          <p:nvSpPr>
            <p:cNvPr id="311335" name="AutoShape 39"/>
            <p:cNvSpPr>
              <a:spLocks noChangeArrowheads="1"/>
            </p:cNvSpPr>
            <p:nvPr/>
          </p:nvSpPr>
          <p:spPr bwMode="auto">
            <a:xfrm>
              <a:off x="1335" y="14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36" name="Line 40"/>
            <p:cNvSpPr>
              <a:spLocks noChangeShapeType="1"/>
            </p:cNvSpPr>
            <p:nvPr/>
          </p:nvSpPr>
          <p:spPr bwMode="auto">
            <a:xfrm>
              <a:off x="2196" y="1422"/>
              <a:ext cx="0" cy="72"/>
            </a:xfrm>
            <a:prstGeom prst="line">
              <a:avLst/>
            </a:prstGeom>
            <a:noFill/>
            <a:ln w="9525">
              <a:solidFill>
                <a:schemeClr val="tx2"/>
              </a:solidFill>
              <a:round/>
              <a:headEnd/>
              <a:tailEnd/>
            </a:ln>
            <a:effectLst/>
          </p:spPr>
          <p:txBody>
            <a:bodyPr/>
            <a:lstStyle/>
            <a:p>
              <a:endParaRPr lang="en-US"/>
            </a:p>
          </p:txBody>
        </p:sp>
        <p:sp>
          <p:nvSpPr>
            <p:cNvPr id="311337" name="Text Box 41"/>
            <p:cNvSpPr txBox="1">
              <a:spLocks noChangeArrowheads="1"/>
            </p:cNvSpPr>
            <p:nvPr/>
          </p:nvSpPr>
          <p:spPr bwMode="auto">
            <a:xfrm>
              <a:off x="2106" y="1458"/>
              <a:ext cx="216" cy="231"/>
            </a:xfrm>
            <a:prstGeom prst="rect">
              <a:avLst/>
            </a:prstGeom>
            <a:noFill/>
            <a:ln w="9525" algn="ctr">
              <a:noFill/>
              <a:miter lim="800000"/>
              <a:headEnd/>
              <a:tailEnd/>
            </a:ln>
            <a:effectLst/>
          </p:spPr>
          <p:txBody>
            <a:bodyPr>
              <a:spAutoFit/>
            </a:bodyPr>
            <a:lstStyle/>
            <a:p>
              <a:pPr algn="l">
                <a:spcBef>
                  <a:spcPct val="50000"/>
                </a:spcBef>
              </a:pPr>
              <a:r>
                <a:rPr lang="en-US" altLang="zh-CN">
                  <a:latin typeface="Times New Roman" pitchFamily="18" charset="0"/>
                </a:rPr>
                <a:t>0</a:t>
              </a:r>
            </a:p>
          </p:txBody>
        </p:sp>
        <p:sp>
          <p:nvSpPr>
            <p:cNvPr id="311338" name="AutoShape 42"/>
            <p:cNvSpPr>
              <a:spLocks noChangeArrowheads="1"/>
            </p:cNvSpPr>
            <p:nvPr/>
          </p:nvSpPr>
          <p:spPr bwMode="auto">
            <a:xfrm>
              <a:off x="1563" y="1427"/>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39" name="AutoShape 43"/>
            <p:cNvSpPr>
              <a:spLocks noChangeArrowheads="1"/>
            </p:cNvSpPr>
            <p:nvPr/>
          </p:nvSpPr>
          <p:spPr bwMode="auto">
            <a:xfrm>
              <a:off x="1863" y="14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40" name="AutoShape 44"/>
            <p:cNvSpPr>
              <a:spLocks noChangeArrowheads="1"/>
            </p:cNvSpPr>
            <p:nvPr/>
          </p:nvSpPr>
          <p:spPr bwMode="auto">
            <a:xfrm>
              <a:off x="1995" y="143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41" name="AutoShape 45"/>
            <p:cNvSpPr>
              <a:spLocks noChangeArrowheads="1"/>
            </p:cNvSpPr>
            <p:nvPr/>
          </p:nvSpPr>
          <p:spPr bwMode="auto">
            <a:xfrm>
              <a:off x="2535" y="1433"/>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42" name="AutoShape 46"/>
            <p:cNvSpPr>
              <a:spLocks noChangeArrowheads="1"/>
            </p:cNvSpPr>
            <p:nvPr/>
          </p:nvSpPr>
          <p:spPr bwMode="auto">
            <a:xfrm>
              <a:off x="2679" y="1433"/>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43" name="AutoShape 47"/>
            <p:cNvSpPr>
              <a:spLocks noChangeArrowheads="1"/>
            </p:cNvSpPr>
            <p:nvPr/>
          </p:nvSpPr>
          <p:spPr bwMode="auto">
            <a:xfrm>
              <a:off x="2451" y="1433"/>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44" name="Line 48"/>
            <p:cNvSpPr>
              <a:spLocks noChangeShapeType="1"/>
            </p:cNvSpPr>
            <p:nvPr/>
          </p:nvSpPr>
          <p:spPr bwMode="auto">
            <a:xfrm>
              <a:off x="2268" y="1302"/>
              <a:ext cx="0" cy="348"/>
            </a:xfrm>
            <a:prstGeom prst="line">
              <a:avLst/>
            </a:prstGeom>
            <a:noFill/>
            <a:ln w="19050">
              <a:solidFill>
                <a:schemeClr val="tx2"/>
              </a:solidFill>
              <a:round/>
              <a:headEnd/>
              <a:tailEnd/>
            </a:ln>
            <a:effectLst/>
          </p:spPr>
          <p:txBody>
            <a:bodyPr/>
            <a:lstStyle/>
            <a:p>
              <a:endParaRPr lang="en-US"/>
            </a:p>
          </p:txBody>
        </p:sp>
        <p:sp>
          <p:nvSpPr>
            <p:cNvPr id="311345" name="Oval 49"/>
            <p:cNvSpPr>
              <a:spLocks noChangeArrowheads="1"/>
            </p:cNvSpPr>
            <p:nvPr/>
          </p:nvSpPr>
          <p:spPr bwMode="auto">
            <a:xfrm>
              <a:off x="2405" y="1393"/>
              <a:ext cx="144" cy="138"/>
            </a:xfrm>
            <a:prstGeom prst="ellipse">
              <a:avLst/>
            </a:prstGeom>
            <a:noFill/>
            <a:ln w="19050" algn="ctr">
              <a:solidFill>
                <a:srgbClr val="0000FF"/>
              </a:solidFill>
              <a:round/>
              <a:headEnd/>
              <a:tailEnd/>
            </a:ln>
            <a:effectLst/>
          </p:spPr>
          <p:txBody>
            <a:bodyPr wrap="none" anchor="ctr"/>
            <a:lstStyle/>
            <a:p>
              <a:endParaRPr lang="en-US"/>
            </a:p>
          </p:txBody>
        </p:sp>
        <p:sp>
          <p:nvSpPr>
            <p:cNvPr id="311346" name="Oval 50"/>
            <p:cNvSpPr>
              <a:spLocks noChangeArrowheads="1"/>
            </p:cNvSpPr>
            <p:nvPr/>
          </p:nvSpPr>
          <p:spPr bwMode="auto">
            <a:xfrm>
              <a:off x="1955" y="1387"/>
              <a:ext cx="144" cy="138"/>
            </a:xfrm>
            <a:prstGeom prst="ellipse">
              <a:avLst/>
            </a:prstGeom>
            <a:noFill/>
            <a:ln w="19050" algn="ctr">
              <a:solidFill>
                <a:srgbClr val="FF0000"/>
              </a:solidFill>
              <a:round/>
              <a:headEnd/>
              <a:tailEnd/>
            </a:ln>
            <a:effectLst/>
          </p:spPr>
          <p:txBody>
            <a:bodyPr wrap="none" anchor="ctr"/>
            <a:lstStyle/>
            <a:p>
              <a:endParaRPr lang="en-US"/>
            </a:p>
          </p:txBody>
        </p:sp>
        <p:sp>
          <p:nvSpPr>
            <p:cNvPr id="311347" name="Line 51"/>
            <p:cNvSpPr>
              <a:spLocks noChangeShapeType="1"/>
            </p:cNvSpPr>
            <p:nvPr/>
          </p:nvSpPr>
          <p:spPr bwMode="auto">
            <a:xfrm flipH="1" flipV="1">
              <a:off x="2475" y="1284"/>
              <a:ext cx="6" cy="377"/>
            </a:xfrm>
            <a:prstGeom prst="line">
              <a:avLst/>
            </a:prstGeom>
            <a:noFill/>
            <a:ln w="9525" cap="rnd">
              <a:solidFill>
                <a:schemeClr val="tx2"/>
              </a:solidFill>
              <a:prstDash val="sysDot"/>
              <a:round/>
              <a:headEnd/>
              <a:tailEnd/>
            </a:ln>
            <a:effectLst/>
          </p:spPr>
          <p:txBody>
            <a:bodyPr/>
            <a:lstStyle/>
            <a:p>
              <a:endParaRPr lang="en-US"/>
            </a:p>
          </p:txBody>
        </p:sp>
        <p:sp>
          <p:nvSpPr>
            <p:cNvPr id="311348" name="Line 52"/>
            <p:cNvSpPr>
              <a:spLocks noChangeShapeType="1"/>
            </p:cNvSpPr>
            <p:nvPr/>
          </p:nvSpPr>
          <p:spPr bwMode="auto">
            <a:xfrm flipH="1" flipV="1">
              <a:off x="2025" y="1284"/>
              <a:ext cx="6" cy="377"/>
            </a:xfrm>
            <a:prstGeom prst="line">
              <a:avLst/>
            </a:prstGeom>
            <a:noFill/>
            <a:ln w="9525" cap="rnd">
              <a:solidFill>
                <a:schemeClr val="tx2"/>
              </a:solidFill>
              <a:prstDash val="sysDot"/>
              <a:round/>
              <a:headEnd/>
              <a:tailEnd/>
            </a:ln>
            <a:effectLst/>
          </p:spPr>
          <p:txBody>
            <a:bodyPr/>
            <a:lstStyle/>
            <a:p>
              <a:endParaRPr lang="en-US"/>
            </a:p>
          </p:txBody>
        </p:sp>
        <p:sp>
          <p:nvSpPr>
            <p:cNvPr id="311349" name="Text Box 53"/>
            <p:cNvSpPr txBox="1">
              <a:spLocks noChangeArrowheads="1"/>
            </p:cNvSpPr>
            <p:nvPr/>
          </p:nvSpPr>
          <p:spPr bwMode="auto">
            <a:xfrm>
              <a:off x="3492" y="1410"/>
              <a:ext cx="288" cy="231"/>
            </a:xfrm>
            <a:prstGeom prst="rect">
              <a:avLst/>
            </a:prstGeom>
            <a:noFill/>
            <a:ln w="9525" algn="ctr">
              <a:noFill/>
              <a:miter lim="800000"/>
              <a:headEnd/>
              <a:tailEnd/>
            </a:ln>
            <a:effectLst/>
          </p:spPr>
          <p:txBody>
            <a:bodyPr>
              <a:spAutoFit/>
            </a:bodyPr>
            <a:lstStyle/>
            <a:p>
              <a:pPr algn="l">
                <a:spcBef>
                  <a:spcPct val="50000"/>
                </a:spcBef>
              </a:pPr>
              <a:r>
                <a:rPr lang="en-US" altLang="zh-CN" i="1">
                  <a:latin typeface="Times New Roman" pitchFamily="18" charset="0"/>
                </a:rPr>
                <a:t>x</a:t>
              </a:r>
              <a:endParaRPr lang="en-US" altLang="zh-CN" i="1" baseline="30000">
                <a:latin typeface="Times New Roman" pitchFamily="18" charset="0"/>
              </a:endParaRPr>
            </a:p>
          </p:txBody>
        </p:sp>
      </p:grpSp>
      <p:grpSp>
        <p:nvGrpSpPr>
          <p:cNvPr id="4" name="Group 60"/>
          <p:cNvGrpSpPr>
            <a:grpSpLocks/>
          </p:cNvGrpSpPr>
          <p:nvPr/>
        </p:nvGrpSpPr>
        <p:grpSpPr bwMode="auto">
          <a:xfrm>
            <a:off x="1905000" y="3962400"/>
            <a:ext cx="4352925" cy="1827213"/>
            <a:chOff x="1122" y="2874"/>
            <a:chExt cx="2742" cy="1151"/>
          </a:xfrm>
        </p:grpSpPr>
        <p:sp>
          <p:nvSpPr>
            <p:cNvPr id="311302" name="Line 6"/>
            <p:cNvSpPr>
              <a:spLocks noChangeShapeType="1"/>
            </p:cNvSpPr>
            <p:nvPr/>
          </p:nvSpPr>
          <p:spPr bwMode="auto">
            <a:xfrm>
              <a:off x="1122" y="3900"/>
              <a:ext cx="2496" cy="0"/>
            </a:xfrm>
            <a:prstGeom prst="line">
              <a:avLst/>
            </a:prstGeom>
            <a:noFill/>
            <a:ln w="25400">
              <a:solidFill>
                <a:schemeClr val="tx2"/>
              </a:solidFill>
              <a:round/>
              <a:headEnd/>
              <a:tailEnd type="triangle" w="med" len="med"/>
            </a:ln>
            <a:effectLst/>
          </p:spPr>
          <p:txBody>
            <a:bodyPr/>
            <a:lstStyle/>
            <a:p>
              <a:endParaRPr lang="en-US"/>
            </a:p>
          </p:txBody>
        </p:sp>
        <p:sp>
          <p:nvSpPr>
            <p:cNvPr id="311303" name="AutoShape 7"/>
            <p:cNvSpPr>
              <a:spLocks noChangeArrowheads="1"/>
            </p:cNvSpPr>
            <p:nvPr/>
          </p:nvSpPr>
          <p:spPr bwMode="auto">
            <a:xfrm>
              <a:off x="1437" y="3257"/>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04" name="Line 8"/>
            <p:cNvSpPr>
              <a:spLocks noChangeShapeType="1"/>
            </p:cNvSpPr>
            <p:nvPr/>
          </p:nvSpPr>
          <p:spPr bwMode="auto">
            <a:xfrm>
              <a:off x="2262" y="3864"/>
              <a:ext cx="0" cy="72"/>
            </a:xfrm>
            <a:prstGeom prst="line">
              <a:avLst/>
            </a:prstGeom>
            <a:noFill/>
            <a:ln w="9525">
              <a:solidFill>
                <a:schemeClr val="tx2"/>
              </a:solidFill>
              <a:round/>
              <a:headEnd/>
              <a:tailEnd/>
            </a:ln>
            <a:effectLst/>
          </p:spPr>
          <p:txBody>
            <a:bodyPr/>
            <a:lstStyle/>
            <a:p>
              <a:endParaRPr lang="en-US"/>
            </a:p>
          </p:txBody>
        </p:sp>
        <p:sp>
          <p:nvSpPr>
            <p:cNvPr id="311306" name="AutoShape 10"/>
            <p:cNvSpPr>
              <a:spLocks noChangeArrowheads="1"/>
            </p:cNvSpPr>
            <p:nvPr/>
          </p:nvSpPr>
          <p:spPr bwMode="auto">
            <a:xfrm>
              <a:off x="1641" y="3557"/>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07" name="AutoShape 11"/>
            <p:cNvSpPr>
              <a:spLocks noChangeArrowheads="1"/>
            </p:cNvSpPr>
            <p:nvPr/>
          </p:nvSpPr>
          <p:spPr bwMode="auto">
            <a:xfrm>
              <a:off x="1929" y="3755"/>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08" name="AutoShape 12"/>
            <p:cNvSpPr>
              <a:spLocks noChangeArrowheads="1"/>
            </p:cNvSpPr>
            <p:nvPr/>
          </p:nvSpPr>
          <p:spPr bwMode="auto">
            <a:xfrm>
              <a:off x="2073" y="3815"/>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09" name="AutoShape 13"/>
            <p:cNvSpPr>
              <a:spLocks noChangeArrowheads="1"/>
            </p:cNvSpPr>
            <p:nvPr/>
          </p:nvSpPr>
          <p:spPr bwMode="auto">
            <a:xfrm>
              <a:off x="2601" y="3761"/>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10" name="AutoShape 14"/>
            <p:cNvSpPr>
              <a:spLocks noChangeArrowheads="1"/>
            </p:cNvSpPr>
            <p:nvPr/>
          </p:nvSpPr>
          <p:spPr bwMode="auto">
            <a:xfrm>
              <a:off x="2745" y="3647"/>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11" name="AutoShape 15"/>
            <p:cNvSpPr>
              <a:spLocks noChangeArrowheads="1"/>
            </p:cNvSpPr>
            <p:nvPr/>
          </p:nvSpPr>
          <p:spPr bwMode="auto">
            <a:xfrm>
              <a:off x="2481" y="3803"/>
              <a:ext cx="56" cy="56"/>
            </a:xfrm>
            <a:prstGeom prst="octagon">
              <a:avLst>
                <a:gd name="adj" fmla="val 29287"/>
              </a:avLst>
            </a:prstGeom>
            <a:solidFill>
              <a:srgbClr val="0000FF"/>
            </a:solidFill>
            <a:ln w="9525" algn="ctr">
              <a:solidFill>
                <a:srgbClr val="0000FF"/>
              </a:solidFill>
              <a:miter lim="800000"/>
              <a:headEnd/>
              <a:tailEnd/>
            </a:ln>
            <a:effectLst/>
          </p:spPr>
          <p:txBody>
            <a:bodyPr wrap="none" anchor="ctr"/>
            <a:lstStyle/>
            <a:p>
              <a:endParaRPr lang="en-US"/>
            </a:p>
          </p:txBody>
        </p:sp>
        <p:sp>
          <p:nvSpPr>
            <p:cNvPr id="311312" name="AutoShape 16"/>
            <p:cNvSpPr>
              <a:spLocks noChangeArrowheads="1"/>
            </p:cNvSpPr>
            <p:nvPr/>
          </p:nvSpPr>
          <p:spPr bwMode="auto">
            <a:xfrm>
              <a:off x="2985" y="3443"/>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13" name="AutoShape 17"/>
            <p:cNvSpPr>
              <a:spLocks noChangeArrowheads="1"/>
            </p:cNvSpPr>
            <p:nvPr/>
          </p:nvSpPr>
          <p:spPr bwMode="auto">
            <a:xfrm>
              <a:off x="3165" y="3251"/>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14" name="AutoShape 18"/>
            <p:cNvSpPr>
              <a:spLocks noChangeArrowheads="1"/>
            </p:cNvSpPr>
            <p:nvPr/>
          </p:nvSpPr>
          <p:spPr bwMode="auto">
            <a:xfrm>
              <a:off x="3429" y="2921"/>
              <a:ext cx="56" cy="56"/>
            </a:xfrm>
            <a:prstGeom prst="octagon">
              <a:avLst>
                <a:gd name="adj" fmla="val 29287"/>
              </a:avLst>
            </a:prstGeom>
            <a:solidFill>
              <a:srgbClr val="FF0000"/>
            </a:solidFill>
            <a:ln w="9525" algn="ctr">
              <a:solidFill>
                <a:srgbClr val="FF0000"/>
              </a:solidFill>
              <a:miter lim="800000"/>
              <a:headEnd/>
              <a:tailEnd/>
            </a:ln>
            <a:effectLst/>
          </p:spPr>
          <p:txBody>
            <a:bodyPr wrap="none" anchor="ctr"/>
            <a:lstStyle/>
            <a:p>
              <a:endParaRPr lang="en-US"/>
            </a:p>
          </p:txBody>
        </p:sp>
        <p:sp>
          <p:nvSpPr>
            <p:cNvPr id="311315" name="Line 19"/>
            <p:cNvSpPr>
              <a:spLocks noChangeShapeType="1"/>
            </p:cNvSpPr>
            <p:nvPr/>
          </p:nvSpPr>
          <p:spPr bwMode="auto">
            <a:xfrm flipV="1">
              <a:off x="2262" y="2988"/>
              <a:ext cx="0" cy="936"/>
            </a:xfrm>
            <a:prstGeom prst="line">
              <a:avLst/>
            </a:prstGeom>
            <a:noFill/>
            <a:ln w="25400">
              <a:solidFill>
                <a:schemeClr val="tx2"/>
              </a:solidFill>
              <a:round/>
              <a:headEnd/>
              <a:tailEnd type="triangle" w="med" len="med"/>
            </a:ln>
            <a:effectLst/>
          </p:spPr>
          <p:txBody>
            <a:bodyPr/>
            <a:lstStyle/>
            <a:p>
              <a:endParaRPr lang="en-US"/>
            </a:p>
          </p:txBody>
        </p:sp>
        <p:sp>
          <p:nvSpPr>
            <p:cNvPr id="311316" name="Text Box 20"/>
            <p:cNvSpPr txBox="1">
              <a:spLocks noChangeArrowheads="1"/>
            </p:cNvSpPr>
            <p:nvPr/>
          </p:nvSpPr>
          <p:spPr bwMode="auto">
            <a:xfrm>
              <a:off x="2262" y="2874"/>
              <a:ext cx="288" cy="231"/>
            </a:xfrm>
            <a:prstGeom prst="rect">
              <a:avLst/>
            </a:prstGeom>
            <a:noFill/>
            <a:ln w="9525" algn="ctr">
              <a:noFill/>
              <a:miter lim="800000"/>
              <a:headEnd/>
              <a:tailEnd/>
            </a:ln>
            <a:effectLst/>
          </p:spPr>
          <p:txBody>
            <a:bodyPr>
              <a:spAutoFit/>
            </a:bodyPr>
            <a:lstStyle/>
            <a:p>
              <a:pPr algn="l">
                <a:spcBef>
                  <a:spcPct val="50000"/>
                </a:spcBef>
              </a:pPr>
              <a:r>
                <a:rPr lang="en-US" altLang="zh-CN" i="1">
                  <a:latin typeface="Times New Roman" pitchFamily="18" charset="0"/>
                </a:rPr>
                <a:t>x</a:t>
              </a:r>
              <a:r>
                <a:rPr lang="en-US" altLang="zh-CN" i="1" baseline="30000">
                  <a:latin typeface="Times New Roman" pitchFamily="18" charset="0"/>
                </a:rPr>
                <a:t>2</a:t>
              </a:r>
            </a:p>
          </p:txBody>
        </p:sp>
        <p:sp>
          <p:nvSpPr>
            <p:cNvPr id="311350" name="Line 54"/>
            <p:cNvSpPr>
              <a:spLocks noChangeShapeType="1"/>
            </p:cNvSpPr>
            <p:nvPr/>
          </p:nvSpPr>
          <p:spPr bwMode="auto">
            <a:xfrm flipV="1">
              <a:off x="1860" y="3180"/>
              <a:ext cx="2004" cy="816"/>
            </a:xfrm>
            <a:prstGeom prst="line">
              <a:avLst/>
            </a:prstGeom>
            <a:noFill/>
            <a:ln w="19050">
              <a:solidFill>
                <a:schemeClr val="tx2"/>
              </a:solidFill>
              <a:round/>
              <a:headEnd/>
              <a:tailEnd/>
            </a:ln>
            <a:effectLst/>
          </p:spPr>
          <p:txBody>
            <a:bodyPr/>
            <a:lstStyle/>
            <a:p>
              <a:endParaRPr lang="en-US"/>
            </a:p>
          </p:txBody>
        </p:sp>
        <p:sp>
          <p:nvSpPr>
            <p:cNvPr id="311351" name="Line 55"/>
            <p:cNvSpPr>
              <a:spLocks noChangeShapeType="1"/>
            </p:cNvSpPr>
            <p:nvPr/>
          </p:nvSpPr>
          <p:spPr bwMode="auto">
            <a:xfrm flipV="1">
              <a:off x="1857" y="3132"/>
              <a:ext cx="1962" cy="809"/>
            </a:xfrm>
            <a:prstGeom prst="line">
              <a:avLst/>
            </a:prstGeom>
            <a:noFill/>
            <a:ln w="9525" cap="rnd">
              <a:solidFill>
                <a:schemeClr val="tx2"/>
              </a:solidFill>
              <a:prstDash val="sysDot"/>
              <a:round/>
              <a:headEnd/>
              <a:tailEnd/>
            </a:ln>
            <a:effectLst/>
          </p:spPr>
          <p:txBody>
            <a:bodyPr/>
            <a:lstStyle/>
            <a:p>
              <a:endParaRPr lang="en-US"/>
            </a:p>
          </p:txBody>
        </p:sp>
        <p:sp>
          <p:nvSpPr>
            <p:cNvPr id="311352" name="Line 56"/>
            <p:cNvSpPr>
              <a:spLocks noChangeShapeType="1"/>
            </p:cNvSpPr>
            <p:nvPr/>
          </p:nvSpPr>
          <p:spPr bwMode="auto">
            <a:xfrm flipV="1">
              <a:off x="1929" y="3240"/>
              <a:ext cx="1926" cy="785"/>
            </a:xfrm>
            <a:prstGeom prst="line">
              <a:avLst/>
            </a:prstGeom>
            <a:noFill/>
            <a:ln w="9525" cap="rnd">
              <a:solidFill>
                <a:schemeClr val="tx2"/>
              </a:solidFill>
              <a:prstDash val="sysDot"/>
              <a:round/>
              <a:headEnd/>
              <a:tailEnd/>
            </a:ln>
            <a:effectLst/>
          </p:spPr>
          <p:txBody>
            <a:bodyPr/>
            <a:lstStyle/>
            <a:p>
              <a:endParaRPr lang="en-US"/>
            </a:p>
          </p:txBody>
        </p:sp>
        <p:sp>
          <p:nvSpPr>
            <p:cNvPr id="311353" name="Oval 57"/>
            <p:cNvSpPr>
              <a:spLocks noChangeArrowheads="1"/>
            </p:cNvSpPr>
            <p:nvPr/>
          </p:nvSpPr>
          <p:spPr bwMode="auto">
            <a:xfrm>
              <a:off x="2945" y="3403"/>
              <a:ext cx="144" cy="138"/>
            </a:xfrm>
            <a:prstGeom prst="ellipse">
              <a:avLst/>
            </a:prstGeom>
            <a:noFill/>
            <a:ln w="19050" algn="ctr">
              <a:solidFill>
                <a:srgbClr val="FF0000"/>
              </a:solidFill>
              <a:round/>
              <a:headEnd/>
              <a:tailEnd/>
            </a:ln>
            <a:effectLst/>
          </p:spPr>
          <p:txBody>
            <a:bodyPr wrap="none" anchor="ctr"/>
            <a:lstStyle/>
            <a:p>
              <a:endParaRPr lang="en-US"/>
            </a:p>
          </p:txBody>
        </p:sp>
        <p:sp>
          <p:nvSpPr>
            <p:cNvPr id="311354" name="Oval 58"/>
            <p:cNvSpPr>
              <a:spLocks noChangeArrowheads="1"/>
            </p:cNvSpPr>
            <p:nvPr/>
          </p:nvSpPr>
          <p:spPr bwMode="auto">
            <a:xfrm>
              <a:off x="2699" y="3601"/>
              <a:ext cx="144" cy="138"/>
            </a:xfrm>
            <a:prstGeom prst="ellipse">
              <a:avLst/>
            </a:prstGeom>
            <a:noFill/>
            <a:ln w="19050" algn="ctr">
              <a:solidFill>
                <a:srgbClr val="0000FF"/>
              </a:solidFill>
              <a:round/>
              <a:headEnd/>
              <a:tailEnd/>
            </a:ln>
            <a:effectLst/>
          </p:spPr>
          <p:txBody>
            <a:bodyPr wrap="none" anchor="ctr"/>
            <a:lstStyle/>
            <a:p>
              <a:endParaRPr lang="en-US"/>
            </a:p>
          </p:txBody>
        </p:sp>
        <p:sp>
          <p:nvSpPr>
            <p:cNvPr id="311355" name="Oval 59"/>
            <p:cNvSpPr>
              <a:spLocks noChangeArrowheads="1"/>
            </p:cNvSpPr>
            <p:nvPr/>
          </p:nvSpPr>
          <p:spPr bwMode="auto">
            <a:xfrm>
              <a:off x="2027" y="3775"/>
              <a:ext cx="144" cy="138"/>
            </a:xfrm>
            <a:prstGeom prst="ellipse">
              <a:avLst/>
            </a:prstGeom>
            <a:noFill/>
            <a:ln w="19050" algn="ctr">
              <a:solidFill>
                <a:srgbClr val="FF0000"/>
              </a:solidFill>
              <a:round/>
              <a:headEnd/>
              <a:tailEnd/>
            </a:ln>
            <a:effectLst/>
          </p:spPr>
          <p:txBody>
            <a:bodyPr wrap="none" anchor="ctr"/>
            <a:lstStyle/>
            <a:p>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14400" y="1447800"/>
            <a:ext cx="7623175" cy="1752600"/>
          </a:xfrm>
        </p:spPr>
        <p:txBody>
          <a:bodyPr/>
          <a:lstStyle/>
          <a:p>
            <a:pPr algn="ctr" eaLnBrk="1" hangingPunct="1"/>
            <a:r>
              <a:rPr lang="en-US" sz="4600" b="1" dirty="0"/>
              <a:t>Neural Network</a:t>
            </a:r>
          </a:p>
        </p:txBody>
      </p:sp>
      <p:graphicFrame>
        <p:nvGraphicFramePr>
          <p:cNvPr id="2" name="Object 1">
            <a:extLst>
              <a:ext uri="{FF2B5EF4-FFF2-40B4-BE49-F238E27FC236}">
                <a16:creationId xmlns:a16="http://schemas.microsoft.com/office/drawing/2014/main" id="{D44FFC5C-E1E7-4072-BD5E-209B24ED27A7}"/>
              </a:ext>
            </a:extLst>
          </p:cNvPr>
          <p:cNvGraphicFramePr>
            <a:graphicFrameLocks noChangeAspect="1"/>
          </p:cNvGraphicFramePr>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2" name="Object 1">
                        <a:extLst>
                          <a:ext uri="{FF2B5EF4-FFF2-40B4-BE49-F238E27FC236}">
                            <a16:creationId xmlns:a16="http://schemas.microsoft.com/office/drawing/2014/main" id="{D44FFC5C-E1E7-4072-BD5E-209B24ED27A7}"/>
                          </a:ext>
                        </a:extLst>
                      </p:cNvPr>
                      <p:cNvPicPr/>
                      <p:nvPr/>
                    </p:nvPicPr>
                    <p:blipFill>
                      <a:blip r:embed="rId4"/>
                      <a:stretch>
                        <a:fillRect/>
                      </a:stretch>
                    </p:blipFill>
                    <p:spPr>
                      <a:xfrm>
                        <a:off x="4927600" y="2667000"/>
                        <a:ext cx="914400" cy="198438"/>
                      </a:xfrm>
                      <a:prstGeom prst="rect">
                        <a:avLst/>
                      </a:prstGeom>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lide Number Placeholder 5"/>
          <p:cNvSpPr>
            <a:spLocks noGrp="1"/>
          </p:cNvSpPr>
          <p:nvPr>
            <p:ph type="sldNum" sz="quarter" idx="12"/>
          </p:nvPr>
        </p:nvSpPr>
        <p:spPr>
          <a:noFill/>
        </p:spPr>
        <p:txBody>
          <a:bodyPr/>
          <a:lstStyle/>
          <a:p>
            <a:fld id="{2A6979E0-9A5B-DF4B-BDBC-4A8AF2BD7A65}" type="slidenum">
              <a:rPr lang="en-US" smtClean="0">
                <a:latin typeface="Times New Roman" pitchFamily="1" charset="0"/>
              </a:rPr>
              <a:pPr/>
              <a:t>31</a:t>
            </a:fld>
            <a:endParaRPr lang="en-US">
              <a:latin typeface="Times New Roman" pitchFamily="1" charset="0"/>
            </a:endParaRPr>
          </a:p>
        </p:txBody>
      </p:sp>
      <p:sp>
        <p:nvSpPr>
          <p:cNvPr id="186370" name="Rectangle 2"/>
          <p:cNvSpPr>
            <a:spLocks noGrp="1" noChangeArrowheads="1"/>
          </p:cNvSpPr>
          <p:nvPr>
            <p:ph type="title"/>
          </p:nvPr>
        </p:nvSpPr>
        <p:spPr/>
        <p:txBody>
          <a:bodyPr/>
          <a:lstStyle/>
          <a:p>
            <a:pPr eaLnBrk="1" hangingPunct="1">
              <a:defRPr/>
            </a:pPr>
            <a:r>
              <a:rPr lang="en-US" b="1" dirty="0">
                <a:ea typeface="+mj-ea"/>
                <a:cs typeface="+mj-cs"/>
              </a:rPr>
              <a:t>Perceptron Learning Algorithm</a:t>
            </a:r>
          </a:p>
        </p:txBody>
      </p:sp>
      <p:sp>
        <p:nvSpPr>
          <p:cNvPr id="27653" name="Rectangle 3"/>
          <p:cNvSpPr>
            <a:spLocks noGrp="1" noChangeArrowheads="1"/>
          </p:cNvSpPr>
          <p:nvPr>
            <p:ph type="body" idx="1"/>
          </p:nvPr>
        </p:nvSpPr>
        <p:spPr/>
        <p:txBody>
          <a:bodyPr/>
          <a:lstStyle/>
          <a:p>
            <a:pPr eaLnBrk="1" hangingPunct="1"/>
            <a:r>
              <a:rPr lang="en-US">
                <a:ea typeface="ＭＳ Ｐゴシック" pitchFamily="1" charset="-128"/>
                <a:cs typeface="ＭＳ Ｐゴシック" pitchFamily="1" charset="-128"/>
              </a:rPr>
              <a:t>First neural network learning model in the 1960’s</a:t>
            </a:r>
          </a:p>
          <a:p>
            <a:pPr eaLnBrk="1" hangingPunct="1"/>
            <a:r>
              <a:rPr lang="en-US">
                <a:ea typeface="ＭＳ Ｐゴシック" pitchFamily="1" charset="-128"/>
                <a:cs typeface="ＭＳ Ｐゴシック" pitchFamily="1" charset="-128"/>
              </a:rPr>
              <a:t>Simple and limited (single layer models)</a:t>
            </a:r>
          </a:p>
          <a:p>
            <a:pPr eaLnBrk="1" hangingPunct="1"/>
            <a:r>
              <a:rPr lang="en-US">
                <a:ea typeface="ＭＳ Ｐゴシック" pitchFamily="1" charset="-128"/>
                <a:cs typeface="ＭＳ Ｐゴシック" pitchFamily="1" charset="-128"/>
              </a:rPr>
              <a:t>Basic concepts are similar for multi-layer models so this is a good learning tool</a:t>
            </a:r>
          </a:p>
          <a:p>
            <a:pPr eaLnBrk="1" hangingPunct="1"/>
            <a:r>
              <a:rPr lang="en-US">
                <a:ea typeface="ＭＳ Ｐゴシック" pitchFamily="1" charset="-128"/>
                <a:cs typeface="ＭＳ Ｐゴシック" pitchFamily="1" charset="-128"/>
              </a:rPr>
              <a:t>Still used in many current applications (modems, etc.)</a:t>
            </a:r>
          </a:p>
        </p:txBody>
      </p:sp>
    </p:spTree>
    <p:extLst>
      <p:ext uri="{BB962C8B-B14F-4D97-AF65-F5344CB8AC3E}">
        <p14:creationId xmlns:p14="http://schemas.microsoft.com/office/powerpoint/2010/main" val="591051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Slide Number Placeholder 5"/>
          <p:cNvSpPr>
            <a:spLocks noGrp="1"/>
          </p:cNvSpPr>
          <p:nvPr>
            <p:ph type="sldNum" sz="quarter" idx="12"/>
          </p:nvPr>
        </p:nvSpPr>
        <p:spPr>
          <a:noFill/>
        </p:spPr>
        <p:txBody>
          <a:bodyPr/>
          <a:lstStyle/>
          <a:p>
            <a:fld id="{A168040A-EA3D-6E4A-A1C2-10B892982BF3}" type="slidenum">
              <a:rPr lang="en-US">
                <a:latin typeface="Times New Roman" charset="0"/>
              </a:rPr>
              <a:pPr/>
              <a:t>32</a:t>
            </a:fld>
            <a:endParaRPr lang="en-US">
              <a:latin typeface="Times New Roman" charset="0"/>
            </a:endParaRPr>
          </a:p>
        </p:txBody>
      </p:sp>
      <p:sp>
        <p:nvSpPr>
          <p:cNvPr id="48134" name="Rectangle 53"/>
          <p:cNvSpPr>
            <a:spLocks noChangeArrowheads="1"/>
          </p:cNvSpPr>
          <p:nvPr/>
        </p:nvSpPr>
        <p:spPr bwMode="auto">
          <a:xfrm>
            <a:off x="3632200" y="2054225"/>
            <a:ext cx="685800" cy="414338"/>
          </a:xfrm>
          <a:prstGeom prst="rect">
            <a:avLst/>
          </a:prstGeom>
          <a:solidFill>
            <a:schemeClr val="bg1"/>
          </a:solidFill>
          <a:ln w="9525">
            <a:solidFill>
              <a:schemeClr val="tx1"/>
            </a:solidFill>
            <a:miter lim="800000"/>
            <a:headEnd/>
            <a:tailEnd/>
          </a:ln>
        </p:spPr>
        <p:txBody>
          <a:bodyPr wrap="none" anchor="ctr">
            <a:prstTxWarp prst="textNoShape">
              <a:avLst/>
            </a:prstTxWarp>
          </a:bodyPr>
          <a:lstStyle/>
          <a:p>
            <a:endParaRPr lang="en-US" b="0"/>
          </a:p>
        </p:txBody>
      </p:sp>
      <p:sp>
        <p:nvSpPr>
          <p:cNvPr id="43010" name="Rectangle 2"/>
          <p:cNvSpPr>
            <a:spLocks noGrp="1" noChangeArrowheads="1"/>
          </p:cNvSpPr>
          <p:nvPr>
            <p:ph type="title"/>
          </p:nvPr>
        </p:nvSpPr>
        <p:spPr/>
        <p:txBody>
          <a:bodyPr/>
          <a:lstStyle/>
          <a:p>
            <a:pPr>
              <a:defRPr/>
            </a:pPr>
            <a:r>
              <a:rPr lang="en-US" b="1" dirty="0"/>
              <a:t>Perceptron Node – Threshold Logic Unit</a:t>
            </a:r>
          </a:p>
        </p:txBody>
      </p:sp>
      <p:sp>
        <p:nvSpPr>
          <p:cNvPr id="48136" name="Rectangle 5"/>
          <p:cNvSpPr>
            <a:spLocks noChangeArrowheads="1"/>
          </p:cNvSpPr>
          <p:nvPr/>
        </p:nvSpPr>
        <p:spPr bwMode="auto">
          <a:xfrm>
            <a:off x="2266950" y="1790700"/>
            <a:ext cx="9144000" cy="0"/>
          </a:xfrm>
          <a:prstGeom prst="rect">
            <a:avLst/>
          </a:prstGeom>
          <a:noFill/>
          <a:ln w="9525">
            <a:noFill/>
            <a:miter lim="800000"/>
            <a:headEnd/>
            <a:tailEnd/>
          </a:ln>
        </p:spPr>
        <p:txBody>
          <a:bodyPr>
            <a:prstTxWarp prst="textNoShape">
              <a:avLst/>
            </a:prstTxWarp>
            <a:spAutoFit/>
          </a:bodyPr>
          <a:lstStyle/>
          <a:p>
            <a:endParaRPr lang="en-US"/>
          </a:p>
        </p:txBody>
      </p:sp>
      <p:sp>
        <p:nvSpPr>
          <p:cNvPr id="48137" name="Oval 52"/>
          <p:cNvSpPr>
            <a:spLocks noChangeArrowheads="1"/>
          </p:cNvSpPr>
          <p:nvPr/>
        </p:nvSpPr>
        <p:spPr bwMode="auto">
          <a:xfrm>
            <a:off x="5156200" y="2444750"/>
            <a:ext cx="990600" cy="990600"/>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48138" name="Line 56"/>
          <p:cNvSpPr>
            <a:spLocks noChangeShapeType="1"/>
          </p:cNvSpPr>
          <p:nvPr/>
        </p:nvSpPr>
        <p:spPr bwMode="auto">
          <a:xfrm>
            <a:off x="4318000" y="2265363"/>
            <a:ext cx="868363" cy="481012"/>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48139" name="Line 57"/>
          <p:cNvSpPr>
            <a:spLocks noChangeShapeType="1"/>
          </p:cNvSpPr>
          <p:nvPr/>
        </p:nvSpPr>
        <p:spPr bwMode="auto">
          <a:xfrm>
            <a:off x="4318000" y="2901950"/>
            <a:ext cx="836613" cy="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48140" name="Line 58"/>
          <p:cNvSpPr>
            <a:spLocks noChangeShapeType="1"/>
          </p:cNvSpPr>
          <p:nvPr/>
        </p:nvSpPr>
        <p:spPr bwMode="auto">
          <a:xfrm flipV="1">
            <a:off x="4318000" y="3149600"/>
            <a:ext cx="882650" cy="45720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48141" name="Line 62"/>
          <p:cNvSpPr>
            <a:spLocks noChangeShapeType="1"/>
          </p:cNvSpPr>
          <p:nvPr/>
        </p:nvSpPr>
        <p:spPr bwMode="auto">
          <a:xfrm>
            <a:off x="2641600" y="2265363"/>
            <a:ext cx="990600" cy="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48142" name="Line 63"/>
          <p:cNvSpPr>
            <a:spLocks noChangeShapeType="1"/>
          </p:cNvSpPr>
          <p:nvPr/>
        </p:nvSpPr>
        <p:spPr bwMode="auto">
          <a:xfrm>
            <a:off x="2641600" y="2901950"/>
            <a:ext cx="990600" cy="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48143" name="Line 64"/>
          <p:cNvSpPr>
            <a:spLocks noChangeShapeType="1"/>
          </p:cNvSpPr>
          <p:nvPr/>
        </p:nvSpPr>
        <p:spPr bwMode="auto">
          <a:xfrm>
            <a:off x="2641600" y="3606800"/>
            <a:ext cx="990600" cy="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48144" name="Text Box 68"/>
          <p:cNvSpPr txBox="1">
            <a:spLocks noChangeArrowheads="1"/>
          </p:cNvSpPr>
          <p:nvPr/>
        </p:nvSpPr>
        <p:spPr bwMode="auto">
          <a:xfrm>
            <a:off x="2266950" y="2054225"/>
            <a:ext cx="414338" cy="400050"/>
          </a:xfrm>
          <a:prstGeom prst="rect">
            <a:avLst/>
          </a:prstGeom>
          <a:noFill/>
          <a:ln w="9525">
            <a:noFill/>
            <a:miter lim="800000"/>
            <a:headEnd/>
            <a:tailEnd/>
          </a:ln>
        </p:spPr>
        <p:txBody>
          <a:bodyPr wrap="none">
            <a:prstTxWarp prst="textNoShape">
              <a:avLst/>
            </a:prstTxWarp>
            <a:spAutoFit/>
          </a:bodyPr>
          <a:lstStyle/>
          <a:p>
            <a:r>
              <a:rPr lang="en-US" sz="2000" b="0" i="1"/>
              <a:t>x</a:t>
            </a:r>
            <a:r>
              <a:rPr lang="en-US" sz="2000" b="0" baseline="-25000"/>
              <a:t>1</a:t>
            </a:r>
            <a:endParaRPr lang="en-US" sz="2000" b="0"/>
          </a:p>
        </p:txBody>
      </p:sp>
      <p:sp>
        <p:nvSpPr>
          <p:cNvPr id="48145" name="Text Box 69"/>
          <p:cNvSpPr txBox="1">
            <a:spLocks noChangeArrowheads="1"/>
          </p:cNvSpPr>
          <p:nvPr/>
        </p:nvSpPr>
        <p:spPr bwMode="auto">
          <a:xfrm>
            <a:off x="2266950" y="3411538"/>
            <a:ext cx="419100" cy="400050"/>
          </a:xfrm>
          <a:prstGeom prst="rect">
            <a:avLst/>
          </a:prstGeom>
          <a:noFill/>
          <a:ln w="9525">
            <a:noFill/>
            <a:miter lim="800000"/>
            <a:headEnd/>
            <a:tailEnd/>
          </a:ln>
        </p:spPr>
        <p:txBody>
          <a:bodyPr wrap="none">
            <a:prstTxWarp prst="textNoShape">
              <a:avLst/>
            </a:prstTxWarp>
            <a:spAutoFit/>
          </a:bodyPr>
          <a:lstStyle/>
          <a:p>
            <a:r>
              <a:rPr lang="en-US" sz="2000" b="0" i="1"/>
              <a:t>x</a:t>
            </a:r>
            <a:r>
              <a:rPr lang="en-US" sz="2000" b="0" i="1" baseline="-25000"/>
              <a:t>n</a:t>
            </a:r>
            <a:endParaRPr lang="en-US" sz="2000" b="0"/>
          </a:p>
        </p:txBody>
      </p:sp>
      <p:sp>
        <p:nvSpPr>
          <p:cNvPr id="48146" name="Text Box 70"/>
          <p:cNvSpPr txBox="1">
            <a:spLocks noChangeArrowheads="1"/>
          </p:cNvSpPr>
          <p:nvPr/>
        </p:nvSpPr>
        <p:spPr bwMode="auto">
          <a:xfrm>
            <a:off x="2266950" y="2693988"/>
            <a:ext cx="414338" cy="400050"/>
          </a:xfrm>
          <a:prstGeom prst="rect">
            <a:avLst/>
          </a:prstGeom>
          <a:noFill/>
          <a:ln w="9525">
            <a:noFill/>
            <a:miter lim="800000"/>
            <a:headEnd/>
            <a:tailEnd/>
          </a:ln>
        </p:spPr>
        <p:txBody>
          <a:bodyPr wrap="none">
            <a:prstTxWarp prst="textNoShape">
              <a:avLst/>
            </a:prstTxWarp>
            <a:spAutoFit/>
          </a:bodyPr>
          <a:lstStyle/>
          <a:p>
            <a:r>
              <a:rPr lang="en-US" sz="2000" b="0" i="1"/>
              <a:t>x</a:t>
            </a:r>
            <a:r>
              <a:rPr lang="en-US" sz="2000" b="0" baseline="-25000"/>
              <a:t>2</a:t>
            </a:r>
            <a:endParaRPr lang="en-US" sz="2000" b="0"/>
          </a:p>
        </p:txBody>
      </p:sp>
      <p:sp>
        <p:nvSpPr>
          <p:cNvPr id="48147" name="Text Box 71"/>
          <p:cNvSpPr txBox="1">
            <a:spLocks noChangeArrowheads="1"/>
          </p:cNvSpPr>
          <p:nvPr/>
        </p:nvSpPr>
        <p:spPr bwMode="auto">
          <a:xfrm>
            <a:off x="3784600" y="2087737"/>
            <a:ext cx="425450" cy="369332"/>
          </a:xfrm>
          <a:prstGeom prst="rect">
            <a:avLst/>
          </a:prstGeom>
          <a:solidFill>
            <a:schemeClr val="bg1"/>
          </a:solidFill>
          <a:ln w="9525">
            <a:noFill/>
            <a:miter lim="800000"/>
            <a:headEnd/>
            <a:tailEnd/>
          </a:ln>
        </p:spPr>
        <p:txBody>
          <a:bodyPr wrap="square">
            <a:prstTxWarp prst="textNoShape">
              <a:avLst/>
            </a:prstTxWarp>
            <a:spAutoFit/>
          </a:bodyPr>
          <a:lstStyle/>
          <a:p>
            <a:r>
              <a:rPr lang="en-US" sz="1800" b="0" i="1" dirty="0"/>
              <a:t>w</a:t>
            </a:r>
            <a:r>
              <a:rPr lang="en-US" sz="1800" b="0" baseline="-25000" dirty="0"/>
              <a:t>1</a:t>
            </a:r>
            <a:endParaRPr lang="en-US" sz="1800" b="0" dirty="0"/>
          </a:p>
        </p:txBody>
      </p:sp>
      <p:sp>
        <p:nvSpPr>
          <p:cNvPr id="48148" name="Rectangle 76"/>
          <p:cNvSpPr>
            <a:spLocks noChangeArrowheads="1"/>
          </p:cNvSpPr>
          <p:nvPr/>
        </p:nvSpPr>
        <p:spPr bwMode="auto">
          <a:xfrm>
            <a:off x="3632200" y="2693988"/>
            <a:ext cx="685800" cy="414337"/>
          </a:xfrm>
          <a:prstGeom prst="rect">
            <a:avLst/>
          </a:prstGeom>
          <a:solidFill>
            <a:schemeClr val="bg1"/>
          </a:solidFill>
          <a:ln w="9525">
            <a:solidFill>
              <a:schemeClr val="tx1"/>
            </a:solidFill>
            <a:miter lim="800000"/>
            <a:headEnd/>
            <a:tailEnd/>
          </a:ln>
        </p:spPr>
        <p:txBody>
          <a:bodyPr wrap="none" anchor="ctr">
            <a:prstTxWarp prst="textNoShape">
              <a:avLst/>
            </a:prstTxWarp>
          </a:bodyPr>
          <a:lstStyle/>
          <a:p>
            <a:endParaRPr lang="en-US" b="0"/>
          </a:p>
        </p:txBody>
      </p:sp>
      <p:sp>
        <p:nvSpPr>
          <p:cNvPr id="48149" name="Text Box 77"/>
          <p:cNvSpPr txBox="1">
            <a:spLocks noChangeArrowheads="1"/>
          </p:cNvSpPr>
          <p:nvPr/>
        </p:nvSpPr>
        <p:spPr bwMode="auto">
          <a:xfrm>
            <a:off x="3784600" y="2717800"/>
            <a:ext cx="425450" cy="366713"/>
          </a:xfrm>
          <a:prstGeom prst="rect">
            <a:avLst/>
          </a:prstGeom>
          <a:solidFill>
            <a:schemeClr val="bg1"/>
          </a:solidFill>
          <a:ln w="9525">
            <a:noFill/>
            <a:miter lim="800000"/>
            <a:headEnd/>
            <a:tailEnd/>
          </a:ln>
        </p:spPr>
        <p:txBody>
          <a:bodyPr>
            <a:prstTxWarp prst="textNoShape">
              <a:avLst/>
            </a:prstTxWarp>
            <a:spAutoFit/>
          </a:bodyPr>
          <a:lstStyle/>
          <a:p>
            <a:r>
              <a:rPr lang="en-US" sz="1800" b="0" i="1"/>
              <a:t>w</a:t>
            </a:r>
            <a:r>
              <a:rPr lang="en-US" sz="1800" b="0" baseline="-25000"/>
              <a:t>2</a:t>
            </a:r>
            <a:endParaRPr lang="en-US" sz="1800" b="0"/>
          </a:p>
        </p:txBody>
      </p:sp>
      <p:sp>
        <p:nvSpPr>
          <p:cNvPr id="48150" name="Rectangle 78"/>
          <p:cNvSpPr>
            <a:spLocks noChangeArrowheads="1"/>
          </p:cNvSpPr>
          <p:nvPr/>
        </p:nvSpPr>
        <p:spPr bwMode="auto">
          <a:xfrm>
            <a:off x="3632200" y="3435350"/>
            <a:ext cx="685800" cy="414338"/>
          </a:xfrm>
          <a:prstGeom prst="rect">
            <a:avLst/>
          </a:prstGeom>
          <a:solidFill>
            <a:schemeClr val="bg1"/>
          </a:solidFill>
          <a:ln w="9525">
            <a:solidFill>
              <a:schemeClr val="tx1"/>
            </a:solidFill>
            <a:miter lim="800000"/>
            <a:headEnd/>
            <a:tailEnd/>
          </a:ln>
        </p:spPr>
        <p:txBody>
          <a:bodyPr wrap="none" anchor="ctr">
            <a:prstTxWarp prst="textNoShape">
              <a:avLst/>
            </a:prstTxWarp>
          </a:bodyPr>
          <a:lstStyle/>
          <a:p>
            <a:endParaRPr lang="en-US" b="0"/>
          </a:p>
        </p:txBody>
      </p:sp>
      <p:sp>
        <p:nvSpPr>
          <p:cNvPr id="48151" name="Text Box 79"/>
          <p:cNvSpPr txBox="1">
            <a:spLocks noChangeArrowheads="1"/>
          </p:cNvSpPr>
          <p:nvPr/>
        </p:nvSpPr>
        <p:spPr bwMode="auto">
          <a:xfrm>
            <a:off x="3784600" y="3452813"/>
            <a:ext cx="425450" cy="368300"/>
          </a:xfrm>
          <a:prstGeom prst="rect">
            <a:avLst/>
          </a:prstGeom>
          <a:solidFill>
            <a:schemeClr val="bg1"/>
          </a:solidFill>
          <a:ln w="9525">
            <a:noFill/>
            <a:miter lim="800000"/>
            <a:headEnd/>
            <a:tailEnd/>
          </a:ln>
        </p:spPr>
        <p:txBody>
          <a:bodyPr>
            <a:prstTxWarp prst="textNoShape">
              <a:avLst/>
            </a:prstTxWarp>
            <a:spAutoFit/>
          </a:bodyPr>
          <a:lstStyle/>
          <a:p>
            <a:r>
              <a:rPr lang="en-US" sz="1800" b="0" i="1"/>
              <a:t>w</a:t>
            </a:r>
            <a:r>
              <a:rPr lang="en-US" sz="1800" b="0" i="1" baseline="-25000"/>
              <a:t>n</a:t>
            </a:r>
            <a:endParaRPr lang="en-US" sz="1800" b="0"/>
          </a:p>
        </p:txBody>
      </p:sp>
      <p:sp>
        <p:nvSpPr>
          <p:cNvPr id="48152" name="Line 80"/>
          <p:cNvSpPr>
            <a:spLocks noChangeShapeType="1"/>
          </p:cNvSpPr>
          <p:nvPr/>
        </p:nvSpPr>
        <p:spPr bwMode="auto">
          <a:xfrm>
            <a:off x="6146800" y="2901950"/>
            <a:ext cx="457200" cy="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48153" name="Text Box 81"/>
          <p:cNvSpPr txBox="1">
            <a:spLocks noChangeArrowheads="1"/>
          </p:cNvSpPr>
          <p:nvPr/>
        </p:nvSpPr>
        <p:spPr bwMode="auto">
          <a:xfrm>
            <a:off x="6664325" y="2693988"/>
            <a:ext cx="293688" cy="369887"/>
          </a:xfrm>
          <a:prstGeom prst="rect">
            <a:avLst/>
          </a:prstGeom>
          <a:noFill/>
          <a:ln w="9525">
            <a:noFill/>
            <a:miter lim="800000"/>
            <a:headEnd/>
            <a:tailEnd/>
          </a:ln>
        </p:spPr>
        <p:txBody>
          <a:bodyPr wrap="none">
            <a:prstTxWarp prst="textNoShape">
              <a:avLst/>
            </a:prstTxWarp>
            <a:spAutoFit/>
          </a:bodyPr>
          <a:lstStyle/>
          <a:p>
            <a:r>
              <a:rPr lang="en-US" sz="1800" b="0" i="1"/>
              <a:t>z</a:t>
            </a:r>
            <a:endParaRPr lang="en-US" sz="1800" b="0"/>
          </a:p>
        </p:txBody>
      </p:sp>
      <p:graphicFrame>
        <p:nvGraphicFramePr>
          <p:cNvPr id="48130" name="Object 2"/>
          <p:cNvGraphicFramePr>
            <a:graphicFrameLocks noChangeAspect="1"/>
          </p:cNvGraphicFramePr>
          <p:nvPr/>
        </p:nvGraphicFramePr>
        <p:xfrm>
          <a:off x="5583238" y="2786063"/>
          <a:ext cx="188912" cy="231775"/>
        </p:xfrm>
        <a:graphic>
          <a:graphicData uri="http://schemas.openxmlformats.org/presentationml/2006/ole">
            <mc:AlternateContent xmlns:mc="http://schemas.openxmlformats.org/markup-compatibility/2006">
              <mc:Choice xmlns:v="urn:schemas-microsoft-com:vml" Requires="v">
                <p:oleObj name="Equation" r:id="rId3" imgW="114300" imgH="139700" progId="Equation.3">
                  <p:embed/>
                </p:oleObj>
              </mc:Choice>
              <mc:Fallback>
                <p:oleObj name="Equation" r:id="rId3" imgW="114300" imgH="139700" progId="Equation.3">
                  <p:embed/>
                  <p:pic>
                    <p:nvPicPr>
                      <p:cNvPr id="4813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3238" y="2786063"/>
                        <a:ext cx="188912" cy="23177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8131" name="Object 3"/>
          <p:cNvGraphicFramePr>
            <a:graphicFrameLocks noChangeAspect="1"/>
          </p:cNvGraphicFramePr>
          <p:nvPr/>
        </p:nvGraphicFramePr>
        <p:xfrm>
          <a:off x="5562600" y="4460875"/>
          <a:ext cx="2522537" cy="1517650"/>
        </p:xfrm>
        <a:graphic>
          <a:graphicData uri="http://schemas.openxmlformats.org/presentationml/2006/ole">
            <mc:AlternateContent xmlns:mc="http://schemas.openxmlformats.org/markup-compatibility/2006">
              <mc:Choice xmlns:v="urn:schemas-microsoft-com:vml" Requires="v">
                <p:oleObj name="Equation" r:id="rId5" imgW="1498997" imgH="889397" progId="Equation.3">
                  <p:embed/>
                </p:oleObj>
              </mc:Choice>
              <mc:Fallback>
                <p:oleObj name="Equation" r:id="rId5" imgW="1498997" imgH="889397" progId="Equation.3">
                  <p:embed/>
                  <p:pic>
                    <p:nvPicPr>
                      <p:cNvPr id="4813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4460875"/>
                        <a:ext cx="2522537" cy="1517650"/>
                      </a:xfrm>
                      <a:prstGeom prst="rect">
                        <a:avLst/>
                      </a:prstGeom>
                      <a:solidFill>
                        <a:schemeClr val="accent1"/>
                      </a:solidFill>
                      <a:ln>
                        <a:noFill/>
                      </a:ln>
                      <a:extLst>
                        <a:ext uri="{91240B29-F687-4f45-9708-019B960494DF}">
                          <a14:hiddenLine xmlns="" xmlns:a14="http://schemas.microsoft.com/office/drawing/2010/main" w="9525">
                            <a:solidFill>
                              <a:schemeClr val="bg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14468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1426" name="Object 2">
            <a:extLst>
              <a:ext uri="{FF2B5EF4-FFF2-40B4-BE49-F238E27FC236}">
                <a16:creationId xmlns:a16="http://schemas.microsoft.com/office/drawing/2014/main" id="{1779FF60-8705-4E11-BAE4-1765BE159888}"/>
              </a:ext>
            </a:extLst>
          </p:cNvPr>
          <p:cNvGraphicFramePr>
            <a:graphicFrameLocks noGrp="1" noChangeAspect="1"/>
          </p:cNvGraphicFramePr>
          <p:nvPr>
            <p:ph sz="quarter" idx="1"/>
            <p:extLst>
              <p:ext uri="{D42A27DB-BD31-4B8C-83A1-F6EECF244321}">
                <p14:modId xmlns:p14="http://schemas.microsoft.com/office/powerpoint/2010/main" val="3700447736"/>
              </p:ext>
            </p:extLst>
          </p:nvPr>
        </p:nvGraphicFramePr>
        <p:xfrm>
          <a:off x="2223746" y="1635800"/>
          <a:ext cx="534988" cy="587375"/>
        </p:xfrm>
        <a:graphic>
          <a:graphicData uri="http://schemas.openxmlformats.org/presentationml/2006/ole">
            <mc:AlternateContent xmlns:mc="http://schemas.openxmlformats.org/markup-compatibility/2006">
              <mc:Choice xmlns:v="urn:schemas-microsoft-com:vml" Requires="v">
                <p:oleObj name="Equation" r:id="rId2" imgW="203040" imgH="228600" progId="Equation.3">
                  <p:embed/>
                </p:oleObj>
              </mc:Choice>
              <mc:Fallback>
                <p:oleObj name="Equation" r:id="rId2" imgW="203040" imgH="228600" progId="Equation.3">
                  <p:embed/>
                  <p:pic>
                    <p:nvPicPr>
                      <p:cNvPr id="231426" name="Object 2">
                        <a:extLst>
                          <a:ext uri="{FF2B5EF4-FFF2-40B4-BE49-F238E27FC236}">
                            <a16:creationId xmlns:a16="http://schemas.microsoft.com/office/drawing/2014/main" id="{1779FF60-8705-4E11-BAE4-1765BE159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3746" y="1635800"/>
                        <a:ext cx="534988" cy="5873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27" name="Object 3">
            <a:extLst>
              <a:ext uri="{FF2B5EF4-FFF2-40B4-BE49-F238E27FC236}">
                <a16:creationId xmlns:a16="http://schemas.microsoft.com/office/drawing/2014/main" id="{78CE9732-8142-4174-A6C3-CD544D9EBB54}"/>
              </a:ext>
            </a:extLst>
          </p:cNvPr>
          <p:cNvGraphicFramePr>
            <a:graphicFrameLocks noGrp="1" noChangeAspect="1"/>
          </p:cNvGraphicFramePr>
          <p:nvPr>
            <p:ph sz="quarter" idx="2"/>
            <p:extLst>
              <p:ext uri="{D42A27DB-BD31-4B8C-83A1-F6EECF244321}">
                <p14:modId xmlns:p14="http://schemas.microsoft.com/office/powerpoint/2010/main" val="846560787"/>
              </p:ext>
            </p:extLst>
          </p:nvPr>
        </p:nvGraphicFramePr>
        <p:xfrm>
          <a:off x="5070893" y="2874652"/>
          <a:ext cx="423862" cy="423862"/>
        </p:xfrm>
        <a:graphic>
          <a:graphicData uri="http://schemas.openxmlformats.org/presentationml/2006/ole">
            <mc:AlternateContent xmlns:mc="http://schemas.openxmlformats.org/markup-compatibility/2006">
              <mc:Choice xmlns:v="urn:schemas-microsoft-com:vml" Requires="v">
                <p:oleObj name="Equation" r:id="rId4" imgW="241200" imgH="241200" progId="Equation.3">
                  <p:embed/>
                </p:oleObj>
              </mc:Choice>
              <mc:Fallback>
                <p:oleObj name="Equation" r:id="rId4" imgW="241200" imgH="241200" progId="Equation.3">
                  <p:embed/>
                  <p:pic>
                    <p:nvPicPr>
                      <p:cNvPr id="231427" name="Object 3">
                        <a:extLst>
                          <a:ext uri="{FF2B5EF4-FFF2-40B4-BE49-F238E27FC236}">
                            <a16:creationId xmlns:a16="http://schemas.microsoft.com/office/drawing/2014/main" id="{78CE9732-8142-4174-A6C3-CD544D9EBB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0893" y="2874652"/>
                        <a:ext cx="423862" cy="4238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1428" name="Group 4">
            <a:extLst>
              <a:ext uri="{FF2B5EF4-FFF2-40B4-BE49-F238E27FC236}">
                <a16:creationId xmlns:a16="http://schemas.microsoft.com/office/drawing/2014/main" id="{DAD4D3AB-81C9-4F96-BDFE-BCB165E33EF0}"/>
              </a:ext>
            </a:extLst>
          </p:cNvPr>
          <p:cNvGrpSpPr>
            <a:grpSpLocks/>
          </p:cNvGrpSpPr>
          <p:nvPr/>
        </p:nvGrpSpPr>
        <p:grpSpPr bwMode="auto">
          <a:xfrm>
            <a:off x="2438400" y="1447800"/>
            <a:ext cx="2811463" cy="4648200"/>
            <a:chOff x="1536" y="1072"/>
            <a:chExt cx="2148" cy="3117"/>
          </a:xfrm>
        </p:grpSpPr>
        <p:sp>
          <p:nvSpPr>
            <p:cNvPr id="231429" name="Oval 5">
              <a:extLst>
                <a:ext uri="{FF2B5EF4-FFF2-40B4-BE49-F238E27FC236}">
                  <a16:creationId xmlns:a16="http://schemas.microsoft.com/office/drawing/2014/main" id="{C3824D87-1946-4F68-8328-3CDE1BA5B1D4}"/>
                </a:ext>
              </a:extLst>
            </p:cNvPr>
            <p:cNvSpPr>
              <a:spLocks noChangeArrowheads="1"/>
            </p:cNvSpPr>
            <p:nvPr/>
          </p:nvSpPr>
          <p:spPr bwMode="auto">
            <a:xfrm>
              <a:off x="1730" y="1625"/>
              <a:ext cx="340" cy="31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0" name="Oval 6">
              <a:extLst>
                <a:ext uri="{FF2B5EF4-FFF2-40B4-BE49-F238E27FC236}">
                  <a16:creationId xmlns:a16="http://schemas.microsoft.com/office/drawing/2014/main" id="{865B5997-9A40-4C8B-B7B7-BA3746649AF1}"/>
                </a:ext>
              </a:extLst>
            </p:cNvPr>
            <p:cNvSpPr>
              <a:spLocks noChangeArrowheads="1"/>
            </p:cNvSpPr>
            <p:nvPr/>
          </p:nvSpPr>
          <p:spPr bwMode="auto">
            <a:xfrm>
              <a:off x="2430" y="1642"/>
              <a:ext cx="340" cy="31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1" name="Oval 7">
              <a:extLst>
                <a:ext uri="{FF2B5EF4-FFF2-40B4-BE49-F238E27FC236}">
                  <a16:creationId xmlns:a16="http://schemas.microsoft.com/office/drawing/2014/main" id="{0237C71C-76B4-45C6-8514-67685437D611}"/>
                </a:ext>
              </a:extLst>
            </p:cNvPr>
            <p:cNvSpPr>
              <a:spLocks noChangeArrowheads="1"/>
            </p:cNvSpPr>
            <p:nvPr/>
          </p:nvSpPr>
          <p:spPr bwMode="auto">
            <a:xfrm>
              <a:off x="3094" y="1642"/>
              <a:ext cx="340" cy="31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2" name="Oval 8">
              <a:extLst>
                <a:ext uri="{FF2B5EF4-FFF2-40B4-BE49-F238E27FC236}">
                  <a16:creationId xmlns:a16="http://schemas.microsoft.com/office/drawing/2014/main" id="{6B7DFE0C-929E-40E1-8203-518A4B9DEE35}"/>
                </a:ext>
              </a:extLst>
            </p:cNvPr>
            <p:cNvSpPr>
              <a:spLocks noChangeArrowheads="1"/>
            </p:cNvSpPr>
            <p:nvPr/>
          </p:nvSpPr>
          <p:spPr bwMode="auto">
            <a:xfrm>
              <a:off x="2449" y="2432"/>
              <a:ext cx="339" cy="316"/>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3" name="Oval 9">
              <a:extLst>
                <a:ext uri="{FF2B5EF4-FFF2-40B4-BE49-F238E27FC236}">
                  <a16:creationId xmlns:a16="http://schemas.microsoft.com/office/drawing/2014/main" id="{AEAB354D-77E9-4470-82D0-C954F08B5D7F}"/>
                </a:ext>
              </a:extLst>
            </p:cNvPr>
            <p:cNvSpPr>
              <a:spLocks noChangeArrowheads="1"/>
            </p:cNvSpPr>
            <p:nvPr/>
          </p:nvSpPr>
          <p:spPr bwMode="auto">
            <a:xfrm>
              <a:off x="3344" y="2432"/>
              <a:ext cx="340" cy="316"/>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4" name="Oval 10">
              <a:extLst>
                <a:ext uri="{FF2B5EF4-FFF2-40B4-BE49-F238E27FC236}">
                  <a16:creationId xmlns:a16="http://schemas.microsoft.com/office/drawing/2014/main" id="{E08D1957-C2DC-424E-84CE-4F712B56695B}"/>
                </a:ext>
              </a:extLst>
            </p:cNvPr>
            <p:cNvSpPr>
              <a:spLocks noChangeArrowheads="1"/>
            </p:cNvSpPr>
            <p:nvPr/>
          </p:nvSpPr>
          <p:spPr bwMode="auto">
            <a:xfrm>
              <a:off x="1536" y="2448"/>
              <a:ext cx="340" cy="316"/>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5" name="Oval 11">
              <a:extLst>
                <a:ext uri="{FF2B5EF4-FFF2-40B4-BE49-F238E27FC236}">
                  <a16:creationId xmlns:a16="http://schemas.microsoft.com/office/drawing/2014/main" id="{97D113C8-A83C-41AD-9068-4D4EBC355AD9}"/>
                </a:ext>
              </a:extLst>
            </p:cNvPr>
            <p:cNvSpPr>
              <a:spLocks noChangeArrowheads="1"/>
            </p:cNvSpPr>
            <p:nvPr/>
          </p:nvSpPr>
          <p:spPr bwMode="auto">
            <a:xfrm>
              <a:off x="2055" y="3288"/>
              <a:ext cx="339" cy="31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6" name="Oval 12">
              <a:extLst>
                <a:ext uri="{FF2B5EF4-FFF2-40B4-BE49-F238E27FC236}">
                  <a16:creationId xmlns:a16="http://schemas.microsoft.com/office/drawing/2014/main" id="{50C82861-7D49-4175-809E-618FAC5951AD}"/>
                </a:ext>
              </a:extLst>
            </p:cNvPr>
            <p:cNvSpPr>
              <a:spLocks noChangeArrowheads="1"/>
            </p:cNvSpPr>
            <p:nvPr/>
          </p:nvSpPr>
          <p:spPr bwMode="auto">
            <a:xfrm>
              <a:off x="2897" y="3269"/>
              <a:ext cx="339" cy="31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7" name="Line 13">
              <a:extLst>
                <a:ext uri="{FF2B5EF4-FFF2-40B4-BE49-F238E27FC236}">
                  <a16:creationId xmlns:a16="http://schemas.microsoft.com/office/drawing/2014/main" id="{05A3827A-743B-4F2A-93CF-94AB17122B18}"/>
                </a:ext>
              </a:extLst>
            </p:cNvPr>
            <p:cNvSpPr>
              <a:spLocks noChangeShapeType="1"/>
            </p:cNvSpPr>
            <p:nvPr/>
          </p:nvSpPr>
          <p:spPr bwMode="auto">
            <a:xfrm flipH="1" flipV="1">
              <a:off x="1768" y="2781"/>
              <a:ext cx="320" cy="537"/>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8" name="Line 14">
              <a:extLst>
                <a:ext uri="{FF2B5EF4-FFF2-40B4-BE49-F238E27FC236}">
                  <a16:creationId xmlns:a16="http://schemas.microsoft.com/office/drawing/2014/main" id="{089D4CFF-0C87-4A00-A049-9153ABEC8F51}"/>
                </a:ext>
              </a:extLst>
            </p:cNvPr>
            <p:cNvSpPr>
              <a:spLocks noChangeShapeType="1"/>
            </p:cNvSpPr>
            <p:nvPr/>
          </p:nvSpPr>
          <p:spPr bwMode="auto">
            <a:xfrm flipV="1">
              <a:off x="2217" y="2732"/>
              <a:ext cx="303" cy="551"/>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9" name="Line 15">
              <a:extLst>
                <a:ext uri="{FF2B5EF4-FFF2-40B4-BE49-F238E27FC236}">
                  <a16:creationId xmlns:a16="http://schemas.microsoft.com/office/drawing/2014/main" id="{09526B46-B05A-497F-9668-B426B78CBDF6}"/>
                </a:ext>
              </a:extLst>
            </p:cNvPr>
            <p:cNvSpPr>
              <a:spLocks noChangeShapeType="1"/>
            </p:cNvSpPr>
            <p:nvPr/>
          </p:nvSpPr>
          <p:spPr bwMode="auto">
            <a:xfrm flipV="1">
              <a:off x="2358" y="2715"/>
              <a:ext cx="1022" cy="61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0" name="Line 16">
              <a:extLst>
                <a:ext uri="{FF2B5EF4-FFF2-40B4-BE49-F238E27FC236}">
                  <a16:creationId xmlns:a16="http://schemas.microsoft.com/office/drawing/2014/main" id="{1DBD50B1-765B-4039-BD5B-72DDCC569EF6}"/>
                </a:ext>
              </a:extLst>
            </p:cNvPr>
            <p:cNvSpPr>
              <a:spLocks noChangeShapeType="1"/>
            </p:cNvSpPr>
            <p:nvPr/>
          </p:nvSpPr>
          <p:spPr bwMode="auto">
            <a:xfrm flipH="1" flipV="1">
              <a:off x="1875" y="2714"/>
              <a:ext cx="1020" cy="586"/>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1" name="Line 17">
              <a:extLst>
                <a:ext uri="{FF2B5EF4-FFF2-40B4-BE49-F238E27FC236}">
                  <a16:creationId xmlns:a16="http://schemas.microsoft.com/office/drawing/2014/main" id="{E30EC86F-6BE7-49B4-B9A1-36C9834ED2AA}"/>
                </a:ext>
              </a:extLst>
            </p:cNvPr>
            <p:cNvSpPr>
              <a:spLocks noChangeShapeType="1"/>
            </p:cNvSpPr>
            <p:nvPr/>
          </p:nvSpPr>
          <p:spPr bwMode="auto">
            <a:xfrm flipH="1" flipV="1">
              <a:off x="2735" y="2765"/>
              <a:ext cx="322" cy="50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2" name="Line 18">
              <a:extLst>
                <a:ext uri="{FF2B5EF4-FFF2-40B4-BE49-F238E27FC236}">
                  <a16:creationId xmlns:a16="http://schemas.microsoft.com/office/drawing/2014/main" id="{3112DAF3-A979-4B56-B303-449C96DF688E}"/>
                </a:ext>
              </a:extLst>
            </p:cNvPr>
            <p:cNvSpPr>
              <a:spLocks noChangeShapeType="1"/>
            </p:cNvSpPr>
            <p:nvPr/>
          </p:nvSpPr>
          <p:spPr bwMode="auto">
            <a:xfrm flipV="1">
              <a:off x="3219" y="2799"/>
              <a:ext cx="287" cy="46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3" name="Line 19">
              <a:extLst>
                <a:ext uri="{FF2B5EF4-FFF2-40B4-BE49-F238E27FC236}">
                  <a16:creationId xmlns:a16="http://schemas.microsoft.com/office/drawing/2014/main" id="{228DB5DC-B064-4ED5-BA95-8313C072E2BA}"/>
                </a:ext>
              </a:extLst>
            </p:cNvPr>
            <p:cNvSpPr>
              <a:spLocks noChangeShapeType="1"/>
            </p:cNvSpPr>
            <p:nvPr/>
          </p:nvSpPr>
          <p:spPr bwMode="auto">
            <a:xfrm flipV="1">
              <a:off x="1606" y="1943"/>
              <a:ext cx="268" cy="51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4" name="Line 20">
              <a:extLst>
                <a:ext uri="{FF2B5EF4-FFF2-40B4-BE49-F238E27FC236}">
                  <a16:creationId xmlns:a16="http://schemas.microsoft.com/office/drawing/2014/main" id="{7E768688-EB5E-4FF8-825B-3258B74CB023}"/>
                </a:ext>
              </a:extLst>
            </p:cNvPr>
            <p:cNvSpPr>
              <a:spLocks noChangeShapeType="1"/>
            </p:cNvSpPr>
            <p:nvPr/>
          </p:nvSpPr>
          <p:spPr bwMode="auto">
            <a:xfrm flipV="1">
              <a:off x="1767" y="1940"/>
              <a:ext cx="787" cy="5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5" name="Line 21">
              <a:extLst>
                <a:ext uri="{FF2B5EF4-FFF2-40B4-BE49-F238E27FC236}">
                  <a16:creationId xmlns:a16="http://schemas.microsoft.com/office/drawing/2014/main" id="{E222ACC3-709D-4C74-B96B-95BC9137F18A}"/>
                </a:ext>
              </a:extLst>
            </p:cNvPr>
            <p:cNvSpPr>
              <a:spLocks noChangeShapeType="1"/>
            </p:cNvSpPr>
            <p:nvPr/>
          </p:nvSpPr>
          <p:spPr bwMode="auto">
            <a:xfrm flipV="1">
              <a:off x="1858" y="1959"/>
              <a:ext cx="1380" cy="50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6" name="Line 22">
              <a:extLst>
                <a:ext uri="{FF2B5EF4-FFF2-40B4-BE49-F238E27FC236}">
                  <a16:creationId xmlns:a16="http://schemas.microsoft.com/office/drawing/2014/main" id="{75ED24BF-881F-4323-94F6-64B716C36954}"/>
                </a:ext>
              </a:extLst>
            </p:cNvPr>
            <p:cNvSpPr>
              <a:spLocks noChangeShapeType="1"/>
            </p:cNvSpPr>
            <p:nvPr/>
          </p:nvSpPr>
          <p:spPr bwMode="auto">
            <a:xfrm flipH="1" flipV="1">
              <a:off x="2017" y="1905"/>
              <a:ext cx="1342" cy="572"/>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7" name="Line 23">
              <a:extLst>
                <a:ext uri="{FF2B5EF4-FFF2-40B4-BE49-F238E27FC236}">
                  <a16:creationId xmlns:a16="http://schemas.microsoft.com/office/drawing/2014/main" id="{AC4F848D-7E9D-4BCE-BB51-51AF918F11A7}"/>
                </a:ext>
              </a:extLst>
            </p:cNvPr>
            <p:cNvSpPr>
              <a:spLocks noChangeShapeType="1"/>
            </p:cNvSpPr>
            <p:nvPr/>
          </p:nvSpPr>
          <p:spPr bwMode="auto">
            <a:xfrm flipH="1" flipV="1">
              <a:off x="3341" y="1940"/>
              <a:ext cx="197" cy="50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8" name="Line 24">
              <a:extLst>
                <a:ext uri="{FF2B5EF4-FFF2-40B4-BE49-F238E27FC236}">
                  <a16:creationId xmlns:a16="http://schemas.microsoft.com/office/drawing/2014/main" id="{FE6B9CFD-DFE0-40D2-8486-223DF321195C}"/>
                </a:ext>
              </a:extLst>
            </p:cNvPr>
            <p:cNvSpPr>
              <a:spLocks noChangeShapeType="1"/>
            </p:cNvSpPr>
            <p:nvPr/>
          </p:nvSpPr>
          <p:spPr bwMode="auto">
            <a:xfrm flipH="1" flipV="1">
              <a:off x="2679" y="1990"/>
              <a:ext cx="734" cy="453"/>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9" name="Line 25">
              <a:extLst>
                <a:ext uri="{FF2B5EF4-FFF2-40B4-BE49-F238E27FC236}">
                  <a16:creationId xmlns:a16="http://schemas.microsoft.com/office/drawing/2014/main" id="{40E59D28-2F90-468C-9349-8E172D39BB53}"/>
                </a:ext>
              </a:extLst>
            </p:cNvPr>
            <p:cNvSpPr>
              <a:spLocks noChangeShapeType="1"/>
            </p:cNvSpPr>
            <p:nvPr/>
          </p:nvSpPr>
          <p:spPr bwMode="auto">
            <a:xfrm flipH="1" flipV="1">
              <a:off x="1965" y="1960"/>
              <a:ext cx="537" cy="46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0" name="Line 26">
              <a:extLst>
                <a:ext uri="{FF2B5EF4-FFF2-40B4-BE49-F238E27FC236}">
                  <a16:creationId xmlns:a16="http://schemas.microsoft.com/office/drawing/2014/main" id="{1CE154E6-6B87-4EB5-81B8-A873B2DA019A}"/>
                </a:ext>
              </a:extLst>
            </p:cNvPr>
            <p:cNvSpPr>
              <a:spLocks noChangeShapeType="1"/>
            </p:cNvSpPr>
            <p:nvPr/>
          </p:nvSpPr>
          <p:spPr bwMode="auto">
            <a:xfrm flipV="1">
              <a:off x="2610" y="1977"/>
              <a:ext cx="0" cy="434"/>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1" name="Line 27">
              <a:extLst>
                <a:ext uri="{FF2B5EF4-FFF2-40B4-BE49-F238E27FC236}">
                  <a16:creationId xmlns:a16="http://schemas.microsoft.com/office/drawing/2014/main" id="{479E154F-9AC3-42AF-812F-8EFA326C2B0C}"/>
                </a:ext>
              </a:extLst>
            </p:cNvPr>
            <p:cNvSpPr>
              <a:spLocks noChangeShapeType="1"/>
            </p:cNvSpPr>
            <p:nvPr/>
          </p:nvSpPr>
          <p:spPr bwMode="auto">
            <a:xfrm flipV="1">
              <a:off x="2736" y="2011"/>
              <a:ext cx="501" cy="451"/>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2" name="Line 28">
              <a:extLst>
                <a:ext uri="{FF2B5EF4-FFF2-40B4-BE49-F238E27FC236}">
                  <a16:creationId xmlns:a16="http://schemas.microsoft.com/office/drawing/2014/main" id="{F5D2D0F0-330F-4FF7-963B-1C5A6FFB82FD}"/>
                </a:ext>
              </a:extLst>
            </p:cNvPr>
            <p:cNvSpPr>
              <a:spLocks noChangeShapeType="1"/>
            </p:cNvSpPr>
            <p:nvPr/>
          </p:nvSpPr>
          <p:spPr bwMode="auto">
            <a:xfrm flipV="1">
              <a:off x="2179" y="3604"/>
              <a:ext cx="0" cy="569"/>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3" name="Line 29">
              <a:extLst>
                <a:ext uri="{FF2B5EF4-FFF2-40B4-BE49-F238E27FC236}">
                  <a16:creationId xmlns:a16="http://schemas.microsoft.com/office/drawing/2014/main" id="{1EB0787A-8D38-4025-8002-7E80F4CFF8A0}"/>
                </a:ext>
              </a:extLst>
            </p:cNvPr>
            <p:cNvSpPr>
              <a:spLocks noChangeShapeType="1"/>
            </p:cNvSpPr>
            <p:nvPr/>
          </p:nvSpPr>
          <p:spPr bwMode="auto">
            <a:xfrm flipV="1">
              <a:off x="3075" y="3621"/>
              <a:ext cx="0" cy="56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4" name="Line 30">
              <a:extLst>
                <a:ext uri="{FF2B5EF4-FFF2-40B4-BE49-F238E27FC236}">
                  <a16:creationId xmlns:a16="http://schemas.microsoft.com/office/drawing/2014/main" id="{22AB6AEB-2B78-4309-A257-FB150925E81B}"/>
                </a:ext>
              </a:extLst>
            </p:cNvPr>
            <p:cNvSpPr>
              <a:spLocks noChangeShapeType="1"/>
            </p:cNvSpPr>
            <p:nvPr/>
          </p:nvSpPr>
          <p:spPr bwMode="auto">
            <a:xfrm flipV="1">
              <a:off x="1875" y="1088"/>
              <a:ext cx="0" cy="56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5" name="Line 31">
              <a:extLst>
                <a:ext uri="{FF2B5EF4-FFF2-40B4-BE49-F238E27FC236}">
                  <a16:creationId xmlns:a16="http://schemas.microsoft.com/office/drawing/2014/main" id="{86229521-14D1-4DC0-935C-7AA5D06AFB60}"/>
                </a:ext>
              </a:extLst>
            </p:cNvPr>
            <p:cNvSpPr>
              <a:spLocks noChangeShapeType="1"/>
            </p:cNvSpPr>
            <p:nvPr/>
          </p:nvSpPr>
          <p:spPr bwMode="auto">
            <a:xfrm flipV="1">
              <a:off x="2591" y="1072"/>
              <a:ext cx="0" cy="56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6" name="Line 32">
              <a:extLst>
                <a:ext uri="{FF2B5EF4-FFF2-40B4-BE49-F238E27FC236}">
                  <a16:creationId xmlns:a16="http://schemas.microsoft.com/office/drawing/2014/main" id="{6E42C1EF-85E5-4538-8B72-F2A052673064}"/>
                </a:ext>
              </a:extLst>
            </p:cNvPr>
            <p:cNvSpPr>
              <a:spLocks noChangeShapeType="1"/>
            </p:cNvSpPr>
            <p:nvPr/>
          </p:nvSpPr>
          <p:spPr bwMode="auto">
            <a:xfrm flipV="1">
              <a:off x="3235" y="1072"/>
              <a:ext cx="0" cy="568"/>
            </a:xfrm>
            <a:prstGeom prst="line">
              <a:avLst/>
            </a:prstGeom>
            <a:noFill/>
            <a:ln w="12700">
              <a:solidFill>
                <a:srgbClr val="00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31457" name="Rectangle 33">
            <a:extLst>
              <a:ext uri="{FF2B5EF4-FFF2-40B4-BE49-F238E27FC236}">
                <a16:creationId xmlns:a16="http://schemas.microsoft.com/office/drawing/2014/main" id="{5AB1D20F-1E91-4456-9881-4D6AA8ABEAD7}"/>
              </a:ext>
            </a:extLst>
          </p:cNvPr>
          <p:cNvSpPr>
            <a:spLocks noChangeArrowheads="1"/>
          </p:cNvSpPr>
          <p:nvPr/>
        </p:nvSpPr>
        <p:spPr bwMode="auto">
          <a:xfrm>
            <a:off x="618799" y="2267037"/>
            <a:ext cx="2057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en-US" altLang="en-US" sz="2400" b="1" dirty="0">
                <a:latin typeface="Times New Roman" panose="02020603050405020304" pitchFamily="18" charset="0"/>
              </a:rPr>
              <a:t>Output nodes</a:t>
            </a:r>
          </a:p>
          <a:p>
            <a:pPr algn="ctr" eaLnBrk="0" hangingPunct="0"/>
            <a:endParaRPr lang="en-US" altLang="en-US" sz="2400" dirty="0">
              <a:latin typeface="Times New Roman" panose="02020603050405020304" pitchFamily="18" charset="0"/>
            </a:endParaRPr>
          </a:p>
        </p:txBody>
      </p:sp>
      <p:sp>
        <p:nvSpPr>
          <p:cNvPr id="231458" name="Rectangle 34">
            <a:extLst>
              <a:ext uri="{FF2B5EF4-FFF2-40B4-BE49-F238E27FC236}">
                <a16:creationId xmlns:a16="http://schemas.microsoft.com/office/drawing/2014/main" id="{2327222B-3738-46DA-BCC1-01C3A54FA289}"/>
              </a:ext>
            </a:extLst>
          </p:cNvPr>
          <p:cNvSpPr>
            <a:spLocks noChangeArrowheads="1"/>
          </p:cNvSpPr>
          <p:nvPr/>
        </p:nvSpPr>
        <p:spPr bwMode="auto">
          <a:xfrm>
            <a:off x="1299831" y="4768355"/>
            <a:ext cx="1736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eaLnBrk="0" hangingPunct="0"/>
            <a:r>
              <a:rPr lang="en-US" altLang="en-US" sz="2400" b="1" dirty="0">
                <a:latin typeface="Times New Roman" panose="02020603050405020304" pitchFamily="18" charset="0"/>
              </a:rPr>
              <a:t>Input nodes</a:t>
            </a:r>
          </a:p>
        </p:txBody>
      </p:sp>
      <p:sp>
        <p:nvSpPr>
          <p:cNvPr id="231459" name="Rectangle 35">
            <a:extLst>
              <a:ext uri="{FF2B5EF4-FFF2-40B4-BE49-F238E27FC236}">
                <a16:creationId xmlns:a16="http://schemas.microsoft.com/office/drawing/2014/main" id="{E024F99F-C5F3-4E04-856F-22D6179FF88B}"/>
              </a:ext>
            </a:extLst>
          </p:cNvPr>
          <p:cNvSpPr>
            <a:spLocks noChangeArrowheads="1"/>
          </p:cNvSpPr>
          <p:nvPr/>
        </p:nvSpPr>
        <p:spPr bwMode="auto">
          <a:xfrm>
            <a:off x="466725" y="3506764"/>
            <a:ext cx="1971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eaLnBrk="0" hangingPunct="0"/>
            <a:r>
              <a:rPr lang="en-US" altLang="en-US" sz="2400" b="1" dirty="0">
                <a:latin typeface="Times New Roman" panose="02020603050405020304" pitchFamily="18" charset="0"/>
              </a:rPr>
              <a:t>Hidden nodes</a:t>
            </a:r>
            <a:endParaRPr lang="en-US" altLang="en-US" sz="2400" dirty="0">
              <a:latin typeface="Times New Roman" panose="02020603050405020304" pitchFamily="18" charset="0"/>
            </a:endParaRPr>
          </a:p>
        </p:txBody>
      </p:sp>
      <p:sp>
        <p:nvSpPr>
          <p:cNvPr id="231460" name="Rectangle 36">
            <a:extLst>
              <a:ext uri="{FF2B5EF4-FFF2-40B4-BE49-F238E27FC236}">
                <a16:creationId xmlns:a16="http://schemas.microsoft.com/office/drawing/2014/main" id="{17878AC6-011F-4E0B-A82F-B831866C3919}"/>
              </a:ext>
            </a:extLst>
          </p:cNvPr>
          <p:cNvSpPr>
            <a:spLocks noChangeArrowheads="1"/>
          </p:cNvSpPr>
          <p:nvPr/>
        </p:nvSpPr>
        <p:spPr bwMode="auto">
          <a:xfrm>
            <a:off x="3590568" y="1400754"/>
            <a:ext cx="4092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en-US" altLang="en-US" sz="2400" b="1" dirty="0">
                <a:solidFill>
                  <a:srgbClr val="FF3300"/>
                </a:solidFill>
                <a:latin typeface="Times New Roman" panose="02020603050405020304" pitchFamily="18" charset="0"/>
              </a:rPr>
              <a:t>Output Class</a:t>
            </a:r>
            <a:endParaRPr lang="en-US" altLang="en-US" sz="2400" dirty="0">
              <a:solidFill>
                <a:srgbClr val="FF3300"/>
              </a:solidFill>
              <a:latin typeface="Times New Roman" panose="02020603050405020304" pitchFamily="18" charset="0"/>
            </a:endParaRPr>
          </a:p>
        </p:txBody>
      </p:sp>
      <p:sp>
        <p:nvSpPr>
          <p:cNvPr id="231461" name="Rectangle 37">
            <a:extLst>
              <a:ext uri="{FF2B5EF4-FFF2-40B4-BE49-F238E27FC236}">
                <a16:creationId xmlns:a16="http://schemas.microsoft.com/office/drawing/2014/main" id="{57FDA396-5F83-4801-AE18-F79E640A39FC}"/>
              </a:ext>
            </a:extLst>
          </p:cNvPr>
          <p:cNvSpPr>
            <a:spLocks noChangeArrowheads="1"/>
          </p:cNvSpPr>
          <p:nvPr/>
        </p:nvSpPr>
        <p:spPr bwMode="auto">
          <a:xfrm>
            <a:off x="417513" y="5237162"/>
            <a:ext cx="407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en-US" altLang="en-US" sz="2400" b="1">
                <a:solidFill>
                  <a:srgbClr val="FF3300"/>
                </a:solidFill>
                <a:latin typeface="Times New Roman" panose="02020603050405020304" pitchFamily="18" charset="0"/>
              </a:rPr>
              <a:t>Input  Record </a:t>
            </a:r>
            <a:r>
              <a:rPr lang="en-US" altLang="en-US" sz="2400" b="1">
                <a:latin typeface="Times New Roman" panose="02020603050405020304" pitchFamily="18" charset="0"/>
              </a:rPr>
              <a:t>:      x</a:t>
            </a:r>
            <a:r>
              <a:rPr lang="en-US" altLang="en-US" sz="2400" b="1" i="1" baseline="-25000">
                <a:latin typeface="Times New Roman" panose="02020603050405020304" pitchFamily="18" charset="0"/>
              </a:rPr>
              <a:t>i </a:t>
            </a:r>
          </a:p>
        </p:txBody>
      </p:sp>
      <p:sp>
        <p:nvSpPr>
          <p:cNvPr id="231462" name="Rectangle 38">
            <a:extLst>
              <a:ext uri="{FF2B5EF4-FFF2-40B4-BE49-F238E27FC236}">
                <a16:creationId xmlns:a16="http://schemas.microsoft.com/office/drawing/2014/main" id="{284DBFEC-58AB-4476-8BF1-D89B36CBED60}"/>
              </a:ext>
            </a:extLst>
          </p:cNvPr>
          <p:cNvSpPr>
            <a:spLocks noChangeArrowheads="1"/>
          </p:cNvSpPr>
          <p:nvPr/>
        </p:nvSpPr>
        <p:spPr bwMode="auto">
          <a:xfrm>
            <a:off x="5412656" y="4049712"/>
            <a:ext cx="501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r>
              <a:rPr lang="en-US" altLang="en-US" sz="2400" i="1" dirty="0" err="1">
                <a:latin typeface="Times New Roman" panose="02020603050405020304" pitchFamily="18" charset="0"/>
              </a:rPr>
              <a:t>w</a:t>
            </a:r>
            <a:r>
              <a:rPr lang="en-US" altLang="en-US" sz="2400" i="1" baseline="-25000" dirty="0" err="1">
                <a:latin typeface="Times New Roman" panose="02020603050405020304" pitchFamily="18" charset="0"/>
              </a:rPr>
              <a:t>ij</a:t>
            </a:r>
            <a:endParaRPr lang="en-US" altLang="en-US" sz="2400" i="1" baseline="-25000" dirty="0">
              <a:latin typeface="Times New Roman" panose="02020603050405020304" pitchFamily="18" charset="0"/>
            </a:endParaRPr>
          </a:p>
        </p:txBody>
      </p:sp>
      <p:sp>
        <p:nvSpPr>
          <p:cNvPr id="231463" name="Freeform 39">
            <a:extLst>
              <a:ext uri="{FF2B5EF4-FFF2-40B4-BE49-F238E27FC236}">
                <a16:creationId xmlns:a16="http://schemas.microsoft.com/office/drawing/2014/main" id="{1B896875-E898-4DF4-982A-A99EE23D79E9}"/>
              </a:ext>
            </a:extLst>
          </p:cNvPr>
          <p:cNvSpPr>
            <a:spLocks/>
          </p:cNvSpPr>
          <p:nvPr/>
        </p:nvSpPr>
        <p:spPr bwMode="auto">
          <a:xfrm>
            <a:off x="4821621" y="4339703"/>
            <a:ext cx="611187" cy="160337"/>
          </a:xfrm>
          <a:custGeom>
            <a:avLst/>
            <a:gdLst>
              <a:gd name="T0" fmla="*/ 384 w 385"/>
              <a:gd name="T1" fmla="*/ 0 h 101"/>
              <a:gd name="T2" fmla="*/ 313 w 385"/>
              <a:gd name="T3" fmla="*/ 5 h 101"/>
              <a:gd name="T4" fmla="*/ 254 w 385"/>
              <a:gd name="T5" fmla="*/ 15 h 101"/>
              <a:gd name="T6" fmla="*/ 230 w 385"/>
              <a:gd name="T7" fmla="*/ 25 h 101"/>
              <a:gd name="T8" fmla="*/ 213 w 385"/>
              <a:gd name="T9" fmla="*/ 30 h 101"/>
              <a:gd name="T10" fmla="*/ 201 w 385"/>
              <a:gd name="T11" fmla="*/ 40 h 101"/>
              <a:gd name="T12" fmla="*/ 195 w 385"/>
              <a:gd name="T13" fmla="*/ 50 h 101"/>
              <a:gd name="T14" fmla="*/ 189 w 385"/>
              <a:gd name="T15" fmla="*/ 60 h 101"/>
              <a:gd name="T16" fmla="*/ 177 w 385"/>
              <a:gd name="T17" fmla="*/ 70 h 101"/>
              <a:gd name="T18" fmla="*/ 160 w 385"/>
              <a:gd name="T19" fmla="*/ 75 h 101"/>
              <a:gd name="T20" fmla="*/ 136 w 385"/>
              <a:gd name="T21" fmla="*/ 85 h 101"/>
              <a:gd name="T22" fmla="*/ 71 w 385"/>
              <a:gd name="T23" fmla="*/ 95 h 101"/>
              <a:gd name="T24" fmla="*/ 0 w 385"/>
              <a:gd name="T25" fmla="*/ 10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5" h="101">
                <a:moveTo>
                  <a:pt x="384" y="0"/>
                </a:moveTo>
                <a:lnTo>
                  <a:pt x="313" y="5"/>
                </a:lnTo>
                <a:lnTo>
                  <a:pt x="254" y="15"/>
                </a:lnTo>
                <a:lnTo>
                  <a:pt x="230" y="25"/>
                </a:lnTo>
                <a:lnTo>
                  <a:pt x="213" y="30"/>
                </a:lnTo>
                <a:lnTo>
                  <a:pt x="201" y="40"/>
                </a:lnTo>
                <a:lnTo>
                  <a:pt x="195" y="50"/>
                </a:lnTo>
                <a:lnTo>
                  <a:pt x="189" y="60"/>
                </a:lnTo>
                <a:lnTo>
                  <a:pt x="177" y="70"/>
                </a:lnTo>
                <a:lnTo>
                  <a:pt x="160" y="75"/>
                </a:lnTo>
                <a:lnTo>
                  <a:pt x="136" y="85"/>
                </a:lnTo>
                <a:lnTo>
                  <a:pt x="71" y="95"/>
                </a:lnTo>
                <a:lnTo>
                  <a:pt x="0" y="100"/>
                </a:lnTo>
              </a:path>
            </a:pathLst>
          </a:custGeom>
          <a:noFill/>
          <a:ln w="12700" cap="rnd" cmpd="sng">
            <a:solidFill>
              <a:srgbClr val="000000"/>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64" name="Text Box 40">
            <a:extLst>
              <a:ext uri="{FF2B5EF4-FFF2-40B4-BE49-F238E27FC236}">
                <a16:creationId xmlns:a16="http://schemas.microsoft.com/office/drawing/2014/main" id="{6F020927-32A7-4543-9CDA-9986A0FC60D0}"/>
              </a:ext>
            </a:extLst>
          </p:cNvPr>
          <p:cNvSpPr txBox="1">
            <a:spLocks noChangeArrowheads="1"/>
          </p:cNvSpPr>
          <p:nvPr/>
        </p:nvSpPr>
        <p:spPr bwMode="auto">
          <a:xfrm>
            <a:off x="5791200" y="4134915"/>
            <a:ext cx="1282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 weights</a:t>
            </a:r>
          </a:p>
        </p:txBody>
      </p:sp>
      <p:sp>
        <p:nvSpPr>
          <p:cNvPr id="231465" name="Text Box 41">
            <a:extLst>
              <a:ext uri="{FF2B5EF4-FFF2-40B4-BE49-F238E27FC236}">
                <a16:creationId xmlns:a16="http://schemas.microsoft.com/office/drawing/2014/main" id="{3098E0B6-BB40-4E16-9EC5-A686D5AFE915}"/>
              </a:ext>
            </a:extLst>
          </p:cNvPr>
          <p:cNvSpPr txBox="1">
            <a:spLocks noChangeArrowheads="1"/>
          </p:cNvSpPr>
          <p:nvPr/>
        </p:nvSpPr>
        <p:spPr bwMode="auto">
          <a:xfrm>
            <a:off x="5410200" y="5008562"/>
            <a:ext cx="3079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Network is fully connected</a:t>
            </a:r>
          </a:p>
        </p:txBody>
      </p:sp>
      <p:graphicFrame>
        <p:nvGraphicFramePr>
          <p:cNvPr id="231466" name="Object 42">
            <a:extLst>
              <a:ext uri="{FF2B5EF4-FFF2-40B4-BE49-F238E27FC236}">
                <a16:creationId xmlns:a16="http://schemas.microsoft.com/office/drawing/2014/main" id="{C0F9E583-0892-4563-B04B-17A6664C2BF1}"/>
              </a:ext>
            </a:extLst>
          </p:cNvPr>
          <p:cNvGraphicFramePr>
            <a:graphicFrameLocks noChangeAspect="1"/>
          </p:cNvGraphicFramePr>
          <p:nvPr>
            <p:extLst>
              <p:ext uri="{D42A27DB-BD31-4B8C-83A1-F6EECF244321}">
                <p14:modId xmlns:p14="http://schemas.microsoft.com/office/powerpoint/2010/main" val="742509530"/>
              </p:ext>
            </p:extLst>
          </p:nvPr>
        </p:nvGraphicFramePr>
        <p:xfrm>
          <a:off x="1931971" y="2781332"/>
          <a:ext cx="533400" cy="622300"/>
        </p:xfrm>
        <a:graphic>
          <a:graphicData uri="http://schemas.openxmlformats.org/presentationml/2006/ole">
            <mc:AlternateContent xmlns:mc="http://schemas.openxmlformats.org/markup-compatibility/2006">
              <mc:Choice xmlns:v="urn:schemas-microsoft-com:vml" Requires="v">
                <p:oleObj name="Equation" r:id="rId6" imgW="203040" imgH="241200" progId="Equation.3">
                  <p:embed/>
                </p:oleObj>
              </mc:Choice>
              <mc:Fallback>
                <p:oleObj name="Equation" r:id="rId6" imgW="203040" imgH="241200" progId="Equation.3">
                  <p:embed/>
                  <p:pic>
                    <p:nvPicPr>
                      <p:cNvPr id="231466" name="Object 42">
                        <a:extLst>
                          <a:ext uri="{FF2B5EF4-FFF2-40B4-BE49-F238E27FC236}">
                            <a16:creationId xmlns:a16="http://schemas.microsoft.com/office/drawing/2014/main" id="{C0F9E583-0892-4563-B04B-17A6664C2B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1971" y="2781332"/>
                        <a:ext cx="533400" cy="6223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1467" name="Rectangle 43">
            <a:extLst>
              <a:ext uri="{FF2B5EF4-FFF2-40B4-BE49-F238E27FC236}">
                <a16:creationId xmlns:a16="http://schemas.microsoft.com/office/drawing/2014/main" id="{9602A734-5AFD-4ECD-9716-F4C7A74E9326}"/>
              </a:ext>
            </a:extLst>
          </p:cNvPr>
          <p:cNvSpPr>
            <a:spLocks noGrp="1" noChangeArrowheads="1"/>
          </p:cNvSpPr>
          <p:nvPr>
            <p:ph type="title" sz="quarter"/>
          </p:nvPr>
        </p:nvSpPr>
        <p:spPr>
          <a:xfrm>
            <a:off x="376034" y="236595"/>
            <a:ext cx="8767965" cy="952500"/>
          </a:xfrm>
        </p:spPr>
        <p:txBody>
          <a:bodyPr/>
          <a:lstStyle/>
          <a:p>
            <a:r>
              <a:rPr lang="en-US" altLang="ko-KR" sz="3600" b="1" dirty="0">
                <a:ea typeface="굴림" panose="020B0600000101010101" pitchFamily="34" charset="-127"/>
              </a:rPr>
              <a:t>A Multilayer Neural Network </a:t>
            </a:r>
            <a:br>
              <a:rPr lang="en-US" altLang="ko-KR" sz="3600" b="1" dirty="0">
                <a:ea typeface="굴림" panose="020B0600000101010101" pitchFamily="34" charset="-127"/>
              </a:rPr>
            </a:br>
            <a:r>
              <a:rPr lang="en-US" altLang="ko-KR" sz="3600" b="1" dirty="0">
                <a:ea typeface="굴림" panose="020B0600000101010101" pitchFamily="34" charset="-127"/>
              </a:rPr>
              <a:t>(Multilayer Perceptron (MLP))</a:t>
            </a:r>
          </a:p>
        </p:txBody>
      </p:sp>
    </p:spTree>
    <p:extLst>
      <p:ext uri="{BB962C8B-B14F-4D97-AF65-F5344CB8AC3E}">
        <p14:creationId xmlns:p14="http://schemas.microsoft.com/office/powerpoint/2010/main" val="1099117162"/>
      </p:ext>
    </p:extLst>
  </p:cSld>
  <p:clrMapOvr>
    <a:masterClrMapping/>
  </p:clrMapOvr>
  <p:transition>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14400" y="1447800"/>
            <a:ext cx="7623175" cy="1752600"/>
          </a:xfrm>
        </p:spPr>
        <p:txBody>
          <a:bodyPr/>
          <a:lstStyle/>
          <a:p>
            <a:pPr algn="ctr" eaLnBrk="1" hangingPunct="1"/>
            <a:r>
              <a:rPr lang="en-US" sz="4600" b="1" dirty="0"/>
              <a:t>Big Data – Deep Learning</a:t>
            </a:r>
          </a:p>
        </p:txBody>
      </p:sp>
      <p:graphicFrame>
        <p:nvGraphicFramePr>
          <p:cNvPr id="2" name="Object 1">
            <a:extLst>
              <a:ext uri="{FF2B5EF4-FFF2-40B4-BE49-F238E27FC236}">
                <a16:creationId xmlns:a16="http://schemas.microsoft.com/office/drawing/2014/main" id="{D44FFC5C-E1E7-4072-BD5E-209B24ED27A7}"/>
              </a:ext>
            </a:extLst>
          </p:cNvPr>
          <p:cNvGraphicFramePr>
            <a:graphicFrameLocks noChangeAspect="1"/>
          </p:cNvGraphicFramePr>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2" name="Object 1">
                        <a:extLst>
                          <a:ext uri="{FF2B5EF4-FFF2-40B4-BE49-F238E27FC236}">
                            <a16:creationId xmlns:a16="http://schemas.microsoft.com/office/drawing/2014/main" id="{D44FFC5C-E1E7-4072-BD5E-209B24ED27A7}"/>
                          </a:ext>
                        </a:extLst>
                      </p:cNvPr>
                      <p:cNvPicPr/>
                      <p:nvPr/>
                    </p:nvPicPr>
                    <p:blipFill>
                      <a:blip r:embed="rId4"/>
                      <a:stretch>
                        <a:fillRect/>
                      </a:stretch>
                    </p:blipFill>
                    <p:spPr>
                      <a:xfrm>
                        <a:off x="4927600" y="2667000"/>
                        <a:ext cx="914400" cy="198438"/>
                      </a:xfrm>
                      <a:prstGeom prst="rect">
                        <a:avLst/>
                      </a:prstGeom>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304800"/>
            <a:ext cx="8077200" cy="795338"/>
          </a:xfrm>
          <a:noFill/>
          <a:ln/>
        </p:spPr>
        <p:txBody>
          <a:bodyPr lIns="90488" tIns="44450" rIns="90488" bIns="44450" anchor="t"/>
          <a:lstStyle/>
          <a:p>
            <a:r>
              <a:rPr lang="en-US" sz="4000" b="1" dirty="0"/>
              <a:t>What is it? The 4 v’s of Big Data</a:t>
            </a:r>
          </a:p>
        </p:txBody>
      </p:sp>
      <p:sp>
        <p:nvSpPr>
          <p:cNvPr id="3" name="Content Placeholder 2">
            <a:extLst>
              <a:ext uri="{FF2B5EF4-FFF2-40B4-BE49-F238E27FC236}">
                <a16:creationId xmlns:a16="http://schemas.microsoft.com/office/drawing/2014/main" id="{241C5BD0-5181-4DD7-8698-E6526A0F0342}"/>
              </a:ext>
            </a:extLst>
          </p:cNvPr>
          <p:cNvSpPr>
            <a:spLocks noGrp="1"/>
          </p:cNvSpPr>
          <p:nvPr>
            <p:ph idx="1"/>
          </p:nvPr>
        </p:nvSpPr>
        <p:spPr>
          <a:xfrm>
            <a:off x="76200" y="914400"/>
            <a:ext cx="8229600" cy="1752600"/>
          </a:xfrm>
        </p:spPr>
        <p:txBody>
          <a:bodyPr/>
          <a:lstStyle/>
          <a:p>
            <a:r>
              <a:rPr lang="en-US" dirty="0"/>
              <a:t>Data that has</a:t>
            </a:r>
          </a:p>
          <a:p>
            <a:pPr lvl="1"/>
            <a:r>
              <a:rPr lang="en-US" sz="1800" dirty="0"/>
              <a:t>Volume</a:t>
            </a:r>
          </a:p>
          <a:p>
            <a:pPr lvl="1"/>
            <a:r>
              <a:rPr lang="en-US" sz="1800" dirty="0"/>
              <a:t>Velocity</a:t>
            </a:r>
          </a:p>
          <a:p>
            <a:pPr lvl="1"/>
            <a:r>
              <a:rPr lang="en-US" sz="1800" dirty="0"/>
              <a:t>Variety</a:t>
            </a:r>
          </a:p>
          <a:p>
            <a:pPr lvl="1"/>
            <a:r>
              <a:rPr lang="en-US" sz="1800" dirty="0"/>
              <a:t>Veracity</a:t>
            </a:r>
          </a:p>
        </p:txBody>
      </p:sp>
      <p:pic>
        <p:nvPicPr>
          <p:cNvPr id="5" name="Picture 4">
            <a:extLst>
              <a:ext uri="{FF2B5EF4-FFF2-40B4-BE49-F238E27FC236}">
                <a16:creationId xmlns:a16="http://schemas.microsoft.com/office/drawing/2014/main" id="{EEE70299-0027-491A-AB46-1EB155815C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8799" y="1497736"/>
            <a:ext cx="6988819" cy="4293464"/>
          </a:xfrm>
          <a:prstGeom prst="rect">
            <a:avLst/>
          </a:prstGeom>
        </p:spPr>
      </p:pic>
    </p:spTree>
    <p:extLst>
      <p:ext uri="{BB962C8B-B14F-4D97-AF65-F5344CB8AC3E}">
        <p14:creationId xmlns:p14="http://schemas.microsoft.com/office/powerpoint/2010/main" val="2754220050"/>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33138-86DE-4DF3-B8D2-E3B43D95C8B7}"/>
              </a:ext>
            </a:extLst>
          </p:cNvPr>
          <p:cNvSpPr>
            <a:spLocks noGrp="1"/>
          </p:cNvSpPr>
          <p:nvPr>
            <p:ph type="title"/>
          </p:nvPr>
        </p:nvSpPr>
        <p:spPr/>
        <p:txBody>
          <a:bodyPr/>
          <a:lstStyle/>
          <a:p>
            <a:r>
              <a:rPr lang="en-US" b="1" dirty="0"/>
              <a:t>What is Deep Learning?</a:t>
            </a:r>
          </a:p>
        </p:txBody>
      </p:sp>
      <p:sp>
        <p:nvSpPr>
          <p:cNvPr id="3" name="Content Placeholder 2">
            <a:extLst>
              <a:ext uri="{FF2B5EF4-FFF2-40B4-BE49-F238E27FC236}">
                <a16:creationId xmlns:a16="http://schemas.microsoft.com/office/drawing/2014/main" id="{69835E5C-4DC7-4FDE-84B5-7B1443A0911E}"/>
              </a:ext>
            </a:extLst>
          </p:cNvPr>
          <p:cNvSpPr>
            <a:spLocks noGrp="1"/>
          </p:cNvSpPr>
          <p:nvPr>
            <p:ph idx="1"/>
          </p:nvPr>
        </p:nvSpPr>
        <p:spPr>
          <a:xfrm>
            <a:off x="457200" y="1163637"/>
            <a:ext cx="8229600" cy="4530725"/>
          </a:xfrm>
        </p:spPr>
        <p:txBody>
          <a:bodyPr/>
          <a:lstStyle/>
          <a:p>
            <a:r>
              <a:rPr lang="en-US" dirty="0"/>
              <a:t>Deep Learning is NOT an algorithm – it is a paradigm of hierarchical learning.</a:t>
            </a:r>
          </a:p>
          <a:p>
            <a:r>
              <a:rPr lang="en-US" dirty="0"/>
              <a:t>Generally, the paradigm is modeling information representations in the mammalian brain. </a:t>
            </a:r>
          </a:p>
          <a:p>
            <a:r>
              <a:rPr lang="en-US" dirty="0"/>
              <a:t>“</a:t>
            </a:r>
            <a:r>
              <a:rPr lang="en-US" sz="2000" dirty="0">
                <a:solidFill>
                  <a:srgbClr val="00B050"/>
                </a:solidFill>
              </a:rPr>
              <a:t>One of the key findings has been that the neocortex, which is associated with many cognitive abilities, does not explicitly pre-process sensory signals, but rather allows them to propagate through a </a:t>
            </a:r>
            <a:r>
              <a:rPr lang="en-US" sz="2000" b="1" dirty="0">
                <a:solidFill>
                  <a:srgbClr val="00B050"/>
                </a:solidFill>
              </a:rPr>
              <a:t>complex hierarchy of modules </a:t>
            </a:r>
            <a:r>
              <a:rPr lang="en-US" sz="2000" dirty="0">
                <a:solidFill>
                  <a:srgbClr val="00B050"/>
                </a:solidFill>
              </a:rPr>
              <a:t>that, over time, learn to represent observations based on the regularities they exhibit</a:t>
            </a:r>
            <a:r>
              <a:rPr lang="en-US" sz="2000" dirty="0"/>
              <a:t>”</a:t>
            </a:r>
          </a:p>
        </p:txBody>
      </p:sp>
    </p:spTree>
    <p:extLst>
      <p:ext uri="{BB962C8B-B14F-4D97-AF65-F5344CB8AC3E}">
        <p14:creationId xmlns:p14="http://schemas.microsoft.com/office/powerpoint/2010/main" val="2331936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F90D3-223A-4673-AD3A-27911F66D87B}"/>
              </a:ext>
            </a:extLst>
          </p:cNvPr>
          <p:cNvSpPr>
            <a:spLocks noGrp="1"/>
          </p:cNvSpPr>
          <p:nvPr>
            <p:ph type="title"/>
          </p:nvPr>
        </p:nvSpPr>
        <p:spPr>
          <a:xfrm>
            <a:off x="457200" y="277813"/>
            <a:ext cx="8534400" cy="1139825"/>
          </a:xfrm>
        </p:spPr>
        <p:txBody>
          <a:bodyPr/>
          <a:lstStyle/>
          <a:p>
            <a:r>
              <a:rPr lang="en-US" b="1" dirty="0"/>
              <a:t>Example – the human visual system</a:t>
            </a:r>
          </a:p>
        </p:txBody>
      </p:sp>
      <p:sp>
        <p:nvSpPr>
          <p:cNvPr id="3" name="Content Placeholder 2">
            <a:extLst>
              <a:ext uri="{FF2B5EF4-FFF2-40B4-BE49-F238E27FC236}">
                <a16:creationId xmlns:a16="http://schemas.microsoft.com/office/drawing/2014/main" id="{DF90BDA8-E77F-48E6-B66D-788B99A03007}"/>
              </a:ext>
            </a:extLst>
          </p:cNvPr>
          <p:cNvSpPr>
            <a:spLocks noGrp="1"/>
          </p:cNvSpPr>
          <p:nvPr>
            <p:ph idx="1"/>
          </p:nvPr>
        </p:nvSpPr>
        <p:spPr>
          <a:xfrm>
            <a:off x="381000" y="1066800"/>
            <a:ext cx="5486400" cy="4530725"/>
          </a:xfrm>
        </p:spPr>
        <p:txBody>
          <a:bodyPr/>
          <a:lstStyle/>
          <a:p>
            <a:r>
              <a:rPr lang="en-US" dirty="0"/>
              <a:t>Multi-layered</a:t>
            </a:r>
          </a:p>
          <a:p>
            <a:pPr lvl="1"/>
            <a:r>
              <a:rPr lang="en-US" sz="2000" dirty="0"/>
              <a:t>Primary visual cortex (v1) – spatial information -  spatial frequencies and orientations (also color), Secondary visual cortex (V2) – visual association</a:t>
            </a:r>
          </a:p>
          <a:p>
            <a:pPr lvl="1"/>
            <a:r>
              <a:rPr lang="en-US" sz="2000" dirty="0"/>
              <a:t>Visual area V3 – coherent motion of large patterns</a:t>
            </a:r>
          </a:p>
          <a:p>
            <a:pPr lvl="1"/>
            <a:r>
              <a:rPr lang="en-US" sz="2000" dirty="0"/>
              <a:t>Visual area V4 – tuned for object features of medium complexity</a:t>
            </a:r>
          </a:p>
          <a:p>
            <a:pPr lvl="1"/>
            <a:r>
              <a:rPr lang="en-US" sz="2000" dirty="0"/>
              <a:t>Middle temporal visual area (V5) – perception of motion</a:t>
            </a:r>
          </a:p>
          <a:p>
            <a:pPr lvl="1"/>
            <a:r>
              <a:rPr lang="en-US" sz="2000" dirty="0"/>
              <a:t>FFA (fusiform face area)</a:t>
            </a:r>
          </a:p>
          <a:p>
            <a:pPr lvl="1"/>
            <a:endParaRPr lang="en-US" dirty="0"/>
          </a:p>
        </p:txBody>
      </p:sp>
      <p:pic>
        <p:nvPicPr>
          <p:cNvPr id="5" name="Picture 4">
            <a:extLst>
              <a:ext uri="{FF2B5EF4-FFF2-40B4-BE49-F238E27FC236}">
                <a16:creationId xmlns:a16="http://schemas.microsoft.com/office/drawing/2014/main" id="{CAC84879-3776-47F0-A5F6-780FDD066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3287" y="1417638"/>
            <a:ext cx="3124200" cy="2529734"/>
          </a:xfrm>
          <a:prstGeom prst="rect">
            <a:avLst/>
          </a:prstGeom>
        </p:spPr>
      </p:pic>
    </p:spTree>
    <p:extLst>
      <p:ext uri="{BB962C8B-B14F-4D97-AF65-F5344CB8AC3E}">
        <p14:creationId xmlns:p14="http://schemas.microsoft.com/office/powerpoint/2010/main" val="2127086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D7650-6F2F-4152-B72E-7EAE4BE48768}"/>
              </a:ext>
            </a:extLst>
          </p:cNvPr>
          <p:cNvSpPr>
            <a:spLocks noGrp="1"/>
          </p:cNvSpPr>
          <p:nvPr>
            <p:ph type="title"/>
          </p:nvPr>
        </p:nvSpPr>
        <p:spPr/>
        <p:txBody>
          <a:bodyPr/>
          <a:lstStyle/>
          <a:p>
            <a:r>
              <a:rPr lang="en-US" b="1" dirty="0"/>
              <a:t>V1 type representations can be learned using sparse coding…</a:t>
            </a:r>
          </a:p>
        </p:txBody>
      </p:sp>
      <p:sp>
        <p:nvSpPr>
          <p:cNvPr id="3" name="Content Placeholder 2">
            <a:extLst>
              <a:ext uri="{FF2B5EF4-FFF2-40B4-BE49-F238E27FC236}">
                <a16:creationId xmlns:a16="http://schemas.microsoft.com/office/drawing/2014/main" id="{CBFD3703-3696-4413-A31C-115EBC901846}"/>
              </a:ext>
            </a:extLst>
          </p:cNvPr>
          <p:cNvSpPr>
            <a:spLocks noGrp="1"/>
          </p:cNvSpPr>
          <p:nvPr>
            <p:ph idx="1"/>
          </p:nvPr>
        </p:nvSpPr>
        <p:spPr>
          <a:xfrm>
            <a:off x="462818" y="1752600"/>
            <a:ext cx="8229600" cy="4267201"/>
          </a:xfrm>
        </p:spPr>
        <p:txBody>
          <a:bodyPr/>
          <a:lstStyle/>
          <a:p>
            <a:r>
              <a:rPr lang="en-US" sz="2400" dirty="0"/>
              <a:t>As an example of this type of learning, consider a multi-layered representation where layer 1 creates sparse features using a learning approach that preferred sparse weights:</a:t>
            </a:r>
          </a:p>
        </p:txBody>
      </p:sp>
      <p:pic>
        <p:nvPicPr>
          <p:cNvPr id="5" name="Picture 4">
            <a:extLst>
              <a:ext uri="{FF2B5EF4-FFF2-40B4-BE49-F238E27FC236}">
                <a16:creationId xmlns:a16="http://schemas.microsoft.com/office/drawing/2014/main" id="{A52F2867-4738-4DE6-90B9-40190FEF8C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775" y="3276600"/>
            <a:ext cx="4214225" cy="2789162"/>
          </a:xfrm>
          <a:prstGeom prst="rect">
            <a:avLst/>
          </a:prstGeom>
        </p:spPr>
      </p:pic>
      <p:sp>
        <p:nvSpPr>
          <p:cNvPr id="6" name="TextBox 5">
            <a:extLst>
              <a:ext uri="{FF2B5EF4-FFF2-40B4-BE49-F238E27FC236}">
                <a16:creationId xmlns:a16="http://schemas.microsoft.com/office/drawing/2014/main" id="{AA3848ED-193B-4D89-BEED-AD50286F5B48}"/>
              </a:ext>
            </a:extLst>
          </p:cNvPr>
          <p:cNvSpPr txBox="1"/>
          <p:nvPr/>
        </p:nvSpPr>
        <p:spPr>
          <a:xfrm>
            <a:off x="4620460" y="3352800"/>
            <a:ext cx="4371140" cy="2677656"/>
          </a:xfrm>
          <a:prstGeom prst="rect">
            <a:avLst/>
          </a:prstGeom>
          <a:noFill/>
        </p:spPr>
        <p:txBody>
          <a:bodyPr wrap="square" rtlCol="0">
            <a:spAutoFit/>
          </a:bodyPr>
          <a:lstStyle/>
          <a:p>
            <a:r>
              <a:rPr lang="en-US" sz="1400" dirty="0">
                <a:solidFill>
                  <a:srgbClr val="00B050"/>
                </a:solidFill>
              </a:rPr>
              <a:t>It turns out that this is very similar to the representation of visual stimuli in V1</a:t>
            </a:r>
          </a:p>
          <a:p>
            <a:endParaRPr lang="en-US" sz="1400" dirty="0">
              <a:solidFill>
                <a:srgbClr val="00B050"/>
              </a:solidFill>
            </a:endParaRPr>
          </a:p>
          <a:p>
            <a:r>
              <a:rPr lang="en-US" sz="1400" dirty="0"/>
              <a:t>In order to create this representation you need a LOT of training data</a:t>
            </a:r>
          </a:p>
          <a:p>
            <a:endParaRPr lang="en-US" sz="1400" dirty="0"/>
          </a:p>
          <a:p>
            <a:r>
              <a:rPr lang="en-US" sz="1400" dirty="0"/>
              <a:t>This representation (often included in deep learning) can be learned using a CNN (convolutional neural net) but I preferred a more direct approach from </a:t>
            </a:r>
            <a:r>
              <a:rPr lang="en-US" sz="1400" dirty="0" err="1"/>
              <a:t>Olshausen</a:t>
            </a:r>
            <a:r>
              <a:rPr lang="en-US" sz="1400" dirty="0"/>
              <a:t> and Field:</a:t>
            </a:r>
          </a:p>
          <a:p>
            <a:r>
              <a:rPr lang="en-US" sz="1400" dirty="0">
                <a:hlinkClick r:id="rId3"/>
              </a:rPr>
              <a:t>http://www.nature.com/articles/381607a0</a:t>
            </a:r>
            <a:endParaRPr lang="en-US" sz="1400" dirty="0"/>
          </a:p>
          <a:p>
            <a:r>
              <a:rPr lang="en-US" sz="1400" dirty="0"/>
              <a:t>or ICA…</a:t>
            </a:r>
          </a:p>
        </p:txBody>
      </p:sp>
    </p:spTree>
    <p:extLst>
      <p:ext uri="{BB962C8B-B14F-4D97-AF65-F5344CB8AC3E}">
        <p14:creationId xmlns:p14="http://schemas.microsoft.com/office/powerpoint/2010/main" val="2133585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ext Box 4"/>
          <p:cNvSpPr txBox="1">
            <a:spLocks noChangeArrowheads="1"/>
          </p:cNvSpPr>
          <p:nvPr/>
        </p:nvSpPr>
        <p:spPr bwMode="auto">
          <a:xfrm>
            <a:off x="450850" y="276918"/>
            <a:ext cx="8458200" cy="646331"/>
          </a:xfrm>
          <a:prstGeom prst="rect">
            <a:avLst/>
          </a:prstGeom>
          <a:noFill/>
          <a:ln w="9525">
            <a:noFill/>
            <a:miter lim="800000"/>
            <a:headEnd/>
            <a:tailEnd/>
          </a:ln>
          <a:effectLst/>
        </p:spPr>
        <p:txBody>
          <a:bodyPr wrap="square">
            <a:spAutoFit/>
          </a:bodyPr>
          <a:lstStyle/>
          <a:p>
            <a:pPr>
              <a:spcBef>
                <a:spcPct val="50000"/>
              </a:spcBef>
            </a:pPr>
            <a:r>
              <a:rPr lang="en-US" sz="3600" b="1" dirty="0">
                <a:solidFill>
                  <a:schemeClr val="tx2"/>
                </a:solidFill>
                <a:latin typeface="+mj-lt"/>
              </a:rPr>
              <a:t>Typical Deep Learning Structure</a:t>
            </a:r>
          </a:p>
        </p:txBody>
      </p:sp>
      <p:pic>
        <p:nvPicPr>
          <p:cNvPr id="3" name="Picture 2">
            <a:extLst>
              <a:ext uri="{FF2B5EF4-FFF2-40B4-BE49-F238E27FC236}">
                <a16:creationId xmlns:a16="http://schemas.microsoft.com/office/drawing/2014/main" id="{AA7ACF48-4805-4F5C-BC39-8A564186D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525" y="1147762"/>
            <a:ext cx="6076950" cy="4562475"/>
          </a:xfrm>
          <a:prstGeom prst="rect">
            <a:avLst/>
          </a:prstGeom>
        </p:spPr>
      </p:pic>
    </p:spTree>
    <p:extLst>
      <p:ext uri="{BB962C8B-B14F-4D97-AF65-F5344CB8AC3E}">
        <p14:creationId xmlns:p14="http://schemas.microsoft.com/office/powerpoint/2010/main" val="560351181"/>
      </p:ext>
    </p:extLst>
  </p:cSld>
  <p:clrMapOvr>
    <a:masterClrMapping/>
  </p:clrMapOvr>
</p:sld>
</file>

<file path=ppt/theme/theme1.xml><?xml version="1.0" encoding="utf-8"?>
<a:theme xmlns:a="http://schemas.openxmlformats.org/drawingml/2006/main" name="Edge">
  <a:themeElements>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6284</TotalTime>
  <Words>2258</Words>
  <Application>Microsoft Office PowerPoint</Application>
  <PresentationFormat>On-screen Show (4:3)</PresentationFormat>
  <Paragraphs>332</Paragraphs>
  <Slides>39</Slides>
  <Notes>16</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48" baseType="lpstr">
      <vt:lpstr>Arial</vt:lpstr>
      <vt:lpstr>Calibri</vt:lpstr>
      <vt:lpstr>Garamond</vt:lpstr>
      <vt:lpstr>Tahoma</vt:lpstr>
      <vt:lpstr>Times New Roman</vt:lpstr>
      <vt:lpstr>Wingdings</vt:lpstr>
      <vt:lpstr>Edge</vt:lpstr>
      <vt:lpstr>Equation</vt:lpstr>
      <vt:lpstr>Worksheet</vt:lpstr>
      <vt:lpstr>Introduction to  Machine Learning Algorithms</vt:lpstr>
      <vt:lpstr>K Nearest Neighbors Classification</vt:lpstr>
      <vt:lpstr>Motivation</vt:lpstr>
      <vt:lpstr>Nearest Neighbor Classifier</vt:lpstr>
      <vt:lpstr>Nearest Neighbor Algorithm</vt:lpstr>
      <vt:lpstr>Decision Trees</vt:lpstr>
      <vt:lpstr>What is a Decision Tree?</vt:lpstr>
      <vt:lpstr>Predicting Commute Time</vt:lpstr>
      <vt:lpstr>Decision Tree Algorithms</vt:lpstr>
      <vt:lpstr>Identifying the Best Attributes</vt:lpstr>
      <vt:lpstr>ID3 Heuristic</vt:lpstr>
      <vt:lpstr>Bayesian Classification</vt:lpstr>
      <vt:lpstr>PowerPoint Presentation</vt:lpstr>
      <vt:lpstr>PowerPoint Presentation</vt:lpstr>
      <vt:lpstr>Naïve Bayes Classifier (I)</vt:lpstr>
      <vt:lpstr>Play-tennis example: estimating P(xi|C)</vt:lpstr>
      <vt:lpstr>Play-tennis example: classifying X</vt:lpstr>
      <vt:lpstr>AdaBoost </vt:lpstr>
      <vt:lpstr>PowerPoint Presentation</vt:lpstr>
      <vt:lpstr>General Idea of AdaBoost</vt:lpstr>
      <vt:lpstr>A toy example</vt:lpstr>
      <vt:lpstr>A toy example(cont’d)</vt:lpstr>
      <vt:lpstr>Logistic Regression Classification</vt:lpstr>
      <vt:lpstr>Turning Regression Into Classification</vt:lpstr>
      <vt:lpstr>Logistic Function</vt:lpstr>
      <vt:lpstr>Support Vector Machine Classification</vt:lpstr>
      <vt:lpstr>PowerPoint Presentation</vt:lpstr>
      <vt:lpstr>PowerPoint Presentation</vt:lpstr>
      <vt:lpstr>PowerPoint Presentation</vt:lpstr>
      <vt:lpstr>Neural Network</vt:lpstr>
      <vt:lpstr>Perceptron Learning Algorithm</vt:lpstr>
      <vt:lpstr>Perceptron Node – Threshold Logic Unit</vt:lpstr>
      <vt:lpstr>A Multilayer Neural Network  (Multilayer Perceptron (MLP))</vt:lpstr>
      <vt:lpstr>Big Data – Deep Learning</vt:lpstr>
      <vt:lpstr>What is it? The 4 v’s of Big Data</vt:lpstr>
      <vt:lpstr>What is Deep Learning?</vt:lpstr>
      <vt:lpstr>Example – the human visual system</vt:lpstr>
      <vt:lpstr>V1 type representations can be learned using sparse coding…</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Jeff Fortuna</dc:creator>
  <cp:lastModifiedBy>Jeff Fortuna</cp:lastModifiedBy>
  <cp:revision>214</cp:revision>
  <dcterms:created xsi:type="dcterms:W3CDTF">2006-12-27T20:16:36Z</dcterms:created>
  <dcterms:modified xsi:type="dcterms:W3CDTF">2023-09-06T18:22:06Z</dcterms:modified>
</cp:coreProperties>
</file>