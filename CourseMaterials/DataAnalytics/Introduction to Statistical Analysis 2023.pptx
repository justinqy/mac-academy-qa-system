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31"/>
  </p:notesMasterIdLst>
  <p:sldIdLst>
    <p:sldId id="256" r:id="rId2"/>
    <p:sldId id="259" r:id="rId3"/>
    <p:sldId id="260" r:id="rId4"/>
    <p:sldId id="261" r:id="rId5"/>
    <p:sldId id="257" r:id="rId6"/>
    <p:sldId id="297" r:id="rId7"/>
    <p:sldId id="298" r:id="rId8"/>
    <p:sldId id="311" r:id="rId9"/>
    <p:sldId id="312" r:id="rId10"/>
    <p:sldId id="313" r:id="rId11"/>
    <p:sldId id="314" r:id="rId12"/>
    <p:sldId id="315" r:id="rId13"/>
    <p:sldId id="320" r:id="rId14"/>
    <p:sldId id="316" r:id="rId15"/>
    <p:sldId id="318" r:id="rId16"/>
    <p:sldId id="319" r:id="rId17"/>
    <p:sldId id="263" r:id="rId18"/>
    <p:sldId id="321" r:id="rId19"/>
    <p:sldId id="322" r:id="rId20"/>
    <p:sldId id="323" r:id="rId21"/>
    <p:sldId id="296" r:id="rId22"/>
    <p:sldId id="324" r:id="rId23"/>
    <p:sldId id="325" r:id="rId24"/>
    <p:sldId id="326" r:id="rId25"/>
    <p:sldId id="264" r:id="rId26"/>
    <p:sldId id="327" r:id="rId27"/>
    <p:sldId id="328" r:id="rId28"/>
    <p:sldId id="329" r:id="rId29"/>
    <p:sldId id="330" r:id="rId30"/>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75" autoAdjust="0"/>
  </p:normalViewPr>
  <p:slideViewPr>
    <p:cSldViewPr>
      <p:cViewPr varScale="1">
        <p:scale>
          <a:sx n="153" d="100"/>
          <a:sy n="153" d="100"/>
        </p:scale>
        <p:origin x="1868" y="10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18-09-10T22:58:28.190"/>
    </inkml:context>
    <inkml:brush xml:id="br0">
      <inkml:brushProperty name="width" value="0.1" units="cm"/>
      <inkml:brushProperty name="height" value="0.1" units="cm"/>
      <inkml:brushProperty name="color" value="#AE198D"/>
      <inkml:brushProperty name="inkEffects" value="galaxy"/>
      <inkml:brushProperty name="anchorX" value="-18220.04102"/>
      <inkml:brushProperty name="anchorY" value="-12984.88477"/>
      <inkml:brushProperty name="scaleFactor" value="0.5"/>
    </inkml:brush>
  </inkml:definitions>
  <inkml:trace contextRef="#ctx0" brushRef="#br0">1233 7 9877 0 0,'0'0'0'0'0,"0"0"656"0"0,0 0-683 0 0,0 0 61 0 0,0 0-36 0 0,0 0-38 0 0,0 0 53 0 0,0 0-705 0 0,0 0 428 0 0,0 0-46 0 0,0 0-47 0 0,0 0-46 0 0,0 0-47 0 0,0 0-47 0 0,0 0-46 0 0,0 0-395 0 0,0 0 175 0 0,0 0-69 0 0,0 0-70 0 0,0 0-69 0 0,0 0-70 0 0,0 0-69 0 0,0 0-69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18-09-12T02:48:51.031"/>
    </inkml:context>
    <inkml:brush xml:id="br0">
      <inkml:brushProperty name="width" value="0.1" units="cm"/>
      <inkml:brushProperty name="height" value="0.1" units="cm"/>
      <inkml:brushProperty name="color" value="#AE198D"/>
      <inkml:brushProperty name="inkEffects" value="galaxy"/>
      <inkml:brushProperty name="anchorX" value="-117360.72656"/>
      <inkml:brushProperty name="anchorY" value="-102967.44531"/>
      <inkml:brushProperty name="scaleFactor" value="0.5"/>
    </inkml:brush>
  </inkml:definitions>
  <inkml:trace contextRef="#ctx0" brushRef="#br0">72 929 1151 0 0,'2'0'-175'0'0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18-09-11T00:18:56.728"/>
    </inkml:context>
    <inkml:brush xml:id="br0">
      <inkml:brushProperty name="width" value="0.1" units="cm"/>
      <inkml:brushProperty name="height" value="0.1" units="cm"/>
      <inkml:brushProperty name="color" value="#66CC00"/>
    </inkml:brush>
  </inkml:definitions>
  <inkml:trace contextRef="#ctx0" brushRef="#br0">12440 1734 22794 0 0,'0'0'219'0'0,"0"0"-109"0"0,0 0-47 0 0,0 0-14 0 0,0 0 9 0 0,0 0-89 0 0,0 0-68 0 0,0 0-66 0 0,0 0-100 0 0,-1 0-18 0 0,1 0 101 0 0,0 1-35 0 0,0-1-40 0 0,-1 0-46 0 0,1 0-52 0 0,-1 0-57 0 0,-1 0-238 0 0,1 0 278 0 0,0 0-33 0 0,-1 1-35 0 0,1-1-37 0 0,-1 0-38 0 0,0 0-41 0 0,-1 1-277 0 0,0-1-74 0 0,-1 1-324 0 0,-1-1-97 0 0,-1 1-86 0 0,1 0-75 0 0,-3 0-383 0 0,1 0-74 0 0,-3 0-460 0 0,-4 1-1285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18-09-11T00:36:50.830"/>
    </inkml:context>
    <inkml:brush xml:id="br0">
      <inkml:brushProperty name="width" value="0.1" units="cm"/>
      <inkml:brushProperty name="height" value="0.1" units="cm"/>
      <inkml:brushProperty name="color" value="#AE198D"/>
      <inkml:brushProperty name="inkEffects" value="galaxy"/>
      <inkml:brushProperty name="anchorX" value="-279107.125"/>
      <inkml:brushProperty name="anchorY" value="-259580.20313"/>
      <inkml:brushProperty name="scaleFactor" value="0.5"/>
    </inkml:brush>
  </inkml:definitions>
  <inkml:trace contextRef="#ctx0" brushRef="#br0">0 13 20938 0 0,'0'0'0'0'0,"0"0"1184"0"0,0 0-149 0 0,0 0-329 0 0,0 0 2 0 0,0 0-642 0 0,0 0 120 0 0,0 0-44 0 0,0 0-42 0 0,0 0 126 0 0,0 0-148 0 0,0 0 170 0 0,0 0-101 0 0,0 0-107 0 0,1-1-70 0 0,-1 1-197 0 0,1 0 62 0 0,-1-1-46 0 0,0 1-45 0 0,0-1-325 0 0,1 1 267 0 0,-1 0-40 0 0,0-1-40 0 0,0 1-40 0 0,1 0-40 0 0,-1-1-41 0 0,0 1-39 0 0,0-1-594 0 0,0 1 313 0 0,1-1-77 0 0,-1 1-76 0 0,0-1-77 0 0,0 1-76 0 0,0-1-77 0 0,1 1-76 0 0,-1-1-172 0 0,0 1-16 0 0,0-1-82 0 0,0 1-84 0 0,0-1-82 0 0,0 1-83 0 0,1-1-83 0 0,-1 1-81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18-09-11T00:36:51.375"/>
    </inkml:context>
    <inkml:brush xml:id="br0">
      <inkml:brushProperty name="width" value="0.1" units="cm"/>
      <inkml:brushProperty name="height" value="0.1" units="cm"/>
      <inkml:brushProperty name="color" value="#AE198D"/>
      <inkml:brushProperty name="inkEffects" value="galaxy"/>
      <inkml:brushProperty name="anchorX" value="-279839.46875"/>
      <inkml:brushProperty name="anchorY" value="-260292.71875"/>
      <inkml:brushProperty name="scaleFactor" value="0.5"/>
    </inkml:brush>
  </inkml:definitions>
  <inkml:trace contextRef="#ctx0" brushRef="#br0">0 28 21498 0 0,'0'0'0'0'0,"0"0"1392"0"0,0 0-36 0 0,0 0-757 0 0,0 0-19 0 0,0 0-444 0 0,0 0 34 0 0,0 0-36 0 0,0 0-38 0 0,0 0 125 0 0,0 0-127 0 0,2-4 234 0 0,1-1-168 0 0,1-1-98 0 0,-1 2-54 0 0,-1 0 2 0 0,-1 3-253 0 0,1 0-37 0 0,-2 0-10 0 0,1 1 6 0 0,-1-1-49 0 0,1 1-48 0 0,0 0-329 0 0,-1 0 307 0 0,1 0-46 0 0,-1 0-44 0 0,1-1-46 0 0,-1 1-45 0 0,1 0-46 0 0,-1 0-44 0 0,1 0-1241 0 0,0 0 716 0 0,0 0-123 0 0,0 0-125 0 0,0 0-124 0 0,-1 0-123 0 0,1 0-125 0 0,0 0-124 0 0,0 0 2493 0 0,0 0-1791 0 0,0 0 47 0 0,-1 0 49 0 0,1 0 49 0 0,0 0 48 0 0,0 0 49 0 0,0 0 49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18-09-12T02:50:56.434"/>
    </inkml:context>
    <inkml:brush xml:id="br0">
      <inkml:brushProperty name="width" value="0.1" units="cm"/>
      <inkml:brushProperty name="height" value="0.1" units="cm"/>
      <inkml:brushProperty name="color" value="#AE198D"/>
      <inkml:brushProperty name="inkEffects" value="galaxy"/>
      <inkml:brushProperty name="anchorX" value="-283516.15625"/>
      <inkml:brushProperty name="anchorY" value="-266130.25"/>
      <inkml:brushProperty name="scaleFactor" value="0.5"/>
    </inkml:brush>
    <inkml:brush xml:id="br1">
      <inkml:brushProperty name="width" value="0.1" units="cm"/>
      <inkml:brushProperty name="height" value="0.1" units="cm"/>
      <inkml:brushProperty name="color" value="#AE198D"/>
      <inkml:brushProperty name="inkEffects" value="galaxy"/>
      <inkml:brushProperty name="anchorX" value="-336749.15625"/>
      <inkml:brushProperty name="anchorY" value="-302173.3125"/>
      <inkml:brushProperty name="scaleFactor" value="0.5"/>
    </inkml:brush>
    <inkml:brush xml:id="br2">
      <inkml:brushProperty name="width" value="0.1" units="cm"/>
      <inkml:brushProperty name="height" value="0.1" units="cm"/>
      <inkml:brushProperty name="color" value="#AE198D"/>
      <inkml:brushProperty name="inkEffects" value="galaxy"/>
      <inkml:brushProperty name="anchorX" value="-422264.09375"/>
      <inkml:brushProperty name="anchorY" value="-364237.4375"/>
      <inkml:brushProperty name="scaleFactor" value="0.5"/>
    </inkml:brush>
    <inkml:brush xml:id="br3">
      <inkml:brushProperty name="width" value="0.1" units="cm"/>
      <inkml:brushProperty name="height" value="0.1" units="cm"/>
      <inkml:brushProperty name="color" value="#AE198D"/>
      <inkml:brushProperty name="inkEffects" value="galaxy"/>
      <inkml:brushProperty name="anchorX" value="-425107.21875"/>
      <inkml:brushProperty name="anchorY" value="-364905.59375"/>
      <inkml:brushProperty name="scaleFactor" value="0.5"/>
    </inkml:brush>
    <inkml:brush xml:id="br4">
      <inkml:brushProperty name="width" value="0.1" units="cm"/>
      <inkml:brushProperty name="height" value="0.1" units="cm"/>
      <inkml:brushProperty name="color" value="#AE198D"/>
      <inkml:brushProperty name="inkEffects" value="galaxy"/>
      <inkml:brushProperty name="anchorX" value="-436183.875"/>
      <inkml:brushProperty name="anchorY" value="-380571.65625"/>
      <inkml:brushProperty name="scaleFactor" value="0.5"/>
    </inkml:brush>
  </inkml:definitions>
  <inkml:trace contextRef="#ctx0" brushRef="#br0">1690 2048 4535 0 0,'-1'-1'-585'0'0,"-1"0"-198"0"0,0-1 53 0 0,0 1 53 0 0,0-1 53 0 0,0 1 54 0 0</inkml:trace>
  <inkml:trace contextRef="#ctx0" brushRef="#br1" timeOffset="992.33">13865 2930 1602 0 0,'-1'1'-526'0'0,"1"0"-77"0"0,-1 0-77 0 0</inkml:trace>
  <inkml:trace contextRef="#ctx0" brushRef="#br2" timeOffset="-1367.35">10844 2334 7043 0 0,'0'0'0'0'0,"0"0"1521"0"0,0 0-939 0 0,0 0-66 0 0,0 0 40 0 0,0 0 39 0 0,0 0-814 0 0,0 0 314 0 0,0 0-126 0 0,0 0-126 0 0,0 0 1131 0 0,0 0-732 0 0,0 0 40 0 0,0 0 42 0 0,0 0 41 0 0,0 0 40 0 0,0 0 42 0 0,0 0 41 0 0,0 0 303 0 0,0 0 416 0 0,0 0-1100 0 0,0 0 135 0 0,0 0-107 0 0,0 0-109 0 0,0 0 1145 0 0,0 0-269 0 0,0 0-602 0 0,0 0-14 0 0,0 0-15 0 0,0 0-61 0 0,0 0 171 0 0,0 0-90 0 0,0 0-64 0 0,0 0 45 0 0</inkml:trace>
  <inkml:trace contextRef="#ctx0" brushRef="#br3" timeOffset="-1369.35">10832 2286 14967 0 0,'0'0'0'0'0,"0"0"1072"0"0,0 0-622 0 0,0 0-14 0 0,0 0 151 0 0,0 0-11 0 0,0 0-220 0 0,0 0 6 0 0,0 2 74 0 0,1-1-77 0 0,-1 2 127 0 0,1 2-111 0 0,0 1 39 0 0,4 10 472 0 0,-2-5-567 0 0,-2-7-221 0 0</inkml:trace>
  <inkml:trace contextRef="#ctx0" brushRef="#br4" timeOffset="550.51">12748 3989 24171 0 0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18-09-12T02:50:54.524"/>
    </inkml:context>
    <inkml:brush xml:id="br0">
      <inkml:brushProperty name="width" value="0.1" units="cm"/>
      <inkml:brushProperty name="height" value="0.1" units="cm"/>
      <inkml:brushProperty name="color" value="#66CC00"/>
    </inkml:brush>
  </inkml:definitions>
  <inkml:trace contextRef="#ctx0" brushRef="#br0">1599 1550 5266 0 0,'-1'0'-123'0'0,"0"0"41"0"0,0 0 41 0 0,0 0 39 0 0,0 0 35 0 0,0 0 35 0 0,-1 0 162 0 0,0 0 50 0 0,0 0 69 0 0,0 0 59 0 0,1 0 49 0 0,-3 0 544 0 0,-5 0 1505 0 0,6 0-1800 0 0,2 0-416 0 0</inkml:trace>
  <inkml:trace contextRef="#ctx0" brushRef="#br0" timeOffset="-1">1567 1550 24061 0 0,'13'-16'10'0'0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18-09-11T01:11:13.657"/>
    </inkml:context>
    <inkml:brush xml:id="br0">
      <inkml:brushProperty name="width" value="0.1" units="cm"/>
      <inkml:brushProperty name="height" value="0.1" units="cm"/>
      <inkml:brushProperty name="color" value="#66CC00"/>
    </inkml:brush>
  </inkml:definitions>
  <inkml:trace contextRef="#ctx0" brushRef="#br0">0 0 10789 0 0,'0'4'-364'0'0,"0"-2"83"0"0,1 0 4 0 0,-1 0-52 0 0,1 0-62 0 0,1 0-53 0 0,-1-1-139 0 0,2 2-350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1B0653-E0B8-4055-9E2D-76BC87A65A6E}" type="datetimeFigureOut">
              <a:rPr lang="en-US" smtClean="0"/>
              <a:t>5/2/2023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CC18B4-D599-44FB-9DAB-C9054DA3DA17}" type="slidenum">
              <a:rPr lang="en-US" smtClean="0"/>
              <a:t>‹#›</a:t>
            </a:fld>
            <a:endParaRPr lang="en-US"/>
          </a:p>
        </p:txBody>
      </p:sp>
    </p:spTree>
    <p:extLst>
      <p:ext uri="{BB962C8B-B14F-4D97-AF65-F5344CB8AC3E}">
        <p14:creationId xmlns:p14="http://schemas.microsoft.com/office/powerpoint/2010/main" val="23911813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0CC18B4-D599-44FB-9DAB-C9054DA3DA17}" type="slidenum">
              <a:rPr lang="en-US" smtClean="0"/>
              <a:t>1</a:t>
            </a:fld>
            <a:endParaRPr lang="en-US"/>
          </a:p>
        </p:txBody>
      </p:sp>
    </p:spTree>
    <p:extLst>
      <p:ext uri="{BB962C8B-B14F-4D97-AF65-F5344CB8AC3E}">
        <p14:creationId xmlns:p14="http://schemas.microsoft.com/office/powerpoint/2010/main" val="7553248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406B4B47-46AD-4498-8093-703748F900CB}"/>
              </a:ext>
            </a:extLst>
          </p:cNvPr>
          <p:cNvSpPr>
            <a:spLocks noGrp="1" noChangeArrowheads="1"/>
          </p:cNvSpPr>
          <p:nvPr>
            <p:ph type="hdr" sz="quarter"/>
          </p:nvPr>
        </p:nvSpPr>
        <p:spPr>
          <a:ln/>
        </p:spPr>
        <p:txBody>
          <a:bodyPr/>
          <a:lstStyle/>
          <a:p>
            <a:r>
              <a:rPr lang="en-US" altLang="en-US"/>
              <a:t>Random Variables and Random Vectors</a:t>
            </a:r>
          </a:p>
        </p:txBody>
      </p:sp>
      <p:sp>
        <p:nvSpPr>
          <p:cNvPr id="5" name="Rectangle 3">
            <a:extLst>
              <a:ext uri="{FF2B5EF4-FFF2-40B4-BE49-F238E27FC236}">
                <a16:creationId xmlns:a16="http://schemas.microsoft.com/office/drawing/2014/main" id="{250A5307-689E-42A4-BC70-56DBFAD32B8C}"/>
              </a:ext>
            </a:extLst>
          </p:cNvPr>
          <p:cNvSpPr>
            <a:spLocks noGrp="1" noChangeArrowheads="1"/>
          </p:cNvSpPr>
          <p:nvPr>
            <p:ph type="dt" idx="1"/>
          </p:nvPr>
        </p:nvSpPr>
        <p:spPr>
          <a:ln/>
        </p:spPr>
        <p:txBody>
          <a:bodyPr/>
          <a:lstStyle/>
          <a:p>
            <a:fld id="{1CBFE5CE-308B-4038-921E-1A2BDA868C77}" type="datetime1">
              <a:rPr lang="en-US" altLang="en-US"/>
              <a:pPr/>
              <a:t>5/2/2023</a:t>
            </a:fld>
            <a:endParaRPr lang="en-US" altLang="en-US"/>
          </a:p>
        </p:txBody>
      </p:sp>
      <p:sp>
        <p:nvSpPr>
          <p:cNvPr id="6" name="Rectangle 6">
            <a:extLst>
              <a:ext uri="{FF2B5EF4-FFF2-40B4-BE49-F238E27FC236}">
                <a16:creationId xmlns:a16="http://schemas.microsoft.com/office/drawing/2014/main" id="{00302E28-E956-4EE3-A6B2-814DA5DF0805}"/>
              </a:ext>
            </a:extLst>
          </p:cNvPr>
          <p:cNvSpPr>
            <a:spLocks noGrp="1" noChangeArrowheads="1"/>
          </p:cNvSpPr>
          <p:nvPr>
            <p:ph type="ftr" sz="quarter" idx="4"/>
          </p:nvPr>
        </p:nvSpPr>
        <p:spPr>
          <a:ln/>
        </p:spPr>
        <p:txBody>
          <a:bodyPr/>
          <a:lstStyle/>
          <a:p>
            <a:r>
              <a:rPr lang="en-US" altLang="en-US"/>
              <a:t>Tim K. Marks</a:t>
            </a:r>
          </a:p>
        </p:txBody>
      </p:sp>
      <p:sp>
        <p:nvSpPr>
          <p:cNvPr id="7" name="Rectangle 7">
            <a:extLst>
              <a:ext uri="{FF2B5EF4-FFF2-40B4-BE49-F238E27FC236}">
                <a16:creationId xmlns:a16="http://schemas.microsoft.com/office/drawing/2014/main" id="{1C9915BA-292D-4D6D-9065-B44BBBF458C3}"/>
              </a:ext>
            </a:extLst>
          </p:cNvPr>
          <p:cNvSpPr>
            <a:spLocks noGrp="1" noChangeArrowheads="1"/>
          </p:cNvSpPr>
          <p:nvPr>
            <p:ph type="sldNum" sz="quarter" idx="5"/>
          </p:nvPr>
        </p:nvSpPr>
        <p:spPr>
          <a:ln/>
        </p:spPr>
        <p:txBody>
          <a:bodyPr/>
          <a:lstStyle/>
          <a:p>
            <a:fld id="{7DC79EE7-1010-4748-AB6C-167CB43F8B5C}" type="slidenum">
              <a:rPr lang="en-US" altLang="en-US"/>
              <a:pPr/>
              <a:t>18</a:t>
            </a:fld>
            <a:endParaRPr lang="en-US" altLang="en-US"/>
          </a:p>
        </p:txBody>
      </p:sp>
      <p:sp>
        <p:nvSpPr>
          <p:cNvPr id="56322" name="Rectangle 2">
            <a:extLst>
              <a:ext uri="{FF2B5EF4-FFF2-40B4-BE49-F238E27FC236}">
                <a16:creationId xmlns:a16="http://schemas.microsoft.com/office/drawing/2014/main" id="{36DA2941-3699-4488-BDC2-CA3591FF7FBB}"/>
              </a:ext>
            </a:extLst>
          </p:cNvPr>
          <p:cNvSpPr>
            <a:spLocks noGrp="1" noRot="1" noChangeAspect="1" noChangeArrowheads="1" noTextEdit="1"/>
          </p:cNvSpPr>
          <p:nvPr>
            <p:ph type="sldImg"/>
          </p:nvPr>
        </p:nvSpPr>
        <p:spPr>
          <a:ln/>
        </p:spPr>
      </p:sp>
      <p:sp>
        <p:nvSpPr>
          <p:cNvPr id="56323" name="Rectangle 3">
            <a:extLst>
              <a:ext uri="{FF2B5EF4-FFF2-40B4-BE49-F238E27FC236}">
                <a16:creationId xmlns:a16="http://schemas.microsoft.com/office/drawing/2014/main" id="{2A33EF69-5716-4DAC-A663-BED5CD5D0AC2}"/>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8708479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5DB18EEE-493A-488D-AE5B-04984E069264}"/>
              </a:ext>
            </a:extLst>
          </p:cNvPr>
          <p:cNvSpPr>
            <a:spLocks noGrp="1" noChangeArrowheads="1"/>
          </p:cNvSpPr>
          <p:nvPr>
            <p:ph type="hdr" sz="quarter"/>
          </p:nvPr>
        </p:nvSpPr>
        <p:spPr>
          <a:ln/>
        </p:spPr>
        <p:txBody>
          <a:bodyPr/>
          <a:lstStyle/>
          <a:p>
            <a:r>
              <a:rPr lang="en-US" altLang="en-US"/>
              <a:t>Random Variables and Random Vectors</a:t>
            </a:r>
          </a:p>
        </p:txBody>
      </p:sp>
      <p:sp>
        <p:nvSpPr>
          <p:cNvPr id="5" name="Rectangle 3">
            <a:extLst>
              <a:ext uri="{FF2B5EF4-FFF2-40B4-BE49-F238E27FC236}">
                <a16:creationId xmlns:a16="http://schemas.microsoft.com/office/drawing/2014/main" id="{10278C69-A997-40E3-96EF-6E7379B45C63}"/>
              </a:ext>
            </a:extLst>
          </p:cNvPr>
          <p:cNvSpPr>
            <a:spLocks noGrp="1" noChangeArrowheads="1"/>
          </p:cNvSpPr>
          <p:nvPr>
            <p:ph type="dt" idx="1"/>
          </p:nvPr>
        </p:nvSpPr>
        <p:spPr>
          <a:ln/>
        </p:spPr>
        <p:txBody>
          <a:bodyPr/>
          <a:lstStyle/>
          <a:p>
            <a:fld id="{7FD08823-CE71-4E2D-8CA9-56CF1C2245DD}" type="datetime1">
              <a:rPr lang="en-US" altLang="en-US"/>
              <a:pPr/>
              <a:t>5/2/2023</a:t>
            </a:fld>
            <a:endParaRPr lang="en-US" altLang="en-US"/>
          </a:p>
        </p:txBody>
      </p:sp>
      <p:sp>
        <p:nvSpPr>
          <p:cNvPr id="6" name="Rectangle 6">
            <a:extLst>
              <a:ext uri="{FF2B5EF4-FFF2-40B4-BE49-F238E27FC236}">
                <a16:creationId xmlns:a16="http://schemas.microsoft.com/office/drawing/2014/main" id="{76A6DCC3-D727-4877-A67D-8A07DD4A4417}"/>
              </a:ext>
            </a:extLst>
          </p:cNvPr>
          <p:cNvSpPr>
            <a:spLocks noGrp="1" noChangeArrowheads="1"/>
          </p:cNvSpPr>
          <p:nvPr>
            <p:ph type="ftr" sz="quarter" idx="4"/>
          </p:nvPr>
        </p:nvSpPr>
        <p:spPr>
          <a:ln/>
        </p:spPr>
        <p:txBody>
          <a:bodyPr/>
          <a:lstStyle/>
          <a:p>
            <a:r>
              <a:rPr lang="en-US" altLang="en-US"/>
              <a:t>Tim K. Marks</a:t>
            </a:r>
          </a:p>
        </p:txBody>
      </p:sp>
      <p:sp>
        <p:nvSpPr>
          <p:cNvPr id="7" name="Rectangle 7">
            <a:extLst>
              <a:ext uri="{FF2B5EF4-FFF2-40B4-BE49-F238E27FC236}">
                <a16:creationId xmlns:a16="http://schemas.microsoft.com/office/drawing/2014/main" id="{5CB8222C-11C8-4B0E-A23B-C5DF6A4ECA10}"/>
              </a:ext>
            </a:extLst>
          </p:cNvPr>
          <p:cNvSpPr>
            <a:spLocks noGrp="1" noChangeArrowheads="1"/>
          </p:cNvSpPr>
          <p:nvPr>
            <p:ph type="sldNum" sz="quarter" idx="5"/>
          </p:nvPr>
        </p:nvSpPr>
        <p:spPr>
          <a:ln/>
        </p:spPr>
        <p:txBody>
          <a:bodyPr/>
          <a:lstStyle/>
          <a:p>
            <a:fld id="{D72AEE02-E7BD-4C2D-9C81-6D4AA67FB830}" type="slidenum">
              <a:rPr lang="en-US" altLang="en-US"/>
              <a:pPr/>
              <a:t>19</a:t>
            </a:fld>
            <a:endParaRPr lang="en-US" altLang="en-US"/>
          </a:p>
        </p:txBody>
      </p:sp>
      <p:sp>
        <p:nvSpPr>
          <p:cNvPr id="57346" name="Rectangle 2">
            <a:extLst>
              <a:ext uri="{FF2B5EF4-FFF2-40B4-BE49-F238E27FC236}">
                <a16:creationId xmlns:a16="http://schemas.microsoft.com/office/drawing/2014/main" id="{76CBEEA8-F87D-46E8-969F-AEBC15CD43D0}"/>
              </a:ext>
            </a:extLst>
          </p:cNvPr>
          <p:cNvSpPr>
            <a:spLocks noGrp="1" noRot="1" noChangeAspect="1" noChangeArrowheads="1" noTextEdit="1"/>
          </p:cNvSpPr>
          <p:nvPr>
            <p:ph type="sldImg"/>
          </p:nvPr>
        </p:nvSpPr>
        <p:spPr>
          <a:ln/>
        </p:spPr>
      </p:sp>
      <p:sp>
        <p:nvSpPr>
          <p:cNvPr id="57347" name="Rectangle 3">
            <a:extLst>
              <a:ext uri="{FF2B5EF4-FFF2-40B4-BE49-F238E27FC236}">
                <a16:creationId xmlns:a16="http://schemas.microsoft.com/office/drawing/2014/main" id="{7DB65A9E-46F4-480B-A473-04E004635AAB}"/>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42832867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9635E1F8-89F8-470E-983D-539ACA71A175}"/>
              </a:ext>
            </a:extLst>
          </p:cNvPr>
          <p:cNvSpPr>
            <a:spLocks noGrp="1" noChangeArrowheads="1"/>
          </p:cNvSpPr>
          <p:nvPr>
            <p:ph type="hdr" sz="quarter"/>
          </p:nvPr>
        </p:nvSpPr>
        <p:spPr>
          <a:ln/>
        </p:spPr>
        <p:txBody>
          <a:bodyPr/>
          <a:lstStyle/>
          <a:p>
            <a:r>
              <a:rPr lang="en-US" altLang="en-US"/>
              <a:t>Random Variables and Random Vectors</a:t>
            </a:r>
          </a:p>
        </p:txBody>
      </p:sp>
      <p:sp>
        <p:nvSpPr>
          <p:cNvPr id="5" name="Rectangle 3">
            <a:extLst>
              <a:ext uri="{FF2B5EF4-FFF2-40B4-BE49-F238E27FC236}">
                <a16:creationId xmlns:a16="http://schemas.microsoft.com/office/drawing/2014/main" id="{CE50A24A-B2EF-4042-9ED9-5EE69F30DD1E}"/>
              </a:ext>
            </a:extLst>
          </p:cNvPr>
          <p:cNvSpPr>
            <a:spLocks noGrp="1" noChangeArrowheads="1"/>
          </p:cNvSpPr>
          <p:nvPr>
            <p:ph type="dt" idx="1"/>
          </p:nvPr>
        </p:nvSpPr>
        <p:spPr>
          <a:ln/>
        </p:spPr>
        <p:txBody>
          <a:bodyPr/>
          <a:lstStyle/>
          <a:p>
            <a:fld id="{C6376979-7BC0-4B37-8BAE-56F1A97728DC}" type="datetime1">
              <a:rPr lang="en-US" altLang="en-US"/>
              <a:pPr/>
              <a:t>5/2/2023</a:t>
            </a:fld>
            <a:endParaRPr lang="en-US" altLang="en-US"/>
          </a:p>
        </p:txBody>
      </p:sp>
      <p:sp>
        <p:nvSpPr>
          <p:cNvPr id="6" name="Rectangle 6">
            <a:extLst>
              <a:ext uri="{FF2B5EF4-FFF2-40B4-BE49-F238E27FC236}">
                <a16:creationId xmlns:a16="http://schemas.microsoft.com/office/drawing/2014/main" id="{3AFAC3F3-4D63-42B8-A178-1F74DEC142DC}"/>
              </a:ext>
            </a:extLst>
          </p:cNvPr>
          <p:cNvSpPr>
            <a:spLocks noGrp="1" noChangeArrowheads="1"/>
          </p:cNvSpPr>
          <p:nvPr>
            <p:ph type="ftr" sz="quarter" idx="4"/>
          </p:nvPr>
        </p:nvSpPr>
        <p:spPr>
          <a:ln/>
        </p:spPr>
        <p:txBody>
          <a:bodyPr/>
          <a:lstStyle/>
          <a:p>
            <a:r>
              <a:rPr lang="en-US" altLang="en-US"/>
              <a:t>Tim K. Marks</a:t>
            </a:r>
          </a:p>
        </p:txBody>
      </p:sp>
      <p:sp>
        <p:nvSpPr>
          <p:cNvPr id="7" name="Rectangle 7">
            <a:extLst>
              <a:ext uri="{FF2B5EF4-FFF2-40B4-BE49-F238E27FC236}">
                <a16:creationId xmlns:a16="http://schemas.microsoft.com/office/drawing/2014/main" id="{4F8008C3-DE9C-47A8-AC58-795DEB4BD196}"/>
              </a:ext>
            </a:extLst>
          </p:cNvPr>
          <p:cNvSpPr>
            <a:spLocks noGrp="1" noChangeArrowheads="1"/>
          </p:cNvSpPr>
          <p:nvPr>
            <p:ph type="sldNum" sz="quarter" idx="5"/>
          </p:nvPr>
        </p:nvSpPr>
        <p:spPr>
          <a:ln/>
        </p:spPr>
        <p:txBody>
          <a:bodyPr/>
          <a:lstStyle/>
          <a:p>
            <a:fld id="{9DEFCB12-2E5A-45F0-85D3-F0B446E67059}" type="slidenum">
              <a:rPr lang="en-US" altLang="en-US"/>
              <a:pPr/>
              <a:t>20</a:t>
            </a:fld>
            <a:endParaRPr lang="en-US" altLang="en-US"/>
          </a:p>
        </p:txBody>
      </p:sp>
      <p:sp>
        <p:nvSpPr>
          <p:cNvPr id="58370" name="Rectangle 2">
            <a:extLst>
              <a:ext uri="{FF2B5EF4-FFF2-40B4-BE49-F238E27FC236}">
                <a16:creationId xmlns:a16="http://schemas.microsoft.com/office/drawing/2014/main" id="{A7B58115-753F-456F-9492-24EA363F273F}"/>
              </a:ext>
            </a:extLst>
          </p:cNvPr>
          <p:cNvSpPr>
            <a:spLocks noGrp="1" noRot="1" noChangeAspect="1" noChangeArrowheads="1" noTextEdit="1"/>
          </p:cNvSpPr>
          <p:nvPr>
            <p:ph type="sldImg"/>
          </p:nvPr>
        </p:nvSpPr>
        <p:spPr>
          <a:ln/>
        </p:spPr>
      </p:sp>
      <p:sp>
        <p:nvSpPr>
          <p:cNvPr id="58371" name="Rectangle 3">
            <a:extLst>
              <a:ext uri="{FF2B5EF4-FFF2-40B4-BE49-F238E27FC236}">
                <a16:creationId xmlns:a16="http://schemas.microsoft.com/office/drawing/2014/main" id="{0DF6B96D-C64A-4342-9ACA-3ACF4E8CD714}"/>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2351317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7"/>
          <p:cNvSpPr>
            <a:spLocks noChangeArrowheads="1"/>
          </p:cNvSpPr>
          <p:nvPr/>
        </p:nvSpPr>
        <p:spPr bwMode="auto">
          <a:xfrm>
            <a:off x="609600" y="1219200"/>
            <a:ext cx="7924800" cy="914400"/>
          </a:xfrm>
          <a:custGeom>
            <a:avLst/>
            <a:gdLst/>
            <a:ahLst/>
            <a:cxnLst>
              <a:cxn ang="0">
                <a:pos x="0" y="1000"/>
              </a:cxn>
              <a:cxn ang="0">
                <a:pos x="0" y="0"/>
              </a:cxn>
              <a:cxn ang="0">
                <a:pos x="1000" y="0"/>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p:spPr>
        <p:txBody>
          <a:bodyPr/>
          <a:lstStyle/>
          <a:p>
            <a:pPr>
              <a:defRPr/>
            </a:pPr>
            <a:endParaRPr lang="en-US"/>
          </a:p>
        </p:txBody>
      </p:sp>
      <p:sp>
        <p:nvSpPr>
          <p:cNvPr id="5" name="Line 8"/>
          <p:cNvSpPr>
            <a:spLocks noChangeShapeType="1"/>
          </p:cNvSpPr>
          <p:nvPr/>
        </p:nvSpPr>
        <p:spPr bwMode="auto">
          <a:xfrm>
            <a:off x="1981200" y="3962400"/>
            <a:ext cx="6511925" cy="0"/>
          </a:xfrm>
          <a:prstGeom prst="line">
            <a:avLst/>
          </a:prstGeom>
          <a:noFill/>
          <a:ln w="19050">
            <a:solidFill>
              <a:schemeClr val="accent1"/>
            </a:solidFill>
            <a:round/>
            <a:headEnd/>
            <a:tailEnd/>
          </a:ln>
          <a:effectLst/>
        </p:spPr>
        <p:txBody>
          <a:bodyPr/>
          <a:lstStyle/>
          <a:p>
            <a:pPr>
              <a:defRPr/>
            </a:pPr>
            <a:endParaRPr lang="en-US"/>
          </a:p>
        </p:txBody>
      </p:sp>
      <p:sp>
        <p:nvSpPr>
          <p:cNvPr id="8194" name="Rectangle 2"/>
          <p:cNvSpPr>
            <a:spLocks noGrp="1" noChangeArrowheads="1"/>
          </p:cNvSpPr>
          <p:nvPr>
            <p:ph type="ctrTitle"/>
          </p:nvPr>
        </p:nvSpPr>
        <p:spPr>
          <a:xfrm>
            <a:off x="914400" y="1524000"/>
            <a:ext cx="7623175" cy="1752600"/>
          </a:xfrm>
        </p:spPr>
        <p:txBody>
          <a:bodyPr/>
          <a:lstStyle>
            <a:lvl1pPr>
              <a:defRPr sz="5000"/>
            </a:lvl1pPr>
          </a:lstStyle>
          <a:p>
            <a:r>
              <a:rPr lang="en-US" altLang="en-US"/>
              <a:t>Click to edit Master title style</a:t>
            </a:r>
          </a:p>
        </p:txBody>
      </p:sp>
      <p:sp>
        <p:nvSpPr>
          <p:cNvPr id="8195" name="Rectangle 3"/>
          <p:cNvSpPr>
            <a:spLocks noGrp="1" noChangeArrowheads="1"/>
          </p:cNvSpPr>
          <p:nvPr>
            <p:ph type="subTitle" idx="1"/>
          </p:nvPr>
        </p:nvSpPr>
        <p:spPr>
          <a:xfrm>
            <a:off x="1981200" y="3962400"/>
            <a:ext cx="6553200" cy="1752600"/>
          </a:xfrm>
        </p:spPr>
        <p:txBody>
          <a:bodyPr/>
          <a:lstStyle>
            <a:lvl1pPr marL="0" indent="0">
              <a:buFont typeface="Wingdings" pitchFamily="2" charset="2"/>
              <a:buNone/>
              <a:defRPr sz="2800"/>
            </a:lvl1pPr>
          </a:lstStyle>
          <a:p>
            <a:r>
              <a:rPr lang="en-US" altLang="en-US"/>
              <a:t>Click to edit Master subtitle style</a:t>
            </a:r>
          </a:p>
        </p:txBody>
      </p:sp>
      <p:sp>
        <p:nvSpPr>
          <p:cNvPr id="6" name="Rectangle 4"/>
          <p:cNvSpPr>
            <a:spLocks noGrp="1" noChangeArrowheads="1"/>
          </p:cNvSpPr>
          <p:nvPr>
            <p:ph type="dt" sz="half" idx="10"/>
          </p:nvPr>
        </p:nvSpPr>
        <p:spPr/>
        <p:txBody>
          <a:bodyPr/>
          <a:lstStyle>
            <a:lvl1pPr>
              <a:defRPr/>
            </a:lvl1pPr>
          </a:lstStyle>
          <a:p>
            <a:pPr>
              <a:defRPr/>
            </a:pPr>
            <a:endParaRPr lang="en-US" altLang="en-US"/>
          </a:p>
        </p:txBody>
      </p:sp>
      <p:sp>
        <p:nvSpPr>
          <p:cNvPr id="7" name="Rectangle 5"/>
          <p:cNvSpPr>
            <a:spLocks noGrp="1" noChangeArrowheads="1"/>
          </p:cNvSpPr>
          <p:nvPr>
            <p:ph type="ftr" sz="quarter" idx="11"/>
          </p:nvPr>
        </p:nvSpPr>
        <p:spPr>
          <a:xfrm>
            <a:off x="3124200" y="6243638"/>
            <a:ext cx="2895600" cy="457200"/>
          </a:xfrm>
        </p:spPr>
        <p:txBody>
          <a:bodyPr/>
          <a:lstStyle>
            <a:lvl1pPr>
              <a:defRPr/>
            </a:lvl1pPr>
          </a:lstStyle>
          <a:p>
            <a:pPr>
              <a:defRPr/>
            </a:pPr>
            <a:endParaRPr lang="en-US" altLang="en-US"/>
          </a:p>
        </p:txBody>
      </p:sp>
      <p:sp>
        <p:nvSpPr>
          <p:cNvPr id="8" name="Rectangle 6"/>
          <p:cNvSpPr>
            <a:spLocks noGrp="1" noChangeArrowheads="1"/>
          </p:cNvSpPr>
          <p:nvPr>
            <p:ph type="sldNum" sz="quarter" idx="12"/>
          </p:nvPr>
        </p:nvSpPr>
        <p:spPr/>
        <p:txBody>
          <a:bodyPr/>
          <a:lstStyle>
            <a:lvl1pPr>
              <a:defRPr/>
            </a:lvl1pPr>
          </a:lstStyle>
          <a:p>
            <a:pPr>
              <a:defRPr/>
            </a:pPr>
            <a:fld id="{80C91BA9-DA72-493C-9CAF-B9DAB0BC4AE6}" type="slidenum">
              <a:rPr lang="en-US" altLang="en-US"/>
              <a:pPr>
                <a:defRPr/>
              </a:pPr>
              <a:t>‹#›</a:t>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pPr>
              <a:defRPr/>
            </a:pPr>
            <a:fld id="{E7934D68-701E-4120-BE37-6B12802E2045}" type="slidenum">
              <a:rPr lang="en-US" altLang="en-US"/>
              <a:pPr>
                <a:defRPr/>
              </a:pPr>
              <a:t>‹#›</a:t>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pPr>
              <a:defRPr/>
            </a:pPr>
            <a:fld id="{1CCD10B3-575B-4422-A3D0-6FC94134D5E5}" type="slidenum">
              <a:rPr lang="en-US" altLang="en-US"/>
              <a:pPr>
                <a:defRPr/>
              </a:pPr>
              <a:t>‹#›</a:t>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p:cNvSpPr>
            <a:spLocks noGrp="1" noChangeArrowheads="1"/>
          </p:cNvSpPr>
          <p:nvPr>
            <p:ph type="sldNum" sz="quarter" idx="12"/>
          </p:nvPr>
        </p:nvSpPr>
        <p:spPr>
          <a:ln/>
        </p:spPr>
        <p:txBody>
          <a:bodyPr/>
          <a:lstStyle>
            <a:lvl1pPr>
              <a:defRPr/>
            </a:lvl1pPr>
          </a:lstStyle>
          <a:p>
            <a:pPr>
              <a:defRPr/>
            </a:pPr>
            <a:fld id="{1B775989-AF31-447B-90B2-0A05E480110B}" type="slidenum">
              <a:rPr lang="en-US" altLang="en-US"/>
              <a:pPr>
                <a:defRPr/>
              </a:pPr>
              <a:t>‹#›</a:t>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6"/>
          <p:cNvSpPr>
            <a:spLocks noGrp="1" noChangeArrowheads="1"/>
          </p:cNvSpPr>
          <p:nvPr>
            <p:ph type="sldNum" sz="quarter" idx="12"/>
          </p:nvPr>
        </p:nvSpPr>
        <p:spPr>
          <a:ln/>
        </p:spPr>
        <p:txBody>
          <a:bodyPr/>
          <a:lstStyle>
            <a:lvl1pPr>
              <a:defRPr/>
            </a:lvl1pPr>
          </a:lstStyle>
          <a:p>
            <a:pPr>
              <a:defRPr/>
            </a:pPr>
            <a:fld id="{C1B665F6-55E4-4747-8650-E714965F5E50}" type="slidenum">
              <a:rPr lang="en-US" altLang="en-US"/>
              <a:pPr>
                <a:defRPr/>
              </a:pPr>
              <a:t>‹#›</a:t>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6"/>
          <p:cNvSpPr>
            <a:spLocks noGrp="1" noChangeArrowheads="1"/>
          </p:cNvSpPr>
          <p:nvPr>
            <p:ph type="sldNum" sz="quarter" idx="12"/>
          </p:nvPr>
        </p:nvSpPr>
        <p:spPr>
          <a:ln/>
        </p:spPr>
        <p:txBody>
          <a:bodyPr/>
          <a:lstStyle>
            <a:lvl1pPr>
              <a:defRPr/>
            </a:lvl1pPr>
          </a:lstStyle>
          <a:p>
            <a:pPr>
              <a:defRPr/>
            </a:pPr>
            <a:fld id="{38D6A3DC-0A89-4FEC-9F6F-0BD29E7B7F7B}" type="slidenum">
              <a:rPr lang="en-US" altLang="en-US"/>
              <a:pPr>
                <a:defRPr/>
              </a:pPr>
              <a:t>‹#›</a:t>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4" name="Rectangle 6"/>
          <p:cNvSpPr>
            <a:spLocks noGrp="1" noChangeArrowheads="1"/>
          </p:cNvSpPr>
          <p:nvPr>
            <p:ph type="sldNum" sz="quarter" idx="12"/>
          </p:nvPr>
        </p:nvSpPr>
        <p:spPr>
          <a:ln/>
        </p:spPr>
        <p:txBody>
          <a:bodyPr/>
          <a:lstStyle>
            <a:lvl1pPr>
              <a:defRPr/>
            </a:lvl1pPr>
          </a:lstStyle>
          <a:p>
            <a:pPr>
              <a:defRPr/>
            </a:pPr>
            <a:fld id="{BAE356AF-6F91-46AF-8F07-C76DF88FE9FC}" type="slidenum">
              <a:rPr lang="en-US" altLang="en-US"/>
              <a:pPr>
                <a:defRPr/>
              </a:pPr>
              <a:t>‹#›</a:t>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p:cNvSpPr>
            <a:spLocks noGrp="1" noChangeArrowheads="1"/>
          </p:cNvSpPr>
          <p:nvPr>
            <p:ph type="sldNum" sz="quarter" idx="12"/>
          </p:nvPr>
        </p:nvSpPr>
        <p:spPr>
          <a:ln/>
        </p:spPr>
        <p:txBody>
          <a:bodyPr/>
          <a:lstStyle>
            <a:lvl1pPr>
              <a:defRPr/>
            </a:lvl1pPr>
          </a:lstStyle>
          <a:p>
            <a:pPr>
              <a:defRPr/>
            </a:pPr>
            <a:fld id="{7873B78D-18D5-4987-905C-8A896F8A46A4}" type="slidenum">
              <a:rPr lang="en-US" altLang="en-US"/>
              <a:pPr>
                <a:defRPr/>
              </a:pPr>
              <a:t>‹#›</a:t>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p:cNvSpPr>
            <a:spLocks noGrp="1" noChangeArrowheads="1"/>
          </p:cNvSpPr>
          <p:nvPr>
            <p:ph type="sldNum" sz="quarter" idx="12"/>
          </p:nvPr>
        </p:nvSpPr>
        <p:spPr>
          <a:ln/>
        </p:spPr>
        <p:txBody>
          <a:bodyPr/>
          <a:lstStyle>
            <a:lvl1pPr>
              <a:defRPr/>
            </a:lvl1pPr>
          </a:lstStyle>
          <a:p>
            <a:pPr>
              <a:defRPr/>
            </a:pPr>
            <a:fld id="{21A53DEC-37EC-496E-BE7F-EADDA828221C}" type="slidenum">
              <a:rPr lang="en-US" altLang="en-US"/>
              <a:pPr>
                <a:defRPr/>
              </a:pPr>
              <a:t>‹#›</a:t>
            </a:fld>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pPr>
              <a:defRPr/>
            </a:pPr>
            <a:fld id="{CFAA9CFD-C5C2-46D1-8D49-D18039D347E3}" type="slidenum">
              <a:rPr lang="en-US" altLang="en-US"/>
              <a:pPr>
                <a:defRPr/>
              </a:pPr>
              <a:t>‹#›</a:t>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pPr>
              <a:defRPr/>
            </a:pPr>
            <a:fld id="{CA776043-FAE8-4F83-BCF3-488C6EB4647E}" type="slidenum">
              <a:rPr lang="en-US" altLang="en-US"/>
              <a:pPr>
                <a:defRPr/>
              </a:pPr>
              <a:t>‹#›</a:t>
            </a:fld>
            <a:endParaRPr lang="en-US"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a:t>Click to edit Master title style</a:t>
            </a:r>
          </a:p>
        </p:txBody>
      </p:sp>
      <p:sp>
        <p:nvSpPr>
          <p:cNvPr id="3" name="Table Placeholder 2"/>
          <p:cNvSpPr>
            <a:spLocks noGrp="1"/>
          </p:cNvSpPr>
          <p:nvPr>
            <p:ph type="tbl" idx="1"/>
          </p:nvPr>
        </p:nvSpPr>
        <p:spPr>
          <a:xfrm>
            <a:off x="457200" y="1600200"/>
            <a:ext cx="8229600" cy="4530725"/>
          </a:xfrm>
        </p:spPr>
        <p:txBody>
          <a:bodyPr/>
          <a:lstStyle/>
          <a:p>
            <a:pPr lvl="0"/>
            <a:endParaRPr lang="en-US" noProof="0"/>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pPr>
              <a:defRPr/>
            </a:pPr>
            <a:fld id="{8E78DAD9-B174-4C1E-BF07-A33894D7934E}" type="slidenum">
              <a:rPr lang="en-US" altLang="en-US"/>
              <a:pPr>
                <a:defRPr/>
              </a:pPr>
              <a:t>‹#›</a:t>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7813"/>
            <a:ext cx="8229600" cy="11398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457200" y="1600200"/>
            <a:ext cx="8229600" cy="45307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7172" name="Rectangle 4"/>
          <p:cNvSpPr>
            <a:spLocks noGrp="1" noChangeArrowheads="1"/>
          </p:cNvSpPr>
          <p:nvPr>
            <p:ph type="dt" sz="half" idx="2"/>
          </p:nvPr>
        </p:nvSpPr>
        <p:spPr bwMode="auto">
          <a:xfrm>
            <a:off x="457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mj-lt"/>
              </a:defRPr>
            </a:lvl1pPr>
          </a:lstStyle>
          <a:p>
            <a:pPr>
              <a:defRPr/>
            </a:pPr>
            <a:endParaRPr lang="en-US" altLang="en-US"/>
          </a:p>
        </p:txBody>
      </p:sp>
      <p:sp>
        <p:nvSpPr>
          <p:cNvPr id="7173"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200">
                <a:latin typeface="+mj-lt"/>
              </a:defRPr>
            </a:lvl1pPr>
          </a:lstStyle>
          <a:p>
            <a:pPr>
              <a:defRPr/>
            </a:pPr>
            <a:endParaRPr lang="en-US" altLang="en-US"/>
          </a:p>
        </p:txBody>
      </p:sp>
      <p:sp>
        <p:nvSpPr>
          <p:cNvPr id="7174" name="Rectangle 6"/>
          <p:cNvSpPr>
            <a:spLocks noGrp="1" noChangeArrowheads="1"/>
          </p:cNvSpPr>
          <p:nvPr>
            <p:ph type="sldNum" sz="quarter" idx="4"/>
          </p:nvPr>
        </p:nvSpPr>
        <p:spPr bwMode="auto">
          <a:xfrm>
            <a:off x="6553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mj-lt"/>
              </a:defRPr>
            </a:lvl1pPr>
          </a:lstStyle>
          <a:p>
            <a:pPr>
              <a:defRPr/>
            </a:pPr>
            <a:fld id="{FE295FA2-29F8-46BD-B850-055946D80E5B}" type="slidenum">
              <a:rPr lang="en-US" altLang="en-US"/>
              <a:pPr>
                <a:defRPr/>
              </a:pPr>
              <a:t>‹#›</a:t>
            </a:fld>
            <a:endParaRPr lang="en-US" altLang="en-US"/>
          </a:p>
        </p:txBody>
      </p:sp>
      <p:sp>
        <p:nvSpPr>
          <p:cNvPr id="7175" name="Freeform 7"/>
          <p:cNvSpPr>
            <a:spLocks noChangeArrowheads="1"/>
          </p:cNvSpPr>
          <p:nvPr/>
        </p:nvSpPr>
        <p:spPr bwMode="auto">
          <a:xfrm>
            <a:off x="381000" y="228600"/>
            <a:ext cx="8229600" cy="609600"/>
          </a:xfrm>
          <a:custGeom>
            <a:avLst/>
            <a:gdLst/>
            <a:ahLst/>
            <a:cxnLst>
              <a:cxn ang="0">
                <a:pos x="0" y="1000"/>
              </a:cxn>
              <a:cxn ang="0">
                <a:pos x="0" y="0"/>
              </a:cxn>
              <a:cxn ang="0">
                <a:pos x="1000" y="0"/>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p:spPr>
        <p:txBody>
          <a:bodyPr/>
          <a:lstStyle/>
          <a:p>
            <a:pPr>
              <a:defRPr/>
            </a:pPr>
            <a:endParaRPr lang="en-US"/>
          </a:p>
        </p:txBody>
      </p:sp>
      <p:sp>
        <p:nvSpPr>
          <p:cNvPr id="7176" name="Line 8"/>
          <p:cNvSpPr>
            <a:spLocks noChangeShapeType="1"/>
          </p:cNvSpPr>
          <p:nvPr/>
        </p:nvSpPr>
        <p:spPr bwMode="auto">
          <a:xfrm>
            <a:off x="457200" y="6172200"/>
            <a:ext cx="8229600" cy="0"/>
          </a:xfrm>
          <a:prstGeom prst="line">
            <a:avLst/>
          </a:prstGeom>
          <a:noFill/>
          <a:ln w="19050">
            <a:solidFill>
              <a:schemeClr val="accent1"/>
            </a:solidFill>
            <a:round/>
            <a:headEnd/>
            <a:tailEnd/>
          </a:ln>
          <a:effectLst/>
        </p:spPr>
        <p:txBody>
          <a:bodyPr/>
          <a:lstStyle/>
          <a:p>
            <a:pPr>
              <a:defRPr/>
            </a:pPr>
            <a:endParaRPr lang="en-US"/>
          </a:p>
        </p:txBody>
      </p:sp>
    </p:spTree>
  </p:cSld>
  <p:clrMap bg1="lt1" tx1="dk1" bg2="lt2" tx2="dk2" accent1="accent1" accent2="accent2" accent3="accent3" accent4="accent4" accent5="accent5" accent6="accent6" hlink="hlink" folHlink="folHlink"/>
  <p:sldLayoutIdLst>
    <p:sldLayoutId id="2147483817"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 id="2147483816" r:id="rId12"/>
  </p:sldLayoutIdLst>
  <p:txStyles>
    <p:title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defRPr>
      </a:lvl2pPr>
      <a:lvl3pPr algn="l" rtl="0" eaLnBrk="0" fontAlgn="base" hangingPunct="0">
        <a:spcBef>
          <a:spcPct val="0"/>
        </a:spcBef>
        <a:spcAft>
          <a:spcPct val="0"/>
        </a:spcAft>
        <a:defRPr sz="4200">
          <a:solidFill>
            <a:schemeClr val="tx2"/>
          </a:solidFill>
          <a:latin typeface="Garamond" pitchFamily="18" charset="0"/>
        </a:defRPr>
      </a:lvl3pPr>
      <a:lvl4pPr algn="l" rtl="0" eaLnBrk="0" fontAlgn="base" hangingPunct="0">
        <a:spcBef>
          <a:spcPct val="0"/>
        </a:spcBef>
        <a:spcAft>
          <a:spcPct val="0"/>
        </a:spcAft>
        <a:defRPr sz="4200">
          <a:solidFill>
            <a:schemeClr val="tx2"/>
          </a:solidFill>
          <a:latin typeface="Garamond" pitchFamily="18" charset="0"/>
        </a:defRPr>
      </a:lvl4pPr>
      <a:lvl5pPr algn="l" rtl="0" eaLnBrk="0" fontAlgn="base" hangingPunct="0">
        <a:spcBef>
          <a:spcPct val="0"/>
        </a:spcBef>
        <a:spcAft>
          <a:spcPct val="0"/>
        </a:spcAft>
        <a:defRPr sz="4200">
          <a:solidFill>
            <a:schemeClr val="tx2"/>
          </a:solidFill>
          <a:latin typeface="Garamond" pitchFamily="18" charset="0"/>
        </a:defRPr>
      </a:lvl5pPr>
      <a:lvl6pPr marL="457200" algn="l" rtl="0" fontAlgn="base">
        <a:spcBef>
          <a:spcPct val="0"/>
        </a:spcBef>
        <a:spcAft>
          <a:spcPct val="0"/>
        </a:spcAft>
        <a:defRPr sz="4200">
          <a:solidFill>
            <a:schemeClr val="tx2"/>
          </a:solidFill>
          <a:latin typeface="Garamond" pitchFamily="18" charset="0"/>
        </a:defRPr>
      </a:lvl6pPr>
      <a:lvl7pPr marL="914400" algn="l" rtl="0" fontAlgn="base">
        <a:spcBef>
          <a:spcPct val="0"/>
        </a:spcBef>
        <a:spcAft>
          <a:spcPct val="0"/>
        </a:spcAft>
        <a:defRPr sz="4200">
          <a:solidFill>
            <a:schemeClr val="tx2"/>
          </a:solidFill>
          <a:latin typeface="Garamond" pitchFamily="18" charset="0"/>
        </a:defRPr>
      </a:lvl7pPr>
      <a:lvl8pPr marL="1371600" algn="l" rtl="0" fontAlgn="base">
        <a:spcBef>
          <a:spcPct val="0"/>
        </a:spcBef>
        <a:spcAft>
          <a:spcPct val="0"/>
        </a:spcAft>
        <a:defRPr sz="4200">
          <a:solidFill>
            <a:schemeClr val="tx2"/>
          </a:solidFill>
          <a:latin typeface="Garamond" pitchFamily="18" charset="0"/>
        </a:defRPr>
      </a:lvl8pPr>
      <a:lvl9pPr marL="1828800" algn="l" rtl="0" fontAlgn="base">
        <a:spcBef>
          <a:spcPct val="0"/>
        </a:spcBef>
        <a:spcAft>
          <a:spcPct val="0"/>
        </a:spcAft>
        <a:defRPr sz="4200">
          <a:solidFill>
            <a:schemeClr val="tx2"/>
          </a:solidFill>
          <a:latin typeface="Garamond" pitchFamily="18" charset="0"/>
        </a:defRPr>
      </a:lvl9pPr>
    </p:titleStyle>
    <p:bodyStyle>
      <a:lvl1pPr marL="342900" indent="-342900" algn="l" rtl="0" eaLnBrk="0" fontAlgn="base" hangingPunct="0">
        <a:spcBef>
          <a:spcPct val="20000"/>
        </a:spcBef>
        <a:spcAft>
          <a:spcPct val="0"/>
        </a:spcAft>
        <a:buClr>
          <a:schemeClr val="accent1"/>
        </a:buClr>
        <a:buSzPct val="65000"/>
        <a:buFont typeface="Wingdings"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600">
          <a:solidFill>
            <a:schemeClr val="tx1"/>
          </a:solidFill>
          <a:latin typeface="+mn-lt"/>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200">
          <a:solidFill>
            <a:schemeClr val="tx1"/>
          </a:solidFill>
          <a:latin typeface="+mn-lt"/>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sz="2000">
          <a:solidFill>
            <a:schemeClr val="tx1"/>
          </a:solidFill>
          <a:latin typeface="+mn-lt"/>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wmf"/></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2.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ustomXml" Target="../ink/ink3.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5.bin"/><Relationship Id="rId18" Type="http://schemas.openxmlformats.org/officeDocument/2006/relationships/image" Target="../media/image252.png"/><Relationship Id="rId3" Type="http://schemas.openxmlformats.org/officeDocument/2006/relationships/image" Target="../media/image4.wmf"/><Relationship Id="rId21" Type="http://schemas.openxmlformats.org/officeDocument/2006/relationships/customXml" Target="../ink/ink7.xml"/><Relationship Id="rId7" Type="http://schemas.openxmlformats.org/officeDocument/2006/relationships/image" Target="../media/image1.wmf"/><Relationship Id="rId17" Type="http://schemas.openxmlformats.org/officeDocument/2006/relationships/customXml" Target="../ink/ink5.xml"/><Relationship Id="rId2" Type="http://schemas.openxmlformats.org/officeDocument/2006/relationships/oleObject" Target="../embeddings/oleObject2.bin"/><Relationship Id="rId16" Type="http://schemas.openxmlformats.org/officeDocument/2006/relationships/image" Target="../media/image251.png"/><Relationship Id="rId20" Type="http://schemas.openxmlformats.org/officeDocument/2006/relationships/image" Target="../media/image8.png"/><Relationship Id="rId1" Type="http://schemas.openxmlformats.org/officeDocument/2006/relationships/slideLayout" Target="../slideLayouts/slideLayout12.xml"/><Relationship Id="rId6" Type="http://schemas.openxmlformats.org/officeDocument/2006/relationships/oleObject" Target="../embeddings/oleObject4.bin"/><Relationship Id="rId5" Type="http://schemas.openxmlformats.org/officeDocument/2006/relationships/image" Target="../media/image5.wmf"/><Relationship Id="rId10" Type="http://schemas.openxmlformats.org/officeDocument/2006/relationships/customXml" Target="../ink/ink4.xml"/><Relationship Id="rId19" Type="http://schemas.openxmlformats.org/officeDocument/2006/relationships/customXml" Target="../ink/ink6.xml"/><Relationship Id="rId4" Type="http://schemas.openxmlformats.org/officeDocument/2006/relationships/oleObject" Target="../embeddings/oleObject3.bin"/><Relationship Id="rId9" Type="http://schemas.openxmlformats.org/officeDocument/2006/relationships/oleObject" Target="../embeddings/oleObject6.bin"/><Relationship Id="rId22"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7.bin"/><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7.wmf"/><Relationship Id="rId55" Type="http://schemas.openxmlformats.org/officeDocument/2006/relationships/image" Target="../media/image325.png"/><Relationship Id="rId2" Type="http://schemas.openxmlformats.org/officeDocument/2006/relationships/oleObject" Target="../embeddings/oleObject8.bin"/><Relationship Id="rId1" Type="http://schemas.openxmlformats.org/officeDocument/2006/relationships/slideLayout" Target="../slideLayouts/slideLayout12.xml"/><Relationship Id="rId4" Type="http://schemas.openxmlformats.org/officeDocument/2006/relationships/customXml" Target="../ink/ink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9.bin"/><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0.wmf"/><Relationship Id="rId5" Type="http://schemas.openxmlformats.org/officeDocument/2006/relationships/oleObject" Target="../embeddings/oleObject11.bin"/><Relationship Id="rId4" Type="http://schemas.openxmlformats.org/officeDocument/2006/relationships/image" Target="../media/image9.wmf"/></Relationships>
</file>

<file path=ppt/slides/_rels/slide1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3.jpeg"/><Relationship Id="rId4" Type="http://schemas.openxmlformats.org/officeDocument/2006/relationships/image" Target="../media/image12.jpeg"/></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4.w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6.wmf"/></Relationships>
</file>

<file path=ppt/slides/_rels/slide23.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14.bin"/><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oleObject" Target="../embeddings/oleObject15.bin"/><Relationship Id="rId1" Type="http://schemas.openxmlformats.org/officeDocument/2006/relationships/slideLayout" Target="../slideLayouts/slideLayout2.xml"/><Relationship Id="rId5" Type="http://schemas.openxmlformats.org/officeDocument/2006/relationships/image" Target="../media/image19.wmf"/><Relationship Id="rId4" Type="http://schemas.openxmlformats.org/officeDocument/2006/relationships/oleObject" Target="../embeddings/oleObject16.bin"/></Relationships>
</file>

<file path=ppt/slides/_rels/slide25.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oleObject" Target="../embeddings/oleObject17.bin"/><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18.bin"/><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oleObject" Target="../embeddings/oleObject19.bin"/><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914400" y="1447800"/>
            <a:ext cx="7623175" cy="1752600"/>
          </a:xfrm>
        </p:spPr>
        <p:txBody>
          <a:bodyPr/>
          <a:lstStyle/>
          <a:p>
            <a:pPr algn="ctr" eaLnBrk="1" hangingPunct="1"/>
            <a:r>
              <a:rPr lang="en-US" sz="4600" b="1" dirty="0"/>
              <a:t>SFWR TECH 4DA3 </a:t>
            </a:r>
            <a:br>
              <a:rPr lang="en-US" sz="4600" b="1" dirty="0"/>
            </a:br>
            <a:r>
              <a:rPr lang="en-US" sz="4600" b="1" dirty="0"/>
              <a:t>Data Analytics and Big Data</a:t>
            </a:r>
          </a:p>
        </p:txBody>
      </p:sp>
      <p:sp>
        <p:nvSpPr>
          <p:cNvPr id="3075" name="Text Box 33"/>
          <p:cNvSpPr txBox="1">
            <a:spLocks noChangeArrowheads="1"/>
          </p:cNvSpPr>
          <p:nvPr/>
        </p:nvSpPr>
        <p:spPr bwMode="auto">
          <a:xfrm>
            <a:off x="609600" y="4191000"/>
            <a:ext cx="7864475" cy="1190625"/>
          </a:xfrm>
          <a:prstGeom prst="rect">
            <a:avLst/>
          </a:prstGeom>
          <a:noFill/>
          <a:ln w="9525">
            <a:noFill/>
            <a:miter lim="800000"/>
            <a:headEnd/>
            <a:tailEnd/>
          </a:ln>
        </p:spPr>
        <p:txBody>
          <a:bodyPr>
            <a:spAutoFit/>
          </a:bodyPr>
          <a:lstStyle/>
          <a:p>
            <a:r>
              <a:rPr lang="en-US"/>
              <a:t>Instructor: Dr. Jeff Fortuna, B. Eng, M. Eng, PhD, (Electrical Engineering), 			 McMaster University</a:t>
            </a:r>
          </a:p>
          <a:p>
            <a:endParaRPr lang="en-US"/>
          </a:p>
          <a:p>
            <a:pPr algn="ctr"/>
            <a:r>
              <a:rPr lang="en-US"/>
              <a:t>email: fortunjj@mcmaster.ca</a:t>
            </a:r>
          </a:p>
        </p:txBody>
      </p:sp>
      <p:graphicFrame>
        <p:nvGraphicFramePr>
          <p:cNvPr id="2" name="Object 1">
            <a:extLst>
              <a:ext uri="{FF2B5EF4-FFF2-40B4-BE49-F238E27FC236}">
                <a16:creationId xmlns:a16="http://schemas.microsoft.com/office/drawing/2014/main" id="{D44FFC5C-E1E7-4072-BD5E-209B24ED27A7}"/>
              </a:ext>
            </a:extLst>
          </p:cNvPr>
          <p:cNvGraphicFramePr>
            <a:graphicFrameLocks noChangeAspect="1"/>
          </p:cNvGraphicFramePr>
          <p:nvPr>
            <p:extLst>
              <p:ext uri="{D42A27DB-BD31-4B8C-83A1-F6EECF244321}">
                <p14:modId xmlns:p14="http://schemas.microsoft.com/office/powerpoint/2010/main" val="19044750"/>
              </p:ext>
            </p:extLst>
          </p:nvPr>
        </p:nvGraphicFramePr>
        <p:xfrm>
          <a:off x="4927600" y="2667000"/>
          <a:ext cx="914400" cy="198438"/>
        </p:xfrm>
        <a:graphic>
          <a:graphicData uri="http://schemas.openxmlformats.org/presentationml/2006/ole">
            <mc:AlternateContent xmlns:mc="http://schemas.openxmlformats.org/markup-compatibility/2006">
              <mc:Choice xmlns:v="urn:schemas-microsoft-com:vml" Requires="v">
                <p:oleObj name="Equation" r:id="rId3" imgW="914400" imgH="198720" progId="Equation.DSMT4">
                  <p:embed/>
                </p:oleObj>
              </mc:Choice>
              <mc:Fallback>
                <p:oleObj name="Equation" r:id="rId3" imgW="914400" imgH="198720" progId="Equation.DSMT4">
                  <p:embed/>
                  <p:pic>
                    <p:nvPicPr>
                      <p:cNvPr id="0" name=""/>
                      <p:cNvPicPr/>
                      <p:nvPr/>
                    </p:nvPicPr>
                    <p:blipFill>
                      <a:blip r:embed="rId4"/>
                      <a:stretch>
                        <a:fillRect/>
                      </a:stretch>
                    </p:blipFill>
                    <p:spPr>
                      <a:xfrm>
                        <a:off x="4927600" y="2667000"/>
                        <a:ext cx="914400" cy="198438"/>
                      </a:xfrm>
                      <a:prstGeom prst="rect">
                        <a:avLst/>
                      </a:prstGeom>
                    </p:spPr>
                  </p:pic>
                </p:oleObj>
              </mc:Fallback>
            </mc:AlternateContent>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r>
              <a:rPr lang="en-US" b="1"/>
              <a:t>Course Information</a:t>
            </a:r>
          </a:p>
        </p:txBody>
      </p:sp>
      <p:graphicFrame>
        <p:nvGraphicFramePr>
          <p:cNvPr id="13350" name="Group 38"/>
          <p:cNvGraphicFramePr>
            <a:graphicFrameLocks noGrp="1"/>
          </p:cNvGraphicFramePr>
          <p:nvPr>
            <p:ph idx="1"/>
            <p:extLst>
              <p:ext uri="{D42A27DB-BD31-4B8C-83A1-F6EECF244321}">
                <p14:modId xmlns:p14="http://schemas.microsoft.com/office/powerpoint/2010/main" val="1325903125"/>
              </p:ext>
            </p:extLst>
          </p:nvPr>
        </p:nvGraphicFramePr>
        <p:xfrm>
          <a:off x="457200" y="990600"/>
          <a:ext cx="8229600" cy="5000626"/>
        </p:xfrm>
        <a:graphic>
          <a:graphicData uri="http://schemas.openxmlformats.org/drawingml/2006/table">
            <a:tbl>
              <a:tblPr/>
              <a:tblGrid>
                <a:gridCol w="2819400">
                  <a:extLst>
                    <a:ext uri="{9D8B030D-6E8A-4147-A177-3AD203B41FA5}">
                      <a16:colId xmlns:a16="http://schemas.microsoft.com/office/drawing/2014/main" val="20000"/>
                    </a:ext>
                  </a:extLst>
                </a:gridCol>
                <a:gridCol w="5410200">
                  <a:extLst>
                    <a:ext uri="{9D8B030D-6E8A-4147-A177-3AD203B41FA5}">
                      <a16:colId xmlns:a16="http://schemas.microsoft.com/office/drawing/2014/main" val="20001"/>
                    </a:ext>
                  </a:extLst>
                </a:gridCol>
              </a:tblGrid>
              <a:tr h="1133475">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0" i="0" u="none" strike="noStrike" cap="none" normalizeH="0" baseline="0" dirty="0">
                          <a:ln>
                            <a:noFill/>
                          </a:ln>
                          <a:solidFill>
                            <a:schemeClr val="tx1"/>
                          </a:solidFill>
                          <a:effectLst/>
                          <a:latin typeface="Arial" charset="0"/>
                        </a:rPr>
                        <a:t>Calendar Description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lang="en-CA" sz="1800" kern="1200" dirty="0">
                          <a:solidFill>
                            <a:schemeClr val="tx1"/>
                          </a:solidFill>
                          <a:effectLst/>
                          <a:latin typeface="+mn-lt"/>
                          <a:ea typeface="+mn-ea"/>
                          <a:cs typeface="+mn-cs"/>
                        </a:rPr>
                        <a:t>Mathematical Concepts, Statistical Data Analysis, Big Data Architectures. </a:t>
                      </a:r>
                      <a:endParaRPr kumimoji="0" lang="en-US" sz="16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133475">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0" i="0" u="none" strike="noStrike" cap="none" normalizeH="0" baseline="0" dirty="0">
                          <a:ln>
                            <a:noFill/>
                          </a:ln>
                          <a:solidFill>
                            <a:schemeClr val="tx1"/>
                          </a:solidFill>
                          <a:effectLst/>
                          <a:latin typeface="Arial" charset="0"/>
                        </a:rPr>
                        <a:t>Course Objectives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algn="just">
                        <a:lnSpc>
                          <a:spcPct val="115000"/>
                        </a:lnSpc>
                        <a:spcBef>
                          <a:spcPts val="0"/>
                        </a:spcBef>
                        <a:spcAft>
                          <a:spcPts val="1000"/>
                        </a:spcAft>
                      </a:pPr>
                      <a:r>
                        <a:rPr lang="en-US" sz="1200" b="0" dirty="0">
                          <a:effectLst/>
                          <a:latin typeface="Arial" panose="020B0604020202020204" pitchFamily="34" charset="0"/>
                          <a:ea typeface="Calibri" panose="020F0502020204030204" pitchFamily="34" charset="0"/>
                          <a:cs typeface="Times New Roman" panose="02020603050405020304" pitchFamily="18" charset="0"/>
                        </a:rPr>
                        <a:t>The focus of the course is on providing a foundation for the study of classification and regression algorithms. Additionally, modern approaches to implementing Big Data systems are examined. Each of these concepts will be examined in theory and in practice (using Python for illustration of the method and for solving a medium scale problem)</a:t>
                      </a:r>
                      <a:endParaRPr lang="en-US" sz="1200" b="0" dirty="0">
                        <a:effectLst/>
                        <a:latin typeface="Calibri" panose="020F0502020204030204" pitchFamily="34" charset="0"/>
                        <a:ea typeface="Calibri" panose="020F0502020204030204" pitchFamily="34" charset="0"/>
                        <a:cs typeface="Times New Roman" panose="02020603050405020304" pitchFamily="18" charset="0"/>
                      </a:endParaRPr>
                    </a:p>
                  </a:txBody>
                  <a:tcPr marL="114300" marR="114300"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77913">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0" i="0" u="none" strike="noStrike" cap="none" normalizeH="0" baseline="0" dirty="0">
                          <a:ln>
                            <a:noFill/>
                          </a:ln>
                          <a:solidFill>
                            <a:schemeClr val="tx1"/>
                          </a:solidFill>
                          <a:effectLst/>
                          <a:latin typeface="Arial" charset="0"/>
                        </a:rPr>
                        <a:t>Required Text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400" b="0" i="0" u="none" strike="noStrike" cap="none" normalizeH="0" baseline="0" dirty="0">
                          <a:ln>
                            <a:noFill/>
                          </a:ln>
                          <a:solidFill>
                            <a:schemeClr val="tx1"/>
                          </a:solidFill>
                          <a:effectLst/>
                          <a:latin typeface="Arial" charset="0"/>
                        </a:rPr>
                        <a:t>Title: The Elements of Statistical Learning</a:t>
                      </a:r>
                    </a:p>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defRPr/>
                      </a:pPr>
                      <a:r>
                        <a:rPr kumimoji="0" lang="en-US" sz="1400" b="0" i="0" u="none" strike="noStrike" cap="none" normalizeH="0" baseline="0" dirty="0">
                          <a:ln>
                            <a:noFill/>
                          </a:ln>
                          <a:solidFill>
                            <a:schemeClr val="tx1"/>
                          </a:solidFill>
                          <a:effectLst/>
                          <a:latin typeface="Arial" charset="0"/>
                        </a:rPr>
                        <a:t>Author: </a:t>
                      </a:r>
                      <a:r>
                        <a:rPr lang="en-US" sz="1400" kern="1200" baseline="0" dirty="0">
                          <a:solidFill>
                            <a:schemeClr val="tx1"/>
                          </a:solidFill>
                          <a:latin typeface="+mn-lt"/>
                          <a:ea typeface="+mn-ea"/>
                          <a:cs typeface="+mn-cs"/>
                        </a:rPr>
                        <a:t>Trevor Hastie, Robert </a:t>
                      </a:r>
                      <a:r>
                        <a:rPr lang="en-US" sz="1400" kern="1200" baseline="0" dirty="0" err="1">
                          <a:solidFill>
                            <a:schemeClr val="tx1"/>
                          </a:solidFill>
                          <a:latin typeface="+mn-lt"/>
                          <a:ea typeface="+mn-ea"/>
                          <a:cs typeface="+mn-cs"/>
                        </a:rPr>
                        <a:t>Tibshirani</a:t>
                      </a:r>
                      <a:r>
                        <a:rPr lang="en-US" sz="1400" kern="1200" baseline="0" dirty="0">
                          <a:solidFill>
                            <a:schemeClr val="tx1"/>
                          </a:solidFill>
                          <a:latin typeface="+mn-lt"/>
                          <a:ea typeface="+mn-ea"/>
                          <a:cs typeface="+mn-cs"/>
                        </a:rPr>
                        <a:t>, Jerome Friedman</a:t>
                      </a:r>
                      <a:endParaRPr kumimoji="0" lang="en-US" sz="1400" b="0" i="0" u="none" strike="noStrike" cap="none" normalizeH="0" baseline="0" dirty="0">
                        <a:ln>
                          <a:noFill/>
                        </a:ln>
                        <a:solidFill>
                          <a:schemeClr val="tx1"/>
                        </a:solidFill>
                        <a:effectLst/>
                        <a:latin typeface="Arial" charset="0"/>
                      </a:endParaRPr>
                    </a:p>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400" b="0" i="0" u="none" strike="noStrike" cap="none" normalizeH="0" baseline="0" dirty="0">
                          <a:ln>
                            <a:noFill/>
                          </a:ln>
                          <a:solidFill>
                            <a:schemeClr val="tx1"/>
                          </a:solidFill>
                          <a:effectLst/>
                          <a:latin typeface="Arial" charset="0"/>
                        </a:rPr>
                        <a:t>ISBN: </a:t>
                      </a:r>
                      <a:r>
                        <a:rPr lang="en-US" sz="1400" kern="1200" baseline="0" dirty="0">
                          <a:solidFill>
                            <a:schemeClr val="tx1"/>
                          </a:solidFill>
                          <a:latin typeface="+mn-lt"/>
                          <a:ea typeface="+mn-ea"/>
                          <a:cs typeface="+mn-cs"/>
                        </a:rPr>
                        <a:t>978-0-387-84857-0</a:t>
                      </a:r>
                      <a:endParaRPr kumimoji="0" lang="en-US" sz="14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077913">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0" i="0" u="none" strike="noStrike" cap="none" normalizeH="0" baseline="0" dirty="0">
                          <a:ln>
                            <a:noFill/>
                          </a:ln>
                          <a:solidFill>
                            <a:schemeClr val="tx1"/>
                          </a:solidFill>
                          <a:effectLst/>
                          <a:latin typeface="Arial" charset="0"/>
                        </a:rPr>
                        <a:t>Supplemental Texts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798513" marR="0" lvl="0" indent="-798513"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600" b="0" i="0" u="none" strike="noStrike" cap="none" normalizeH="0" baseline="0" dirty="0">
                          <a:ln>
                            <a:noFill/>
                          </a:ln>
                          <a:solidFill>
                            <a:schemeClr val="tx1"/>
                          </a:solidFill>
                          <a:effectLst/>
                          <a:latin typeface="Arial" charset="0"/>
                        </a:rPr>
                        <a:t>Title:       Data Analytics Made Accessible</a:t>
                      </a:r>
                    </a:p>
                    <a:p>
                      <a:pPr marL="857250" indent="-857250"/>
                      <a:r>
                        <a:rPr kumimoji="0" lang="en-US" sz="1600" b="0" i="0" u="none" strike="noStrike" cap="none" normalizeH="0" baseline="0" dirty="0">
                          <a:ln>
                            <a:noFill/>
                          </a:ln>
                          <a:solidFill>
                            <a:schemeClr val="tx1"/>
                          </a:solidFill>
                          <a:effectLst/>
                          <a:latin typeface="Arial" charset="0"/>
                        </a:rPr>
                        <a:t>Author:   </a:t>
                      </a:r>
                      <a:r>
                        <a:rPr lang="en-US" sz="1600" dirty="0">
                          <a:effectLst/>
                        </a:rPr>
                        <a:t>Anil Maheshwari</a:t>
                      </a:r>
                      <a:endParaRPr lang="en-US" sz="1600" kern="1200" baseline="0" dirty="0">
                        <a:solidFill>
                          <a:schemeClr val="tx1"/>
                        </a:solidFill>
                        <a:latin typeface="+mn-lt"/>
                        <a:ea typeface="+mn-ea"/>
                        <a:cs typeface="+mn-cs"/>
                      </a:endParaRPr>
                    </a:p>
                    <a:p>
                      <a:r>
                        <a:rPr kumimoji="0" lang="en-US" sz="1600" b="0" i="0" u="none" strike="noStrike" kern="1200" cap="none" normalizeH="0" baseline="0" dirty="0">
                          <a:ln>
                            <a:noFill/>
                          </a:ln>
                          <a:solidFill>
                            <a:schemeClr val="tx1"/>
                          </a:solidFill>
                          <a:effectLst/>
                          <a:latin typeface="+mn-lt"/>
                          <a:ea typeface="+mn-ea"/>
                          <a:cs typeface="+mn-cs"/>
                        </a:rPr>
                        <a:t>eBook on Amazon</a:t>
                      </a:r>
                      <a:endParaRPr kumimoji="0" lang="en-US" sz="16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77850">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0" i="0" u="none" strike="noStrike" cap="none" normalizeH="0" baseline="0" dirty="0">
                          <a:ln>
                            <a:noFill/>
                          </a:ln>
                          <a:solidFill>
                            <a:schemeClr val="tx1"/>
                          </a:solidFill>
                          <a:effectLst/>
                          <a:latin typeface="Arial" charset="0"/>
                        </a:rPr>
                        <a:t>Pre-requisite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600" b="0" i="0" u="none" strike="noStrike" cap="none" normalizeH="0" baseline="0" dirty="0">
                          <a:ln>
                            <a:noFill/>
                          </a:ln>
                          <a:solidFill>
                            <a:schemeClr val="tx1"/>
                          </a:solidFill>
                          <a:effectLst/>
                          <a:latin typeface="Arial" charset="0"/>
                        </a:rPr>
                        <a:t>ENG TECH 3ST3 (Engineering Statistics)</a:t>
                      </a:r>
                      <a:r>
                        <a:rPr kumimoji="0" lang="en-US" sz="2600" b="0" i="0" u="none" strike="noStrike" cap="none" normalizeH="0" baseline="0" dirty="0">
                          <a:ln>
                            <a:noFill/>
                          </a:ln>
                          <a:solidFill>
                            <a:schemeClr val="tx1"/>
                          </a:solidFill>
                          <a:effectLst/>
                          <a:latin typeface="Arial" charset="0"/>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mc:AlternateContent xmlns:mc="http://schemas.openxmlformats.org/markup-compatibility/2006" xmlns:p14="http://schemas.microsoft.com/office/powerpoint/2010/main" xmlns:aink="http://schemas.microsoft.com/office/drawing/2016/ink">
        <mc:Choice Requires="p14 aink">
          <p:contentPart p14:bwMode="auto" r:id="rId2">
            <p14:nvContentPartPr>
              <p14:cNvPr id="2" name="Ink 1">
                <a:extLst>
                  <a:ext uri="{FF2B5EF4-FFF2-40B4-BE49-F238E27FC236}">
                    <a16:creationId xmlns:a16="http://schemas.microsoft.com/office/drawing/2014/main" id="{84B8BB48-FF58-4BF9-ACE9-C2D9364F179B}"/>
                  </a:ext>
                </a:extLst>
              </p14:cNvPr>
              <p14:cNvContentPartPr/>
              <p14:nvPr/>
            </p14:nvContentPartPr>
            <p14:xfrm>
              <a:off x="7129525" y="14464"/>
              <a:ext cx="360" cy="360"/>
            </p14:xfrm>
          </p:contentPart>
        </mc:Choice>
        <mc:Fallback xmlns="">
          <p:pic>
            <p:nvPicPr>
              <p:cNvPr id="2" name="Ink 1">
                <a:extLst>
                  <a:ext uri="{FF2B5EF4-FFF2-40B4-BE49-F238E27FC236}">
                    <a16:creationId xmlns:a16="http://schemas.microsoft.com/office/drawing/2014/main" id="{84B8BB48-FF58-4BF9-ACE9-C2D9364F179B}"/>
                  </a:ext>
                </a:extLst>
              </p:cNvPr>
              <p:cNvPicPr/>
              <p:nvPr/>
            </p:nvPicPr>
            <p:blipFill>
              <a:blip r:embed="rId3"/>
              <a:stretch>
                <a:fillRect/>
              </a:stretch>
            </p:blipFill>
            <p:spPr>
              <a:xfrm>
                <a:off x="7111525" y="-3536"/>
                <a:ext cx="36000" cy="36000"/>
              </a:xfrm>
              <a:prstGeom prst="rect">
                <a:avLst/>
              </a:prstGeom>
            </p:spPr>
          </p:pic>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US" b="1"/>
              <a:t>Course Information</a:t>
            </a:r>
          </a:p>
        </p:txBody>
      </p:sp>
      <p:sp>
        <p:nvSpPr>
          <p:cNvPr id="5123" name="Rectangle 3"/>
          <p:cNvSpPr>
            <a:spLocks noGrp="1" noChangeArrowheads="1"/>
          </p:cNvSpPr>
          <p:nvPr>
            <p:ph type="body" idx="1"/>
          </p:nvPr>
        </p:nvSpPr>
        <p:spPr>
          <a:xfrm>
            <a:off x="457200" y="1219200"/>
            <a:ext cx="8229600" cy="4572000"/>
          </a:xfrm>
        </p:spPr>
        <p:txBody>
          <a:bodyPr/>
          <a:lstStyle/>
          <a:p>
            <a:pPr algn="just" eaLnBrk="1" hangingPunct="1"/>
            <a:r>
              <a:rPr lang="en-US" sz="2000" dirty="0"/>
              <a:t>This course features statistical approaches to using a computer to extract useful information from data.</a:t>
            </a:r>
          </a:p>
          <a:p>
            <a:pPr algn="just" eaLnBrk="1" hangingPunct="1"/>
            <a:r>
              <a:rPr lang="en-US" sz="2000" dirty="0"/>
              <a:t>These approaches are complex and must be described using the language of mathematics</a:t>
            </a:r>
          </a:p>
          <a:p>
            <a:pPr algn="just" eaLnBrk="1" hangingPunct="1"/>
            <a:r>
              <a:rPr lang="en-US" sz="2000" dirty="0"/>
              <a:t>The notes will give you the appropriate description of the approach via mathematics.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b="1"/>
              <a:t>Course Assessment</a:t>
            </a:r>
          </a:p>
        </p:txBody>
      </p:sp>
      <p:graphicFrame>
        <p:nvGraphicFramePr>
          <p:cNvPr id="16408" name="Group 24"/>
          <p:cNvGraphicFramePr>
            <a:graphicFrameLocks noGrp="1"/>
          </p:cNvGraphicFramePr>
          <p:nvPr>
            <p:ph idx="1"/>
            <p:extLst>
              <p:ext uri="{D42A27DB-BD31-4B8C-83A1-F6EECF244321}">
                <p14:modId xmlns:p14="http://schemas.microsoft.com/office/powerpoint/2010/main" val="1732268596"/>
              </p:ext>
            </p:extLst>
          </p:nvPr>
        </p:nvGraphicFramePr>
        <p:xfrm>
          <a:off x="457200" y="1066800"/>
          <a:ext cx="6324600" cy="2813304"/>
        </p:xfrm>
        <a:graphic>
          <a:graphicData uri="http://schemas.openxmlformats.org/drawingml/2006/table">
            <a:tbl>
              <a:tblPr/>
              <a:tblGrid>
                <a:gridCol w="441960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tblGrid>
              <a:tr h="533400">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endParaRPr kumimoji="0" lang="en-US" sz="1600" b="0" i="0" u="none" strike="noStrike" cap="none" normalizeH="0" baseline="0" dirty="0">
                        <a:ln>
                          <a:noFill/>
                        </a:ln>
                        <a:solidFill>
                          <a:srgbClr val="0070C0"/>
                        </a:solidFill>
                        <a:effectLst/>
                        <a:latin typeface="Arial"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000" b="0" i="0" u="none" strike="noStrike" cap="none" normalizeH="0" baseline="0" dirty="0">
                          <a:ln>
                            <a:noFill/>
                          </a:ln>
                          <a:solidFill>
                            <a:schemeClr val="tx1"/>
                          </a:solidFill>
                          <a:effectLst/>
                          <a:latin typeface="Arial" charset="0"/>
                        </a:rPr>
                        <a:t>weight</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55904">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400" b="0" i="0" u="none" strike="noStrike" cap="none" normalizeH="0" baseline="0" dirty="0">
                          <a:ln>
                            <a:noFill/>
                          </a:ln>
                          <a:solidFill>
                            <a:schemeClr val="tx1"/>
                          </a:solidFill>
                          <a:effectLst/>
                          <a:latin typeface="Arial" charset="0"/>
                        </a:rPr>
                        <a:t>Project</a:t>
                      </a:r>
                    </a:p>
                    <a:p>
                      <a:pPr marL="115888" marR="0" lvl="0" indent="-115888" algn="just" defTabSz="914400" rtl="0" eaLnBrk="1" fontAlgn="base" latinLnBrk="0" hangingPunct="1">
                        <a:lnSpc>
                          <a:spcPct val="100000"/>
                        </a:lnSpc>
                        <a:spcBef>
                          <a:spcPct val="20000"/>
                        </a:spcBef>
                        <a:spcAft>
                          <a:spcPct val="0"/>
                        </a:spcAft>
                        <a:buClr>
                          <a:schemeClr val="accent1"/>
                        </a:buClr>
                        <a:buSzPct val="65000"/>
                        <a:buFont typeface="Arial" pitchFamily="34" charset="0"/>
                        <a:buChar char="•"/>
                        <a:tabLst/>
                      </a:pPr>
                      <a:r>
                        <a:rPr kumimoji="0" lang="en-US" sz="1400" b="0" i="0" u="none" strike="noStrike" cap="none" normalizeH="0" baseline="0" dirty="0">
                          <a:ln>
                            <a:noFill/>
                          </a:ln>
                          <a:solidFill>
                            <a:srgbClr val="0070C0"/>
                          </a:solidFill>
                          <a:effectLst/>
                          <a:latin typeface="Arial" charset="0"/>
                        </a:rPr>
                        <a:t>Implement a solution to a medium-scale regression problem and a medium-scale classification problem using an approach discussed in the course</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0" i="0" u="none" strike="noStrike" cap="none" normalizeH="0" baseline="0" dirty="0">
                          <a:ln>
                            <a:noFill/>
                          </a:ln>
                          <a:solidFill>
                            <a:schemeClr val="tx1"/>
                          </a:solidFill>
                          <a:effectLst/>
                          <a:latin typeface="Arial" charset="0"/>
                        </a:rPr>
                        <a:t>30%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82557325"/>
                  </a:ext>
                </a:extLst>
              </a:tr>
              <a:tr h="1133475">
                <a:tc>
                  <a:txBody>
                    <a:bodyPr/>
                    <a:lstStyle/>
                    <a:p>
                      <a:pPr marL="115888" marR="0" lvl="0" indent="-115888" algn="just" defTabSz="914400" rtl="0" eaLnBrk="1" fontAlgn="base" latinLnBrk="0" hangingPunct="1">
                        <a:lnSpc>
                          <a:spcPct val="100000"/>
                        </a:lnSpc>
                        <a:spcBef>
                          <a:spcPct val="20000"/>
                        </a:spcBef>
                        <a:spcAft>
                          <a:spcPct val="0"/>
                        </a:spcAft>
                        <a:buClr>
                          <a:schemeClr val="accent1"/>
                        </a:buClr>
                        <a:buSzPct val="65000"/>
                        <a:buFont typeface="Arial" pitchFamily="34" charset="0"/>
                        <a:buNone/>
                        <a:tabLst/>
                      </a:pPr>
                      <a:r>
                        <a:rPr kumimoji="0" lang="en-US" sz="2400" b="0" i="0" u="none" strike="noStrike" cap="none" normalizeH="0" baseline="0" dirty="0">
                          <a:ln>
                            <a:noFill/>
                          </a:ln>
                          <a:solidFill>
                            <a:schemeClr val="tx1"/>
                          </a:solidFill>
                          <a:effectLst/>
                          <a:latin typeface="Arial" charset="0"/>
                        </a:rPr>
                        <a:t>Assignments</a:t>
                      </a:r>
                    </a:p>
                    <a:p>
                      <a:pPr marL="115888" marR="0" lvl="0" indent="-115888" algn="just" defTabSz="914400" rtl="0" eaLnBrk="1" fontAlgn="base" latinLnBrk="0" hangingPunct="1">
                        <a:lnSpc>
                          <a:spcPct val="100000"/>
                        </a:lnSpc>
                        <a:spcBef>
                          <a:spcPct val="20000"/>
                        </a:spcBef>
                        <a:spcAft>
                          <a:spcPct val="0"/>
                        </a:spcAft>
                        <a:buClr>
                          <a:schemeClr val="accent1"/>
                        </a:buClr>
                        <a:buSzPct val="65000"/>
                        <a:buFont typeface="Arial" pitchFamily="34" charset="0"/>
                        <a:buChar char="•"/>
                        <a:tabLst/>
                        <a:defRPr/>
                      </a:pPr>
                      <a:r>
                        <a:rPr kumimoji="0" lang="en-US" sz="1400" b="0" i="0" u="none" strike="noStrike" cap="none" normalizeH="0" baseline="0" dirty="0">
                          <a:ln>
                            <a:noFill/>
                          </a:ln>
                          <a:solidFill>
                            <a:srgbClr val="0070C0"/>
                          </a:solidFill>
                          <a:effectLst/>
                          <a:latin typeface="Arial" charset="0"/>
                        </a:rPr>
                        <a:t>Each topic covered will be exemplified with problems to be solved using Python code as appropriate.</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0" i="0" u="none" strike="noStrike" cap="none" normalizeH="0" baseline="0" dirty="0">
                          <a:ln>
                            <a:noFill/>
                          </a:ln>
                          <a:solidFill>
                            <a:schemeClr val="tx1"/>
                          </a:solidFill>
                          <a:effectLst/>
                          <a:latin typeface="Arial" charset="0"/>
                        </a:rPr>
                        <a:t>70%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n-US" b="1"/>
              <a:t>Course Outline</a:t>
            </a:r>
          </a:p>
        </p:txBody>
      </p:sp>
      <p:graphicFrame>
        <p:nvGraphicFramePr>
          <p:cNvPr id="10282" name="Group 42"/>
          <p:cNvGraphicFramePr>
            <a:graphicFrameLocks noGrp="1"/>
          </p:cNvGraphicFramePr>
          <p:nvPr>
            <p:ph idx="1"/>
            <p:extLst>
              <p:ext uri="{D42A27DB-BD31-4B8C-83A1-F6EECF244321}">
                <p14:modId xmlns:p14="http://schemas.microsoft.com/office/powerpoint/2010/main" val="50254674"/>
              </p:ext>
            </p:extLst>
          </p:nvPr>
        </p:nvGraphicFramePr>
        <p:xfrm>
          <a:off x="457200" y="1219200"/>
          <a:ext cx="8229600" cy="4110680"/>
        </p:xfrm>
        <a:graphic>
          <a:graphicData uri="http://schemas.openxmlformats.org/drawingml/2006/table">
            <a:tbl>
              <a:tblPr/>
              <a:tblGrid>
                <a:gridCol w="1371600">
                  <a:extLst>
                    <a:ext uri="{9D8B030D-6E8A-4147-A177-3AD203B41FA5}">
                      <a16:colId xmlns:a16="http://schemas.microsoft.com/office/drawing/2014/main" val="20000"/>
                    </a:ext>
                  </a:extLst>
                </a:gridCol>
                <a:gridCol w="6858000">
                  <a:extLst>
                    <a:ext uri="{9D8B030D-6E8A-4147-A177-3AD203B41FA5}">
                      <a16:colId xmlns:a16="http://schemas.microsoft.com/office/drawing/2014/main" val="20001"/>
                    </a:ext>
                  </a:extLst>
                </a:gridCol>
              </a:tblGrid>
              <a:tr h="668307">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endParaRPr kumimoji="0" lang="en-US" sz="2600" b="0" i="0" u="none" strike="noStrike" cap="none" normalizeH="0" baseline="0" dirty="0">
                        <a:ln>
                          <a:noFill/>
                        </a:ln>
                        <a:solidFill>
                          <a:schemeClr val="tx1"/>
                        </a:solidFill>
                        <a:effectLst/>
                        <a:latin typeface="Arial"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ts val="0"/>
                        </a:spcBef>
                        <a:spcAft>
                          <a:spcPct val="0"/>
                        </a:spcAft>
                        <a:buClr>
                          <a:schemeClr val="accent1"/>
                        </a:buClr>
                        <a:buSzPct val="65000"/>
                        <a:buFont typeface="Wingdings" pitchFamily="2" charset="2"/>
                        <a:buNone/>
                        <a:tabLst/>
                      </a:pPr>
                      <a:r>
                        <a:rPr lang="en-CA" sz="1800" kern="1200" dirty="0">
                          <a:solidFill>
                            <a:schemeClr val="tx1"/>
                          </a:solidFill>
                          <a:effectLst/>
                          <a:latin typeface="+mn-lt"/>
                          <a:ea typeface="+mn-ea"/>
                          <a:cs typeface="+mn-cs"/>
                        </a:rPr>
                        <a:t>Introduction to Statistical Data Analysis</a:t>
                      </a:r>
                      <a:endParaRPr kumimoji="0" lang="en-US" sz="2000" b="0" i="0" u="none" strike="noStrike" cap="none" normalizeH="0" baseline="0" dirty="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8494">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endParaRPr kumimoji="0" lang="en-US" sz="2600" b="0" i="0" u="none" strike="noStrike" cap="none" normalizeH="0" baseline="0" dirty="0">
                        <a:ln>
                          <a:noFill/>
                        </a:ln>
                        <a:solidFill>
                          <a:schemeClr val="tx1"/>
                        </a:solidFill>
                        <a:effectLst/>
                        <a:latin typeface="Arial"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defRPr/>
                      </a:pPr>
                      <a:r>
                        <a:rPr lang="en-CA" sz="1800" kern="1200" dirty="0">
                          <a:solidFill>
                            <a:schemeClr val="tx1"/>
                          </a:solidFill>
                          <a:effectLst/>
                          <a:latin typeface="+mn-lt"/>
                          <a:ea typeface="+mn-ea"/>
                          <a:cs typeface="+mn-cs"/>
                        </a:rPr>
                        <a:t>Maximum Likelihood Estimation</a:t>
                      </a:r>
                      <a:endParaRPr kumimoji="0" lang="en-US" sz="2000" b="0" i="0" u="none" strike="noStrike" cap="none" normalizeH="0" baseline="0" dirty="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95479">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endParaRPr kumimoji="0" lang="en-US" sz="2600" b="0" i="0" u="none" strike="noStrike" cap="none" normalizeH="0" baseline="0" dirty="0">
                        <a:ln>
                          <a:noFill/>
                        </a:ln>
                        <a:solidFill>
                          <a:schemeClr val="tx1"/>
                        </a:solidFill>
                        <a:effectLst/>
                        <a:latin typeface="Arial"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defRPr/>
                      </a:pPr>
                      <a:r>
                        <a:rPr lang="en-CA" sz="1800" kern="1200" dirty="0">
                          <a:solidFill>
                            <a:schemeClr val="tx1"/>
                          </a:solidFill>
                          <a:effectLst/>
                          <a:latin typeface="+mn-lt"/>
                          <a:ea typeface="+mn-ea"/>
                          <a:cs typeface="+mn-cs"/>
                        </a:rPr>
                        <a:t>Fisher’s Linear Discriminant</a:t>
                      </a:r>
                      <a:endParaRPr kumimoji="0" lang="en-US" sz="2000" b="0" i="0" u="none" strike="noStrike" cap="none" normalizeH="0" baseline="0" dirty="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64909">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endParaRPr kumimoji="0" lang="en-US" sz="2600" b="0" i="0" u="none" strike="noStrike" cap="none" normalizeH="0" baseline="0" dirty="0">
                        <a:ln>
                          <a:noFill/>
                        </a:ln>
                        <a:solidFill>
                          <a:schemeClr val="tx1"/>
                        </a:solidFill>
                        <a:effectLst/>
                        <a:latin typeface="Arial"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defRPr/>
                      </a:pPr>
                      <a:r>
                        <a:rPr lang="en-CA" sz="2000" kern="1200" dirty="0">
                          <a:solidFill>
                            <a:schemeClr val="tx1"/>
                          </a:solidFill>
                          <a:effectLst/>
                          <a:latin typeface="+mn-lt"/>
                          <a:ea typeface="+mn-ea"/>
                          <a:cs typeface="+mn-cs"/>
                        </a:rPr>
                        <a:t>Feature Extraction 1</a:t>
                      </a:r>
                      <a:endParaRPr kumimoji="0" lang="en-US" sz="2400" b="0" i="0" u="none" strike="noStrike" cap="none" normalizeH="0" baseline="0" dirty="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85189">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endParaRPr kumimoji="0" lang="en-US" sz="2600" b="0" i="0" u="none" strike="noStrike" cap="none" normalizeH="0" baseline="0" dirty="0">
                        <a:ln>
                          <a:noFill/>
                        </a:ln>
                        <a:solidFill>
                          <a:schemeClr val="tx1"/>
                        </a:solidFill>
                        <a:effectLst/>
                        <a:latin typeface="Arial"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defRPr/>
                      </a:pPr>
                      <a:r>
                        <a:rPr kumimoji="0" lang="en-US" sz="2000" b="0" i="0" u="none" strike="noStrike" cap="none" normalizeH="0" baseline="0" dirty="0">
                          <a:ln>
                            <a:noFill/>
                          </a:ln>
                          <a:solidFill>
                            <a:schemeClr val="tx1"/>
                          </a:solidFill>
                          <a:effectLst/>
                          <a:latin typeface="Arial" charset="0"/>
                        </a:rPr>
                        <a:t>Feature Extraction 2</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05819">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endParaRPr kumimoji="0" lang="en-US" sz="2600" b="0" i="0" u="none" strike="noStrike" cap="none" normalizeH="0" baseline="0" dirty="0">
                        <a:ln>
                          <a:noFill/>
                        </a:ln>
                        <a:solidFill>
                          <a:schemeClr val="tx1"/>
                        </a:solidFill>
                        <a:effectLst/>
                        <a:latin typeface="Arial"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defRPr/>
                      </a:pPr>
                      <a:r>
                        <a:rPr kumimoji="0" lang="en-US" sz="2000" b="0" i="0" u="none" strike="noStrike" cap="none" normalizeH="0" baseline="0" dirty="0">
                          <a:ln>
                            <a:noFill/>
                          </a:ln>
                          <a:solidFill>
                            <a:schemeClr val="tx1"/>
                          </a:solidFill>
                          <a:effectLst/>
                          <a:latin typeface="Arial" charset="0"/>
                        </a:rPr>
                        <a:t>Classifier Performance and Model Selection</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81861">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endParaRPr kumimoji="0" lang="en-US" sz="2600" b="0" i="0" u="none" strike="noStrike" cap="none" normalizeH="0" baseline="0" dirty="0">
                        <a:ln>
                          <a:noFill/>
                        </a:ln>
                        <a:solidFill>
                          <a:schemeClr val="tx1"/>
                        </a:solidFill>
                        <a:effectLst/>
                        <a:latin typeface="Arial"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defRPr/>
                      </a:pPr>
                      <a:r>
                        <a:rPr lang="en-CA" sz="1800" kern="1200" dirty="0">
                          <a:solidFill>
                            <a:schemeClr val="tx1"/>
                          </a:solidFill>
                          <a:effectLst/>
                          <a:latin typeface="+mn-lt"/>
                          <a:ea typeface="+mn-ea"/>
                          <a:cs typeface="+mn-cs"/>
                        </a:rPr>
                        <a:t>Big Data Architectures I</a:t>
                      </a:r>
                      <a:endParaRPr kumimoji="0" lang="en-US" sz="2000" b="0" i="0" u="none" strike="noStrike" cap="none" normalizeH="0" baseline="0" dirty="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80934403"/>
                  </a:ext>
                </a:extLst>
              </a:tr>
              <a:tr h="205819">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endParaRPr kumimoji="0" lang="en-US" sz="2600" b="0" i="0" u="none" strike="noStrike" cap="none" normalizeH="0" baseline="0" dirty="0">
                        <a:ln>
                          <a:noFill/>
                        </a:ln>
                        <a:solidFill>
                          <a:schemeClr val="tx1"/>
                        </a:solidFill>
                        <a:effectLst/>
                        <a:latin typeface="Arial"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defRPr/>
                      </a:pPr>
                      <a:r>
                        <a:rPr kumimoji="0" lang="en-US" sz="2000" b="0" i="0" u="none" strike="noStrike" cap="none" normalizeH="0" baseline="0" dirty="0">
                          <a:ln>
                            <a:noFill/>
                          </a:ln>
                          <a:solidFill>
                            <a:schemeClr val="tx1"/>
                          </a:solidFill>
                          <a:effectLst/>
                          <a:latin typeface="Arial" charset="0"/>
                        </a:rPr>
                        <a:t>Big Data Architectures II</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51391999"/>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Course Text</a:t>
            </a:r>
          </a:p>
        </p:txBody>
      </p:sp>
      <p:sp>
        <p:nvSpPr>
          <p:cNvPr id="5" name="Rectangle 3"/>
          <p:cNvSpPr txBox="1">
            <a:spLocks noChangeArrowheads="1"/>
          </p:cNvSpPr>
          <p:nvPr/>
        </p:nvSpPr>
        <p:spPr bwMode="auto">
          <a:xfrm>
            <a:off x="533400" y="1143000"/>
            <a:ext cx="8229600" cy="609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Char char="n"/>
              <a:tabLst/>
              <a:defRPr/>
            </a:pPr>
            <a:r>
              <a:rPr lang="en-US" sz="3000" kern="0" dirty="0">
                <a:latin typeface="+mn-lt"/>
              </a:rPr>
              <a:t>The Elements of Statistical Learning</a:t>
            </a:r>
            <a:endParaRPr kumimoji="0" lang="en-US" sz="3000" b="0" i="0" u="none" strike="noStrike" kern="0" cap="none" spc="0" normalizeH="0" baseline="0" noProof="0" dirty="0">
              <a:ln>
                <a:noFill/>
              </a:ln>
              <a:solidFill>
                <a:schemeClr val="tx1"/>
              </a:solidFill>
              <a:effectLst/>
              <a:uLnTx/>
              <a:uFillTx/>
              <a:latin typeface="+mn-lt"/>
              <a:ea typeface="+mn-ea"/>
              <a:cs typeface="+mn-cs"/>
            </a:endParaRPr>
          </a:p>
        </p:txBody>
      </p:sp>
      <p:sp>
        <p:nvSpPr>
          <p:cNvPr id="7" name="TextBox 6"/>
          <p:cNvSpPr txBox="1"/>
          <p:nvPr/>
        </p:nvSpPr>
        <p:spPr>
          <a:xfrm>
            <a:off x="3962401" y="1828800"/>
            <a:ext cx="4724400" cy="3139321"/>
          </a:xfrm>
          <a:prstGeom prst="rect">
            <a:avLst/>
          </a:prstGeom>
          <a:noFill/>
        </p:spPr>
        <p:txBody>
          <a:bodyPr wrap="square" rtlCol="0">
            <a:spAutoFit/>
          </a:bodyPr>
          <a:lstStyle/>
          <a:p>
            <a:pPr marL="173038" indent="-173038" algn="just"/>
            <a:r>
              <a:rPr lang="en-US" b="1" dirty="0"/>
              <a:t>PROS</a:t>
            </a:r>
          </a:p>
          <a:p>
            <a:pPr marL="173038" indent="-173038" algn="just">
              <a:buFont typeface="Wingdings" pitchFamily="2" charset="2"/>
              <a:buChar char="§"/>
            </a:pPr>
            <a:r>
              <a:rPr lang="en-US" dirty="0"/>
              <a:t>Digital copy is free for Mac students through </a:t>
            </a:r>
            <a:r>
              <a:rPr lang="en-US" dirty="0" err="1"/>
              <a:t>Springerlink</a:t>
            </a:r>
            <a:r>
              <a:rPr lang="en-US" dirty="0"/>
              <a:t> from the library</a:t>
            </a:r>
          </a:p>
          <a:p>
            <a:pPr marL="173038" indent="-173038" algn="just">
              <a:buFont typeface="Wingdings" pitchFamily="2" charset="2"/>
              <a:buChar char="§"/>
            </a:pPr>
            <a:r>
              <a:rPr lang="en-US" dirty="0"/>
              <a:t>Thorough coverage of the theory</a:t>
            </a:r>
          </a:p>
          <a:p>
            <a:pPr marL="173038" indent="-173038" algn="just">
              <a:buFont typeface="Wingdings" pitchFamily="2" charset="2"/>
              <a:buChar char="§"/>
            </a:pPr>
            <a:r>
              <a:rPr lang="en-US" dirty="0"/>
              <a:t>Suitable for undergrad and grad study</a:t>
            </a:r>
          </a:p>
          <a:p>
            <a:pPr marL="173038" indent="-173038" algn="just">
              <a:buFont typeface="Wingdings" pitchFamily="2" charset="2"/>
              <a:buChar char="§"/>
            </a:pPr>
            <a:r>
              <a:rPr lang="en-US" dirty="0"/>
              <a:t>Well-respected book by well-respected authors</a:t>
            </a:r>
          </a:p>
          <a:p>
            <a:pPr marL="173038" indent="-173038" algn="just"/>
            <a:endParaRPr lang="en-US" dirty="0"/>
          </a:p>
          <a:p>
            <a:pPr marL="173038" indent="-173038" algn="just"/>
            <a:r>
              <a:rPr lang="en-US" b="1" dirty="0"/>
              <a:t>CONS</a:t>
            </a:r>
          </a:p>
          <a:p>
            <a:pPr marL="173038" indent="-173038" algn="just">
              <a:buFont typeface="Wingdings" pitchFamily="2" charset="2"/>
              <a:buChar char="§"/>
            </a:pPr>
            <a:r>
              <a:rPr lang="en-US" dirty="0"/>
              <a:t>Not easy to learn from – it is more comprehensive than it is instructive</a:t>
            </a:r>
          </a:p>
        </p:txBody>
      </p:sp>
      <p:pic>
        <p:nvPicPr>
          <p:cNvPr id="4" name="Picture 3">
            <a:extLst>
              <a:ext uri="{FF2B5EF4-FFF2-40B4-BE49-F238E27FC236}">
                <a16:creationId xmlns:a16="http://schemas.microsoft.com/office/drawing/2014/main" id="{F3256A10-51A3-4EC2-AFC9-9423E69FD9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 y="1791478"/>
            <a:ext cx="2756316" cy="415698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a:t>My Past Work in Machine Learning</a:t>
            </a:r>
          </a:p>
        </p:txBody>
      </p:sp>
      <p:sp>
        <p:nvSpPr>
          <p:cNvPr id="4" name="TextBox 3"/>
          <p:cNvSpPr txBox="1"/>
          <p:nvPr/>
        </p:nvSpPr>
        <p:spPr>
          <a:xfrm>
            <a:off x="304800" y="990600"/>
            <a:ext cx="8458199" cy="5386090"/>
          </a:xfrm>
          <a:prstGeom prst="rect">
            <a:avLst/>
          </a:prstGeom>
          <a:noFill/>
        </p:spPr>
        <p:txBody>
          <a:bodyPr wrap="square" rtlCol="0">
            <a:spAutoFit/>
          </a:bodyPr>
          <a:lstStyle/>
          <a:p>
            <a:pPr marL="173038" indent="-173038" algn="just">
              <a:buFont typeface="Wingdings" pitchFamily="2" charset="2"/>
              <a:buChar char="§"/>
            </a:pPr>
            <a:r>
              <a:rPr lang="en-US" sz="1600" dirty="0"/>
              <a:t>J. Fortuna, A. Elzibak, Z. Fan, J.F. </a:t>
            </a:r>
            <a:r>
              <a:rPr lang="en-US" sz="1600" dirty="0" err="1"/>
              <a:t>MacGregor</a:t>
            </a:r>
            <a:r>
              <a:rPr lang="en-US" sz="1600" dirty="0"/>
              <a:t>, and M.D. Noseworthy, (2011), </a:t>
            </a:r>
            <a:r>
              <a:rPr lang="en-US" sz="1600" b="1" i="1" dirty="0"/>
              <a:t>Liver Functional MRI Analysis Using a Latent Variables Approach</a:t>
            </a:r>
            <a:r>
              <a:rPr lang="en-US" sz="1600" dirty="0"/>
              <a:t>, Journal of </a:t>
            </a:r>
            <a:r>
              <a:rPr lang="en-US" sz="1600" dirty="0" err="1"/>
              <a:t>Chemometrics</a:t>
            </a:r>
            <a:r>
              <a:rPr lang="en-US" sz="1600" dirty="0"/>
              <a:t>, Vol. 26, No. 5, pp. 170--179, May 2012.</a:t>
            </a:r>
          </a:p>
          <a:p>
            <a:pPr marL="173038" indent="-173038" algn="just"/>
            <a:endParaRPr lang="en-US" sz="1600" dirty="0"/>
          </a:p>
          <a:p>
            <a:pPr marL="173038" indent="-173038" algn="just">
              <a:buFont typeface="Wingdings" pitchFamily="2" charset="2"/>
              <a:buChar char="§"/>
            </a:pPr>
            <a:r>
              <a:rPr lang="en-US" sz="1600" dirty="0"/>
              <a:t> J. Fortuna and D. Capson (2004), </a:t>
            </a:r>
            <a:r>
              <a:rPr lang="en-US" sz="1600" b="1" i="1" dirty="0"/>
              <a:t>Improved Support Vector Classification Using PCA and ICA Feature Space Modification</a:t>
            </a:r>
            <a:r>
              <a:rPr lang="en-US" sz="1600" dirty="0"/>
              <a:t>, Pattern Recognition Journal, Vol. 37, No. 6, pp. 1117--1129, June 2004.</a:t>
            </a:r>
          </a:p>
          <a:p>
            <a:pPr marL="173038" indent="-173038" algn="just">
              <a:buFont typeface="Wingdings" pitchFamily="2" charset="2"/>
              <a:buChar char="§"/>
            </a:pPr>
            <a:endParaRPr lang="en-US" sz="1600" dirty="0"/>
          </a:p>
          <a:p>
            <a:pPr marL="173038" indent="-173038" algn="just">
              <a:buFont typeface="Wingdings" pitchFamily="2" charset="2"/>
              <a:buChar char="§"/>
            </a:pPr>
            <a:r>
              <a:rPr lang="en-US" sz="1600" dirty="0"/>
              <a:t>J. Fortuna and D. Capson (2006), </a:t>
            </a:r>
            <a:r>
              <a:rPr lang="en-US" sz="1600" b="1" i="1" dirty="0"/>
              <a:t>An Optimal Basis for Feature Extraction with Support Vector Machine Classification Using the Radius-Margin Bound</a:t>
            </a:r>
            <a:r>
              <a:rPr lang="en-US" sz="1600" dirty="0"/>
              <a:t>, Proceedings of the International Conference on Acoustics, Speech and Signal Processing (ICASSP 2006), Toulouse, France, May 2006, Vol. 5, pp. 565--568.</a:t>
            </a:r>
          </a:p>
          <a:p>
            <a:pPr marL="173038" indent="-173038" algn="just">
              <a:buFont typeface="Wingdings" pitchFamily="2" charset="2"/>
              <a:buChar char="§"/>
            </a:pPr>
            <a:endParaRPr lang="en-US" sz="1600" dirty="0"/>
          </a:p>
          <a:p>
            <a:pPr marL="173038" indent="-173038" algn="just">
              <a:buFont typeface="Wingdings" pitchFamily="2" charset="2"/>
              <a:buChar char="§"/>
            </a:pPr>
            <a:r>
              <a:rPr lang="en-US" sz="1600" dirty="0"/>
              <a:t>J. Fortuna and D. Capson (2004), </a:t>
            </a:r>
            <a:r>
              <a:rPr lang="en-US" sz="1600" b="1" i="1" dirty="0"/>
              <a:t>ICA Filters for Lighting Invariant Face Recognition</a:t>
            </a:r>
            <a:r>
              <a:rPr lang="en-US" sz="1600" dirty="0"/>
              <a:t>, Proceedings of the International Conference on Pattern Recognition (ICPR 2004), Cambridge, UK., August 2004, Vol. 1, pp. 334—337</a:t>
            </a:r>
          </a:p>
          <a:p>
            <a:pPr marL="173038" indent="-173038" algn="just">
              <a:buFont typeface="Wingdings" pitchFamily="2" charset="2"/>
              <a:buChar char="§"/>
            </a:pPr>
            <a:endParaRPr lang="en-US" sz="1600" dirty="0"/>
          </a:p>
          <a:p>
            <a:pPr marL="173038" indent="-173038" algn="just">
              <a:buFont typeface="Wingdings" pitchFamily="2" charset="2"/>
              <a:buChar char="§"/>
            </a:pPr>
            <a:r>
              <a:rPr lang="en-US" sz="1600" dirty="0"/>
              <a:t>J. Fortuna, D. Schuurman and D. Capson (2002), </a:t>
            </a:r>
            <a:r>
              <a:rPr lang="en-US" sz="1600" b="1" i="1" dirty="0"/>
              <a:t>A Comparison of PCA and ICA for Object Recognition Under Varying Illumination</a:t>
            </a:r>
            <a:r>
              <a:rPr lang="en-US" sz="1600" dirty="0"/>
              <a:t>, Proceedings of the International Conference on Pattern Recognition (ICPR 2002), Quebec City, Canada, August 2002, Vol. 3, pp. 11--15.</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02069-AC48-4434-8B33-2BB990CE2764}"/>
              </a:ext>
            </a:extLst>
          </p:cNvPr>
          <p:cNvSpPr>
            <a:spLocks noGrp="1"/>
          </p:cNvSpPr>
          <p:nvPr>
            <p:ph type="title"/>
          </p:nvPr>
        </p:nvSpPr>
        <p:spPr>
          <a:xfrm>
            <a:off x="457200" y="277813"/>
            <a:ext cx="8534400" cy="1139825"/>
          </a:xfrm>
        </p:spPr>
        <p:txBody>
          <a:bodyPr/>
          <a:lstStyle/>
          <a:p>
            <a:r>
              <a:rPr lang="en-US" b="1" dirty="0"/>
              <a:t>Statistics we will use in this course…</a:t>
            </a:r>
          </a:p>
        </p:txBody>
      </p:sp>
      <p:sp>
        <p:nvSpPr>
          <p:cNvPr id="4" name="Rectangle 3">
            <a:extLst>
              <a:ext uri="{FF2B5EF4-FFF2-40B4-BE49-F238E27FC236}">
                <a16:creationId xmlns:a16="http://schemas.microsoft.com/office/drawing/2014/main" id="{9F1988FE-DC11-432F-B9C1-96EE88E3D365}"/>
              </a:ext>
            </a:extLst>
          </p:cNvPr>
          <p:cNvSpPr txBox="1">
            <a:spLocks noChangeArrowheads="1"/>
          </p:cNvSpPr>
          <p:nvPr/>
        </p:nvSpPr>
        <p:spPr bwMode="auto">
          <a:xfrm>
            <a:off x="457200" y="1295400"/>
            <a:ext cx="8229600" cy="609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600">
                <a:solidFill>
                  <a:schemeClr val="tx1"/>
                </a:solidFill>
                <a:latin typeface="+mn-lt"/>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200">
                <a:solidFill>
                  <a:schemeClr val="tx1"/>
                </a:solidFill>
                <a:latin typeface="+mn-lt"/>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sz="2000">
                <a:solidFill>
                  <a:schemeClr val="tx1"/>
                </a:solidFill>
                <a:latin typeface="+mn-lt"/>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9pPr>
          </a:lstStyle>
          <a:p>
            <a:pPr eaLnBrk="1" hangingPunct="1"/>
            <a:r>
              <a:rPr lang="en-US" kern="0" dirty="0"/>
              <a:t>We will need to use some specific concepts from statistics and probability in this course</a:t>
            </a:r>
          </a:p>
          <a:p>
            <a:pPr eaLnBrk="1" hangingPunct="1"/>
            <a:r>
              <a:rPr lang="en-US" kern="0" dirty="0"/>
              <a:t>Some of them are covered in our Probability and Statistics ENG TECH 3ST3 course, some are not</a:t>
            </a:r>
          </a:p>
          <a:p>
            <a:pPr eaLnBrk="1" hangingPunct="1"/>
            <a:r>
              <a:rPr lang="en-US" kern="0" dirty="0"/>
              <a:t>I will very quickly review these concepts:</a:t>
            </a:r>
          </a:p>
          <a:p>
            <a:pPr lvl="1" eaLnBrk="1" hangingPunct="1"/>
            <a:r>
              <a:rPr lang="en-US" sz="2000" kern="0" dirty="0"/>
              <a:t>Multivariate descriptive statistics</a:t>
            </a:r>
          </a:p>
          <a:p>
            <a:pPr lvl="1" eaLnBrk="1" hangingPunct="1"/>
            <a:r>
              <a:rPr lang="en-US" sz="2000" kern="0" dirty="0"/>
              <a:t>Multivariate probability distributions</a:t>
            </a:r>
          </a:p>
          <a:p>
            <a:pPr lvl="1" eaLnBrk="1" hangingPunct="1"/>
            <a:r>
              <a:rPr lang="en-US" sz="2000" kern="0" dirty="0"/>
              <a:t>Conditional probability</a:t>
            </a:r>
          </a:p>
        </p:txBody>
      </p:sp>
      <mc:AlternateContent xmlns:mc="http://schemas.openxmlformats.org/markup-compatibility/2006" xmlns:p14="http://schemas.microsoft.com/office/powerpoint/2010/main" xmlns:aink="http://schemas.microsoft.com/office/drawing/2016/ink">
        <mc:Choice Requires="p14 aink">
          <p:contentPart p14:bwMode="auto" r:id="rId2">
            <p14:nvContentPartPr>
              <p14:cNvPr id="3" name="Ink 2">
                <a:extLst>
                  <a:ext uri="{FF2B5EF4-FFF2-40B4-BE49-F238E27FC236}">
                    <a16:creationId xmlns:a16="http://schemas.microsoft.com/office/drawing/2014/main" id="{CE591EFB-D0FA-494E-AA32-B8CF8B2DCC40}"/>
                  </a:ext>
                </a:extLst>
              </p14:cNvPr>
              <p14:cNvContentPartPr/>
              <p14:nvPr/>
            </p14:nvContentPartPr>
            <p14:xfrm>
              <a:off x="4270405" y="5655481"/>
              <a:ext cx="720" cy="360"/>
            </p14:xfrm>
          </p:contentPart>
        </mc:Choice>
        <mc:Fallback xmlns="">
          <p:pic>
            <p:nvPicPr>
              <p:cNvPr id="3" name="Ink 2">
                <a:extLst>
                  <a:ext uri="{FF2B5EF4-FFF2-40B4-BE49-F238E27FC236}">
                    <a16:creationId xmlns:a16="http://schemas.microsoft.com/office/drawing/2014/main" id="{CE591EFB-D0FA-494E-AA32-B8CF8B2DCC40}"/>
                  </a:ext>
                </a:extLst>
              </p:cNvPr>
              <p:cNvPicPr/>
              <p:nvPr/>
            </p:nvPicPr>
            <p:blipFill>
              <a:blip r:embed="rId3"/>
              <a:stretch>
                <a:fillRect/>
              </a:stretch>
            </p:blipFill>
            <p:spPr>
              <a:xfrm>
                <a:off x="4258405" y="5637481"/>
                <a:ext cx="24480" cy="36000"/>
              </a:xfrm>
              <a:prstGeom prst="rect">
                <a:avLst/>
              </a:prstGeom>
            </p:spPr>
          </p:pic>
        </mc:Fallback>
      </mc:AlternateContent>
    </p:spTree>
    <p:extLst>
      <p:ext uri="{BB962C8B-B14F-4D97-AF65-F5344CB8AC3E}">
        <p14:creationId xmlns:p14="http://schemas.microsoft.com/office/powerpoint/2010/main" val="40677499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E90EE-71B4-4384-9B78-9A287097368A}"/>
              </a:ext>
            </a:extLst>
          </p:cNvPr>
          <p:cNvSpPr>
            <a:spLocks noGrp="1"/>
          </p:cNvSpPr>
          <p:nvPr>
            <p:ph type="title"/>
          </p:nvPr>
        </p:nvSpPr>
        <p:spPr/>
        <p:txBody>
          <a:bodyPr/>
          <a:lstStyle/>
          <a:p>
            <a:r>
              <a:rPr lang="en-US" b="1" dirty="0"/>
              <a:t>Some Context…</a:t>
            </a:r>
          </a:p>
        </p:txBody>
      </p:sp>
      <p:sp>
        <p:nvSpPr>
          <p:cNvPr id="4" name="Rectangle 3">
            <a:extLst>
              <a:ext uri="{FF2B5EF4-FFF2-40B4-BE49-F238E27FC236}">
                <a16:creationId xmlns:a16="http://schemas.microsoft.com/office/drawing/2014/main" id="{F95B3C23-44B5-4629-AE9B-DD69749E3825}"/>
              </a:ext>
            </a:extLst>
          </p:cNvPr>
          <p:cNvSpPr txBox="1">
            <a:spLocks noChangeArrowheads="1"/>
          </p:cNvSpPr>
          <p:nvPr/>
        </p:nvSpPr>
        <p:spPr bwMode="auto">
          <a:xfrm>
            <a:off x="457200" y="990600"/>
            <a:ext cx="8229600" cy="5105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600">
                <a:solidFill>
                  <a:schemeClr val="tx1"/>
                </a:solidFill>
                <a:latin typeface="+mn-lt"/>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200">
                <a:solidFill>
                  <a:schemeClr val="tx1"/>
                </a:solidFill>
                <a:latin typeface="+mn-lt"/>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sz="2000">
                <a:solidFill>
                  <a:schemeClr val="tx1"/>
                </a:solidFill>
                <a:latin typeface="+mn-lt"/>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9pPr>
          </a:lstStyle>
          <a:p>
            <a:pPr algn="just" eaLnBrk="1" hangingPunct="1"/>
            <a:r>
              <a:rPr lang="en-US" kern="0" dirty="0"/>
              <a:t>In this course, we will use </a:t>
            </a:r>
            <a:r>
              <a:rPr lang="en-US" b="1" kern="0" dirty="0">
                <a:solidFill>
                  <a:srgbClr val="0070C0"/>
                </a:solidFill>
              </a:rPr>
              <a:t>unorganized data </a:t>
            </a:r>
            <a:r>
              <a:rPr lang="en-US" kern="0" dirty="0"/>
              <a:t>as input and we will apply algorithms which will </a:t>
            </a:r>
            <a:r>
              <a:rPr lang="en-US" b="1" kern="0" dirty="0">
                <a:solidFill>
                  <a:srgbClr val="0070C0"/>
                </a:solidFill>
              </a:rPr>
              <a:t>group</a:t>
            </a:r>
            <a:r>
              <a:rPr lang="en-US" kern="0" dirty="0"/>
              <a:t> and </a:t>
            </a:r>
            <a:r>
              <a:rPr lang="en-US" b="1" kern="0" dirty="0">
                <a:solidFill>
                  <a:srgbClr val="0070C0"/>
                </a:solidFill>
              </a:rPr>
              <a:t>classify</a:t>
            </a:r>
            <a:r>
              <a:rPr lang="en-US" kern="0" dirty="0"/>
              <a:t> data. Further, we will attempt to make </a:t>
            </a:r>
            <a:r>
              <a:rPr lang="en-US" b="1" kern="0" dirty="0">
                <a:solidFill>
                  <a:srgbClr val="0070C0"/>
                </a:solidFill>
              </a:rPr>
              <a:t>predictions</a:t>
            </a:r>
            <a:r>
              <a:rPr lang="en-US" kern="0" dirty="0"/>
              <a:t> about the structure of data that we have not yet seen. </a:t>
            </a:r>
          </a:p>
          <a:p>
            <a:pPr algn="just" eaLnBrk="1" hangingPunct="1"/>
            <a:r>
              <a:rPr lang="en-US" kern="0" dirty="0"/>
              <a:t>We will employ </a:t>
            </a:r>
            <a:r>
              <a:rPr lang="en-US" b="1" kern="0" dirty="0">
                <a:solidFill>
                  <a:srgbClr val="0070C0"/>
                </a:solidFill>
              </a:rPr>
              <a:t>machine learning </a:t>
            </a:r>
            <a:r>
              <a:rPr lang="en-US" kern="0" dirty="0"/>
              <a:t>algorithms and </a:t>
            </a:r>
            <a:r>
              <a:rPr lang="en-US" b="1" kern="0" dirty="0">
                <a:solidFill>
                  <a:srgbClr val="0070C0"/>
                </a:solidFill>
              </a:rPr>
              <a:t>statistical approaches</a:t>
            </a:r>
            <a:r>
              <a:rPr lang="en-US" kern="0" dirty="0"/>
              <a:t>.</a:t>
            </a:r>
          </a:p>
          <a:p>
            <a:pPr algn="just" eaLnBrk="1" hangingPunct="1"/>
            <a:r>
              <a:rPr lang="en-US" kern="0" dirty="0"/>
              <a:t>The unorganized data will most often be in the form of a </a:t>
            </a:r>
            <a:r>
              <a:rPr lang="en-US" b="1" kern="0" dirty="0">
                <a:solidFill>
                  <a:srgbClr val="0070C0"/>
                </a:solidFill>
              </a:rPr>
              <a:t>vector</a:t>
            </a:r>
            <a:r>
              <a:rPr lang="en-US" kern="0" dirty="0"/>
              <a:t> of data values (attributes) for each example.</a:t>
            </a:r>
          </a:p>
        </p:txBody>
      </p:sp>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3D8B9A72-12CD-488A-A5DD-6C08E37AE7B8}"/>
                  </a:ext>
                </a:extLst>
              </p14:cNvPr>
              <p14:cNvContentPartPr/>
              <p14:nvPr/>
            </p14:nvContentPartPr>
            <p14:xfrm>
              <a:off x="7979845" y="4465681"/>
              <a:ext cx="28800" cy="4680"/>
            </p14:xfrm>
          </p:contentPart>
        </mc:Choice>
        <mc:Fallback xmlns="">
          <p:pic>
            <p:nvPicPr>
              <p:cNvPr id="7" name="Ink 6">
                <a:extLst>
                  <a:ext uri="{FF2B5EF4-FFF2-40B4-BE49-F238E27FC236}">
                    <a16:creationId xmlns:a16="http://schemas.microsoft.com/office/drawing/2014/main" id="{3D8B9A72-12CD-488A-A5DD-6C08E37AE7B8}"/>
                  </a:ext>
                </a:extLst>
              </p:cNvPr>
              <p:cNvPicPr/>
              <p:nvPr/>
            </p:nvPicPr>
            <p:blipFill>
              <a:blip r:embed="rId3"/>
              <a:stretch>
                <a:fillRect/>
              </a:stretch>
            </p:blipFill>
            <p:spPr>
              <a:xfrm>
                <a:off x="7961845" y="4446181"/>
                <a:ext cx="64440" cy="43290"/>
              </a:xfrm>
              <a:prstGeom prst="rect">
                <a:avLst/>
              </a:prstGeom>
            </p:spPr>
          </p:pic>
        </mc:Fallback>
      </mc:AlternateContent>
    </p:spTree>
    <p:extLst>
      <p:ext uri="{BB962C8B-B14F-4D97-AF65-F5344CB8AC3E}">
        <p14:creationId xmlns:p14="http://schemas.microsoft.com/office/powerpoint/2010/main" val="16166554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E90EE-71B4-4384-9B78-9A287097368A}"/>
              </a:ext>
            </a:extLst>
          </p:cNvPr>
          <p:cNvSpPr>
            <a:spLocks noGrp="1"/>
          </p:cNvSpPr>
          <p:nvPr>
            <p:ph type="title"/>
          </p:nvPr>
        </p:nvSpPr>
        <p:spPr/>
        <p:txBody>
          <a:bodyPr/>
          <a:lstStyle/>
          <a:p>
            <a:r>
              <a:rPr lang="en-US" b="1" dirty="0"/>
              <a:t>Data (briefly, for now…)</a:t>
            </a:r>
          </a:p>
        </p:txBody>
      </p:sp>
      <p:sp>
        <p:nvSpPr>
          <p:cNvPr id="4" name="Rectangle 3">
            <a:extLst>
              <a:ext uri="{FF2B5EF4-FFF2-40B4-BE49-F238E27FC236}">
                <a16:creationId xmlns:a16="http://schemas.microsoft.com/office/drawing/2014/main" id="{F95B3C23-44B5-4629-AE9B-DD69749E3825}"/>
              </a:ext>
            </a:extLst>
          </p:cNvPr>
          <p:cNvSpPr txBox="1">
            <a:spLocks noChangeArrowheads="1"/>
          </p:cNvSpPr>
          <p:nvPr/>
        </p:nvSpPr>
        <p:spPr bwMode="auto">
          <a:xfrm>
            <a:off x="457200" y="990600"/>
            <a:ext cx="8229600" cy="5105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600">
                <a:solidFill>
                  <a:schemeClr val="tx1"/>
                </a:solidFill>
                <a:latin typeface="+mn-lt"/>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200">
                <a:solidFill>
                  <a:schemeClr val="tx1"/>
                </a:solidFill>
                <a:latin typeface="+mn-lt"/>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sz="2000">
                <a:solidFill>
                  <a:schemeClr val="tx1"/>
                </a:solidFill>
                <a:latin typeface="+mn-lt"/>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9pPr>
          </a:lstStyle>
          <a:p>
            <a:pPr algn="just" eaLnBrk="1" hangingPunct="1"/>
            <a:r>
              <a:rPr lang="en-US" kern="0" dirty="0"/>
              <a:t>Most often in this course we will be working with numerical data (data in the form of numbers).</a:t>
            </a:r>
          </a:p>
          <a:p>
            <a:pPr algn="just" eaLnBrk="1" hangingPunct="1"/>
            <a:r>
              <a:rPr lang="en-US" kern="0" dirty="0"/>
              <a:t>In the Data Mining course, we generalize data to include binary and nominal types.</a:t>
            </a:r>
          </a:p>
          <a:p>
            <a:pPr algn="just" eaLnBrk="1" hangingPunct="1"/>
            <a:r>
              <a:rPr lang="en-US" kern="0" dirty="0"/>
              <a:t>A data set can then be represented as a matrix</a:t>
            </a:r>
          </a:p>
          <a:p>
            <a:pPr algn="just" eaLnBrk="1" hangingPunct="1"/>
            <a:endParaRPr lang="en-US" kern="0" dirty="0"/>
          </a:p>
        </p:txBody>
      </p:sp>
    </p:spTree>
    <p:extLst>
      <p:ext uri="{BB962C8B-B14F-4D97-AF65-F5344CB8AC3E}">
        <p14:creationId xmlns:p14="http://schemas.microsoft.com/office/powerpoint/2010/main" val="101724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A9F4A-07B9-4FC4-8873-CE1C82215408}"/>
              </a:ext>
            </a:extLst>
          </p:cNvPr>
          <p:cNvSpPr>
            <a:spLocks noGrp="1"/>
          </p:cNvSpPr>
          <p:nvPr>
            <p:ph type="title"/>
          </p:nvPr>
        </p:nvSpPr>
        <p:spPr/>
        <p:txBody>
          <a:bodyPr/>
          <a:lstStyle/>
          <a:p>
            <a:r>
              <a:rPr lang="en-US" b="1" dirty="0"/>
              <a:t>Data Matrix</a:t>
            </a:r>
          </a:p>
        </p:txBody>
      </p:sp>
      <p:graphicFrame>
        <p:nvGraphicFramePr>
          <p:cNvPr id="4" name="Table 3">
            <a:extLst>
              <a:ext uri="{FF2B5EF4-FFF2-40B4-BE49-F238E27FC236}">
                <a16:creationId xmlns:a16="http://schemas.microsoft.com/office/drawing/2014/main" id="{9BA8F63B-9711-4807-ACF4-62455E97D7E4}"/>
              </a:ext>
            </a:extLst>
          </p:cNvPr>
          <p:cNvGraphicFramePr>
            <a:graphicFrameLocks noGrp="1"/>
          </p:cNvGraphicFramePr>
          <p:nvPr>
            <p:extLst>
              <p:ext uri="{D42A27DB-BD31-4B8C-83A1-F6EECF244321}">
                <p14:modId xmlns:p14="http://schemas.microsoft.com/office/powerpoint/2010/main" val="1032129627"/>
              </p:ext>
            </p:extLst>
          </p:nvPr>
        </p:nvGraphicFramePr>
        <p:xfrm>
          <a:off x="304800" y="1158220"/>
          <a:ext cx="3200400" cy="2425700"/>
        </p:xfrm>
        <a:graphic>
          <a:graphicData uri="http://schemas.openxmlformats.org/drawingml/2006/table">
            <a:tbl>
              <a:tblPr firstRow="1" bandRow="1">
                <a:tableStyleId>{5C22544A-7EE6-4342-B048-85BDC9FD1C3A}</a:tableStyleId>
              </a:tblPr>
              <a:tblGrid>
                <a:gridCol w="533399">
                  <a:extLst>
                    <a:ext uri="{9D8B030D-6E8A-4147-A177-3AD203B41FA5}">
                      <a16:colId xmlns:a16="http://schemas.microsoft.com/office/drawing/2014/main" val="20000"/>
                    </a:ext>
                  </a:extLst>
                </a:gridCol>
                <a:gridCol w="685799">
                  <a:extLst>
                    <a:ext uri="{9D8B030D-6E8A-4147-A177-3AD203B41FA5}">
                      <a16:colId xmlns:a16="http://schemas.microsoft.com/office/drawing/2014/main" val="20001"/>
                    </a:ext>
                  </a:extLst>
                </a:gridCol>
                <a:gridCol w="701042">
                  <a:extLst>
                    <a:ext uri="{9D8B030D-6E8A-4147-A177-3AD203B41FA5}">
                      <a16:colId xmlns:a16="http://schemas.microsoft.com/office/drawing/2014/main" val="20002"/>
                    </a:ext>
                  </a:extLst>
                </a:gridCol>
                <a:gridCol w="746756">
                  <a:extLst>
                    <a:ext uri="{9D8B030D-6E8A-4147-A177-3AD203B41FA5}">
                      <a16:colId xmlns:a16="http://schemas.microsoft.com/office/drawing/2014/main" val="20003"/>
                    </a:ext>
                  </a:extLst>
                </a:gridCol>
                <a:gridCol w="533404">
                  <a:extLst>
                    <a:ext uri="{9D8B030D-6E8A-4147-A177-3AD203B41FA5}">
                      <a16:colId xmlns:a16="http://schemas.microsoft.com/office/drawing/2014/main" val="20004"/>
                    </a:ext>
                  </a:extLst>
                </a:gridCol>
              </a:tblGrid>
              <a:tr h="393700">
                <a:tc>
                  <a:txBody>
                    <a:bodyPr/>
                    <a:lstStyle/>
                    <a:p>
                      <a:pPr algn="ctr"/>
                      <a:r>
                        <a:rPr lang="en-US" sz="1200" dirty="0"/>
                        <a:t>Age</a:t>
                      </a:r>
                    </a:p>
                  </a:txBody>
                  <a:tcPr/>
                </a:tc>
                <a:tc>
                  <a:txBody>
                    <a:bodyPr/>
                    <a:lstStyle/>
                    <a:p>
                      <a:pPr algn="ctr"/>
                      <a:r>
                        <a:rPr lang="en-US" sz="1200" dirty="0"/>
                        <a:t>Height</a:t>
                      </a:r>
                    </a:p>
                    <a:p>
                      <a:pPr algn="ctr"/>
                      <a:r>
                        <a:rPr lang="en-US" sz="1200" dirty="0"/>
                        <a:t>(in)</a:t>
                      </a:r>
                    </a:p>
                  </a:txBody>
                  <a:tcPr/>
                </a:tc>
                <a:tc>
                  <a:txBody>
                    <a:bodyPr/>
                    <a:lstStyle/>
                    <a:p>
                      <a:pPr algn="ctr"/>
                      <a:r>
                        <a:rPr lang="en-US" sz="1200" dirty="0"/>
                        <a:t>Weight</a:t>
                      </a:r>
                    </a:p>
                    <a:p>
                      <a:pPr algn="ctr"/>
                      <a:r>
                        <a:rPr lang="en-US" sz="1200" dirty="0"/>
                        <a:t>(lb)</a:t>
                      </a:r>
                    </a:p>
                  </a:txBody>
                  <a:tcPr/>
                </a:tc>
                <a:tc>
                  <a:txBody>
                    <a:bodyPr/>
                    <a:lstStyle/>
                    <a:p>
                      <a:pPr algn="ctr"/>
                      <a:r>
                        <a:rPr lang="en-US" sz="1200" dirty="0"/>
                        <a:t>Income</a:t>
                      </a:r>
                    </a:p>
                    <a:p>
                      <a:pPr algn="ctr"/>
                      <a:r>
                        <a:rPr lang="en-US" sz="1200" dirty="0"/>
                        <a:t>(000 $)</a:t>
                      </a:r>
                    </a:p>
                  </a:txBody>
                  <a:tcPr/>
                </a:tc>
                <a:tc>
                  <a:txBody>
                    <a:bodyPr/>
                    <a:lstStyle/>
                    <a:p>
                      <a:pPr algn="ctr"/>
                      <a:r>
                        <a:rPr lang="en-US" sz="1200" dirty="0"/>
                        <a:t>IQ</a:t>
                      </a:r>
                    </a:p>
                  </a:txBody>
                  <a:tcPr/>
                </a:tc>
                <a:extLst>
                  <a:ext uri="{0D108BD9-81ED-4DB2-BD59-A6C34878D82A}">
                    <a16:rowId xmlns:a16="http://schemas.microsoft.com/office/drawing/2014/main" val="10000"/>
                  </a:ext>
                </a:extLst>
              </a:tr>
              <a:tr h="393700">
                <a:tc>
                  <a:txBody>
                    <a:bodyPr/>
                    <a:lstStyle/>
                    <a:p>
                      <a:pPr algn="ctr"/>
                      <a:r>
                        <a:rPr lang="en-US" sz="1200" dirty="0"/>
                        <a:t>20</a:t>
                      </a:r>
                    </a:p>
                  </a:txBody>
                  <a:tcPr/>
                </a:tc>
                <a:tc>
                  <a:txBody>
                    <a:bodyPr/>
                    <a:lstStyle/>
                    <a:p>
                      <a:pPr algn="ctr"/>
                      <a:r>
                        <a:rPr lang="en-US" sz="1200" dirty="0"/>
                        <a:t>70</a:t>
                      </a:r>
                    </a:p>
                  </a:txBody>
                  <a:tcPr/>
                </a:tc>
                <a:tc>
                  <a:txBody>
                    <a:bodyPr/>
                    <a:lstStyle/>
                    <a:p>
                      <a:pPr algn="ctr"/>
                      <a:r>
                        <a:rPr lang="en-US" sz="1200" dirty="0"/>
                        <a:t>165</a:t>
                      </a:r>
                    </a:p>
                  </a:txBody>
                  <a:tcPr/>
                </a:tc>
                <a:tc>
                  <a:txBody>
                    <a:bodyPr/>
                    <a:lstStyle/>
                    <a:p>
                      <a:pPr algn="ctr"/>
                      <a:r>
                        <a:rPr lang="en-US" sz="1200" dirty="0"/>
                        <a:t>31</a:t>
                      </a:r>
                    </a:p>
                  </a:txBody>
                  <a:tcPr/>
                </a:tc>
                <a:tc>
                  <a:txBody>
                    <a:bodyPr/>
                    <a:lstStyle/>
                    <a:p>
                      <a:pPr algn="ctr"/>
                      <a:r>
                        <a:rPr lang="en-US" sz="1200" dirty="0"/>
                        <a:t>120</a:t>
                      </a:r>
                    </a:p>
                  </a:txBody>
                  <a:tcPr/>
                </a:tc>
                <a:extLst>
                  <a:ext uri="{0D108BD9-81ED-4DB2-BD59-A6C34878D82A}">
                    <a16:rowId xmlns:a16="http://schemas.microsoft.com/office/drawing/2014/main" val="10001"/>
                  </a:ext>
                </a:extLst>
              </a:tr>
              <a:tr h="393700">
                <a:tc>
                  <a:txBody>
                    <a:bodyPr/>
                    <a:lstStyle/>
                    <a:p>
                      <a:pPr algn="ctr"/>
                      <a:r>
                        <a:rPr lang="en-US" sz="1200" dirty="0"/>
                        <a:t>35</a:t>
                      </a:r>
                    </a:p>
                  </a:txBody>
                  <a:tcPr/>
                </a:tc>
                <a:tc>
                  <a:txBody>
                    <a:bodyPr/>
                    <a:lstStyle/>
                    <a:p>
                      <a:pPr algn="ctr"/>
                      <a:r>
                        <a:rPr lang="en-US" sz="1200" dirty="0"/>
                        <a:t>72</a:t>
                      </a:r>
                    </a:p>
                  </a:txBody>
                  <a:tcPr/>
                </a:tc>
                <a:tc>
                  <a:txBody>
                    <a:bodyPr/>
                    <a:lstStyle/>
                    <a:p>
                      <a:pPr algn="ctr"/>
                      <a:r>
                        <a:rPr lang="en-US" sz="1200" dirty="0"/>
                        <a:t>175</a:t>
                      </a:r>
                    </a:p>
                  </a:txBody>
                  <a:tcPr/>
                </a:tc>
                <a:tc>
                  <a:txBody>
                    <a:bodyPr/>
                    <a:lstStyle/>
                    <a:p>
                      <a:pPr algn="ctr"/>
                      <a:r>
                        <a:rPr lang="en-US" sz="1200" dirty="0"/>
                        <a:t>46</a:t>
                      </a:r>
                    </a:p>
                  </a:txBody>
                  <a:tcPr/>
                </a:tc>
                <a:tc>
                  <a:txBody>
                    <a:bodyPr/>
                    <a:lstStyle/>
                    <a:p>
                      <a:pPr algn="ctr"/>
                      <a:r>
                        <a:rPr lang="en-US" sz="1200" dirty="0"/>
                        <a:t>115</a:t>
                      </a:r>
                    </a:p>
                  </a:txBody>
                  <a:tcPr/>
                </a:tc>
                <a:extLst>
                  <a:ext uri="{0D108BD9-81ED-4DB2-BD59-A6C34878D82A}">
                    <a16:rowId xmlns:a16="http://schemas.microsoft.com/office/drawing/2014/main" val="10002"/>
                  </a:ext>
                </a:extLst>
              </a:tr>
              <a:tr h="393700">
                <a:tc>
                  <a:txBody>
                    <a:bodyPr/>
                    <a:lstStyle/>
                    <a:p>
                      <a:pPr algn="ctr"/>
                      <a:r>
                        <a:rPr lang="en-US" sz="1200" dirty="0"/>
                        <a:t>28</a:t>
                      </a:r>
                    </a:p>
                  </a:txBody>
                  <a:tcPr/>
                </a:tc>
                <a:tc>
                  <a:txBody>
                    <a:bodyPr/>
                    <a:lstStyle/>
                    <a:p>
                      <a:pPr algn="ctr"/>
                      <a:r>
                        <a:rPr lang="en-US" sz="1200" dirty="0"/>
                        <a:t>68</a:t>
                      </a:r>
                    </a:p>
                  </a:txBody>
                  <a:tcPr/>
                </a:tc>
                <a:tc>
                  <a:txBody>
                    <a:bodyPr/>
                    <a:lstStyle/>
                    <a:p>
                      <a:pPr algn="ctr"/>
                      <a:r>
                        <a:rPr lang="en-US" sz="1200" dirty="0"/>
                        <a:t>183</a:t>
                      </a:r>
                    </a:p>
                  </a:txBody>
                  <a:tcPr/>
                </a:tc>
                <a:tc>
                  <a:txBody>
                    <a:bodyPr/>
                    <a:lstStyle/>
                    <a:p>
                      <a:pPr algn="ctr"/>
                      <a:r>
                        <a:rPr lang="en-US" sz="1200" dirty="0"/>
                        <a:t>86</a:t>
                      </a:r>
                    </a:p>
                  </a:txBody>
                  <a:tcPr/>
                </a:tc>
                <a:tc>
                  <a:txBody>
                    <a:bodyPr/>
                    <a:lstStyle/>
                    <a:p>
                      <a:pPr algn="ctr"/>
                      <a:r>
                        <a:rPr lang="en-US" sz="1200" dirty="0"/>
                        <a:t>135</a:t>
                      </a:r>
                    </a:p>
                  </a:txBody>
                  <a:tcPr/>
                </a:tc>
                <a:extLst>
                  <a:ext uri="{0D108BD9-81ED-4DB2-BD59-A6C34878D82A}">
                    <a16:rowId xmlns:a16="http://schemas.microsoft.com/office/drawing/2014/main" val="10003"/>
                  </a:ext>
                </a:extLst>
              </a:tr>
              <a:tr h="393700">
                <a:tc>
                  <a:txBody>
                    <a:bodyPr/>
                    <a:lstStyle/>
                    <a:p>
                      <a:pPr algn="ctr"/>
                      <a:r>
                        <a:rPr lang="en-US" sz="1200" dirty="0"/>
                        <a:t>58</a:t>
                      </a:r>
                    </a:p>
                  </a:txBody>
                  <a:tcPr/>
                </a:tc>
                <a:tc>
                  <a:txBody>
                    <a:bodyPr/>
                    <a:lstStyle/>
                    <a:p>
                      <a:pPr algn="ctr"/>
                      <a:r>
                        <a:rPr lang="en-US" sz="1200" dirty="0"/>
                        <a:t>73</a:t>
                      </a:r>
                    </a:p>
                  </a:txBody>
                  <a:tcPr/>
                </a:tc>
                <a:tc>
                  <a:txBody>
                    <a:bodyPr/>
                    <a:lstStyle/>
                    <a:p>
                      <a:pPr algn="ctr"/>
                      <a:r>
                        <a:rPr lang="en-US" sz="1200" dirty="0"/>
                        <a:t>210</a:t>
                      </a:r>
                    </a:p>
                  </a:txBody>
                  <a:tcPr/>
                </a:tc>
                <a:tc>
                  <a:txBody>
                    <a:bodyPr/>
                    <a:lstStyle/>
                    <a:p>
                      <a:pPr algn="ctr"/>
                      <a:r>
                        <a:rPr lang="en-US" sz="1200" dirty="0"/>
                        <a:t>128</a:t>
                      </a:r>
                    </a:p>
                  </a:txBody>
                  <a:tcPr/>
                </a:tc>
                <a:tc>
                  <a:txBody>
                    <a:bodyPr/>
                    <a:lstStyle/>
                    <a:p>
                      <a:pPr algn="ctr"/>
                      <a:r>
                        <a:rPr lang="en-US" sz="1200" dirty="0"/>
                        <a:t>128</a:t>
                      </a:r>
                    </a:p>
                  </a:txBody>
                  <a:tcPr/>
                </a:tc>
                <a:extLst>
                  <a:ext uri="{0D108BD9-81ED-4DB2-BD59-A6C34878D82A}">
                    <a16:rowId xmlns:a16="http://schemas.microsoft.com/office/drawing/2014/main" val="10004"/>
                  </a:ext>
                </a:extLst>
              </a:tr>
              <a:tr h="393700">
                <a:tc>
                  <a:txBody>
                    <a:bodyPr/>
                    <a:lstStyle/>
                    <a:p>
                      <a:pPr algn="ctr"/>
                      <a:r>
                        <a:rPr lang="en-US" sz="1200" dirty="0"/>
                        <a:t>29</a:t>
                      </a:r>
                    </a:p>
                  </a:txBody>
                  <a:tcPr/>
                </a:tc>
                <a:tc>
                  <a:txBody>
                    <a:bodyPr/>
                    <a:lstStyle/>
                    <a:p>
                      <a:pPr algn="ctr"/>
                      <a:r>
                        <a:rPr lang="en-US" sz="1200" dirty="0"/>
                        <a:t>65</a:t>
                      </a:r>
                    </a:p>
                  </a:txBody>
                  <a:tcPr/>
                </a:tc>
                <a:tc>
                  <a:txBody>
                    <a:bodyPr/>
                    <a:lstStyle/>
                    <a:p>
                      <a:pPr algn="ctr"/>
                      <a:r>
                        <a:rPr lang="en-US" sz="1200" dirty="0"/>
                        <a:t>200</a:t>
                      </a:r>
                    </a:p>
                  </a:txBody>
                  <a:tcPr/>
                </a:tc>
                <a:tc>
                  <a:txBody>
                    <a:bodyPr/>
                    <a:lstStyle/>
                    <a:p>
                      <a:pPr algn="ctr"/>
                      <a:r>
                        <a:rPr lang="en-US" sz="1200" dirty="0"/>
                        <a:t>35</a:t>
                      </a:r>
                    </a:p>
                  </a:txBody>
                  <a:tcPr/>
                </a:tc>
                <a:tc>
                  <a:txBody>
                    <a:bodyPr/>
                    <a:lstStyle/>
                    <a:p>
                      <a:pPr algn="ctr"/>
                      <a:r>
                        <a:rPr lang="en-US" sz="1200" dirty="0"/>
                        <a:t>90</a:t>
                      </a:r>
                    </a:p>
                  </a:txBody>
                  <a:tcPr/>
                </a:tc>
                <a:extLst>
                  <a:ext uri="{0D108BD9-81ED-4DB2-BD59-A6C34878D82A}">
                    <a16:rowId xmlns:a16="http://schemas.microsoft.com/office/drawing/2014/main" val="10005"/>
                  </a:ext>
                </a:extLst>
              </a:tr>
            </a:tbl>
          </a:graphicData>
        </a:graphic>
      </p:graphicFrame>
      <p:graphicFrame>
        <p:nvGraphicFramePr>
          <p:cNvPr id="5" name="Object 4">
            <a:extLst>
              <a:ext uri="{FF2B5EF4-FFF2-40B4-BE49-F238E27FC236}">
                <a16:creationId xmlns:a16="http://schemas.microsoft.com/office/drawing/2014/main" id="{C03B743B-A07B-4BE0-9E39-22DA592E58F8}"/>
              </a:ext>
            </a:extLst>
          </p:cNvPr>
          <p:cNvGraphicFramePr>
            <a:graphicFrameLocks noChangeAspect="1"/>
          </p:cNvGraphicFramePr>
          <p:nvPr>
            <p:extLst>
              <p:ext uri="{D42A27DB-BD31-4B8C-83A1-F6EECF244321}">
                <p14:modId xmlns:p14="http://schemas.microsoft.com/office/powerpoint/2010/main" val="1665909227"/>
              </p:ext>
            </p:extLst>
          </p:nvPr>
        </p:nvGraphicFramePr>
        <p:xfrm>
          <a:off x="3700463" y="941388"/>
          <a:ext cx="4956175" cy="2859087"/>
        </p:xfrm>
        <a:graphic>
          <a:graphicData uri="http://schemas.openxmlformats.org/presentationml/2006/ole">
            <mc:AlternateContent xmlns:mc="http://schemas.openxmlformats.org/markup-compatibility/2006">
              <mc:Choice xmlns:v="urn:schemas-microsoft-com:vml" Requires="v">
                <p:oleObj name="Equation" r:id="rId2" imgW="1981080" imgH="1143000" progId="Equation.DSMT4">
                  <p:embed/>
                </p:oleObj>
              </mc:Choice>
              <mc:Fallback>
                <p:oleObj name="Equation" r:id="rId2" imgW="1981080" imgH="1143000" progId="Equation.DSMT4">
                  <p:embed/>
                  <p:pic>
                    <p:nvPicPr>
                      <p:cNvPr id="5" name="Object 4"/>
                      <p:cNvPicPr>
                        <a:picLocks noChangeAspect="1" noChangeArrowheads="1"/>
                      </p:cNvPicPr>
                      <p:nvPr/>
                    </p:nvPicPr>
                    <p:blipFill>
                      <a:blip r:embed="rId3"/>
                      <a:srcRect/>
                      <a:stretch>
                        <a:fillRect/>
                      </a:stretch>
                    </p:blipFill>
                    <p:spPr bwMode="auto">
                      <a:xfrm>
                        <a:off x="3700463" y="941388"/>
                        <a:ext cx="4956175" cy="28590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3">
            <a:extLst>
              <a:ext uri="{FF2B5EF4-FFF2-40B4-BE49-F238E27FC236}">
                <a16:creationId xmlns:a16="http://schemas.microsoft.com/office/drawing/2014/main" id="{9B07BE84-06EA-4B2F-9257-5C52B2144794}"/>
              </a:ext>
            </a:extLst>
          </p:cNvPr>
          <p:cNvSpPr txBox="1">
            <a:spLocks noChangeArrowheads="1"/>
          </p:cNvSpPr>
          <p:nvPr/>
        </p:nvSpPr>
        <p:spPr bwMode="auto">
          <a:xfrm>
            <a:off x="304800" y="3886200"/>
            <a:ext cx="8458200" cy="1295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just" defTabSz="914400" rtl="0" eaLnBrk="1" fontAlgn="base" latinLnBrk="0" hangingPunct="1">
              <a:lnSpc>
                <a:spcPct val="100000"/>
              </a:lnSpc>
              <a:spcBef>
                <a:spcPct val="20000"/>
              </a:spcBef>
              <a:spcAft>
                <a:spcPct val="0"/>
              </a:spcAft>
              <a:buClr>
                <a:schemeClr val="accent1"/>
              </a:buClr>
              <a:buSzPct val="65000"/>
              <a:buFont typeface="Wingdings" pitchFamily="2" charset="2"/>
              <a:buChar char="n"/>
              <a:tabLst/>
              <a:defRPr/>
            </a:pPr>
            <a:r>
              <a:rPr kumimoji="0" lang="en-US" sz="2400" b="0" i="0" u="none" strike="noStrike" kern="0" cap="none" spc="0" normalizeH="0" baseline="0" noProof="0" dirty="0">
                <a:ln>
                  <a:noFill/>
                </a:ln>
                <a:solidFill>
                  <a:schemeClr val="tx1"/>
                </a:solidFill>
                <a:effectLst/>
                <a:uLnTx/>
                <a:uFillTx/>
                <a:latin typeface="+mn-lt"/>
                <a:ea typeface="+mn-ea"/>
                <a:cs typeface="+mn-cs"/>
              </a:rPr>
              <a:t>This provides a 5x5 matrix, with each data element being a row (with</a:t>
            </a:r>
            <a:r>
              <a:rPr kumimoji="0" lang="en-US" sz="2400" b="0" i="0" u="none" strike="noStrike" kern="0" cap="none" spc="0" normalizeH="0" noProof="0" dirty="0">
                <a:ln>
                  <a:noFill/>
                </a:ln>
                <a:solidFill>
                  <a:schemeClr val="tx1"/>
                </a:solidFill>
                <a:effectLst/>
                <a:uLnTx/>
                <a:uFillTx/>
                <a:latin typeface="+mn-lt"/>
                <a:ea typeface="+mn-ea"/>
                <a:cs typeface="+mn-cs"/>
              </a:rPr>
              <a:t> 5 dimensions (attributes))</a:t>
            </a:r>
          </a:p>
          <a:p>
            <a:pPr marL="342900" marR="0" lvl="0" indent="-342900" algn="just" defTabSz="914400" rtl="0" eaLnBrk="1" fontAlgn="base" latinLnBrk="0" hangingPunct="1">
              <a:lnSpc>
                <a:spcPct val="100000"/>
              </a:lnSpc>
              <a:spcBef>
                <a:spcPct val="20000"/>
              </a:spcBef>
              <a:spcAft>
                <a:spcPct val="0"/>
              </a:spcAft>
              <a:buClr>
                <a:schemeClr val="accent1"/>
              </a:buClr>
              <a:buSzPct val="65000"/>
              <a:buFont typeface="Wingdings" pitchFamily="2" charset="2"/>
              <a:buChar char="n"/>
              <a:tabLst/>
              <a:defRPr/>
            </a:pPr>
            <a:r>
              <a:rPr lang="en-US" sz="2400" kern="0" baseline="0" dirty="0">
                <a:latin typeface="+mn-lt"/>
              </a:rPr>
              <a:t>Each data element is then a row vector:</a:t>
            </a:r>
            <a:endParaRPr kumimoji="0" lang="en-US" sz="2400" b="0"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just" defTabSz="914400" rtl="0" eaLnBrk="1" fontAlgn="base" latinLnBrk="0" hangingPunct="1">
              <a:lnSpc>
                <a:spcPct val="100000"/>
              </a:lnSpc>
              <a:spcBef>
                <a:spcPct val="20000"/>
              </a:spcBef>
              <a:spcAft>
                <a:spcPct val="0"/>
              </a:spcAft>
              <a:buClr>
                <a:schemeClr val="accent1"/>
              </a:buClr>
              <a:buSzPct val="65000"/>
              <a:buFont typeface="Wingdings" pitchFamily="2" charset="2"/>
              <a:buChar char="n"/>
              <a:tabLst/>
              <a:defRPr/>
            </a:pPr>
            <a:endParaRPr kumimoji="0" lang="en-US" sz="2400" b="0" i="0" u="none" strike="noStrike" kern="0" cap="none" spc="0" normalizeH="0" baseline="0" noProof="0" dirty="0">
              <a:ln>
                <a:noFill/>
              </a:ln>
              <a:solidFill>
                <a:schemeClr val="tx1"/>
              </a:solidFill>
              <a:effectLst/>
              <a:uLnTx/>
              <a:uFillTx/>
              <a:latin typeface="+mn-lt"/>
              <a:ea typeface="+mn-ea"/>
              <a:cs typeface="+mn-cs"/>
            </a:endParaRPr>
          </a:p>
        </p:txBody>
      </p:sp>
      <p:graphicFrame>
        <p:nvGraphicFramePr>
          <p:cNvPr id="7" name="Object 6">
            <a:extLst>
              <a:ext uri="{FF2B5EF4-FFF2-40B4-BE49-F238E27FC236}">
                <a16:creationId xmlns:a16="http://schemas.microsoft.com/office/drawing/2014/main" id="{E8D16B97-2A8A-4064-8D89-1BC82F20945E}"/>
              </a:ext>
            </a:extLst>
          </p:cNvPr>
          <p:cNvGraphicFramePr>
            <a:graphicFrameLocks noChangeAspect="1"/>
          </p:cNvGraphicFramePr>
          <p:nvPr>
            <p:extLst>
              <p:ext uri="{D42A27DB-BD31-4B8C-83A1-F6EECF244321}">
                <p14:modId xmlns:p14="http://schemas.microsoft.com/office/powerpoint/2010/main" val="572064229"/>
              </p:ext>
            </p:extLst>
          </p:nvPr>
        </p:nvGraphicFramePr>
        <p:xfrm>
          <a:off x="761999" y="5267186"/>
          <a:ext cx="4381555" cy="600213"/>
        </p:xfrm>
        <a:graphic>
          <a:graphicData uri="http://schemas.openxmlformats.org/presentationml/2006/ole">
            <mc:AlternateContent xmlns:mc="http://schemas.openxmlformats.org/markup-compatibility/2006">
              <mc:Choice xmlns:v="urn:schemas-microsoft-com:vml" Requires="v">
                <p:oleObj name="Equation" r:id="rId4" imgW="1854000" imgH="253800" progId="Equation.DSMT4">
                  <p:embed/>
                </p:oleObj>
              </mc:Choice>
              <mc:Fallback>
                <p:oleObj name="Equation" r:id="rId4" imgW="1854000" imgH="253800" progId="Equation.DSMT4">
                  <p:embed/>
                  <p:pic>
                    <p:nvPicPr>
                      <p:cNvPr id="0" name=""/>
                      <p:cNvPicPr/>
                      <p:nvPr/>
                    </p:nvPicPr>
                    <p:blipFill>
                      <a:blip r:embed="rId5"/>
                      <a:stretch>
                        <a:fillRect/>
                      </a:stretch>
                    </p:blipFill>
                    <p:spPr>
                      <a:xfrm>
                        <a:off x="761999" y="5267186"/>
                        <a:ext cx="4381555" cy="600213"/>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FEF29A81-9B93-4B94-8923-762A9E1FE93F}"/>
              </a:ext>
            </a:extLst>
          </p:cNvPr>
          <p:cNvGraphicFramePr>
            <a:graphicFrameLocks noChangeAspect="1"/>
          </p:cNvGraphicFramePr>
          <p:nvPr>
            <p:extLst>
              <p:ext uri="{D42A27DB-BD31-4B8C-83A1-F6EECF244321}">
                <p14:modId xmlns:p14="http://schemas.microsoft.com/office/powerpoint/2010/main" val="2935411380"/>
              </p:ext>
            </p:extLst>
          </p:nvPr>
        </p:nvGraphicFramePr>
        <p:xfrm>
          <a:off x="4927600" y="2667000"/>
          <a:ext cx="914400" cy="198438"/>
        </p:xfrm>
        <a:graphic>
          <a:graphicData uri="http://schemas.openxmlformats.org/presentationml/2006/ole">
            <mc:AlternateContent xmlns:mc="http://schemas.openxmlformats.org/markup-compatibility/2006">
              <mc:Choice xmlns:v="urn:schemas-microsoft-com:vml" Requires="v">
                <p:oleObj name="Equation" r:id="rId6" imgW="914400" imgH="198720" progId="Equation.DSMT4">
                  <p:embed/>
                </p:oleObj>
              </mc:Choice>
              <mc:Fallback>
                <p:oleObj name="Equation" r:id="rId6" imgW="914400" imgH="198720" progId="Equation.DSMT4">
                  <p:embed/>
                  <p:pic>
                    <p:nvPicPr>
                      <p:cNvPr id="0" name=""/>
                      <p:cNvPicPr/>
                      <p:nvPr/>
                    </p:nvPicPr>
                    <p:blipFill>
                      <a:blip r:embed="rId7"/>
                      <a:stretch>
                        <a:fillRect/>
                      </a:stretch>
                    </p:blipFill>
                    <p:spPr>
                      <a:xfrm>
                        <a:off x="4927600" y="2667000"/>
                        <a:ext cx="914400" cy="198438"/>
                      </a:xfrm>
                      <a:prstGeom prst="rect">
                        <a:avLst/>
                      </a:prstGeom>
                    </p:spPr>
                  </p:pic>
                </p:oleObj>
              </mc:Fallback>
            </mc:AlternateContent>
          </a:graphicData>
        </a:graphic>
      </p:graphicFrame>
      <p:graphicFrame>
        <p:nvGraphicFramePr>
          <p:cNvPr id="3" name="Object 2">
            <a:extLst>
              <a:ext uri="{FF2B5EF4-FFF2-40B4-BE49-F238E27FC236}">
                <a16:creationId xmlns:a16="http://schemas.microsoft.com/office/drawing/2014/main" id="{95D9317F-991B-42A9-8C85-2C0848A199E9}"/>
              </a:ext>
            </a:extLst>
          </p:cNvPr>
          <p:cNvGraphicFramePr>
            <a:graphicFrameLocks noChangeAspect="1"/>
          </p:cNvGraphicFramePr>
          <p:nvPr>
            <p:extLst>
              <p:ext uri="{D42A27DB-BD31-4B8C-83A1-F6EECF244321}">
                <p14:modId xmlns:p14="http://schemas.microsoft.com/office/powerpoint/2010/main" val="3637895047"/>
              </p:ext>
            </p:extLst>
          </p:nvPr>
        </p:nvGraphicFramePr>
        <p:xfrm>
          <a:off x="4927600" y="2667000"/>
          <a:ext cx="914400" cy="198438"/>
        </p:xfrm>
        <a:graphic>
          <a:graphicData uri="http://schemas.openxmlformats.org/presentationml/2006/ole">
            <mc:AlternateContent xmlns:mc="http://schemas.openxmlformats.org/markup-compatibility/2006">
              <mc:Choice xmlns:v="urn:schemas-microsoft-com:vml" Requires="v">
                <p:oleObj name="Equation" r:id="rId8" imgW="914400" imgH="198720" progId="Equation.DSMT4">
                  <p:embed/>
                </p:oleObj>
              </mc:Choice>
              <mc:Fallback>
                <p:oleObj name="Equation" r:id="rId8" imgW="914400" imgH="198720" progId="Equation.DSMT4">
                  <p:embed/>
                  <p:pic>
                    <p:nvPicPr>
                      <p:cNvPr id="0" name=""/>
                      <p:cNvPicPr/>
                      <p:nvPr/>
                    </p:nvPicPr>
                    <p:blipFill>
                      <a:blip r:embed="rId7"/>
                      <a:stretch>
                        <a:fillRect/>
                      </a:stretch>
                    </p:blipFill>
                    <p:spPr>
                      <a:xfrm>
                        <a:off x="4927600" y="2667000"/>
                        <a:ext cx="914400" cy="198438"/>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C1183E81-C58F-4387-BE8F-4BA4C4B5BF95}"/>
              </a:ext>
            </a:extLst>
          </p:cNvPr>
          <p:cNvGraphicFramePr>
            <a:graphicFrameLocks noChangeAspect="1"/>
          </p:cNvGraphicFramePr>
          <p:nvPr>
            <p:extLst>
              <p:ext uri="{D42A27DB-BD31-4B8C-83A1-F6EECF244321}">
                <p14:modId xmlns:p14="http://schemas.microsoft.com/office/powerpoint/2010/main" val="1576548704"/>
              </p:ext>
            </p:extLst>
          </p:nvPr>
        </p:nvGraphicFramePr>
        <p:xfrm>
          <a:off x="4927600" y="2667000"/>
          <a:ext cx="914400" cy="198438"/>
        </p:xfrm>
        <a:graphic>
          <a:graphicData uri="http://schemas.openxmlformats.org/presentationml/2006/ole">
            <mc:AlternateContent xmlns:mc="http://schemas.openxmlformats.org/markup-compatibility/2006">
              <mc:Choice xmlns:v="urn:schemas-microsoft-com:vml" Requires="v">
                <p:oleObj name="Equation" r:id="rId9" imgW="914400" imgH="198720" progId="Equation.DSMT4">
                  <p:embed/>
                </p:oleObj>
              </mc:Choice>
              <mc:Fallback>
                <p:oleObj name="Equation" r:id="rId9" imgW="914400" imgH="198720" progId="Equation.DSMT4">
                  <p:embed/>
                  <p:pic>
                    <p:nvPicPr>
                      <p:cNvPr id="0" name=""/>
                      <p:cNvPicPr/>
                      <p:nvPr/>
                    </p:nvPicPr>
                    <p:blipFill>
                      <a:blip r:embed="rId7"/>
                      <a:stretch>
                        <a:fillRect/>
                      </a:stretch>
                    </p:blipFill>
                    <p:spPr>
                      <a:xfrm>
                        <a:off x="4927600" y="2667000"/>
                        <a:ext cx="914400" cy="198438"/>
                      </a:xfrm>
                      <a:prstGeom prst="rect">
                        <a:avLst/>
                      </a:prstGeom>
                    </p:spPr>
                  </p:pic>
                </p:oleObj>
              </mc:Fallback>
            </mc:AlternateContent>
          </a:graphicData>
        </a:graphic>
      </p:graphicFrame>
      <mc:AlternateContent xmlns:mc="http://schemas.openxmlformats.org/markup-compatibility/2006" xmlns:p14="http://schemas.microsoft.com/office/powerpoint/2010/main" xmlns:aink="http://schemas.microsoft.com/office/drawing/2016/ink">
        <mc:Choice Requires="p14 aink">
          <p:contentPart p14:bwMode="auto" r:id="rId10">
            <p14:nvContentPartPr>
              <p14:cNvPr id="17" name="Ink 16">
                <a:extLst>
                  <a:ext uri="{FF2B5EF4-FFF2-40B4-BE49-F238E27FC236}">
                    <a16:creationId xmlns:a16="http://schemas.microsoft.com/office/drawing/2014/main" id="{073367D9-1B26-41C5-B44C-A3DFE05DC5F9}"/>
                  </a:ext>
                </a:extLst>
              </p14:cNvPr>
              <p14:cNvContentPartPr/>
              <p14:nvPr/>
            </p14:nvContentPartPr>
            <p14:xfrm>
              <a:off x="1723045" y="1094281"/>
              <a:ext cx="2880" cy="5040"/>
            </p14:xfrm>
          </p:contentPart>
        </mc:Choice>
        <mc:Fallback xmlns="">
          <p:pic>
            <p:nvPicPr>
              <p:cNvPr id="17" name="Ink 16">
                <a:extLst>
                  <a:ext uri="{FF2B5EF4-FFF2-40B4-BE49-F238E27FC236}">
                    <a16:creationId xmlns:a16="http://schemas.microsoft.com/office/drawing/2014/main" id="{073367D9-1B26-41C5-B44C-A3DFE05DC5F9}"/>
                  </a:ext>
                </a:extLst>
              </p:cNvPr>
              <p:cNvPicPr/>
              <p:nvPr/>
            </p:nvPicPr>
            <p:blipFill>
              <a:blip r:embed="rId16"/>
              <a:stretch>
                <a:fillRect/>
              </a:stretch>
            </p:blipFill>
            <p:spPr>
              <a:xfrm>
                <a:off x="1705045" y="1076641"/>
                <a:ext cx="38520" cy="406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7">
            <p14:nvContentPartPr>
              <p14:cNvPr id="18" name="Ink 17">
                <a:extLst>
                  <a:ext uri="{FF2B5EF4-FFF2-40B4-BE49-F238E27FC236}">
                    <a16:creationId xmlns:a16="http://schemas.microsoft.com/office/drawing/2014/main" id="{ADFCA1AA-B215-4DC2-BBFE-C65CB376E7C9}"/>
                  </a:ext>
                </a:extLst>
              </p14:cNvPr>
              <p14:cNvContentPartPr/>
              <p14:nvPr/>
            </p14:nvContentPartPr>
            <p14:xfrm>
              <a:off x="2534485" y="1104001"/>
              <a:ext cx="13680" cy="10440"/>
            </p14:xfrm>
          </p:contentPart>
        </mc:Choice>
        <mc:Fallback xmlns="">
          <p:pic>
            <p:nvPicPr>
              <p:cNvPr id="18" name="Ink 17">
                <a:extLst>
                  <a:ext uri="{FF2B5EF4-FFF2-40B4-BE49-F238E27FC236}">
                    <a16:creationId xmlns:a16="http://schemas.microsoft.com/office/drawing/2014/main" id="{ADFCA1AA-B215-4DC2-BBFE-C65CB376E7C9}"/>
                  </a:ext>
                </a:extLst>
              </p:cNvPr>
              <p:cNvPicPr/>
              <p:nvPr/>
            </p:nvPicPr>
            <p:blipFill>
              <a:blip r:embed="rId18"/>
              <a:stretch>
                <a:fillRect/>
              </a:stretch>
            </p:blipFill>
            <p:spPr>
              <a:xfrm>
                <a:off x="2516845" y="1086001"/>
                <a:ext cx="49320" cy="460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9">
            <p14:nvContentPartPr>
              <p14:cNvPr id="11" name="Ink 10">
                <a:extLst>
                  <a:ext uri="{FF2B5EF4-FFF2-40B4-BE49-F238E27FC236}">
                    <a16:creationId xmlns:a16="http://schemas.microsoft.com/office/drawing/2014/main" id="{F110CEEC-783B-4928-9FFA-8875F839450F}"/>
                  </a:ext>
                </a:extLst>
              </p14:cNvPr>
              <p14:cNvContentPartPr/>
              <p14:nvPr/>
            </p14:nvContentPartPr>
            <p14:xfrm>
              <a:off x="4499725" y="861721"/>
              <a:ext cx="4386960" cy="701640"/>
            </p14:xfrm>
          </p:contentPart>
        </mc:Choice>
        <mc:Fallback xmlns="">
          <p:pic>
            <p:nvPicPr>
              <p:cNvPr id="11" name="Ink 10">
                <a:extLst>
                  <a:ext uri="{FF2B5EF4-FFF2-40B4-BE49-F238E27FC236}">
                    <a16:creationId xmlns:a16="http://schemas.microsoft.com/office/drawing/2014/main" id="{F110CEEC-783B-4928-9FFA-8875F839450F}"/>
                  </a:ext>
                </a:extLst>
              </p:cNvPr>
              <p:cNvPicPr/>
              <p:nvPr/>
            </p:nvPicPr>
            <p:blipFill>
              <a:blip r:embed="rId20"/>
              <a:stretch>
                <a:fillRect/>
              </a:stretch>
            </p:blipFill>
            <p:spPr>
              <a:xfrm>
                <a:off x="4481726" y="843730"/>
                <a:ext cx="4422597" cy="737262"/>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0" name="Ink 9">
                <a:extLst>
                  <a:ext uri="{FF2B5EF4-FFF2-40B4-BE49-F238E27FC236}">
                    <a16:creationId xmlns:a16="http://schemas.microsoft.com/office/drawing/2014/main" id="{907BE02E-ABA2-4AE0-8A76-F10268BF8E3B}"/>
                  </a:ext>
                </a:extLst>
              </p14:cNvPr>
              <p14:cNvContentPartPr/>
              <p14:nvPr/>
            </p14:nvContentPartPr>
            <p14:xfrm>
              <a:off x="851125" y="987001"/>
              <a:ext cx="12240" cy="5760"/>
            </p14:xfrm>
          </p:contentPart>
        </mc:Choice>
        <mc:Fallback xmlns="">
          <p:pic>
            <p:nvPicPr>
              <p:cNvPr id="10" name="Ink 9">
                <a:extLst>
                  <a:ext uri="{FF2B5EF4-FFF2-40B4-BE49-F238E27FC236}">
                    <a16:creationId xmlns:a16="http://schemas.microsoft.com/office/drawing/2014/main" id="{907BE02E-ABA2-4AE0-8A76-F10268BF8E3B}"/>
                  </a:ext>
                </a:extLst>
              </p:cNvPr>
              <p:cNvPicPr/>
              <p:nvPr/>
            </p:nvPicPr>
            <p:blipFill>
              <a:blip r:embed="rId22"/>
              <a:stretch>
                <a:fillRect/>
              </a:stretch>
            </p:blipFill>
            <p:spPr>
              <a:xfrm>
                <a:off x="832580" y="970399"/>
                <a:ext cx="48960" cy="39304"/>
              </a:xfrm>
              <a:prstGeom prst="rect">
                <a:avLst/>
              </a:prstGeom>
            </p:spPr>
          </p:pic>
        </mc:Fallback>
      </mc:AlternateContent>
    </p:spTree>
    <p:extLst>
      <p:ext uri="{BB962C8B-B14F-4D97-AF65-F5344CB8AC3E}">
        <p14:creationId xmlns:p14="http://schemas.microsoft.com/office/powerpoint/2010/main" val="11312574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E90EE-71B4-4384-9B78-9A287097368A}"/>
              </a:ext>
            </a:extLst>
          </p:cNvPr>
          <p:cNvSpPr>
            <a:spLocks noGrp="1"/>
          </p:cNvSpPr>
          <p:nvPr>
            <p:ph type="title"/>
          </p:nvPr>
        </p:nvSpPr>
        <p:spPr/>
        <p:txBody>
          <a:bodyPr/>
          <a:lstStyle/>
          <a:p>
            <a:r>
              <a:rPr lang="en-US" b="1" dirty="0"/>
              <a:t>Multivariate Descriptive Statistics</a:t>
            </a:r>
          </a:p>
        </p:txBody>
      </p:sp>
      <p:sp>
        <p:nvSpPr>
          <p:cNvPr id="4" name="Rectangle 3">
            <a:extLst>
              <a:ext uri="{FF2B5EF4-FFF2-40B4-BE49-F238E27FC236}">
                <a16:creationId xmlns:a16="http://schemas.microsoft.com/office/drawing/2014/main" id="{F95B3C23-44B5-4629-AE9B-DD69749E3825}"/>
              </a:ext>
            </a:extLst>
          </p:cNvPr>
          <p:cNvSpPr txBox="1">
            <a:spLocks noChangeArrowheads="1"/>
          </p:cNvSpPr>
          <p:nvPr/>
        </p:nvSpPr>
        <p:spPr bwMode="auto">
          <a:xfrm>
            <a:off x="457200" y="1295400"/>
            <a:ext cx="82296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600">
                <a:solidFill>
                  <a:schemeClr val="tx1"/>
                </a:solidFill>
                <a:latin typeface="+mn-lt"/>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200">
                <a:solidFill>
                  <a:schemeClr val="tx1"/>
                </a:solidFill>
                <a:latin typeface="+mn-lt"/>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sz="2000">
                <a:solidFill>
                  <a:schemeClr val="tx1"/>
                </a:solidFill>
                <a:latin typeface="+mn-lt"/>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9pPr>
          </a:lstStyle>
          <a:p>
            <a:pPr algn="just" eaLnBrk="1" hangingPunct="1"/>
            <a:r>
              <a:rPr lang="en-US" kern="0" dirty="0"/>
              <a:t>Since we are working with a matrix of data and each data element is a vector, we will be using multivariate statistics</a:t>
            </a:r>
          </a:p>
          <a:p>
            <a:pPr algn="just" eaLnBrk="1" hangingPunct="1"/>
            <a:r>
              <a:rPr lang="en-US" kern="0" dirty="0"/>
              <a:t>Generally, we can gather stats across both dimensions of the data matrix – i.e. row-wise or column-wise.</a:t>
            </a:r>
          </a:p>
          <a:p>
            <a:pPr algn="just" eaLnBrk="1" hangingPunct="1"/>
            <a:r>
              <a:rPr lang="en-US" kern="0" dirty="0"/>
              <a:t>Often we will be calculating the mean and variance </a:t>
            </a:r>
          </a:p>
          <a:p>
            <a:pPr algn="just" eaLnBrk="1" hangingPunct="1"/>
            <a:endParaRPr lang="en-US" kern="0" dirty="0"/>
          </a:p>
        </p:txBody>
      </p:sp>
    </p:spTree>
    <p:extLst>
      <p:ext uri="{BB962C8B-B14F-4D97-AF65-F5344CB8AC3E}">
        <p14:creationId xmlns:p14="http://schemas.microsoft.com/office/powerpoint/2010/main" val="10406354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E90EE-71B4-4384-9B78-9A287097368A}"/>
              </a:ext>
            </a:extLst>
          </p:cNvPr>
          <p:cNvSpPr>
            <a:spLocks noGrp="1"/>
          </p:cNvSpPr>
          <p:nvPr>
            <p:ph type="title"/>
          </p:nvPr>
        </p:nvSpPr>
        <p:spPr/>
        <p:txBody>
          <a:bodyPr/>
          <a:lstStyle/>
          <a:p>
            <a:r>
              <a:rPr lang="en-US" b="1" dirty="0"/>
              <a:t>Vector Notation</a:t>
            </a:r>
          </a:p>
        </p:txBody>
      </p:sp>
      <p:sp>
        <p:nvSpPr>
          <p:cNvPr id="4" name="Rectangle 3">
            <a:extLst>
              <a:ext uri="{FF2B5EF4-FFF2-40B4-BE49-F238E27FC236}">
                <a16:creationId xmlns:a16="http://schemas.microsoft.com/office/drawing/2014/main" id="{F95B3C23-44B5-4629-AE9B-DD69749E3825}"/>
              </a:ext>
            </a:extLst>
          </p:cNvPr>
          <p:cNvSpPr txBox="1">
            <a:spLocks noChangeArrowheads="1"/>
          </p:cNvSpPr>
          <p:nvPr/>
        </p:nvSpPr>
        <p:spPr bwMode="auto">
          <a:xfrm>
            <a:off x="338831" y="937419"/>
            <a:ext cx="8466338" cy="609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600">
                <a:solidFill>
                  <a:schemeClr val="tx1"/>
                </a:solidFill>
                <a:latin typeface="+mn-lt"/>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200">
                <a:solidFill>
                  <a:schemeClr val="tx1"/>
                </a:solidFill>
                <a:latin typeface="+mn-lt"/>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sz="2000">
                <a:solidFill>
                  <a:schemeClr val="tx1"/>
                </a:solidFill>
                <a:latin typeface="+mn-lt"/>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9pPr>
          </a:lstStyle>
          <a:p>
            <a:pPr algn="just" eaLnBrk="1" hangingPunct="1"/>
            <a:r>
              <a:rPr lang="en-US" kern="0" dirty="0"/>
              <a:t>Most commonly, vectors are a </a:t>
            </a:r>
            <a:r>
              <a:rPr lang="en-US" b="1" kern="0" dirty="0"/>
              <a:t>column</a:t>
            </a:r>
            <a:r>
              <a:rPr lang="en-US" kern="0" dirty="0"/>
              <a:t> of data:</a:t>
            </a:r>
          </a:p>
          <a:p>
            <a:pPr algn="just" eaLnBrk="1" hangingPunct="1"/>
            <a:endParaRPr lang="en-US" kern="0" dirty="0"/>
          </a:p>
        </p:txBody>
      </p:sp>
      <p:graphicFrame>
        <p:nvGraphicFramePr>
          <p:cNvPr id="3" name="Object 2">
            <a:extLst>
              <a:ext uri="{FF2B5EF4-FFF2-40B4-BE49-F238E27FC236}">
                <a16:creationId xmlns:a16="http://schemas.microsoft.com/office/drawing/2014/main" id="{3F1D99C6-4EFF-4138-A1D2-7D763E8A7618}"/>
              </a:ext>
            </a:extLst>
          </p:cNvPr>
          <p:cNvGraphicFramePr>
            <a:graphicFrameLocks noChangeAspect="1"/>
          </p:cNvGraphicFramePr>
          <p:nvPr>
            <p:extLst>
              <p:ext uri="{D42A27DB-BD31-4B8C-83A1-F6EECF244321}">
                <p14:modId xmlns:p14="http://schemas.microsoft.com/office/powerpoint/2010/main" val="3479901220"/>
              </p:ext>
            </p:extLst>
          </p:nvPr>
        </p:nvGraphicFramePr>
        <p:xfrm>
          <a:off x="685800" y="1518939"/>
          <a:ext cx="914400" cy="1573619"/>
        </p:xfrm>
        <a:graphic>
          <a:graphicData uri="http://schemas.openxmlformats.org/presentationml/2006/ole">
            <mc:AlternateContent xmlns:mc="http://schemas.openxmlformats.org/markup-compatibility/2006">
              <mc:Choice xmlns:v="urn:schemas-microsoft-com:vml" Requires="v">
                <p:oleObj name="Equation" r:id="rId2" imgW="545760" imgH="939600" progId="Equation.DSMT4">
                  <p:embed/>
                </p:oleObj>
              </mc:Choice>
              <mc:Fallback>
                <p:oleObj name="Equation" r:id="rId2" imgW="545760" imgH="939600" progId="Equation.DSMT4">
                  <p:embed/>
                  <p:pic>
                    <p:nvPicPr>
                      <p:cNvPr id="0" name=""/>
                      <p:cNvPicPr/>
                      <p:nvPr/>
                    </p:nvPicPr>
                    <p:blipFill>
                      <a:blip r:embed="rId3"/>
                      <a:stretch>
                        <a:fillRect/>
                      </a:stretch>
                    </p:blipFill>
                    <p:spPr>
                      <a:xfrm>
                        <a:off x="685800" y="1518939"/>
                        <a:ext cx="914400" cy="1573619"/>
                      </a:xfrm>
                      <a:prstGeom prst="rect">
                        <a:avLst/>
                      </a:prstGeom>
                    </p:spPr>
                  </p:pic>
                </p:oleObj>
              </mc:Fallback>
            </mc:AlternateContent>
          </a:graphicData>
        </a:graphic>
      </p:graphicFrame>
      <p:sp>
        <p:nvSpPr>
          <p:cNvPr id="5" name="Rectangle 3">
            <a:extLst>
              <a:ext uri="{FF2B5EF4-FFF2-40B4-BE49-F238E27FC236}">
                <a16:creationId xmlns:a16="http://schemas.microsoft.com/office/drawing/2014/main" id="{843E5EB3-3A52-454C-8E6A-52B162DC0799}"/>
              </a:ext>
            </a:extLst>
          </p:cNvPr>
          <p:cNvSpPr txBox="1">
            <a:spLocks noChangeArrowheads="1"/>
          </p:cNvSpPr>
          <p:nvPr/>
        </p:nvSpPr>
        <p:spPr bwMode="auto">
          <a:xfrm>
            <a:off x="338831" y="3193859"/>
            <a:ext cx="8466338" cy="609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600">
                <a:solidFill>
                  <a:schemeClr val="tx1"/>
                </a:solidFill>
                <a:latin typeface="+mn-lt"/>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200">
                <a:solidFill>
                  <a:schemeClr val="tx1"/>
                </a:solidFill>
                <a:latin typeface="+mn-lt"/>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sz="2000">
                <a:solidFill>
                  <a:schemeClr val="tx1"/>
                </a:solidFill>
                <a:latin typeface="+mn-lt"/>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9pPr>
          </a:lstStyle>
          <a:p>
            <a:pPr algn="just" eaLnBrk="1" hangingPunct="1"/>
            <a:r>
              <a:rPr lang="en-US" kern="0" dirty="0"/>
              <a:t>Unfortunately, data matrices are typically written where a data point is a </a:t>
            </a:r>
            <a:r>
              <a:rPr lang="en-US" b="1" kern="0" dirty="0"/>
              <a:t>row</a:t>
            </a:r>
            <a:r>
              <a:rPr lang="en-US" kern="0" dirty="0"/>
              <a:t> of data with attributes as columns of the matrix.</a:t>
            </a:r>
          </a:p>
          <a:p>
            <a:pPr algn="just" eaLnBrk="1" hangingPunct="1"/>
            <a:r>
              <a:rPr lang="en-US" kern="0" dirty="0"/>
              <a:t>Therefore, our data matrix will be composed of transposed (a column becomes a row) vectors representing each data point.</a:t>
            </a:r>
          </a:p>
          <a:p>
            <a:pPr algn="just" eaLnBrk="1" hangingPunct="1"/>
            <a:endParaRPr lang="en-US" kern="0" dirty="0"/>
          </a:p>
        </p:txBody>
      </p:sp>
    </p:spTree>
    <p:extLst>
      <p:ext uri="{BB962C8B-B14F-4D97-AF65-F5344CB8AC3E}">
        <p14:creationId xmlns:p14="http://schemas.microsoft.com/office/powerpoint/2010/main" val="35300694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0197D-6A72-4300-AEFE-65019F4F489F}"/>
              </a:ext>
            </a:extLst>
          </p:cNvPr>
          <p:cNvSpPr>
            <a:spLocks noGrp="1"/>
          </p:cNvSpPr>
          <p:nvPr>
            <p:ph type="title"/>
          </p:nvPr>
        </p:nvSpPr>
        <p:spPr/>
        <p:txBody>
          <a:bodyPr/>
          <a:lstStyle/>
          <a:p>
            <a:r>
              <a:rPr lang="en-US" b="1" dirty="0"/>
              <a:t>Notation</a:t>
            </a:r>
          </a:p>
        </p:txBody>
      </p:sp>
      <p:graphicFrame>
        <p:nvGraphicFramePr>
          <p:cNvPr id="4" name="Object 3">
            <a:extLst>
              <a:ext uri="{FF2B5EF4-FFF2-40B4-BE49-F238E27FC236}">
                <a16:creationId xmlns:a16="http://schemas.microsoft.com/office/drawing/2014/main" id="{B6E175A3-4C73-44D8-B989-D75CA4C47ED0}"/>
              </a:ext>
            </a:extLst>
          </p:cNvPr>
          <p:cNvGraphicFramePr>
            <a:graphicFrameLocks noChangeAspect="1"/>
          </p:cNvGraphicFramePr>
          <p:nvPr>
            <p:extLst>
              <p:ext uri="{D42A27DB-BD31-4B8C-83A1-F6EECF244321}">
                <p14:modId xmlns:p14="http://schemas.microsoft.com/office/powerpoint/2010/main" val="2696156458"/>
              </p:ext>
            </p:extLst>
          </p:nvPr>
        </p:nvGraphicFramePr>
        <p:xfrm>
          <a:off x="609600" y="865189"/>
          <a:ext cx="4343400" cy="5222202"/>
        </p:xfrm>
        <a:graphic>
          <a:graphicData uri="http://schemas.openxmlformats.org/presentationml/2006/ole">
            <mc:AlternateContent xmlns:mc="http://schemas.openxmlformats.org/markup-compatibility/2006">
              <mc:Choice xmlns:v="urn:schemas-microsoft-com:vml" Requires="v">
                <p:oleObj name="Equation" r:id="rId2" imgW="2514600" imgH="3022560" progId="Equation.DSMT4">
                  <p:embed/>
                </p:oleObj>
              </mc:Choice>
              <mc:Fallback>
                <p:oleObj name="Equation" r:id="rId2" imgW="2514600" imgH="3022560" progId="Equation.DSMT4">
                  <p:embed/>
                  <p:pic>
                    <p:nvPicPr>
                      <p:cNvPr id="0" name=""/>
                      <p:cNvPicPr/>
                      <p:nvPr/>
                    </p:nvPicPr>
                    <p:blipFill>
                      <a:blip r:embed="rId3"/>
                      <a:stretch>
                        <a:fillRect/>
                      </a:stretch>
                    </p:blipFill>
                    <p:spPr>
                      <a:xfrm>
                        <a:off x="609600" y="865189"/>
                        <a:ext cx="4343400" cy="5222202"/>
                      </a:xfrm>
                      <a:prstGeom prst="rect">
                        <a:avLst/>
                      </a:prstGeom>
                    </p:spPr>
                  </p:pic>
                </p:oleObj>
              </mc:Fallback>
            </mc:AlternateContent>
          </a:graphicData>
        </a:graphic>
      </p:graphicFrame>
      <mc:AlternateContent xmlns:mc="http://schemas.openxmlformats.org/markup-compatibility/2006" xmlns:p14="http://schemas.microsoft.com/office/powerpoint/2010/main">
        <mc:Choice Requires="p14">
          <p:contentPart p14:bwMode="auto" r:id="rId4">
            <p14:nvContentPartPr>
              <p14:cNvPr id="156" name="Ink 155">
                <a:extLst>
                  <a:ext uri="{FF2B5EF4-FFF2-40B4-BE49-F238E27FC236}">
                    <a16:creationId xmlns:a16="http://schemas.microsoft.com/office/drawing/2014/main" id="{D10A4D81-8574-4AA6-9166-17A32A160BD2}"/>
                  </a:ext>
                </a:extLst>
              </p14:cNvPr>
              <p14:cNvContentPartPr/>
              <p14:nvPr/>
            </p14:nvContentPartPr>
            <p14:xfrm>
              <a:off x="1387525" y="940561"/>
              <a:ext cx="3240" cy="6840"/>
            </p14:xfrm>
          </p:contentPart>
        </mc:Choice>
        <mc:Fallback xmlns="">
          <p:pic>
            <p:nvPicPr>
              <p:cNvPr id="156" name="Ink 155">
                <a:extLst>
                  <a:ext uri="{FF2B5EF4-FFF2-40B4-BE49-F238E27FC236}">
                    <a16:creationId xmlns:a16="http://schemas.microsoft.com/office/drawing/2014/main" id="{D10A4D81-8574-4AA6-9166-17A32A160BD2}"/>
                  </a:ext>
                </a:extLst>
              </p:cNvPr>
              <p:cNvPicPr/>
              <p:nvPr/>
            </p:nvPicPr>
            <p:blipFill>
              <a:blip r:embed="rId55"/>
              <a:stretch>
                <a:fillRect/>
              </a:stretch>
            </p:blipFill>
            <p:spPr>
              <a:xfrm>
                <a:off x="1369525" y="922561"/>
                <a:ext cx="38880" cy="42480"/>
              </a:xfrm>
              <a:prstGeom prst="rect">
                <a:avLst/>
              </a:prstGeom>
            </p:spPr>
          </p:pic>
        </mc:Fallback>
      </mc:AlternateContent>
    </p:spTree>
    <p:extLst>
      <p:ext uri="{BB962C8B-B14F-4D97-AF65-F5344CB8AC3E}">
        <p14:creationId xmlns:p14="http://schemas.microsoft.com/office/powerpoint/2010/main" val="30855146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0434A-A491-4BC4-9E85-728E52636E42}"/>
              </a:ext>
            </a:extLst>
          </p:cNvPr>
          <p:cNvSpPr>
            <a:spLocks noGrp="1"/>
          </p:cNvSpPr>
          <p:nvPr>
            <p:ph type="title"/>
          </p:nvPr>
        </p:nvSpPr>
        <p:spPr/>
        <p:txBody>
          <a:bodyPr/>
          <a:lstStyle/>
          <a:p>
            <a:r>
              <a:rPr lang="en-US" b="1" dirty="0"/>
              <a:t>Covariance Matrix</a:t>
            </a:r>
          </a:p>
        </p:txBody>
      </p:sp>
      <p:sp>
        <p:nvSpPr>
          <p:cNvPr id="4" name="Rectangle 3">
            <a:extLst>
              <a:ext uri="{FF2B5EF4-FFF2-40B4-BE49-F238E27FC236}">
                <a16:creationId xmlns:a16="http://schemas.microsoft.com/office/drawing/2014/main" id="{2E6BC52D-251F-45C8-B2B1-08EB19CFC603}"/>
              </a:ext>
            </a:extLst>
          </p:cNvPr>
          <p:cNvSpPr txBox="1">
            <a:spLocks noChangeArrowheads="1"/>
          </p:cNvSpPr>
          <p:nvPr/>
        </p:nvSpPr>
        <p:spPr bwMode="auto">
          <a:xfrm>
            <a:off x="381000" y="1066800"/>
            <a:ext cx="82296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600">
                <a:solidFill>
                  <a:schemeClr val="tx1"/>
                </a:solidFill>
                <a:latin typeface="+mn-lt"/>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200">
                <a:solidFill>
                  <a:schemeClr val="tx1"/>
                </a:solidFill>
                <a:latin typeface="+mn-lt"/>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sz="2000">
                <a:solidFill>
                  <a:schemeClr val="tx1"/>
                </a:solidFill>
                <a:latin typeface="+mn-lt"/>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9pPr>
          </a:lstStyle>
          <a:p>
            <a:pPr algn="just" eaLnBrk="1" hangingPunct="1"/>
            <a:r>
              <a:rPr lang="en-US" kern="0" dirty="0"/>
              <a:t>At times we will need to summarize the covariance of the data points</a:t>
            </a:r>
          </a:p>
          <a:p>
            <a:pPr algn="just" eaLnBrk="1" hangingPunct="1"/>
            <a:r>
              <a:rPr lang="en-US" kern="0" dirty="0"/>
              <a:t>We can summarize this with the calculation of a covariance matrix. This gives us the variance as well (on the diagonal). </a:t>
            </a:r>
          </a:p>
          <a:p>
            <a:pPr algn="just" eaLnBrk="1" hangingPunct="1"/>
            <a:endParaRPr lang="en-US" kern="0" dirty="0"/>
          </a:p>
        </p:txBody>
      </p:sp>
    </p:spTree>
    <p:extLst>
      <p:ext uri="{BB962C8B-B14F-4D97-AF65-F5344CB8AC3E}">
        <p14:creationId xmlns:p14="http://schemas.microsoft.com/office/powerpoint/2010/main" val="3509090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0434A-A491-4BC4-9E85-728E52636E42}"/>
              </a:ext>
            </a:extLst>
          </p:cNvPr>
          <p:cNvSpPr>
            <a:spLocks noGrp="1"/>
          </p:cNvSpPr>
          <p:nvPr>
            <p:ph type="title"/>
          </p:nvPr>
        </p:nvSpPr>
        <p:spPr/>
        <p:txBody>
          <a:bodyPr/>
          <a:lstStyle/>
          <a:p>
            <a:r>
              <a:rPr lang="en-US" b="1" dirty="0"/>
              <a:t>Covariance Matrix - calculation</a:t>
            </a:r>
          </a:p>
        </p:txBody>
      </p:sp>
      <p:graphicFrame>
        <p:nvGraphicFramePr>
          <p:cNvPr id="3" name="Object 2">
            <a:extLst>
              <a:ext uri="{FF2B5EF4-FFF2-40B4-BE49-F238E27FC236}">
                <a16:creationId xmlns:a16="http://schemas.microsoft.com/office/drawing/2014/main" id="{0BA9F2F0-8DAA-4A7A-8BFA-497D3102206F}"/>
              </a:ext>
            </a:extLst>
          </p:cNvPr>
          <p:cNvGraphicFramePr>
            <a:graphicFrameLocks noChangeAspect="1"/>
          </p:cNvGraphicFramePr>
          <p:nvPr>
            <p:extLst>
              <p:ext uri="{D42A27DB-BD31-4B8C-83A1-F6EECF244321}">
                <p14:modId xmlns:p14="http://schemas.microsoft.com/office/powerpoint/2010/main" val="102441946"/>
              </p:ext>
            </p:extLst>
          </p:nvPr>
        </p:nvGraphicFramePr>
        <p:xfrm>
          <a:off x="685800" y="914400"/>
          <a:ext cx="6858000" cy="5259862"/>
        </p:xfrm>
        <a:graphic>
          <a:graphicData uri="http://schemas.openxmlformats.org/presentationml/2006/ole">
            <mc:AlternateContent xmlns:mc="http://schemas.openxmlformats.org/markup-compatibility/2006">
              <mc:Choice xmlns:v="urn:schemas-microsoft-com:vml" Requires="v">
                <p:oleObj name="Equation" r:id="rId2" imgW="5232240" imgH="4012920" progId="Equation.DSMT4">
                  <p:embed/>
                </p:oleObj>
              </mc:Choice>
              <mc:Fallback>
                <p:oleObj name="Equation" r:id="rId2" imgW="5232240" imgH="4012920" progId="Equation.DSMT4">
                  <p:embed/>
                  <p:pic>
                    <p:nvPicPr>
                      <p:cNvPr id="0" name=""/>
                      <p:cNvPicPr/>
                      <p:nvPr/>
                    </p:nvPicPr>
                    <p:blipFill>
                      <a:blip r:embed="rId3"/>
                      <a:stretch>
                        <a:fillRect/>
                      </a:stretch>
                    </p:blipFill>
                    <p:spPr>
                      <a:xfrm>
                        <a:off x="685800" y="914400"/>
                        <a:ext cx="6858000" cy="5259862"/>
                      </a:xfrm>
                      <a:prstGeom prst="rect">
                        <a:avLst/>
                      </a:prstGeom>
                    </p:spPr>
                  </p:pic>
                </p:oleObj>
              </mc:Fallback>
            </mc:AlternateContent>
          </a:graphicData>
        </a:graphic>
      </p:graphicFrame>
      <p:sp>
        <p:nvSpPr>
          <p:cNvPr id="7" name="TextBox 6">
            <a:extLst>
              <a:ext uri="{FF2B5EF4-FFF2-40B4-BE49-F238E27FC236}">
                <a16:creationId xmlns:a16="http://schemas.microsoft.com/office/drawing/2014/main" id="{802EEB9E-016E-4E7F-A6B5-7A5D5717074F}"/>
              </a:ext>
            </a:extLst>
          </p:cNvPr>
          <p:cNvSpPr txBox="1"/>
          <p:nvPr/>
        </p:nvSpPr>
        <p:spPr>
          <a:xfrm>
            <a:off x="4435766" y="1102364"/>
            <a:ext cx="2041234" cy="923330"/>
          </a:xfrm>
          <a:prstGeom prst="rect">
            <a:avLst/>
          </a:prstGeom>
          <a:noFill/>
        </p:spPr>
        <p:txBody>
          <a:bodyPr wrap="square" rtlCol="0">
            <a:spAutoFit/>
          </a:bodyPr>
          <a:lstStyle/>
          <a:p>
            <a:r>
              <a:rPr lang="en-US" dirty="0"/>
              <a:t>Note: </a:t>
            </a:r>
            <a:r>
              <a:rPr lang="en-US" i="1" dirty="0">
                <a:latin typeface="Cambria Math" panose="02040503050406030204" pitchFamily="18" charset="0"/>
                <a:ea typeface="Cambria Math" panose="02040503050406030204" pitchFamily="18" charset="0"/>
              </a:rPr>
              <a:t>n</a:t>
            </a:r>
            <a:r>
              <a:rPr lang="en-US" dirty="0"/>
              <a:t> is the number of rows in the data matrix</a:t>
            </a:r>
          </a:p>
        </p:txBody>
      </p:sp>
    </p:spTree>
    <p:extLst>
      <p:ext uri="{BB962C8B-B14F-4D97-AF65-F5344CB8AC3E}">
        <p14:creationId xmlns:p14="http://schemas.microsoft.com/office/powerpoint/2010/main" val="25130376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457200" y="152400"/>
            <a:ext cx="8229600" cy="1139825"/>
          </a:xfrm>
        </p:spPr>
        <p:txBody>
          <a:bodyPr/>
          <a:lstStyle/>
          <a:p>
            <a:pPr eaLnBrk="1" hangingPunct="1"/>
            <a:r>
              <a:rPr lang="en-US" b="1" dirty="0"/>
              <a:t>Probability and Random Vectors</a:t>
            </a:r>
          </a:p>
        </p:txBody>
      </p:sp>
      <p:sp>
        <p:nvSpPr>
          <p:cNvPr id="9219" name="Rectangle 3"/>
          <p:cNvSpPr>
            <a:spLocks noGrp="1" noChangeArrowheads="1"/>
          </p:cNvSpPr>
          <p:nvPr>
            <p:ph type="body" idx="1"/>
          </p:nvPr>
        </p:nvSpPr>
        <p:spPr>
          <a:xfrm>
            <a:off x="457200" y="838200"/>
            <a:ext cx="8229600" cy="609600"/>
          </a:xfrm>
        </p:spPr>
        <p:txBody>
          <a:bodyPr/>
          <a:lstStyle/>
          <a:p>
            <a:pPr eaLnBrk="1" hangingPunct="1"/>
            <a:r>
              <a:rPr lang="en-US" dirty="0"/>
              <a:t>Simple idea:</a:t>
            </a:r>
          </a:p>
        </p:txBody>
      </p:sp>
      <p:sp>
        <p:nvSpPr>
          <p:cNvPr id="19460" name="Text Box 4"/>
          <p:cNvSpPr txBox="1">
            <a:spLocks noChangeArrowheads="1"/>
          </p:cNvSpPr>
          <p:nvPr/>
        </p:nvSpPr>
        <p:spPr bwMode="auto">
          <a:xfrm>
            <a:off x="533400" y="1447800"/>
            <a:ext cx="8077200" cy="1200329"/>
          </a:xfrm>
          <a:prstGeom prst="rect">
            <a:avLst/>
          </a:prstGeom>
          <a:noFill/>
          <a:ln w="9525">
            <a:noFill/>
            <a:miter lim="800000"/>
            <a:headEnd/>
            <a:tailEnd/>
          </a:ln>
        </p:spPr>
        <p:txBody>
          <a:bodyPr>
            <a:spAutoFit/>
          </a:bodyPr>
          <a:lstStyle/>
          <a:p>
            <a:pPr algn="just"/>
            <a:r>
              <a:rPr lang="en-US" sz="2400" dirty="0">
                <a:solidFill>
                  <a:schemeClr val="bg2"/>
                </a:solidFill>
              </a:rPr>
              <a:t>Each data point is a (multivariate) example drawn from a (generally unknown) probability distribution of a process that generates data.</a:t>
            </a:r>
          </a:p>
        </p:txBody>
      </p:sp>
      <p:sp>
        <p:nvSpPr>
          <p:cNvPr id="9221" name="Rectangle 5"/>
          <p:cNvSpPr>
            <a:spLocks noChangeArrowheads="1"/>
          </p:cNvSpPr>
          <p:nvPr/>
        </p:nvSpPr>
        <p:spPr bwMode="auto">
          <a:xfrm>
            <a:off x="457200" y="3962400"/>
            <a:ext cx="8229600" cy="1600200"/>
          </a:xfrm>
          <a:prstGeom prst="rect">
            <a:avLst/>
          </a:prstGeom>
          <a:noFill/>
          <a:ln w="9525">
            <a:noFill/>
            <a:miter lim="800000"/>
            <a:headEnd/>
            <a:tailEnd/>
          </a:ln>
        </p:spPr>
        <p:txBody>
          <a:bodyPr/>
          <a:lstStyle/>
          <a:p>
            <a:pPr marL="342900" indent="-342900">
              <a:spcBef>
                <a:spcPct val="20000"/>
              </a:spcBef>
              <a:buClr>
                <a:schemeClr val="accent1"/>
              </a:buClr>
              <a:buSzPct val="65000"/>
              <a:buFont typeface="Wingdings" pitchFamily="2" charset="2"/>
              <a:buChar char="n"/>
            </a:pPr>
            <a:r>
              <a:rPr lang="en-US" sz="3000" dirty="0"/>
              <a:t>Therefore, a process that generates data with n elements is nothing more than a random vector (written as a row).</a:t>
            </a:r>
          </a:p>
        </p:txBody>
      </p:sp>
      <p:sp>
        <p:nvSpPr>
          <p:cNvPr id="7" name="TextBox 6"/>
          <p:cNvSpPr txBox="1"/>
          <p:nvPr/>
        </p:nvSpPr>
        <p:spPr>
          <a:xfrm>
            <a:off x="457200" y="2648129"/>
            <a:ext cx="8534399" cy="1200329"/>
          </a:xfrm>
          <a:prstGeom prst="rect">
            <a:avLst/>
          </a:prstGeom>
          <a:noFill/>
        </p:spPr>
        <p:txBody>
          <a:bodyPr wrap="square" rtlCol="0">
            <a:spAutoFit/>
          </a:bodyPr>
          <a:lstStyle/>
          <a:p>
            <a:pPr algn="just"/>
            <a:r>
              <a:rPr lang="en-US" dirty="0"/>
              <a:t>NOTE: Don’t overthink this – all I am saying is that each row of the data matrix is considered as a single example from a generating process – whatever that is and however complex it is. In that way the entire generating process is described by a single random vector!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8DB87AED-1667-4DAB-927B-99921039AE7B}"/>
              </a:ext>
            </a:extLst>
          </p:cNvPr>
          <p:cNvSpPr>
            <a:spLocks noGrp="1" noChangeArrowheads="1"/>
          </p:cNvSpPr>
          <p:nvPr>
            <p:ph type="title"/>
          </p:nvPr>
        </p:nvSpPr>
        <p:spPr/>
        <p:txBody>
          <a:bodyPr/>
          <a:lstStyle/>
          <a:p>
            <a:r>
              <a:rPr lang="en-US" altLang="en-US" b="1" dirty="0"/>
              <a:t>Random vectors</a:t>
            </a:r>
          </a:p>
        </p:txBody>
      </p:sp>
      <p:sp>
        <p:nvSpPr>
          <p:cNvPr id="15363" name="Rectangle 3">
            <a:extLst>
              <a:ext uri="{FF2B5EF4-FFF2-40B4-BE49-F238E27FC236}">
                <a16:creationId xmlns:a16="http://schemas.microsoft.com/office/drawing/2014/main" id="{DD417EFC-5663-45D8-AC59-B7DE53129E2E}"/>
              </a:ext>
            </a:extLst>
          </p:cNvPr>
          <p:cNvSpPr>
            <a:spLocks noGrp="1" noChangeArrowheads="1"/>
          </p:cNvSpPr>
          <p:nvPr>
            <p:ph type="body" idx="1"/>
          </p:nvPr>
        </p:nvSpPr>
        <p:spPr>
          <a:xfrm>
            <a:off x="-228600" y="990600"/>
            <a:ext cx="9372600" cy="4724400"/>
          </a:xfrm>
        </p:spPr>
        <p:txBody>
          <a:bodyPr/>
          <a:lstStyle/>
          <a:p>
            <a:pPr lvl="1"/>
            <a:r>
              <a:rPr lang="en-US" altLang="en-US" dirty="0"/>
              <a:t>An </a:t>
            </a:r>
            <a:r>
              <a:rPr lang="en-US" altLang="en-US" i="1" dirty="0"/>
              <a:t>n</a:t>
            </a:r>
            <a:r>
              <a:rPr lang="en-US" altLang="en-US" dirty="0"/>
              <a:t>-dimensional </a:t>
            </a:r>
            <a:r>
              <a:rPr lang="en-US" altLang="en-US" b="1" dirty="0">
                <a:solidFill>
                  <a:srgbClr val="0070C0"/>
                </a:solidFill>
              </a:rPr>
              <a:t>random vector</a:t>
            </a:r>
            <a:r>
              <a:rPr lang="en-US" altLang="en-US" dirty="0">
                <a:solidFill>
                  <a:srgbClr val="0070C0"/>
                </a:solidFill>
              </a:rPr>
              <a:t> </a:t>
            </a:r>
            <a:r>
              <a:rPr lang="en-US" altLang="en-US" dirty="0"/>
              <a:t>consists of </a:t>
            </a:r>
            <a:r>
              <a:rPr lang="en-US" altLang="en-US" i="1" dirty="0"/>
              <a:t>n</a:t>
            </a:r>
            <a:r>
              <a:rPr lang="en-US" altLang="en-US" dirty="0"/>
              <a:t> random variables all associated with the same probability space.</a:t>
            </a:r>
          </a:p>
          <a:p>
            <a:pPr marL="1085850" lvl="2"/>
            <a:r>
              <a:rPr lang="en-US" altLang="en-US" dirty="0"/>
              <a:t>Each outcome dictates the value of every random variable. </a:t>
            </a:r>
          </a:p>
          <a:p>
            <a:pPr lvl="1"/>
            <a:r>
              <a:rPr lang="en-US" altLang="en-US" dirty="0"/>
              <a:t>Example 2-D random vector:</a:t>
            </a:r>
          </a:p>
          <a:p>
            <a:endParaRPr lang="en-US" altLang="en-US" sz="1000" dirty="0"/>
          </a:p>
          <a:p>
            <a:pPr marL="1085850" lvl="2">
              <a:buFontTx/>
              <a:buNone/>
            </a:pPr>
            <a:r>
              <a:rPr lang="en-US" altLang="en-US" dirty="0"/>
              <a:t>			where	</a:t>
            </a:r>
            <a:r>
              <a:rPr lang="en-US" altLang="en-US" i="1" dirty="0"/>
              <a:t>x</a:t>
            </a:r>
            <a:r>
              <a:rPr lang="en-US" altLang="en-US" i="1" baseline="-25000" dirty="0"/>
              <a:t>1</a:t>
            </a:r>
            <a:r>
              <a:rPr lang="en-US" altLang="en-US" dirty="0"/>
              <a:t> is random variable of human </a:t>
            </a:r>
            <a:r>
              <a:rPr lang="en-US" altLang="en-US" b="1" dirty="0"/>
              <a:t>heights</a:t>
            </a:r>
            <a:endParaRPr lang="en-US" altLang="en-US" dirty="0"/>
          </a:p>
          <a:p>
            <a:pPr marL="1085850" lvl="2">
              <a:buFontTx/>
              <a:buNone/>
            </a:pPr>
            <a:r>
              <a:rPr lang="en-US" altLang="en-US" dirty="0"/>
              <a:t>				</a:t>
            </a:r>
            <a:r>
              <a:rPr lang="en-US" altLang="en-US" i="1" dirty="0"/>
              <a:t>x</a:t>
            </a:r>
            <a:r>
              <a:rPr lang="en-US" altLang="en-US" i="1" baseline="-25000" dirty="0"/>
              <a:t>2</a:t>
            </a:r>
            <a:r>
              <a:rPr lang="en-US" altLang="en-US" i="1" dirty="0"/>
              <a:t> </a:t>
            </a:r>
            <a:r>
              <a:rPr lang="en-US" altLang="en-US" dirty="0"/>
              <a:t>is random variable of </a:t>
            </a:r>
            <a:r>
              <a:rPr lang="en-US" altLang="en-US" b="1" dirty="0"/>
              <a:t>wake-up times</a:t>
            </a:r>
            <a:endParaRPr lang="en-US" altLang="en-US" dirty="0"/>
          </a:p>
          <a:p>
            <a:pPr lvl="1">
              <a:lnSpc>
                <a:spcPct val="150000"/>
              </a:lnSpc>
            </a:pPr>
            <a:r>
              <a:rPr lang="en-US" altLang="en-US" dirty="0"/>
              <a:t>Sample </a:t>
            </a:r>
            <a:r>
              <a:rPr lang="en-US" altLang="en-US" i="1" dirty="0"/>
              <a:t>n</a:t>
            </a:r>
            <a:r>
              <a:rPr lang="en-US" altLang="en-US" dirty="0"/>
              <a:t> times from </a:t>
            </a:r>
            <a:r>
              <a:rPr lang="en-US" altLang="en-US" b="1" dirty="0"/>
              <a:t>x</a:t>
            </a:r>
            <a:r>
              <a:rPr lang="en-US" altLang="en-US" dirty="0"/>
              <a:t>.</a:t>
            </a:r>
          </a:p>
        </p:txBody>
      </p:sp>
      <p:graphicFrame>
        <p:nvGraphicFramePr>
          <p:cNvPr id="15364" name="Object 4">
            <a:extLst>
              <a:ext uri="{FF2B5EF4-FFF2-40B4-BE49-F238E27FC236}">
                <a16:creationId xmlns:a16="http://schemas.microsoft.com/office/drawing/2014/main" id="{E5B7A6CB-FB80-44F2-A4D7-DD73B65E20A3}"/>
              </a:ext>
            </a:extLst>
          </p:cNvPr>
          <p:cNvGraphicFramePr>
            <a:graphicFrameLocks/>
          </p:cNvGraphicFramePr>
          <p:nvPr>
            <p:extLst>
              <p:ext uri="{D42A27DB-BD31-4B8C-83A1-F6EECF244321}">
                <p14:modId xmlns:p14="http://schemas.microsoft.com/office/powerpoint/2010/main" val="1056921841"/>
              </p:ext>
            </p:extLst>
          </p:nvPr>
        </p:nvGraphicFramePr>
        <p:xfrm>
          <a:off x="419100" y="3076575"/>
          <a:ext cx="2019300" cy="530225"/>
        </p:xfrm>
        <a:graphic>
          <a:graphicData uri="http://schemas.openxmlformats.org/presentationml/2006/ole">
            <mc:AlternateContent xmlns:mc="http://schemas.openxmlformats.org/markup-compatibility/2006">
              <mc:Choice xmlns:v="urn:schemas-microsoft-com:vml" Requires="v">
                <p:oleObj name="Equation" r:id="rId3" imgW="838080" imgH="279360" progId="Equation.DSMT4">
                  <p:embed/>
                </p:oleObj>
              </mc:Choice>
              <mc:Fallback>
                <p:oleObj name="Equation" r:id="rId3" imgW="838080" imgH="279360" progId="Equation.DSMT4">
                  <p:embed/>
                  <p:pic>
                    <p:nvPicPr>
                      <p:cNvPr id="15364" name="Object 4">
                        <a:extLst>
                          <a:ext uri="{FF2B5EF4-FFF2-40B4-BE49-F238E27FC236}">
                            <a16:creationId xmlns:a16="http://schemas.microsoft.com/office/drawing/2014/main" id="{E5B7A6CB-FB80-44F2-A4D7-DD73B65E20A3}"/>
                          </a:ext>
                        </a:extLst>
                      </p:cNvPr>
                      <p:cNvPicPr>
                        <a:picLocks noChangeArrowheads="1"/>
                      </p:cNvPicPr>
                      <p:nvPr/>
                    </p:nvPicPr>
                    <p:blipFill>
                      <a:blip r:embed="rId4"/>
                      <a:srcRect/>
                      <a:stretch>
                        <a:fillRect/>
                      </a:stretch>
                    </p:blipFill>
                    <p:spPr bwMode="auto">
                      <a:xfrm>
                        <a:off x="419100" y="3076575"/>
                        <a:ext cx="2019300" cy="530225"/>
                      </a:xfrm>
                      <a:prstGeom prst="rect">
                        <a:avLst/>
                      </a:prstGeom>
                      <a:noFill/>
                      <a:ln>
                        <a:noFill/>
                      </a:ln>
                      <a:effectLst/>
                    </p:spPr>
                  </p:pic>
                </p:oleObj>
              </mc:Fallback>
            </mc:AlternateContent>
          </a:graphicData>
        </a:graphic>
      </p:graphicFrame>
      <p:grpSp>
        <p:nvGrpSpPr>
          <p:cNvPr id="15389" name="Group 29">
            <a:extLst>
              <a:ext uri="{FF2B5EF4-FFF2-40B4-BE49-F238E27FC236}">
                <a16:creationId xmlns:a16="http://schemas.microsoft.com/office/drawing/2014/main" id="{43E719ED-7BB9-45D4-BFFC-C519DDDE34F3}"/>
              </a:ext>
            </a:extLst>
          </p:cNvPr>
          <p:cNvGrpSpPr>
            <a:grpSpLocks/>
          </p:cNvGrpSpPr>
          <p:nvPr/>
        </p:nvGrpSpPr>
        <p:grpSpPr bwMode="auto">
          <a:xfrm>
            <a:off x="3786188" y="3733799"/>
            <a:ext cx="4443413" cy="2314575"/>
            <a:chOff x="2865" y="2544"/>
            <a:chExt cx="2799" cy="1458"/>
          </a:xfrm>
        </p:grpSpPr>
        <p:sp>
          <p:nvSpPr>
            <p:cNvPr id="15366" name="Text Box 6">
              <a:extLst>
                <a:ext uri="{FF2B5EF4-FFF2-40B4-BE49-F238E27FC236}">
                  <a16:creationId xmlns:a16="http://schemas.microsoft.com/office/drawing/2014/main" id="{CF08AAA2-54AF-43E3-8519-AD4CFD8C60F8}"/>
                </a:ext>
              </a:extLst>
            </p:cNvPr>
            <p:cNvSpPr txBox="1">
              <a:spLocks noChangeArrowheads="1"/>
            </p:cNvSpPr>
            <p:nvPr/>
          </p:nvSpPr>
          <p:spPr bwMode="auto">
            <a:xfrm>
              <a:off x="2976" y="2562"/>
              <a:ext cx="2400"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00000"/>
                </a:lnSpc>
                <a:spcBef>
                  <a:spcPct val="50000"/>
                </a:spcBef>
                <a:buFontTx/>
                <a:buNone/>
              </a:pPr>
              <a:r>
                <a:rPr lang="en-US" altLang="en-US"/>
                <a:t>Let’s collect some samples and graph them:</a:t>
              </a:r>
              <a:endParaRPr lang="en-US" altLang="en-US" sz="2400"/>
            </a:p>
          </p:txBody>
        </p:sp>
        <p:grpSp>
          <p:nvGrpSpPr>
            <p:cNvPr id="15386" name="Group 26">
              <a:extLst>
                <a:ext uri="{FF2B5EF4-FFF2-40B4-BE49-F238E27FC236}">
                  <a16:creationId xmlns:a16="http://schemas.microsoft.com/office/drawing/2014/main" id="{45D6065B-7F56-4CF9-8673-FD09DD95067E}"/>
                </a:ext>
              </a:extLst>
            </p:cNvPr>
            <p:cNvGrpSpPr>
              <a:grpSpLocks/>
            </p:cNvGrpSpPr>
            <p:nvPr/>
          </p:nvGrpSpPr>
          <p:grpSpPr bwMode="auto">
            <a:xfrm>
              <a:off x="2865" y="3043"/>
              <a:ext cx="2797" cy="959"/>
              <a:chOff x="2865" y="3167"/>
              <a:chExt cx="2797" cy="959"/>
            </a:xfrm>
          </p:grpSpPr>
          <p:sp>
            <p:nvSpPr>
              <p:cNvPr id="15377" name="Line 17">
                <a:extLst>
                  <a:ext uri="{FF2B5EF4-FFF2-40B4-BE49-F238E27FC236}">
                    <a16:creationId xmlns:a16="http://schemas.microsoft.com/office/drawing/2014/main" id="{EBFC7042-D01A-41A0-B66D-7896EC464253}"/>
                  </a:ext>
                </a:extLst>
              </p:cNvPr>
              <p:cNvSpPr>
                <a:spLocks noChangeShapeType="1"/>
              </p:cNvSpPr>
              <p:nvPr/>
            </p:nvSpPr>
            <p:spPr bwMode="auto">
              <a:xfrm>
                <a:off x="3696" y="3888"/>
                <a:ext cx="13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378" name="Text Box 18">
                <a:extLst>
                  <a:ext uri="{FF2B5EF4-FFF2-40B4-BE49-F238E27FC236}">
                    <a16:creationId xmlns:a16="http://schemas.microsoft.com/office/drawing/2014/main" id="{E3AD0CFE-64CE-44F7-8E9F-ACA16F47CE91}"/>
                  </a:ext>
                </a:extLst>
              </p:cNvPr>
              <p:cNvSpPr txBox="1">
                <a:spLocks noChangeArrowheads="1"/>
              </p:cNvSpPr>
              <p:nvPr/>
            </p:nvSpPr>
            <p:spPr bwMode="auto">
              <a:xfrm>
                <a:off x="2865" y="3167"/>
                <a:ext cx="912" cy="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00000"/>
                  </a:lnSpc>
                  <a:spcBef>
                    <a:spcPct val="50000"/>
                  </a:spcBef>
                  <a:buFontTx/>
                  <a:buNone/>
                </a:pPr>
                <a:r>
                  <a:rPr lang="en-US" altLang="en-US" sz="2400" i="1" dirty="0"/>
                  <a:t>	x</a:t>
                </a:r>
                <a:r>
                  <a:rPr lang="en-US" altLang="en-US" sz="2400" i="1" baseline="-25000" dirty="0"/>
                  <a:t>2</a:t>
                </a:r>
                <a:endParaRPr lang="en-US" altLang="en-US" sz="2400" i="1" dirty="0"/>
              </a:p>
              <a:p>
                <a:pPr algn="ctr">
                  <a:lnSpc>
                    <a:spcPct val="100000"/>
                  </a:lnSpc>
                  <a:spcBef>
                    <a:spcPct val="50000"/>
                  </a:spcBef>
                  <a:buFontTx/>
                  <a:buNone/>
                </a:pPr>
                <a:r>
                  <a:rPr lang="en-US" altLang="en-US" sz="1800" dirty="0"/>
                  <a:t>(wake-up times)</a:t>
                </a:r>
                <a:endParaRPr lang="en-US" altLang="en-US" sz="2400" i="1" dirty="0"/>
              </a:p>
            </p:txBody>
          </p:sp>
          <p:sp>
            <p:nvSpPr>
              <p:cNvPr id="15379" name="Text Box 19">
                <a:extLst>
                  <a:ext uri="{FF2B5EF4-FFF2-40B4-BE49-F238E27FC236}">
                    <a16:creationId xmlns:a16="http://schemas.microsoft.com/office/drawing/2014/main" id="{2CE5F7D2-4E7F-454C-8319-85C010B034CF}"/>
                  </a:ext>
                </a:extLst>
              </p:cNvPr>
              <p:cNvSpPr txBox="1">
                <a:spLocks noChangeArrowheads="1"/>
              </p:cNvSpPr>
              <p:nvPr/>
            </p:nvSpPr>
            <p:spPr bwMode="auto">
              <a:xfrm>
                <a:off x="4702" y="3835"/>
                <a:ext cx="96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00000"/>
                  </a:lnSpc>
                  <a:spcBef>
                    <a:spcPct val="50000"/>
                  </a:spcBef>
                  <a:buFontTx/>
                  <a:buNone/>
                </a:pPr>
                <a:r>
                  <a:rPr lang="en-US" altLang="en-US" sz="2400" i="1" dirty="0"/>
                  <a:t>x</a:t>
                </a:r>
                <a:r>
                  <a:rPr lang="en-US" altLang="en-US" sz="2400" i="1" baseline="-25000" dirty="0"/>
                  <a:t>1</a:t>
                </a:r>
                <a:r>
                  <a:rPr lang="en-US" altLang="en-US" sz="2400" i="1" dirty="0"/>
                  <a:t> </a:t>
                </a:r>
                <a:r>
                  <a:rPr lang="en-US" altLang="en-US" sz="1800" dirty="0"/>
                  <a:t>(heights)</a:t>
                </a:r>
                <a:endParaRPr lang="en-US" altLang="en-US" sz="2400" i="1" dirty="0"/>
              </a:p>
            </p:txBody>
          </p:sp>
          <p:sp>
            <p:nvSpPr>
              <p:cNvPr id="15384" name="Line 24">
                <a:extLst>
                  <a:ext uri="{FF2B5EF4-FFF2-40B4-BE49-F238E27FC236}">
                    <a16:creationId xmlns:a16="http://schemas.microsoft.com/office/drawing/2014/main" id="{67630BC6-AE8B-482C-B1DB-3B3B9E7B858A}"/>
                  </a:ext>
                </a:extLst>
              </p:cNvPr>
              <p:cNvSpPr>
                <a:spLocks noChangeShapeType="1"/>
              </p:cNvSpPr>
              <p:nvPr/>
            </p:nvSpPr>
            <p:spPr bwMode="auto">
              <a:xfrm flipV="1">
                <a:off x="3696" y="3264"/>
                <a:ext cx="0" cy="6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15388" name="Rectangle 28">
              <a:extLst>
                <a:ext uri="{FF2B5EF4-FFF2-40B4-BE49-F238E27FC236}">
                  <a16:creationId xmlns:a16="http://schemas.microsoft.com/office/drawing/2014/main" id="{57FFEADD-DB19-4FBF-B444-80BE08129B2F}"/>
                </a:ext>
              </a:extLst>
            </p:cNvPr>
            <p:cNvSpPr>
              <a:spLocks noChangeArrowheads="1"/>
            </p:cNvSpPr>
            <p:nvPr/>
          </p:nvSpPr>
          <p:spPr bwMode="auto">
            <a:xfrm>
              <a:off x="2976" y="2544"/>
              <a:ext cx="2688" cy="1440"/>
            </a:xfrm>
            <a:prstGeom prst="rect">
              <a:avLst/>
            </a:prstGeom>
            <a:noFill/>
            <a:ln w="2540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aphicFrame>
        <p:nvGraphicFramePr>
          <p:cNvPr id="2" name="Object 1">
            <a:extLst>
              <a:ext uri="{FF2B5EF4-FFF2-40B4-BE49-F238E27FC236}">
                <a16:creationId xmlns:a16="http://schemas.microsoft.com/office/drawing/2014/main" id="{FB599760-C9E2-4BA5-9BA8-5EAD02E6FD02}"/>
              </a:ext>
            </a:extLst>
          </p:cNvPr>
          <p:cNvGraphicFramePr>
            <a:graphicFrameLocks noChangeAspect="1"/>
          </p:cNvGraphicFramePr>
          <p:nvPr>
            <p:extLst>
              <p:ext uri="{D42A27DB-BD31-4B8C-83A1-F6EECF244321}">
                <p14:modId xmlns:p14="http://schemas.microsoft.com/office/powerpoint/2010/main" val="145016927"/>
              </p:ext>
            </p:extLst>
          </p:nvPr>
        </p:nvGraphicFramePr>
        <p:xfrm>
          <a:off x="624210" y="4319587"/>
          <a:ext cx="1737989" cy="1824888"/>
        </p:xfrm>
        <a:graphic>
          <a:graphicData uri="http://schemas.openxmlformats.org/presentationml/2006/ole">
            <mc:AlternateContent xmlns:mc="http://schemas.openxmlformats.org/markup-compatibility/2006">
              <mc:Choice xmlns:v="urn:schemas-microsoft-com:vml" Requires="v">
                <p:oleObj name="Equation" r:id="rId5" imgW="1015920" imgH="1066680" progId="Equation.DSMT4">
                  <p:embed/>
                </p:oleObj>
              </mc:Choice>
              <mc:Fallback>
                <p:oleObj name="Equation" r:id="rId5" imgW="1015920" imgH="1066680" progId="Equation.DSMT4">
                  <p:embed/>
                  <p:pic>
                    <p:nvPicPr>
                      <p:cNvPr id="0" name=""/>
                      <p:cNvPicPr/>
                      <p:nvPr/>
                    </p:nvPicPr>
                    <p:blipFill>
                      <a:blip r:embed="rId6"/>
                      <a:stretch>
                        <a:fillRect/>
                      </a:stretch>
                    </p:blipFill>
                    <p:spPr>
                      <a:xfrm>
                        <a:off x="624210" y="4319587"/>
                        <a:ext cx="1737989" cy="1824888"/>
                      </a:xfrm>
                      <a:prstGeom prst="rect">
                        <a:avLst/>
                      </a:prstGeom>
                    </p:spPr>
                  </p:pic>
                </p:oleObj>
              </mc:Fallback>
            </mc:AlternateContent>
          </a:graphicData>
        </a:graphic>
      </p:graphicFrame>
    </p:spTree>
    <p:extLst>
      <p:ext uri="{BB962C8B-B14F-4D97-AF65-F5344CB8AC3E}">
        <p14:creationId xmlns:p14="http://schemas.microsoft.com/office/powerpoint/2010/main" val="28194911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53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3A2BA71B-295B-4C21-BDE4-5B27DC59F13A}"/>
              </a:ext>
            </a:extLst>
          </p:cNvPr>
          <p:cNvSpPr>
            <a:spLocks noGrp="1" noChangeArrowheads="1"/>
          </p:cNvSpPr>
          <p:nvPr>
            <p:ph type="title"/>
          </p:nvPr>
        </p:nvSpPr>
        <p:spPr>
          <a:xfrm>
            <a:off x="457200" y="194469"/>
            <a:ext cx="8686800" cy="1143000"/>
          </a:xfrm>
        </p:spPr>
        <p:txBody>
          <a:bodyPr/>
          <a:lstStyle/>
          <a:p>
            <a:r>
              <a:rPr lang="en-US" altLang="en-US" b="1" dirty="0"/>
              <a:t>Random Vectors</a:t>
            </a:r>
          </a:p>
        </p:txBody>
      </p:sp>
      <p:sp>
        <p:nvSpPr>
          <p:cNvPr id="16387" name="Rectangle 3">
            <a:extLst>
              <a:ext uri="{FF2B5EF4-FFF2-40B4-BE49-F238E27FC236}">
                <a16:creationId xmlns:a16="http://schemas.microsoft.com/office/drawing/2014/main" id="{55339557-F273-4BF5-B4E5-D319624E6083}"/>
              </a:ext>
            </a:extLst>
          </p:cNvPr>
          <p:cNvSpPr>
            <a:spLocks noGrp="1" noChangeArrowheads="1"/>
          </p:cNvSpPr>
          <p:nvPr>
            <p:ph type="body" idx="1"/>
          </p:nvPr>
        </p:nvSpPr>
        <p:spPr>
          <a:xfrm>
            <a:off x="228600" y="1055688"/>
            <a:ext cx="8686800" cy="4724400"/>
          </a:xfrm>
        </p:spPr>
        <p:txBody>
          <a:bodyPr/>
          <a:lstStyle/>
          <a:p>
            <a:pPr>
              <a:lnSpc>
                <a:spcPct val="90000"/>
              </a:lnSpc>
            </a:pPr>
            <a:r>
              <a:rPr lang="en-US" altLang="en-US" sz="2800" dirty="0"/>
              <a:t>The probability distribution of the random vector </a:t>
            </a:r>
            <a:r>
              <a:rPr lang="en-US" altLang="en-US" sz="2800" i="1" dirty="0"/>
              <a:t>P</a:t>
            </a:r>
            <a:r>
              <a:rPr lang="en-US" altLang="en-US" sz="2800" dirty="0"/>
              <a:t>(</a:t>
            </a:r>
            <a:r>
              <a:rPr lang="en-US" altLang="en-US" sz="2800" b="1" dirty="0"/>
              <a:t>x</a:t>
            </a:r>
            <a:r>
              <a:rPr lang="en-US" altLang="en-US" sz="2800" dirty="0"/>
              <a:t>) is </a:t>
            </a:r>
            <a:r>
              <a:rPr lang="en-US" altLang="en-US" sz="2800" i="1" dirty="0"/>
              <a:t>P</a:t>
            </a:r>
            <a:r>
              <a:rPr lang="en-US" altLang="en-US" sz="2800" dirty="0"/>
              <a:t>(</a:t>
            </a:r>
            <a:r>
              <a:rPr lang="en-US" altLang="en-US" sz="2800" i="1" dirty="0"/>
              <a:t>x</a:t>
            </a:r>
            <a:r>
              <a:rPr lang="en-US" altLang="en-US" sz="2800" i="1" baseline="-25000" dirty="0"/>
              <a:t>1</a:t>
            </a:r>
            <a:r>
              <a:rPr lang="en-US" altLang="en-US" sz="2800" dirty="0"/>
              <a:t>, </a:t>
            </a:r>
            <a:r>
              <a:rPr lang="en-US" altLang="en-US" sz="2800" i="1" dirty="0"/>
              <a:t>x</a:t>
            </a:r>
            <a:r>
              <a:rPr lang="en-US" altLang="en-US" sz="2800" i="1" baseline="-25000" dirty="0"/>
              <a:t>2</a:t>
            </a:r>
            <a:r>
              <a:rPr lang="en-US" altLang="en-US" sz="2800" dirty="0"/>
              <a:t>) , the joint probability distribution of the random variables </a:t>
            </a:r>
            <a:r>
              <a:rPr lang="en-US" altLang="en-US" sz="2800" i="1" dirty="0"/>
              <a:t>x</a:t>
            </a:r>
            <a:r>
              <a:rPr lang="en-US" altLang="en-US" sz="2800" i="1" baseline="-25000" dirty="0"/>
              <a:t>1</a:t>
            </a:r>
            <a:r>
              <a:rPr lang="en-US" altLang="en-US" sz="2800" dirty="0"/>
              <a:t> and </a:t>
            </a:r>
            <a:r>
              <a:rPr lang="en-US" altLang="en-US" sz="2800" i="1" dirty="0"/>
              <a:t>x</a:t>
            </a:r>
            <a:r>
              <a:rPr lang="en-US" altLang="en-US" sz="2800" i="1" baseline="-25000" dirty="0"/>
              <a:t>2</a:t>
            </a:r>
            <a:r>
              <a:rPr lang="en-US" altLang="en-US" sz="2800" i="1" dirty="0"/>
              <a:t>.</a:t>
            </a:r>
            <a:endParaRPr lang="en-US" altLang="en-US" sz="2800" dirty="0"/>
          </a:p>
          <a:p>
            <a:pPr>
              <a:lnSpc>
                <a:spcPct val="90000"/>
              </a:lnSpc>
            </a:pPr>
            <a:r>
              <a:rPr lang="en-US" altLang="en-US" sz="2800" dirty="0"/>
              <a:t>What will the graph of samples from </a:t>
            </a:r>
            <a:r>
              <a:rPr lang="en-US" altLang="en-US" sz="2800" b="1" dirty="0"/>
              <a:t>x</a:t>
            </a:r>
            <a:r>
              <a:rPr lang="en-US" altLang="en-US" sz="2800" dirty="0"/>
              <a:t> look like?</a:t>
            </a:r>
          </a:p>
          <a:p>
            <a:pPr>
              <a:lnSpc>
                <a:spcPct val="90000"/>
              </a:lnSpc>
            </a:pPr>
            <a:endParaRPr lang="en-US" altLang="en-US" sz="2800" dirty="0"/>
          </a:p>
          <a:p>
            <a:pPr>
              <a:lnSpc>
                <a:spcPct val="90000"/>
              </a:lnSpc>
            </a:pPr>
            <a:endParaRPr lang="en-US" altLang="en-US" sz="2800" dirty="0"/>
          </a:p>
          <a:p>
            <a:pPr>
              <a:lnSpc>
                <a:spcPct val="80000"/>
              </a:lnSpc>
            </a:pPr>
            <a:endParaRPr lang="en-US" altLang="en-US" sz="2800" dirty="0"/>
          </a:p>
          <a:p>
            <a:pPr>
              <a:lnSpc>
                <a:spcPct val="80000"/>
              </a:lnSpc>
            </a:pPr>
            <a:endParaRPr lang="en-US" altLang="en-US" sz="2800" dirty="0"/>
          </a:p>
          <a:p>
            <a:pPr>
              <a:lnSpc>
                <a:spcPct val="90000"/>
              </a:lnSpc>
              <a:buFontTx/>
              <a:buNone/>
            </a:pPr>
            <a:endParaRPr lang="en-US" altLang="en-US" sz="2800" dirty="0"/>
          </a:p>
          <a:p>
            <a:pPr>
              <a:lnSpc>
                <a:spcPct val="90000"/>
              </a:lnSpc>
              <a:buFontTx/>
              <a:buNone/>
            </a:pPr>
            <a:endParaRPr lang="en-US" altLang="en-US" sz="2800" dirty="0"/>
          </a:p>
        </p:txBody>
      </p:sp>
      <p:grpSp>
        <p:nvGrpSpPr>
          <p:cNvPr id="16392" name="Group 8">
            <a:extLst>
              <a:ext uri="{FF2B5EF4-FFF2-40B4-BE49-F238E27FC236}">
                <a16:creationId xmlns:a16="http://schemas.microsoft.com/office/drawing/2014/main" id="{4BA2A756-B71E-4A4A-88AE-58F89E298F0D}"/>
              </a:ext>
            </a:extLst>
          </p:cNvPr>
          <p:cNvGrpSpPr>
            <a:grpSpLocks/>
          </p:cNvGrpSpPr>
          <p:nvPr/>
        </p:nvGrpSpPr>
        <p:grpSpPr bwMode="auto">
          <a:xfrm>
            <a:off x="218983" y="3657600"/>
            <a:ext cx="8637588" cy="2190750"/>
            <a:chOff x="96" y="1260"/>
            <a:chExt cx="5441" cy="1380"/>
          </a:xfrm>
        </p:grpSpPr>
        <p:pic>
          <p:nvPicPr>
            <p:cNvPr id="16388" name="Picture 4" descr="uniform">
              <a:extLst>
                <a:ext uri="{FF2B5EF4-FFF2-40B4-BE49-F238E27FC236}">
                  <a16:creationId xmlns:a16="http://schemas.microsoft.com/office/drawing/2014/main" id="{63EFD5E6-B786-45BE-B202-422B9C00611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12790" t="5333" r="6395" b="9599"/>
            <a:stretch>
              <a:fillRect/>
            </a:stretch>
          </p:blipFill>
          <p:spPr bwMode="auto">
            <a:xfrm>
              <a:off x="96" y="1260"/>
              <a:ext cx="1750" cy="1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9" name="Picture 5" descr="weightsvsheight">
              <a:extLst>
                <a:ext uri="{FF2B5EF4-FFF2-40B4-BE49-F238E27FC236}">
                  <a16:creationId xmlns:a16="http://schemas.microsoft.com/office/drawing/2014/main" id="{D3D3DED7-BEAE-42CF-895C-C781C0FB0A6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12790" t="5333" r="6395" b="9599"/>
            <a:stretch>
              <a:fillRect/>
            </a:stretch>
          </p:blipFill>
          <p:spPr bwMode="auto">
            <a:xfrm>
              <a:off x="1968" y="1260"/>
              <a:ext cx="1745" cy="1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0" name="Picture 6" descr="wakeupvsheight">
              <a:extLst>
                <a:ext uri="{FF2B5EF4-FFF2-40B4-BE49-F238E27FC236}">
                  <a16:creationId xmlns:a16="http://schemas.microsoft.com/office/drawing/2014/main" id="{99B86B4F-2B49-4D0A-BB06-2024F2EEA65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l="12790" t="5333" r="6395" b="9599"/>
            <a:stretch>
              <a:fillRect/>
            </a:stretch>
          </p:blipFill>
          <p:spPr bwMode="auto">
            <a:xfrm>
              <a:off x="3792" y="1260"/>
              <a:ext cx="1745" cy="1377"/>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TextBox 1">
            <a:extLst>
              <a:ext uri="{FF2B5EF4-FFF2-40B4-BE49-F238E27FC236}">
                <a16:creationId xmlns:a16="http://schemas.microsoft.com/office/drawing/2014/main" id="{2A1BC1D8-1FF8-40D6-A629-6FF4F50C28CD}"/>
              </a:ext>
            </a:extLst>
          </p:cNvPr>
          <p:cNvSpPr txBox="1"/>
          <p:nvPr/>
        </p:nvSpPr>
        <p:spPr>
          <a:xfrm>
            <a:off x="372771" y="3233222"/>
            <a:ext cx="2470548" cy="369332"/>
          </a:xfrm>
          <a:prstGeom prst="rect">
            <a:avLst/>
          </a:prstGeom>
          <a:noFill/>
        </p:spPr>
        <p:txBody>
          <a:bodyPr wrap="none" rtlCol="0">
            <a:spAutoFit/>
          </a:bodyPr>
          <a:lstStyle/>
          <a:p>
            <a:r>
              <a:rPr lang="en-US" dirty="0"/>
              <a:t>x</a:t>
            </a:r>
            <a:r>
              <a:rPr lang="en-US" baseline="-25000" dirty="0"/>
              <a:t>1</a:t>
            </a:r>
            <a:r>
              <a:rPr lang="en-US" dirty="0"/>
              <a:t> uncorrelated with x</a:t>
            </a:r>
            <a:r>
              <a:rPr lang="en-US" baseline="-25000" dirty="0"/>
              <a:t>2</a:t>
            </a:r>
          </a:p>
        </p:txBody>
      </p:sp>
      <p:sp>
        <p:nvSpPr>
          <p:cNvPr id="11" name="TextBox 10">
            <a:extLst>
              <a:ext uri="{FF2B5EF4-FFF2-40B4-BE49-F238E27FC236}">
                <a16:creationId xmlns:a16="http://schemas.microsoft.com/office/drawing/2014/main" id="{3339E0C1-82D3-46D2-ACA4-2AC0E3AA0536}"/>
              </a:ext>
            </a:extLst>
          </p:cNvPr>
          <p:cNvSpPr txBox="1"/>
          <p:nvPr/>
        </p:nvSpPr>
        <p:spPr>
          <a:xfrm>
            <a:off x="3505200" y="3233222"/>
            <a:ext cx="2214068" cy="369332"/>
          </a:xfrm>
          <a:prstGeom prst="rect">
            <a:avLst/>
          </a:prstGeom>
          <a:noFill/>
        </p:spPr>
        <p:txBody>
          <a:bodyPr wrap="none" rtlCol="0">
            <a:spAutoFit/>
          </a:bodyPr>
          <a:lstStyle/>
          <a:p>
            <a:r>
              <a:rPr lang="en-US" dirty="0"/>
              <a:t>x</a:t>
            </a:r>
            <a:r>
              <a:rPr lang="en-US" baseline="-25000" dirty="0"/>
              <a:t>1</a:t>
            </a:r>
            <a:r>
              <a:rPr lang="en-US" dirty="0"/>
              <a:t> correlated with x</a:t>
            </a:r>
            <a:r>
              <a:rPr lang="en-US" baseline="-25000" dirty="0"/>
              <a:t>2</a:t>
            </a:r>
          </a:p>
        </p:txBody>
      </p:sp>
    </p:spTree>
    <p:extLst>
      <p:ext uri="{BB962C8B-B14F-4D97-AF65-F5344CB8AC3E}">
        <p14:creationId xmlns:p14="http://schemas.microsoft.com/office/powerpoint/2010/main" val="34411250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638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638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63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uiExpand="1" build="p"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3">
            <a:extLst>
              <a:ext uri="{FF2B5EF4-FFF2-40B4-BE49-F238E27FC236}">
                <a16:creationId xmlns:a16="http://schemas.microsoft.com/office/drawing/2014/main" id="{29A5C3D0-7A82-40CD-85CB-9F429985DDE2}"/>
              </a:ext>
            </a:extLst>
          </p:cNvPr>
          <p:cNvSpPr>
            <a:spLocks noGrp="1" noChangeArrowheads="1"/>
          </p:cNvSpPr>
          <p:nvPr>
            <p:ph type="title"/>
          </p:nvPr>
        </p:nvSpPr>
        <p:spPr>
          <a:xfrm>
            <a:off x="457200" y="277813"/>
            <a:ext cx="8229600" cy="712787"/>
          </a:xfrm>
        </p:spPr>
        <p:txBody>
          <a:bodyPr/>
          <a:lstStyle/>
          <a:p>
            <a:r>
              <a:rPr lang="en-US" altLang="en-US" b="1" dirty="0"/>
              <a:t>Notation</a:t>
            </a:r>
          </a:p>
        </p:txBody>
      </p:sp>
      <p:graphicFrame>
        <p:nvGraphicFramePr>
          <p:cNvPr id="5" name="Object 4">
            <a:extLst>
              <a:ext uri="{FF2B5EF4-FFF2-40B4-BE49-F238E27FC236}">
                <a16:creationId xmlns:a16="http://schemas.microsoft.com/office/drawing/2014/main" id="{142755B6-E65A-487D-8321-7191A44D3756}"/>
              </a:ext>
            </a:extLst>
          </p:cNvPr>
          <p:cNvGraphicFramePr>
            <a:graphicFrameLocks noChangeAspect="1"/>
          </p:cNvGraphicFramePr>
          <p:nvPr>
            <p:extLst>
              <p:ext uri="{D42A27DB-BD31-4B8C-83A1-F6EECF244321}">
                <p14:modId xmlns:p14="http://schemas.microsoft.com/office/powerpoint/2010/main" val="2936639799"/>
              </p:ext>
            </p:extLst>
          </p:nvPr>
        </p:nvGraphicFramePr>
        <p:xfrm>
          <a:off x="609600" y="1066799"/>
          <a:ext cx="5791200" cy="4945769"/>
        </p:xfrm>
        <a:graphic>
          <a:graphicData uri="http://schemas.openxmlformats.org/presentationml/2006/ole">
            <mc:AlternateContent xmlns:mc="http://schemas.openxmlformats.org/markup-compatibility/2006">
              <mc:Choice xmlns:v="urn:schemas-microsoft-com:vml" Requires="v">
                <p:oleObj name="Equation" r:id="rId3" imgW="3479760" imgH="2971800" progId="Equation.DSMT4">
                  <p:embed/>
                </p:oleObj>
              </mc:Choice>
              <mc:Fallback>
                <p:oleObj name="Equation" r:id="rId3" imgW="3479760" imgH="2971800" progId="Equation.DSMT4">
                  <p:embed/>
                  <p:pic>
                    <p:nvPicPr>
                      <p:cNvPr id="0" name=""/>
                      <p:cNvPicPr/>
                      <p:nvPr/>
                    </p:nvPicPr>
                    <p:blipFill>
                      <a:blip r:embed="rId4"/>
                      <a:stretch>
                        <a:fillRect/>
                      </a:stretch>
                    </p:blipFill>
                    <p:spPr>
                      <a:xfrm>
                        <a:off x="609600" y="1066799"/>
                        <a:ext cx="5791200" cy="4945769"/>
                      </a:xfrm>
                      <a:prstGeom prst="rect">
                        <a:avLst/>
                      </a:prstGeom>
                    </p:spPr>
                  </p:pic>
                </p:oleObj>
              </mc:Fallback>
            </mc:AlternateContent>
          </a:graphicData>
        </a:graphic>
      </p:graphicFrame>
    </p:spTree>
    <p:extLst>
      <p:ext uri="{BB962C8B-B14F-4D97-AF65-F5344CB8AC3E}">
        <p14:creationId xmlns:p14="http://schemas.microsoft.com/office/powerpoint/2010/main" val="25619353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 Simple (and completely artificial) Example</a:t>
            </a:r>
          </a:p>
        </p:txBody>
      </p:sp>
      <p:sp>
        <p:nvSpPr>
          <p:cNvPr id="3" name="Content Placeholder 2"/>
          <p:cNvSpPr>
            <a:spLocks noGrp="1"/>
          </p:cNvSpPr>
          <p:nvPr>
            <p:ph idx="1"/>
          </p:nvPr>
        </p:nvSpPr>
        <p:spPr>
          <a:xfrm>
            <a:off x="533400" y="1676400"/>
            <a:ext cx="8229600" cy="685800"/>
          </a:xfrm>
        </p:spPr>
        <p:txBody>
          <a:bodyPr/>
          <a:lstStyle/>
          <a:p>
            <a:r>
              <a:rPr lang="en-US" dirty="0"/>
              <a:t>Assume that the data was generated from a Gaussian (normally distributed) random process…</a:t>
            </a:r>
          </a:p>
        </p:txBody>
      </p:sp>
      <p:sp>
        <p:nvSpPr>
          <p:cNvPr id="5" name="Content Placeholder 2"/>
          <p:cNvSpPr txBox="1">
            <a:spLocks/>
          </p:cNvSpPr>
          <p:nvPr/>
        </p:nvSpPr>
        <p:spPr bwMode="auto">
          <a:xfrm>
            <a:off x="531920" y="3429000"/>
            <a:ext cx="8413072" cy="2209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just" defTabSz="914400" rtl="0" eaLnBrk="0" fontAlgn="base" latinLnBrk="0" hangingPunct="0">
              <a:lnSpc>
                <a:spcPct val="100000"/>
              </a:lnSpc>
              <a:spcBef>
                <a:spcPct val="20000"/>
              </a:spcBef>
              <a:spcAft>
                <a:spcPct val="0"/>
              </a:spcAft>
              <a:buClr>
                <a:schemeClr val="accent1"/>
              </a:buClr>
              <a:buSzPct val="65000"/>
              <a:buFont typeface="Wingdings" pitchFamily="2" charset="2"/>
              <a:buChar char="n"/>
              <a:tabLst/>
              <a:defRPr/>
            </a:pPr>
            <a:r>
              <a:rPr kumimoji="0" lang="en-US" sz="2400" b="0" i="0" u="none" strike="noStrike" kern="0" cap="none" spc="0" normalizeH="0" baseline="0" noProof="0" dirty="0">
                <a:ln>
                  <a:noFill/>
                </a:ln>
                <a:solidFill>
                  <a:schemeClr val="tx1"/>
                </a:solidFill>
                <a:effectLst/>
                <a:uLnTx/>
                <a:uFillTx/>
                <a:latin typeface="+mn-lt"/>
                <a:ea typeface="+mn-ea"/>
                <a:cs typeface="+mn-cs"/>
              </a:rPr>
              <a:t>What does the probability density function (pdf) look like?</a:t>
            </a:r>
            <a:endParaRPr kumimoji="0" lang="en-US" sz="2400" b="0" i="0" u="none" strike="noStrike" kern="0" cap="none" spc="0" normalizeH="0" noProof="0" dirty="0">
              <a:ln>
                <a:noFill/>
              </a:ln>
              <a:solidFill>
                <a:schemeClr val="tx1"/>
              </a:solidFill>
              <a:effectLst/>
              <a:uLnTx/>
              <a:uFillTx/>
              <a:latin typeface="+mn-lt"/>
              <a:ea typeface="+mn-ea"/>
              <a:cs typeface="+mn-cs"/>
            </a:endParaRPr>
          </a:p>
          <a:p>
            <a:pPr marL="342900" marR="0" lvl="0" indent="-342900" algn="just" defTabSz="914400" rtl="0" eaLnBrk="0" fontAlgn="base" latinLnBrk="0" hangingPunct="0">
              <a:lnSpc>
                <a:spcPct val="100000"/>
              </a:lnSpc>
              <a:spcBef>
                <a:spcPct val="20000"/>
              </a:spcBef>
              <a:spcAft>
                <a:spcPct val="0"/>
              </a:spcAft>
              <a:buClr>
                <a:schemeClr val="accent1"/>
              </a:buClr>
              <a:buSzPct val="65000"/>
              <a:buFont typeface="Wingdings" pitchFamily="2" charset="2"/>
              <a:buChar char="n"/>
              <a:tabLst/>
              <a:defRPr/>
            </a:pPr>
            <a:r>
              <a:rPr lang="en-US" sz="2400" kern="0" dirty="0">
                <a:latin typeface="+mn-lt"/>
              </a:rPr>
              <a:t>What is the expected value?</a:t>
            </a:r>
          </a:p>
          <a:p>
            <a:pPr marL="342900" marR="0" lvl="0" indent="-342900" algn="just" defTabSz="914400" rtl="0" eaLnBrk="0" fontAlgn="base" latinLnBrk="0" hangingPunct="0">
              <a:lnSpc>
                <a:spcPct val="100000"/>
              </a:lnSpc>
              <a:spcBef>
                <a:spcPct val="20000"/>
              </a:spcBef>
              <a:spcAft>
                <a:spcPct val="0"/>
              </a:spcAft>
              <a:buClr>
                <a:schemeClr val="accent1"/>
              </a:buClr>
              <a:buSzPct val="65000"/>
              <a:buFont typeface="Wingdings" pitchFamily="2" charset="2"/>
              <a:buChar char="n"/>
              <a:tabLst/>
              <a:defRPr/>
            </a:pPr>
            <a:r>
              <a:rPr lang="en-US" sz="2400" kern="0" dirty="0">
                <a:latin typeface="+mn-lt"/>
              </a:rPr>
              <a:t>What is the covariance?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D5AF3-E815-4641-9BE2-8C1FB78D8792}"/>
              </a:ext>
            </a:extLst>
          </p:cNvPr>
          <p:cNvSpPr>
            <a:spLocks noGrp="1"/>
          </p:cNvSpPr>
          <p:nvPr>
            <p:ph type="title"/>
          </p:nvPr>
        </p:nvSpPr>
        <p:spPr/>
        <p:txBody>
          <a:bodyPr/>
          <a:lstStyle/>
          <a:p>
            <a:r>
              <a:rPr lang="en-US" b="1" dirty="0"/>
              <a:t>Gaussian PDF</a:t>
            </a:r>
          </a:p>
        </p:txBody>
      </p:sp>
      <p:pic>
        <p:nvPicPr>
          <p:cNvPr id="9" name="Picture 8">
            <a:extLst>
              <a:ext uri="{FF2B5EF4-FFF2-40B4-BE49-F238E27FC236}">
                <a16:creationId xmlns:a16="http://schemas.microsoft.com/office/drawing/2014/main" id="{9ED84D12-CF55-48DB-8DE8-44C5933DF3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8705" y="990600"/>
            <a:ext cx="4819095" cy="5142663"/>
          </a:xfrm>
          <a:prstGeom prst="rect">
            <a:avLst/>
          </a:prstGeom>
        </p:spPr>
      </p:pic>
      <p:sp>
        <p:nvSpPr>
          <p:cNvPr id="10" name="TextBox 9">
            <a:extLst>
              <a:ext uri="{FF2B5EF4-FFF2-40B4-BE49-F238E27FC236}">
                <a16:creationId xmlns:a16="http://schemas.microsoft.com/office/drawing/2014/main" id="{F50596A4-7C52-48E6-9C11-25275BA41491}"/>
              </a:ext>
            </a:extLst>
          </p:cNvPr>
          <p:cNvSpPr txBox="1"/>
          <p:nvPr/>
        </p:nvSpPr>
        <p:spPr>
          <a:xfrm>
            <a:off x="3124200" y="2057400"/>
            <a:ext cx="1826141" cy="369332"/>
          </a:xfrm>
          <a:prstGeom prst="rect">
            <a:avLst/>
          </a:prstGeom>
          <a:noFill/>
        </p:spPr>
        <p:txBody>
          <a:bodyPr wrap="none" rtlCol="0">
            <a:spAutoFit/>
          </a:bodyPr>
          <a:lstStyle/>
          <a:p>
            <a:r>
              <a:rPr lang="en-US" dirty="0"/>
              <a:t>density function</a:t>
            </a:r>
          </a:p>
        </p:txBody>
      </p:sp>
      <p:sp>
        <p:nvSpPr>
          <p:cNvPr id="11" name="TextBox 10">
            <a:extLst>
              <a:ext uri="{FF2B5EF4-FFF2-40B4-BE49-F238E27FC236}">
                <a16:creationId xmlns:a16="http://schemas.microsoft.com/office/drawing/2014/main" id="{66159105-77B5-49AC-BD46-86390E31E652}"/>
              </a:ext>
            </a:extLst>
          </p:cNvPr>
          <p:cNvSpPr txBox="1"/>
          <p:nvPr/>
        </p:nvSpPr>
        <p:spPr>
          <a:xfrm>
            <a:off x="3119021" y="4419600"/>
            <a:ext cx="1864613" cy="369332"/>
          </a:xfrm>
          <a:prstGeom prst="rect">
            <a:avLst/>
          </a:prstGeom>
          <a:noFill/>
        </p:spPr>
        <p:txBody>
          <a:bodyPr wrap="none" rtlCol="0">
            <a:spAutoFit/>
          </a:bodyPr>
          <a:lstStyle/>
          <a:p>
            <a:r>
              <a:rPr lang="en-US" dirty="0"/>
              <a:t>data scatter plot</a:t>
            </a:r>
          </a:p>
        </p:txBody>
      </p:sp>
      <p:graphicFrame>
        <p:nvGraphicFramePr>
          <p:cNvPr id="12" name="Object 11">
            <a:extLst>
              <a:ext uri="{FF2B5EF4-FFF2-40B4-BE49-F238E27FC236}">
                <a16:creationId xmlns:a16="http://schemas.microsoft.com/office/drawing/2014/main" id="{858F28CE-2F2E-41B1-BED8-86322661252F}"/>
              </a:ext>
            </a:extLst>
          </p:cNvPr>
          <p:cNvGraphicFramePr>
            <a:graphicFrameLocks noChangeAspect="1"/>
          </p:cNvGraphicFramePr>
          <p:nvPr>
            <p:extLst>
              <p:ext uri="{D42A27DB-BD31-4B8C-83A1-F6EECF244321}">
                <p14:modId xmlns:p14="http://schemas.microsoft.com/office/powerpoint/2010/main" val="1387884084"/>
              </p:ext>
            </p:extLst>
          </p:nvPr>
        </p:nvGraphicFramePr>
        <p:xfrm>
          <a:off x="5257800" y="645318"/>
          <a:ext cx="3711538" cy="3469481"/>
        </p:xfrm>
        <a:graphic>
          <a:graphicData uri="http://schemas.openxmlformats.org/presentationml/2006/ole">
            <mc:AlternateContent xmlns:mc="http://schemas.openxmlformats.org/markup-compatibility/2006">
              <mc:Choice xmlns:v="urn:schemas-microsoft-com:vml" Requires="v">
                <p:oleObj name="Equation" r:id="rId3" imgW="2336760" imgH="2184120" progId="Equation.DSMT4">
                  <p:embed/>
                </p:oleObj>
              </mc:Choice>
              <mc:Fallback>
                <p:oleObj name="Equation" r:id="rId3" imgW="2336760" imgH="2184120" progId="Equation.DSMT4">
                  <p:embed/>
                  <p:pic>
                    <p:nvPicPr>
                      <p:cNvPr id="0" name=""/>
                      <p:cNvPicPr/>
                      <p:nvPr/>
                    </p:nvPicPr>
                    <p:blipFill>
                      <a:blip r:embed="rId4"/>
                      <a:stretch>
                        <a:fillRect/>
                      </a:stretch>
                    </p:blipFill>
                    <p:spPr>
                      <a:xfrm>
                        <a:off x="5257800" y="645318"/>
                        <a:ext cx="3711538" cy="3469481"/>
                      </a:xfrm>
                      <a:prstGeom prst="rect">
                        <a:avLst/>
                      </a:prstGeom>
                    </p:spPr>
                  </p:pic>
                </p:oleObj>
              </mc:Fallback>
            </mc:AlternateContent>
          </a:graphicData>
        </a:graphic>
      </p:graphicFrame>
    </p:spTree>
    <p:extLst>
      <p:ext uri="{BB962C8B-B14F-4D97-AF65-F5344CB8AC3E}">
        <p14:creationId xmlns:p14="http://schemas.microsoft.com/office/powerpoint/2010/main" val="21811277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E803E-76B6-493B-922F-A0C01B6DF219}"/>
              </a:ext>
            </a:extLst>
          </p:cNvPr>
          <p:cNvSpPr>
            <a:spLocks noGrp="1"/>
          </p:cNvSpPr>
          <p:nvPr>
            <p:ph type="title"/>
          </p:nvPr>
        </p:nvSpPr>
        <p:spPr/>
        <p:txBody>
          <a:bodyPr/>
          <a:lstStyle/>
          <a:p>
            <a:r>
              <a:rPr lang="en-US" b="1" dirty="0"/>
              <a:t>Estimating µ, </a:t>
            </a:r>
            <a:r>
              <a:rPr lang="el-GR" b="1" dirty="0"/>
              <a:t>Σ</a:t>
            </a:r>
            <a:endParaRPr lang="en-US" b="1" dirty="0"/>
          </a:p>
        </p:txBody>
      </p:sp>
      <p:graphicFrame>
        <p:nvGraphicFramePr>
          <p:cNvPr id="4" name="Object 3">
            <a:extLst>
              <a:ext uri="{FF2B5EF4-FFF2-40B4-BE49-F238E27FC236}">
                <a16:creationId xmlns:a16="http://schemas.microsoft.com/office/drawing/2014/main" id="{5936B394-3279-4761-BA59-FE525C2C11DA}"/>
              </a:ext>
            </a:extLst>
          </p:cNvPr>
          <p:cNvGraphicFramePr>
            <a:graphicFrameLocks noChangeAspect="1"/>
          </p:cNvGraphicFramePr>
          <p:nvPr>
            <p:extLst>
              <p:ext uri="{D42A27DB-BD31-4B8C-83A1-F6EECF244321}">
                <p14:modId xmlns:p14="http://schemas.microsoft.com/office/powerpoint/2010/main" val="1740790248"/>
              </p:ext>
            </p:extLst>
          </p:nvPr>
        </p:nvGraphicFramePr>
        <p:xfrm>
          <a:off x="457200" y="1143000"/>
          <a:ext cx="8426938" cy="2895600"/>
        </p:xfrm>
        <a:graphic>
          <a:graphicData uri="http://schemas.openxmlformats.org/presentationml/2006/ole">
            <mc:AlternateContent xmlns:mc="http://schemas.openxmlformats.org/markup-compatibility/2006">
              <mc:Choice xmlns:v="urn:schemas-microsoft-com:vml" Requires="v">
                <p:oleObj name="Equation" r:id="rId2" imgW="5765760" imgH="1981080" progId="Equation.DSMT4">
                  <p:embed/>
                </p:oleObj>
              </mc:Choice>
              <mc:Fallback>
                <p:oleObj name="Equation" r:id="rId2" imgW="5765760" imgH="1981080" progId="Equation.DSMT4">
                  <p:embed/>
                  <p:pic>
                    <p:nvPicPr>
                      <p:cNvPr id="0" name=""/>
                      <p:cNvPicPr/>
                      <p:nvPr/>
                    </p:nvPicPr>
                    <p:blipFill>
                      <a:blip r:embed="rId3"/>
                      <a:stretch>
                        <a:fillRect/>
                      </a:stretch>
                    </p:blipFill>
                    <p:spPr>
                      <a:xfrm>
                        <a:off x="457200" y="1143000"/>
                        <a:ext cx="8426938" cy="2895600"/>
                      </a:xfrm>
                      <a:prstGeom prst="rect">
                        <a:avLst/>
                      </a:prstGeom>
                    </p:spPr>
                  </p:pic>
                </p:oleObj>
              </mc:Fallback>
            </mc:AlternateContent>
          </a:graphicData>
        </a:graphic>
      </p:graphicFrame>
    </p:spTree>
    <p:extLst>
      <p:ext uri="{BB962C8B-B14F-4D97-AF65-F5344CB8AC3E}">
        <p14:creationId xmlns:p14="http://schemas.microsoft.com/office/powerpoint/2010/main" val="30528840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31807-F41C-43D6-9410-A109B9A2EADF}"/>
              </a:ext>
            </a:extLst>
          </p:cNvPr>
          <p:cNvSpPr>
            <a:spLocks noGrp="1"/>
          </p:cNvSpPr>
          <p:nvPr>
            <p:ph type="title"/>
          </p:nvPr>
        </p:nvSpPr>
        <p:spPr/>
        <p:txBody>
          <a:bodyPr/>
          <a:lstStyle/>
          <a:p>
            <a:r>
              <a:rPr lang="en-US" b="1" dirty="0"/>
              <a:t>Probability Models</a:t>
            </a:r>
          </a:p>
        </p:txBody>
      </p:sp>
      <p:sp>
        <p:nvSpPr>
          <p:cNvPr id="4" name="Rectangle 3">
            <a:extLst>
              <a:ext uri="{FF2B5EF4-FFF2-40B4-BE49-F238E27FC236}">
                <a16:creationId xmlns:a16="http://schemas.microsoft.com/office/drawing/2014/main" id="{7334E5B9-93E9-4738-BFE1-BAA65AC7C55E}"/>
              </a:ext>
            </a:extLst>
          </p:cNvPr>
          <p:cNvSpPr txBox="1">
            <a:spLocks noChangeArrowheads="1"/>
          </p:cNvSpPr>
          <p:nvPr/>
        </p:nvSpPr>
        <p:spPr bwMode="auto">
          <a:xfrm>
            <a:off x="381000" y="1066800"/>
            <a:ext cx="8229600" cy="762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600">
                <a:solidFill>
                  <a:schemeClr val="tx1"/>
                </a:solidFill>
                <a:latin typeface="+mn-lt"/>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200">
                <a:solidFill>
                  <a:schemeClr val="tx1"/>
                </a:solidFill>
                <a:latin typeface="+mn-lt"/>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sz="2000">
                <a:solidFill>
                  <a:schemeClr val="tx1"/>
                </a:solidFill>
                <a:latin typeface="+mn-lt"/>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9pPr>
          </a:lstStyle>
          <a:p>
            <a:pPr algn="just" eaLnBrk="1" hangingPunct="1"/>
            <a:r>
              <a:rPr lang="en-US" sz="2000" kern="0" dirty="0"/>
              <a:t>If one knows something about the process that generated the data, a function can be used to describe the probability density:</a:t>
            </a:r>
          </a:p>
          <a:p>
            <a:pPr algn="just" eaLnBrk="1" hangingPunct="1"/>
            <a:endParaRPr lang="en-US" kern="0" dirty="0"/>
          </a:p>
        </p:txBody>
      </p:sp>
      <p:graphicFrame>
        <p:nvGraphicFramePr>
          <p:cNvPr id="5" name="Object 4">
            <a:extLst>
              <a:ext uri="{FF2B5EF4-FFF2-40B4-BE49-F238E27FC236}">
                <a16:creationId xmlns:a16="http://schemas.microsoft.com/office/drawing/2014/main" id="{B4801B41-FDEE-48CC-9E50-519C74D73C6C}"/>
              </a:ext>
            </a:extLst>
          </p:cNvPr>
          <p:cNvGraphicFramePr>
            <a:graphicFrameLocks noChangeAspect="1"/>
          </p:cNvGraphicFramePr>
          <p:nvPr>
            <p:extLst>
              <p:ext uri="{D42A27DB-BD31-4B8C-83A1-F6EECF244321}">
                <p14:modId xmlns:p14="http://schemas.microsoft.com/office/powerpoint/2010/main" val="1432477556"/>
              </p:ext>
            </p:extLst>
          </p:nvPr>
        </p:nvGraphicFramePr>
        <p:xfrm>
          <a:off x="649942" y="1828800"/>
          <a:ext cx="7691716" cy="968188"/>
        </p:xfrm>
        <a:graphic>
          <a:graphicData uri="http://schemas.openxmlformats.org/presentationml/2006/ole">
            <mc:AlternateContent xmlns:mc="http://schemas.openxmlformats.org/markup-compatibility/2006">
              <mc:Choice xmlns:v="urn:schemas-microsoft-com:vml" Requires="v">
                <p:oleObj name="Equation" r:id="rId2" imgW="3632040" imgH="457200" progId="Equation.DSMT4">
                  <p:embed/>
                </p:oleObj>
              </mc:Choice>
              <mc:Fallback>
                <p:oleObj name="Equation" r:id="rId2" imgW="3632040" imgH="457200" progId="Equation.DSMT4">
                  <p:embed/>
                  <p:pic>
                    <p:nvPicPr>
                      <p:cNvPr id="0" name=""/>
                      <p:cNvPicPr/>
                      <p:nvPr/>
                    </p:nvPicPr>
                    <p:blipFill>
                      <a:blip r:embed="rId3"/>
                      <a:stretch>
                        <a:fillRect/>
                      </a:stretch>
                    </p:blipFill>
                    <p:spPr>
                      <a:xfrm>
                        <a:off x="649942" y="1828800"/>
                        <a:ext cx="7691716" cy="968188"/>
                      </a:xfrm>
                      <a:prstGeom prst="rect">
                        <a:avLst/>
                      </a:prstGeom>
                    </p:spPr>
                  </p:pic>
                </p:oleObj>
              </mc:Fallback>
            </mc:AlternateContent>
          </a:graphicData>
        </a:graphic>
      </p:graphicFrame>
      <p:sp>
        <p:nvSpPr>
          <p:cNvPr id="6" name="Rectangle 3">
            <a:extLst>
              <a:ext uri="{FF2B5EF4-FFF2-40B4-BE49-F238E27FC236}">
                <a16:creationId xmlns:a16="http://schemas.microsoft.com/office/drawing/2014/main" id="{A3F5C46A-002F-4692-866D-2C7C211FE80F}"/>
              </a:ext>
            </a:extLst>
          </p:cNvPr>
          <p:cNvSpPr txBox="1">
            <a:spLocks noChangeArrowheads="1"/>
          </p:cNvSpPr>
          <p:nvPr/>
        </p:nvSpPr>
        <p:spPr bwMode="auto">
          <a:xfrm>
            <a:off x="381000" y="2827150"/>
            <a:ext cx="8229600" cy="762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600">
                <a:solidFill>
                  <a:schemeClr val="tx1"/>
                </a:solidFill>
                <a:latin typeface="+mn-lt"/>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200">
                <a:solidFill>
                  <a:schemeClr val="tx1"/>
                </a:solidFill>
                <a:latin typeface="+mn-lt"/>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sz="2000">
                <a:solidFill>
                  <a:schemeClr val="tx1"/>
                </a:solidFill>
                <a:latin typeface="+mn-lt"/>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9pPr>
          </a:lstStyle>
          <a:p>
            <a:pPr algn="just" eaLnBrk="1" hangingPunct="1"/>
            <a:r>
              <a:rPr lang="en-US" sz="2000" kern="0" dirty="0"/>
              <a:t>Most of the time, our variables will be </a:t>
            </a:r>
            <a:r>
              <a:rPr lang="en-US" sz="2000" b="1" kern="0" dirty="0"/>
              <a:t>continuous</a:t>
            </a:r>
            <a:r>
              <a:rPr lang="en-US" sz="2000" kern="0" dirty="0"/>
              <a:t> (they can take on real values. Therefore our function will need to have the following properties:</a:t>
            </a:r>
          </a:p>
          <a:p>
            <a:pPr algn="just" eaLnBrk="1" hangingPunct="1"/>
            <a:endParaRPr lang="en-US" kern="0" dirty="0"/>
          </a:p>
        </p:txBody>
      </p:sp>
      <p:graphicFrame>
        <p:nvGraphicFramePr>
          <p:cNvPr id="7" name="Object 6">
            <a:extLst>
              <a:ext uri="{FF2B5EF4-FFF2-40B4-BE49-F238E27FC236}">
                <a16:creationId xmlns:a16="http://schemas.microsoft.com/office/drawing/2014/main" id="{DA0FF5BC-E37F-46AB-BF57-A96EA3845305}"/>
              </a:ext>
            </a:extLst>
          </p:cNvPr>
          <p:cNvGraphicFramePr>
            <a:graphicFrameLocks noChangeAspect="1"/>
          </p:cNvGraphicFramePr>
          <p:nvPr>
            <p:extLst>
              <p:ext uri="{D42A27DB-BD31-4B8C-83A1-F6EECF244321}">
                <p14:modId xmlns:p14="http://schemas.microsoft.com/office/powerpoint/2010/main" val="3181602235"/>
              </p:ext>
            </p:extLst>
          </p:nvPr>
        </p:nvGraphicFramePr>
        <p:xfrm>
          <a:off x="649942" y="3962400"/>
          <a:ext cx="6576354" cy="2057400"/>
        </p:xfrm>
        <a:graphic>
          <a:graphicData uri="http://schemas.openxmlformats.org/presentationml/2006/ole">
            <mc:AlternateContent xmlns:mc="http://schemas.openxmlformats.org/markup-compatibility/2006">
              <mc:Choice xmlns:v="urn:schemas-microsoft-com:vml" Requires="v">
                <p:oleObj name="Equation" r:id="rId4" imgW="4305240" imgH="1346040" progId="Equation.DSMT4">
                  <p:embed/>
                </p:oleObj>
              </mc:Choice>
              <mc:Fallback>
                <p:oleObj name="Equation" r:id="rId4" imgW="4305240" imgH="1346040" progId="Equation.DSMT4">
                  <p:embed/>
                  <p:pic>
                    <p:nvPicPr>
                      <p:cNvPr id="5" name="Object 4">
                        <a:extLst>
                          <a:ext uri="{FF2B5EF4-FFF2-40B4-BE49-F238E27FC236}">
                            <a16:creationId xmlns:a16="http://schemas.microsoft.com/office/drawing/2014/main" id="{B4801B41-FDEE-48CC-9E50-519C74D73C6C}"/>
                          </a:ext>
                        </a:extLst>
                      </p:cNvPr>
                      <p:cNvPicPr/>
                      <p:nvPr/>
                    </p:nvPicPr>
                    <p:blipFill>
                      <a:blip r:embed="rId5"/>
                      <a:stretch>
                        <a:fillRect/>
                      </a:stretch>
                    </p:blipFill>
                    <p:spPr>
                      <a:xfrm>
                        <a:off x="649942" y="3962400"/>
                        <a:ext cx="6576354" cy="2057400"/>
                      </a:xfrm>
                      <a:prstGeom prst="rect">
                        <a:avLst/>
                      </a:prstGeom>
                    </p:spPr>
                  </p:pic>
                </p:oleObj>
              </mc:Fallback>
            </mc:AlternateContent>
          </a:graphicData>
        </a:graphic>
      </p:graphicFrame>
    </p:spTree>
    <p:extLst>
      <p:ext uri="{BB962C8B-B14F-4D97-AF65-F5344CB8AC3E}">
        <p14:creationId xmlns:p14="http://schemas.microsoft.com/office/powerpoint/2010/main" val="24505446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b="1" dirty="0"/>
              <a:t>Things to note…</a:t>
            </a:r>
          </a:p>
        </p:txBody>
      </p:sp>
      <p:sp>
        <p:nvSpPr>
          <p:cNvPr id="10243" name="Rectangle 3"/>
          <p:cNvSpPr>
            <a:spLocks noGrp="1" noChangeArrowheads="1"/>
          </p:cNvSpPr>
          <p:nvPr>
            <p:ph type="body" idx="1"/>
          </p:nvPr>
        </p:nvSpPr>
        <p:spPr>
          <a:xfrm>
            <a:off x="457200" y="3810000"/>
            <a:ext cx="8229600" cy="2133600"/>
          </a:xfrm>
        </p:spPr>
        <p:txBody>
          <a:bodyPr/>
          <a:lstStyle/>
          <a:p>
            <a:pPr algn="just" eaLnBrk="1" hangingPunct="1"/>
            <a:r>
              <a:rPr lang="en-US" sz="2000" dirty="0"/>
              <a:t>One can estimate the mean and covariance of any set of data but most data sets are </a:t>
            </a:r>
            <a:r>
              <a:rPr lang="en-US" sz="2000" b="1" dirty="0"/>
              <a:t>NOT</a:t>
            </a:r>
            <a:r>
              <a:rPr lang="en-US" sz="2000" dirty="0"/>
              <a:t> completely described by a model that has only mean and covariance as parameters</a:t>
            </a:r>
          </a:p>
          <a:p>
            <a:pPr algn="just" eaLnBrk="1" hangingPunct="1"/>
            <a:r>
              <a:rPr lang="en-US" sz="2000" dirty="0"/>
              <a:t>Therefore we will have to do </a:t>
            </a:r>
            <a:r>
              <a:rPr lang="en-US" sz="2000" b="1" dirty="0"/>
              <a:t>more work </a:t>
            </a:r>
            <a:r>
              <a:rPr lang="en-US" sz="2000" dirty="0"/>
              <a:t>than just estimating mean and variance in order to build a probabilistic model which describes our data.</a:t>
            </a:r>
          </a:p>
        </p:txBody>
      </p:sp>
      <p:sp>
        <p:nvSpPr>
          <p:cNvPr id="4" name="Rectangle 3">
            <a:extLst>
              <a:ext uri="{FF2B5EF4-FFF2-40B4-BE49-F238E27FC236}">
                <a16:creationId xmlns:a16="http://schemas.microsoft.com/office/drawing/2014/main" id="{5576C448-26F5-4D27-88D8-6008F2A68455}"/>
              </a:ext>
            </a:extLst>
          </p:cNvPr>
          <p:cNvSpPr txBox="1">
            <a:spLocks noChangeArrowheads="1"/>
          </p:cNvSpPr>
          <p:nvPr/>
        </p:nvSpPr>
        <p:spPr bwMode="auto">
          <a:xfrm>
            <a:off x="381000" y="1066800"/>
            <a:ext cx="8229600" cy="762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600">
                <a:solidFill>
                  <a:schemeClr val="tx1"/>
                </a:solidFill>
                <a:latin typeface="+mn-lt"/>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200">
                <a:solidFill>
                  <a:schemeClr val="tx1"/>
                </a:solidFill>
                <a:latin typeface="+mn-lt"/>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sz="2000">
                <a:solidFill>
                  <a:schemeClr val="tx1"/>
                </a:solidFill>
                <a:latin typeface="+mn-lt"/>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9pPr>
          </a:lstStyle>
          <a:p>
            <a:pPr algn="just" eaLnBrk="1" hangingPunct="1"/>
            <a:r>
              <a:rPr lang="en-US" sz="2000" kern="0" dirty="0"/>
              <a:t>Our multivariate Gaussian PDF was just one such example of a probability model (arguably the most common). It can be completely described by the mean and covariance (they are the ONLY parameters required in the model):</a:t>
            </a:r>
          </a:p>
          <a:p>
            <a:pPr algn="just" eaLnBrk="1" hangingPunct="1"/>
            <a:endParaRPr lang="en-US" kern="0" dirty="0"/>
          </a:p>
        </p:txBody>
      </p:sp>
      <p:graphicFrame>
        <p:nvGraphicFramePr>
          <p:cNvPr id="2" name="Object 1">
            <a:extLst>
              <a:ext uri="{FF2B5EF4-FFF2-40B4-BE49-F238E27FC236}">
                <a16:creationId xmlns:a16="http://schemas.microsoft.com/office/drawing/2014/main" id="{9280667B-036E-48BA-8C71-6E6CB064A056}"/>
              </a:ext>
            </a:extLst>
          </p:cNvPr>
          <p:cNvGraphicFramePr>
            <a:graphicFrameLocks noChangeAspect="1"/>
          </p:cNvGraphicFramePr>
          <p:nvPr>
            <p:extLst>
              <p:ext uri="{D42A27DB-BD31-4B8C-83A1-F6EECF244321}">
                <p14:modId xmlns:p14="http://schemas.microsoft.com/office/powerpoint/2010/main" val="926800512"/>
              </p:ext>
            </p:extLst>
          </p:nvPr>
        </p:nvGraphicFramePr>
        <p:xfrm>
          <a:off x="762000" y="2438400"/>
          <a:ext cx="6823882" cy="1295400"/>
        </p:xfrm>
        <a:graphic>
          <a:graphicData uri="http://schemas.openxmlformats.org/presentationml/2006/ole">
            <mc:AlternateContent xmlns:mc="http://schemas.openxmlformats.org/markup-compatibility/2006">
              <mc:Choice xmlns:v="urn:schemas-microsoft-com:vml" Requires="v">
                <p:oleObj name="Equation" r:id="rId2" imgW="3746160" imgH="711000" progId="Equation.DSMT4">
                  <p:embed/>
                </p:oleObj>
              </mc:Choice>
              <mc:Fallback>
                <p:oleObj name="Equation" r:id="rId2" imgW="3746160" imgH="711000" progId="Equation.DSMT4">
                  <p:embed/>
                  <p:pic>
                    <p:nvPicPr>
                      <p:cNvPr id="0" name=""/>
                      <p:cNvPicPr/>
                      <p:nvPr/>
                    </p:nvPicPr>
                    <p:blipFill>
                      <a:blip r:embed="rId3"/>
                      <a:stretch>
                        <a:fillRect/>
                      </a:stretch>
                    </p:blipFill>
                    <p:spPr>
                      <a:xfrm>
                        <a:off x="762000" y="2438400"/>
                        <a:ext cx="6823882" cy="1295400"/>
                      </a:xfrm>
                      <a:prstGeom prst="rect">
                        <a:avLst/>
                      </a:prstGeom>
                    </p:spPr>
                  </p:pic>
                </p:oleObj>
              </mc:Fallback>
            </mc:AlternateContent>
          </a:graphicData>
        </a:graphic>
      </p:graphicFrame>
      <p:cxnSp>
        <p:nvCxnSpPr>
          <p:cNvPr id="5" name="Straight Connector 4">
            <a:extLst>
              <a:ext uri="{FF2B5EF4-FFF2-40B4-BE49-F238E27FC236}">
                <a16:creationId xmlns:a16="http://schemas.microsoft.com/office/drawing/2014/main" id="{07C65BC8-1264-4C45-B6AA-7B184407F03C}"/>
              </a:ext>
            </a:extLst>
          </p:cNvPr>
          <p:cNvCxnSpPr/>
          <p:nvPr/>
        </p:nvCxnSpPr>
        <p:spPr>
          <a:xfrm>
            <a:off x="1600200" y="3733800"/>
            <a:ext cx="35814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8E937A23-6EAA-44B0-8456-A9C140DC64FE}"/>
              </a:ext>
            </a:extLst>
          </p:cNvPr>
          <p:cNvCxnSpPr/>
          <p:nvPr/>
        </p:nvCxnSpPr>
        <p:spPr>
          <a:xfrm flipV="1">
            <a:off x="5181600" y="3200400"/>
            <a:ext cx="762000" cy="5334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35472C3D-F9E7-4C52-90EF-6DB903E3BA85}"/>
              </a:ext>
            </a:extLst>
          </p:cNvPr>
          <p:cNvCxnSpPr/>
          <p:nvPr/>
        </p:nvCxnSpPr>
        <p:spPr>
          <a:xfrm flipH="1" flipV="1">
            <a:off x="1447800" y="3429000"/>
            <a:ext cx="152400" cy="3048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B64E2BA5-60F4-4635-9945-13AFFEFB42B6}"/>
              </a:ext>
            </a:extLst>
          </p:cNvPr>
          <p:cNvCxnSpPr>
            <a:cxnSpLocks/>
          </p:cNvCxnSpPr>
          <p:nvPr/>
        </p:nvCxnSpPr>
        <p:spPr>
          <a:xfrm flipV="1">
            <a:off x="1600200" y="3429000"/>
            <a:ext cx="152400" cy="3048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1F0780D2-8EC9-480C-9921-FF8E1FE9CAE8}"/>
              </a:ext>
            </a:extLst>
          </p:cNvPr>
          <p:cNvSpPr txBox="1"/>
          <p:nvPr/>
        </p:nvSpPr>
        <p:spPr>
          <a:xfrm>
            <a:off x="5943600" y="2966204"/>
            <a:ext cx="1351652" cy="369332"/>
          </a:xfrm>
          <a:prstGeom prst="rect">
            <a:avLst/>
          </a:prstGeom>
          <a:noFill/>
        </p:spPr>
        <p:txBody>
          <a:bodyPr wrap="none" rtlCol="0">
            <a:spAutoFit/>
          </a:bodyPr>
          <a:lstStyle/>
          <a:p>
            <a:r>
              <a:rPr lang="en-US" dirty="0"/>
              <a:t>parameters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5A251-D8F3-494C-BB48-752FA5992796}"/>
              </a:ext>
            </a:extLst>
          </p:cNvPr>
          <p:cNvSpPr>
            <a:spLocks noGrp="1"/>
          </p:cNvSpPr>
          <p:nvPr>
            <p:ph type="title"/>
          </p:nvPr>
        </p:nvSpPr>
        <p:spPr/>
        <p:txBody>
          <a:bodyPr/>
          <a:lstStyle/>
          <a:p>
            <a:r>
              <a:rPr lang="en-US" b="1" dirty="0"/>
              <a:t>Conditional Probability</a:t>
            </a:r>
          </a:p>
        </p:txBody>
      </p:sp>
      <p:graphicFrame>
        <p:nvGraphicFramePr>
          <p:cNvPr id="4" name="Object 3">
            <a:extLst>
              <a:ext uri="{FF2B5EF4-FFF2-40B4-BE49-F238E27FC236}">
                <a16:creationId xmlns:a16="http://schemas.microsoft.com/office/drawing/2014/main" id="{A30314C4-629C-40B2-AD48-8F93ABC0C9EF}"/>
              </a:ext>
            </a:extLst>
          </p:cNvPr>
          <p:cNvGraphicFramePr>
            <a:graphicFrameLocks noChangeAspect="1"/>
          </p:cNvGraphicFramePr>
          <p:nvPr>
            <p:extLst>
              <p:ext uri="{D42A27DB-BD31-4B8C-83A1-F6EECF244321}">
                <p14:modId xmlns:p14="http://schemas.microsoft.com/office/powerpoint/2010/main" val="2270172275"/>
              </p:ext>
            </p:extLst>
          </p:nvPr>
        </p:nvGraphicFramePr>
        <p:xfrm>
          <a:off x="620713" y="1066800"/>
          <a:ext cx="8042275" cy="2590800"/>
        </p:xfrm>
        <a:graphic>
          <a:graphicData uri="http://schemas.openxmlformats.org/presentationml/2006/ole">
            <mc:AlternateContent xmlns:mc="http://schemas.openxmlformats.org/markup-compatibility/2006">
              <mc:Choice xmlns:v="urn:schemas-microsoft-com:vml" Requires="v">
                <p:oleObj name="Equation" r:id="rId2" imgW="4533840" imgH="1460160" progId="Equation.DSMT4">
                  <p:embed/>
                </p:oleObj>
              </mc:Choice>
              <mc:Fallback>
                <p:oleObj name="Equation" r:id="rId2" imgW="4533840" imgH="1460160" progId="Equation.DSMT4">
                  <p:embed/>
                  <p:pic>
                    <p:nvPicPr>
                      <p:cNvPr id="0" name=""/>
                      <p:cNvPicPr/>
                      <p:nvPr/>
                    </p:nvPicPr>
                    <p:blipFill>
                      <a:blip r:embed="rId3"/>
                      <a:stretch>
                        <a:fillRect/>
                      </a:stretch>
                    </p:blipFill>
                    <p:spPr>
                      <a:xfrm>
                        <a:off x="620713" y="1066800"/>
                        <a:ext cx="8042275" cy="2590800"/>
                      </a:xfrm>
                      <a:prstGeom prst="rect">
                        <a:avLst/>
                      </a:prstGeom>
                    </p:spPr>
                  </p:pic>
                </p:oleObj>
              </mc:Fallback>
            </mc:AlternateContent>
          </a:graphicData>
        </a:graphic>
      </p:graphicFrame>
      <p:sp>
        <p:nvSpPr>
          <p:cNvPr id="5" name="Rectangle 3">
            <a:extLst>
              <a:ext uri="{FF2B5EF4-FFF2-40B4-BE49-F238E27FC236}">
                <a16:creationId xmlns:a16="http://schemas.microsoft.com/office/drawing/2014/main" id="{65C861C1-C69B-428B-B3A6-F5CD4EFF8556}"/>
              </a:ext>
            </a:extLst>
          </p:cNvPr>
          <p:cNvSpPr txBox="1">
            <a:spLocks noChangeArrowheads="1"/>
          </p:cNvSpPr>
          <p:nvPr/>
        </p:nvSpPr>
        <p:spPr bwMode="auto">
          <a:xfrm>
            <a:off x="425824" y="4065586"/>
            <a:ext cx="8429787" cy="15732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600">
                <a:solidFill>
                  <a:schemeClr val="tx1"/>
                </a:solidFill>
                <a:latin typeface="+mn-lt"/>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200">
                <a:solidFill>
                  <a:schemeClr val="tx1"/>
                </a:solidFill>
                <a:latin typeface="+mn-lt"/>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sz="2000">
                <a:solidFill>
                  <a:schemeClr val="tx1"/>
                </a:solidFill>
                <a:latin typeface="+mn-lt"/>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9pPr>
          </a:lstStyle>
          <a:p>
            <a:pPr algn="just" eaLnBrk="1" hangingPunct="1"/>
            <a:r>
              <a:rPr lang="en-US" sz="2800" kern="0" dirty="0"/>
              <a:t>The idea here is to integrate out all variables other than </a:t>
            </a:r>
            <a:r>
              <a:rPr lang="en-US" sz="2800" b="1" kern="0" dirty="0"/>
              <a:t>ONE</a:t>
            </a:r>
            <a:r>
              <a:rPr lang="en-US" sz="2800" kern="0" dirty="0"/>
              <a:t> of them. In other words, we are looking at each variable </a:t>
            </a:r>
            <a:r>
              <a:rPr lang="en-US" sz="2800" b="1" kern="0" dirty="0"/>
              <a:t>separately</a:t>
            </a:r>
            <a:r>
              <a:rPr lang="en-US" sz="2800" kern="0" dirty="0"/>
              <a:t>.</a:t>
            </a:r>
          </a:p>
          <a:p>
            <a:pPr algn="just" eaLnBrk="1" hangingPunct="1"/>
            <a:endParaRPr lang="en-US" kern="0" dirty="0"/>
          </a:p>
        </p:txBody>
      </p:sp>
    </p:spTree>
    <p:extLst>
      <p:ext uri="{BB962C8B-B14F-4D97-AF65-F5344CB8AC3E}">
        <p14:creationId xmlns:p14="http://schemas.microsoft.com/office/powerpoint/2010/main" val="18637075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AF07F-C609-492D-BA94-E381F2CE0C23}"/>
              </a:ext>
            </a:extLst>
          </p:cNvPr>
          <p:cNvSpPr>
            <a:spLocks noGrp="1"/>
          </p:cNvSpPr>
          <p:nvPr>
            <p:ph type="title"/>
          </p:nvPr>
        </p:nvSpPr>
        <p:spPr/>
        <p:txBody>
          <a:bodyPr/>
          <a:lstStyle/>
          <a:p>
            <a:r>
              <a:rPr lang="en-US" b="1" dirty="0"/>
              <a:t>Marginal Probability Example (without the math)</a:t>
            </a:r>
          </a:p>
        </p:txBody>
      </p:sp>
      <p:sp>
        <p:nvSpPr>
          <p:cNvPr id="4" name="Rectangle 3">
            <a:extLst>
              <a:ext uri="{FF2B5EF4-FFF2-40B4-BE49-F238E27FC236}">
                <a16:creationId xmlns:a16="http://schemas.microsoft.com/office/drawing/2014/main" id="{80479FC5-1E23-424D-B34D-CF8BBF0182D1}"/>
              </a:ext>
            </a:extLst>
          </p:cNvPr>
          <p:cNvSpPr txBox="1">
            <a:spLocks noChangeArrowheads="1"/>
          </p:cNvSpPr>
          <p:nvPr/>
        </p:nvSpPr>
        <p:spPr bwMode="auto">
          <a:xfrm>
            <a:off x="304800" y="1665801"/>
            <a:ext cx="8229600" cy="762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600">
                <a:solidFill>
                  <a:schemeClr val="tx1"/>
                </a:solidFill>
                <a:latin typeface="+mn-lt"/>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200">
                <a:solidFill>
                  <a:schemeClr val="tx1"/>
                </a:solidFill>
                <a:latin typeface="+mn-lt"/>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sz="2000">
                <a:solidFill>
                  <a:schemeClr val="tx1"/>
                </a:solidFill>
                <a:latin typeface="+mn-lt"/>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9pPr>
          </a:lstStyle>
          <a:p>
            <a:pPr algn="just" eaLnBrk="1" hangingPunct="1"/>
            <a:r>
              <a:rPr lang="en-US" sz="2000" kern="0" dirty="0"/>
              <a:t>All we are doing is </a:t>
            </a:r>
            <a:r>
              <a:rPr lang="en-US" sz="2000" b="1" kern="0" dirty="0"/>
              <a:t>projecting all of the data </a:t>
            </a:r>
            <a:r>
              <a:rPr lang="en-US" sz="2000" kern="0" dirty="0"/>
              <a:t>onto one of the axes (x or y in this case) and then determining the resulting one-dimensional pdf:</a:t>
            </a:r>
          </a:p>
          <a:p>
            <a:pPr algn="just" eaLnBrk="1" hangingPunct="1"/>
            <a:endParaRPr lang="en-US" kern="0" dirty="0"/>
          </a:p>
        </p:txBody>
      </p:sp>
      <p:pic>
        <p:nvPicPr>
          <p:cNvPr id="6" name="Picture 5">
            <a:extLst>
              <a:ext uri="{FF2B5EF4-FFF2-40B4-BE49-F238E27FC236}">
                <a16:creationId xmlns:a16="http://schemas.microsoft.com/office/drawing/2014/main" id="{85A6B2F3-C35A-4B45-B2AF-E3EEFA6C91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8800" y="2667001"/>
            <a:ext cx="3124200" cy="2343150"/>
          </a:xfrm>
          <a:prstGeom prst="rect">
            <a:avLst/>
          </a:prstGeom>
        </p:spPr>
      </p:pic>
      <p:sp>
        <p:nvSpPr>
          <p:cNvPr id="7" name="Rectangle 3">
            <a:extLst>
              <a:ext uri="{FF2B5EF4-FFF2-40B4-BE49-F238E27FC236}">
                <a16:creationId xmlns:a16="http://schemas.microsoft.com/office/drawing/2014/main" id="{DC4EC154-9938-4A23-ACE7-F441AA16C007}"/>
              </a:ext>
            </a:extLst>
          </p:cNvPr>
          <p:cNvSpPr txBox="1">
            <a:spLocks noChangeArrowheads="1"/>
          </p:cNvSpPr>
          <p:nvPr/>
        </p:nvSpPr>
        <p:spPr bwMode="auto">
          <a:xfrm>
            <a:off x="304800" y="5105400"/>
            <a:ext cx="8229600" cy="762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600">
                <a:solidFill>
                  <a:schemeClr val="tx1"/>
                </a:solidFill>
                <a:latin typeface="+mn-lt"/>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200">
                <a:solidFill>
                  <a:schemeClr val="tx1"/>
                </a:solidFill>
                <a:latin typeface="+mn-lt"/>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sz="2000">
                <a:solidFill>
                  <a:schemeClr val="tx1"/>
                </a:solidFill>
                <a:latin typeface="+mn-lt"/>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9pPr>
          </a:lstStyle>
          <a:p>
            <a:pPr algn="just" eaLnBrk="1" hangingPunct="1"/>
            <a:r>
              <a:rPr lang="en-US" sz="2000" kern="0" dirty="0"/>
              <a:t>In practice, we will almost never have a pdf to work from, so it is not necessary for us to  calculate the integral on the previous page.</a:t>
            </a:r>
          </a:p>
          <a:p>
            <a:pPr algn="just" eaLnBrk="1" hangingPunct="1"/>
            <a:endParaRPr lang="en-US" kern="0" dirty="0"/>
          </a:p>
        </p:txBody>
      </p:sp>
    </p:spTree>
    <p:extLst>
      <p:ext uri="{BB962C8B-B14F-4D97-AF65-F5344CB8AC3E}">
        <p14:creationId xmlns:p14="http://schemas.microsoft.com/office/powerpoint/2010/main" val="21765441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9E060-9724-4345-9B65-8A6958FB27CB}"/>
              </a:ext>
            </a:extLst>
          </p:cNvPr>
          <p:cNvSpPr>
            <a:spLocks noGrp="1"/>
          </p:cNvSpPr>
          <p:nvPr>
            <p:ph type="title"/>
          </p:nvPr>
        </p:nvSpPr>
        <p:spPr>
          <a:xfrm>
            <a:off x="457200" y="277813"/>
            <a:ext cx="8534400" cy="788987"/>
          </a:xfrm>
        </p:spPr>
        <p:txBody>
          <a:bodyPr/>
          <a:lstStyle/>
          <a:p>
            <a:r>
              <a:rPr lang="en-US" b="1" dirty="0"/>
              <a:t>Conditional Probability (continuous)</a:t>
            </a:r>
          </a:p>
        </p:txBody>
      </p:sp>
      <p:graphicFrame>
        <p:nvGraphicFramePr>
          <p:cNvPr id="4" name="Object 3">
            <a:extLst>
              <a:ext uri="{FF2B5EF4-FFF2-40B4-BE49-F238E27FC236}">
                <a16:creationId xmlns:a16="http://schemas.microsoft.com/office/drawing/2014/main" id="{DE238224-0877-4229-8EF1-8070BFC2964D}"/>
              </a:ext>
            </a:extLst>
          </p:cNvPr>
          <p:cNvGraphicFramePr>
            <a:graphicFrameLocks noChangeAspect="1"/>
          </p:cNvGraphicFramePr>
          <p:nvPr>
            <p:extLst>
              <p:ext uri="{D42A27DB-BD31-4B8C-83A1-F6EECF244321}">
                <p14:modId xmlns:p14="http://schemas.microsoft.com/office/powerpoint/2010/main" val="3650938355"/>
              </p:ext>
            </p:extLst>
          </p:nvPr>
        </p:nvGraphicFramePr>
        <p:xfrm>
          <a:off x="609600" y="1143000"/>
          <a:ext cx="7010400" cy="2251825"/>
        </p:xfrm>
        <a:graphic>
          <a:graphicData uri="http://schemas.openxmlformats.org/presentationml/2006/ole">
            <mc:AlternateContent xmlns:mc="http://schemas.openxmlformats.org/markup-compatibility/2006">
              <mc:Choice xmlns:v="urn:schemas-microsoft-com:vml" Requires="v">
                <p:oleObj name="Equation" r:id="rId2" imgW="4190760" imgH="1346040" progId="Equation.DSMT4">
                  <p:embed/>
                </p:oleObj>
              </mc:Choice>
              <mc:Fallback>
                <p:oleObj name="Equation" r:id="rId2" imgW="4190760" imgH="1346040" progId="Equation.DSMT4">
                  <p:embed/>
                  <p:pic>
                    <p:nvPicPr>
                      <p:cNvPr id="0" name=""/>
                      <p:cNvPicPr/>
                      <p:nvPr/>
                    </p:nvPicPr>
                    <p:blipFill>
                      <a:blip r:embed="rId3"/>
                      <a:stretch>
                        <a:fillRect/>
                      </a:stretch>
                    </p:blipFill>
                    <p:spPr>
                      <a:xfrm>
                        <a:off x="609600" y="1143000"/>
                        <a:ext cx="7010400" cy="2251825"/>
                      </a:xfrm>
                      <a:prstGeom prst="rect">
                        <a:avLst/>
                      </a:prstGeom>
                    </p:spPr>
                  </p:pic>
                </p:oleObj>
              </mc:Fallback>
            </mc:AlternateContent>
          </a:graphicData>
        </a:graphic>
      </p:graphicFrame>
      <p:sp>
        <p:nvSpPr>
          <p:cNvPr id="5" name="Rectangle 3">
            <a:extLst>
              <a:ext uri="{FF2B5EF4-FFF2-40B4-BE49-F238E27FC236}">
                <a16:creationId xmlns:a16="http://schemas.microsoft.com/office/drawing/2014/main" id="{877F7F18-5318-48C9-A7B6-46F1EBAE5447}"/>
              </a:ext>
            </a:extLst>
          </p:cNvPr>
          <p:cNvSpPr txBox="1">
            <a:spLocks noChangeArrowheads="1"/>
          </p:cNvSpPr>
          <p:nvPr/>
        </p:nvSpPr>
        <p:spPr bwMode="auto">
          <a:xfrm>
            <a:off x="304800" y="3426201"/>
            <a:ext cx="8229600" cy="762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600">
                <a:solidFill>
                  <a:schemeClr val="tx1"/>
                </a:solidFill>
                <a:latin typeface="+mn-lt"/>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200">
                <a:solidFill>
                  <a:schemeClr val="tx1"/>
                </a:solidFill>
                <a:latin typeface="+mn-lt"/>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sz="2000">
                <a:solidFill>
                  <a:schemeClr val="tx1"/>
                </a:solidFill>
                <a:latin typeface="+mn-lt"/>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9pPr>
          </a:lstStyle>
          <a:p>
            <a:pPr algn="just" eaLnBrk="1" hangingPunct="1"/>
            <a:r>
              <a:rPr lang="en-US" sz="2000" kern="0" dirty="0"/>
              <a:t>In practice, this can get </a:t>
            </a:r>
            <a:r>
              <a:rPr lang="en-US" sz="2000" b="1" kern="0" dirty="0"/>
              <a:t>very messy very quickly</a:t>
            </a:r>
            <a:r>
              <a:rPr lang="en-US" sz="2000" kern="0" dirty="0"/>
              <a:t>. We are dividing one function by another (as in the bivariate normal example on the next page) …</a:t>
            </a:r>
          </a:p>
          <a:p>
            <a:pPr algn="just" eaLnBrk="1" hangingPunct="1"/>
            <a:endParaRPr lang="en-US" kern="0" dirty="0"/>
          </a:p>
        </p:txBody>
      </p:sp>
    </p:spTree>
    <p:extLst>
      <p:ext uri="{BB962C8B-B14F-4D97-AF65-F5344CB8AC3E}">
        <p14:creationId xmlns:p14="http://schemas.microsoft.com/office/powerpoint/2010/main" val="39907331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65CCB-AB9A-4A61-BFDE-F21E89FFF471}"/>
              </a:ext>
            </a:extLst>
          </p:cNvPr>
          <p:cNvSpPr>
            <a:spLocks noGrp="1"/>
          </p:cNvSpPr>
          <p:nvPr>
            <p:ph type="title"/>
          </p:nvPr>
        </p:nvSpPr>
        <p:spPr/>
        <p:txBody>
          <a:bodyPr/>
          <a:lstStyle/>
          <a:p>
            <a:r>
              <a:rPr lang="en-US" b="1" dirty="0"/>
              <a:t>Conditional Probability Example (without the math)</a:t>
            </a:r>
          </a:p>
        </p:txBody>
      </p:sp>
      <p:sp>
        <p:nvSpPr>
          <p:cNvPr id="6" name="Rectangle 3">
            <a:extLst>
              <a:ext uri="{FF2B5EF4-FFF2-40B4-BE49-F238E27FC236}">
                <a16:creationId xmlns:a16="http://schemas.microsoft.com/office/drawing/2014/main" id="{14C46E1D-0F82-47A9-949D-CE829C4BAB4E}"/>
              </a:ext>
            </a:extLst>
          </p:cNvPr>
          <p:cNvSpPr txBox="1">
            <a:spLocks noChangeArrowheads="1"/>
          </p:cNvSpPr>
          <p:nvPr/>
        </p:nvSpPr>
        <p:spPr bwMode="auto">
          <a:xfrm>
            <a:off x="0" y="4267200"/>
            <a:ext cx="9067800" cy="1524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600">
                <a:solidFill>
                  <a:schemeClr val="tx1"/>
                </a:solidFill>
                <a:latin typeface="+mn-lt"/>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200">
                <a:solidFill>
                  <a:schemeClr val="tx1"/>
                </a:solidFill>
                <a:latin typeface="+mn-lt"/>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sz="2000">
                <a:solidFill>
                  <a:schemeClr val="tx1"/>
                </a:solidFill>
                <a:latin typeface="+mn-lt"/>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9pPr>
          </a:lstStyle>
          <a:p>
            <a:pPr algn="just" eaLnBrk="1" hangingPunct="1"/>
            <a:r>
              <a:rPr lang="en-US" sz="1800" kern="0" dirty="0"/>
              <a:t>The idea here is to cut the joint pdf along a line in the variable being conditioned for.</a:t>
            </a:r>
          </a:p>
          <a:p>
            <a:pPr algn="just" eaLnBrk="1" hangingPunct="1"/>
            <a:r>
              <a:rPr lang="en-US" sz="1800" kern="0" dirty="0"/>
              <a:t>The entire conditional density function over all values for that variable is the single function that describes the conditional pdf as a function of the conditioned variable.</a:t>
            </a:r>
          </a:p>
          <a:p>
            <a:pPr algn="just" eaLnBrk="1" hangingPunct="1"/>
            <a:r>
              <a:rPr lang="en-US" sz="1800" kern="0" dirty="0"/>
              <a:t>For the example shown, picture sliding the line x</a:t>
            </a:r>
            <a:r>
              <a:rPr lang="en-US" sz="1800" kern="0" baseline="-25000" dirty="0"/>
              <a:t>2</a:t>
            </a:r>
            <a:r>
              <a:rPr lang="en-US" sz="1800" kern="0" dirty="0"/>
              <a:t>= 1.2 or 0.0 or -1.6 over all values of x</a:t>
            </a:r>
            <a:r>
              <a:rPr lang="en-US" sz="1800" kern="0" baseline="-25000" dirty="0"/>
              <a:t>2</a:t>
            </a:r>
            <a:r>
              <a:rPr lang="en-US" sz="1800" kern="0" dirty="0"/>
              <a:t> and making the pdf defined by p(x</a:t>
            </a:r>
            <a:r>
              <a:rPr lang="en-US" sz="1800" kern="0" baseline="-25000" dirty="0"/>
              <a:t>1</a:t>
            </a:r>
            <a:r>
              <a:rPr lang="en-US" sz="1800" kern="0" dirty="0"/>
              <a:t>|x</a:t>
            </a:r>
            <a:r>
              <a:rPr lang="en-US" sz="1800" kern="0" baseline="-25000" dirty="0"/>
              <a:t>2</a:t>
            </a:r>
            <a:r>
              <a:rPr lang="en-US" sz="1800" kern="0" dirty="0"/>
              <a:t>) depend on the value of x according to how the pdf changes as that line is moved.</a:t>
            </a:r>
          </a:p>
          <a:p>
            <a:pPr algn="just" eaLnBrk="1" hangingPunct="1"/>
            <a:endParaRPr lang="en-US" kern="0" dirty="0"/>
          </a:p>
        </p:txBody>
      </p:sp>
      <p:pic>
        <p:nvPicPr>
          <p:cNvPr id="8" name="Picture 7">
            <a:extLst>
              <a:ext uri="{FF2B5EF4-FFF2-40B4-BE49-F238E27FC236}">
                <a16:creationId xmlns:a16="http://schemas.microsoft.com/office/drawing/2014/main" id="{93174209-B994-4FA0-8927-CE4DF490D5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9509" y="1600200"/>
            <a:ext cx="4038600" cy="2556506"/>
          </a:xfrm>
          <a:prstGeom prst="rect">
            <a:avLst/>
          </a:prstGeom>
        </p:spPr>
      </p:pic>
      <p:sp>
        <p:nvSpPr>
          <p:cNvPr id="9" name="TextBox 8">
            <a:extLst>
              <a:ext uri="{FF2B5EF4-FFF2-40B4-BE49-F238E27FC236}">
                <a16:creationId xmlns:a16="http://schemas.microsoft.com/office/drawing/2014/main" id="{7ED35CEC-E19B-41F1-A2D6-797E84B99AF0}"/>
              </a:ext>
            </a:extLst>
          </p:cNvPr>
          <p:cNvSpPr txBox="1"/>
          <p:nvPr/>
        </p:nvSpPr>
        <p:spPr>
          <a:xfrm>
            <a:off x="4724400" y="1905000"/>
            <a:ext cx="4191000" cy="1200329"/>
          </a:xfrm>
          <a:prstGeom prst="rect">
            <a:avLst/>
          </a:prstGeom>
          <a:noFill/>
        </p:spPr>
        <p:txBody>
          <a:bodyPr wrap="square" rtlCol="0">
            <a:spAutoFit/>
          </a:bodyPr>
          <a:lstStyle/>
          <a:p>
            <a:r>
              <a:rPr lang="en-US" dirty="0"/>
              <a:t>Note that for a normal pdf, the conditional pdf p(x</a:t>
            </a:r>
            <a:r>
              <a:rPr lang="en-US" baseline="-25000" dirty="0"/>
              <a:t>1</a:t>
            </a:r>
            <a:r>
              <a:rPr lang="en-US" dirty="0"/>
              <a:t>|x</a:t>
            </a:r>
            <a:r>
              <a:rPr lang="en-US" baseline="-25000" dirty="0"/>
              <a:t>2</a:t>
            </a:r>
            <a:r>
              <a:rPr lang="en-US" dirty="0"/>
              <a:t>) has a mean that changes depending on the value of x</a:t>
            </a:r>
            <a:r>
              <a:rPr lang="en-US" baseline="-25000" dirty="0"/>
              <a:t>2</a:t>
            </a:r>
            <a:r>
              <a:rPr lang="en-US" dirty="0"/>
              <a:t>, but the covariance remains the same.</a:t>
            </a:r>
          </a:p>
        </p:txBody>
      </p:sp>
      <p:cxnSp>
        <p:nvCxnSpPr>
          <p:cNvPr id="11" name="Straight Arrow Connector 10">
            <a:extLst>
              <a:ext uri="{FF2B5EF4-FFF2-40B4-BE49-F238E27FC236}">
                <a16:creationId xmlns:a16="http://schemas.microsoft.com/office/drawing/2014/main" id="{6271970E-78C6-499B-AD2C-5935E55E482B}"/>
              </a:ext>
            </a:extLst>
          </p:cNvPr>
          <p:cNvCxnSpPr/>
          <p:nvPr/>
        </p:nvCxnSpPr>
        <p:spPr>
          <a:xfrm flipH="1">
            <a:off x="3048000" y="2743200"/>
            <a:ext cx="5410200" cy="1219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AC1D8DB7-D3A1-406E-A313-9F1BD6BDB9DC}"/>
              </a:ext>
            </a:extLst>
          </p:cNvPr>
          <p:cNvCxnSpPr>
            <a:cxnSpLocks/>
            <a:stCxn id="14" idx="1"/>
          </p:cNvCxnSpPr>
          <p:nvPr/>
        </p:nvCxnSpPr>
        <p:spPr>
          <a:xfrm flipH="1">
            <a:off x="4498112" y="3915857"/>
            <a:ext cx="630954" cy="1227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1B791070-958E-4CBA-AA50-20A061F56724}"/>
              </a:ext>
            </a:extLst>
          </p:cNvPr>
          <p:cNvSpPr txBox="1"/>
          <p:nvPr/>
        </p:nvSpPr>
        <p:spPr>
          <a:xfrm>
            <a:off x="5129066" y="3592691"/>
            <a:ext cx="3710133" cy="646331"/>
          </a:xfrm>
          <a:prstGeom prst="rect">
            <a:avLst/>
          </a:prstGeom>
          <a:noFill/>
        </p:spPr>
        <p:txBody>
          <a:bodyPr wrap="square" rtlCol="0">
            <a:spAutoFit/>
          </a:bodyPr>
          <a:lstStyle/>
          <a:p>
            <a:r>
              <a:rPr lang="en-US" dirty="0"/>
              <a:t>new nomenclature </a:t>
            </a:r>
          </a:p>
          <a:p>
            <a:r>
              <a:rPr lang="en-US" dirty="0"/>
              <a:t>Norm(mean, covariance)</a:t>
            </a:r>
          </a:p>
        </p:txBody>
      </p:sp>
    </p:spTree>
    <p:extLst>
      <p:ext uri="{BB962C8B-B14F-4D97-AF65-F5344CB8AC3E}">
        <p14:creationId xmlns:p14="http://schemas.microsoft.com/office/powerpoint/2010/main" val="990409463"/>
      </p:ext>
    </p:extLst>
  </p:cSld>
  <p:clrMapOvr>
    <a:masterClrMapping/>
  </p:clrMapOvr>
</p:sld>
</file>

<file path=ppt/theme/theme1.xml><?xml version="1.0" encoding="utf-8"?>
<a:theme xmlns:a="http://schemas.openxmlformats.org/drawingml/2006/main" name="Edge">
  <a:themeElements>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fontScheme name="Edge">
      <a:majorFont>
        <a:latin typeface="Garamond"/>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Edge</Template>
  <TotalTime>10380</TotalTime>
  <Words>1812</Words>
  <Application>Microsoft Office PowerPoint</Application>
  <PresentationFormat>On-screen Show (4:3)</PresentationFormat>
  <Paragraphs>196</Paragraphs>
  <Slides>29</Slides>
  <Notes>4</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29</vt:i4>
      </vt:variant>
    </vt:vector>
  </HeadingPairs>
  <TitlesOfParts>
    <vt:vector size="36" baseType="lpstr">
      <vt:lpstr>Arial</vt:lpstr>
      <vt:lpstr>Calibri</vt:lpstr>
      <vt:lpstr>Cambria Math</vt:lpstr>
      <vt:lpstr>Garamond</vt:lpstr>
      <vt:lpstr>Wingdings</vt:lpstr>
      <vt:lpstr>Edge</vt:lpstr>
      <vt:lpstr>Equation</vt:lpstr>
      <vt:lpstr>SFWR TECH 4DA3  Data Analytics and Big Data</vt:lpstr>
      <vt:lpstr>Course Information</vt:lpstr>
      <vt:lpstr>Course Information</vt:lpstr>
      <vt:lpstr>Course Assessment</vt:lpstr>
      <vt:lpstr>Course Outline</vt:lpstr>
      <vt:lpstr>Course Text</vt:lpstr>
      <vt:lpstr>My Past Work in Machine Learning</vt:lpstr>
      <vt:lpstr>Statistics we will use in this course…</vt:lpstr>
      <vt:lpstr>Some Context…</vt:lpstr>
      <vt:lpstr>Data (briefly, for now…)</vt:lpstr>
      <vt:lpstr>Data Matrix</vt:lpstr>
      <vt:lpstr>Multivariate Descriptive Statistics</vt:lpstr>
      <vt:lpstr>Vector Notation</vt:lpstr>
      <vt:lpstr>Notation</vt:lpstr>
      <vt:lpstr>Covariance Matrix</vt:lpstr>
      <vt:lpstr>Covariance Matrix - calculation</vt:lpstr>
      <vt:lpstr>Probability and Random Vectors</vt:lpstr>
      <vt:lpstr>Random vectors</vt:lpstr>
      <vt:lpstr>Random Vectors</vt:lpstr>
      <vt:lpstr>Notation</vt:lpstr>
      <vt:lpstr>A Simple (and completely artificial) Example</vt:lpstr>
      <vt:lpstr>Gaussian PDF</vt:lpstr>
      <vt:lpstr>Estimating µ, Σ</vt:lpstr>
      <vt:lpstr>Probability Models</vt:lpstr>
      <vt:lpstr>Things to note…</vt:lpstr>
      <vt:lpstr>Conditional Probability</vt:lpstr>
      <vt:lpstr>Marginal Probability Example (without the math)</vt:lpstr>
      <vt:lpstr>Conditional Probability (continuous)</vt:lpstr>
      <vt:lpstr>Conditional Probability Example (without the math)</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Jeff Fortuna</dc:creator>
  <cp:lastModifiedBy>Jeff Fortuna</cp:lastModifiedBy>
  <cp:revision>333</cp:revision>
  <dcterms:created xsi:type="dcterms:W3CDTF">2006-12-27T20:16:36Z</dcterms:created>
  <dcterms:modified xsi:type="dcterms:W3CDTF">2023-05-02T22:12:25Z</dcterms:modified>
</cp:coreProperties>
</file>